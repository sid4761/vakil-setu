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90ee373c0482c" /><Relationship Type="http://schemas.openxmlformats.org/officeDocument/2006/relationships/extended-properties" Target="/docProps/app.xml" Id="R939e4ef6e3544655" /><Relationship Type="http://schemas.openxmlformats.org/officeDocument/2006/relationships/officeDocument" Target="/ppt/presentation.xml" Id="Rc91b44eb976f45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a28f84e8bc48f3"/>
  </p:sldMasterIdLst>
  <p:notesMasterIdLst>
    <p:notesMasterId xmlns:r="http://schemas.openxmlformats.org/officeDocument/2006/relationships" r:id="Rc73ca7c0a35a42b8"/>
  </p:notesMasterIdLst>
  <p:sldIdLst>
    <p:sldId xmlns:r="http://schemas.openxmlformats.org/officeDocument/2006/relationships" id="256" r:id="R3a69220c00194d85"/>
    <p:sldId xmlns:r="http://schemas.openxmlformats.org/officeDocument/2006/relationships" id="257" r:id="R42c91fb2cbc54670"/>
    <p:sldId xmlns:r="http://schemas.openxmlformats.org/officeDocument/2006/relationships" id="258" r:id="Rfbfec68a16f64c84"/>
    <p:sldId xmlns:r="http://schemas.openxmlformats.org/officeDocument/2006/relationships" id="259" r:id="R023e63f9f3ef4148"/>
    <p:sldId xmlns:r="http://schemas.openxmlformats.org/officeDocument/2006/relationships" id="260" r:id="R81805e455b45467b"/>
    <p:sldId xmlns:r="http://schemas.openxmlformats.org/officeDocument/2006/relationships" id="261" r:id="R4ff1ec6a26704e5c"/>
    <p:sldId xmlns:r="http://schemas.openxmlformats.org/officeDocument/2006/relationships" id="262" r:id="R41afb955eaaf47a2"/>
    <p:sldId xmlns:r="http://schemas.openxmlformats.org/officeDocument/2006/relationships" id="263" r:id="R7ed2a63a953d484f"/>
    <p:sldId xmlns:r="http://schemas.openxmlformats.org/officeDocument/2006/relationships" id="264" r:id="Rb14017cb2ba140d0"/>
    <p:sldId xmlns:r="http://schemas.openxmlformats.org/officeDocument/2006/relationships" id="265" r:id="R5a4cefedc77a489c"/>
    <p:sldId xmlns:r="http://schemas.openxmlformats.org/officeDocument/2006/relationships" id="266" r:id="R6da7680d643a453b"/>
    <p:sldId xmlns:r="http://schemas.openxmlformats.org/officeDocument/2006/relationships" id="267" r:id="Ra1ff2751b4724dc7"/>
    <p:sldId xmlns:r="http://schemas.openxmlformats.org/officeDocument/2006/relationships" id="268" r:id="R0f26798ecc564cd2"/>
    <p:sldId xmlns:r="http://schemas.openxmlformats.org/officeDocument/2006/relationships" id="269" r:id="R9eff47a7ba2a44b0"/>
    <p:sldId xmlns:r="http://schemas.openxmlformats.org/officeDocument/2006/relationships" id="270" r:id="Rc2705e3a457d49af"/>
    <p:sldId xmlns:r="http://schemas.openxmlformats.org/officeDocument/2006/relationships" id="271" r:id="R74a1ea317eb7403b"/>
    <p:sldId xmlns:r="http://schemas.openxmlformats.org/officeDocument/2006/relationships" id="272" r:id="R29600188a8cf4f40"/>
    <p:sldId xmlns:r="http://schemas.openxmlformats.org/officeDocument/2006/relationships" id="273" r:id="R70c78ef68a85403b"/>
    <p:sldId xmlns:r="http://schemas.openxmlformats.org/officeDocument/2006/relationships" id="274" r:id="R203be52e95924c4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75c25ff0734887" /><Relationship Type="http://schemas.openxmlformats.org/officeDocument/2006/relationships/slideMaster" Target="/ppt/slideMasters/slideMaster1.xml" Id="Rc6a28f84e8bc48f3" /><Relationship Type="http://schemas.openxmlformats.org/officeDocument/2006/relationships/notesMaster" Target="/ppt/notesMasters/notesMaster1.xml" Id="Rc73ca7c0a35a42b8" /><Relationship Type="http://schemas.openxmlformats.org/officeDocument/2006/relationships/presProps" Target="/ppt/presProps.xml" Id="Rb531c3fa7dae4417" /><Relationship Type="http://schemas.openxmlformats.org/officeDocument/2006/relationships/tableStyles" Target="/ppt/tableStyles.xml" Id="R9a6c5fa783864cf5" /><Relationship Type="http://schemas.openxmlformats.org/officeDocument/2006/relationships/slide" Target="/ppt/slides/slide1.xml" Id="R3a69220c00194d85" /><Relationship Type="http://schemas.openxmlformats.org/officeDocument/2006/relationships/slide" Target="/ppt/slides/slide2.xml" Id="R42c91fb2cbc54670" /><Relationship Type="http://schemas.openxmlformats.org/officeDocument/2006/relationships/slide" Target="/ppt/slides/slide3.xml" Id="Rfbfec68a16f64c84" /><Relationship Type="http://schemas.openxmlformats.org/officeDocument/2006/relationships/slide" Target="/ppt/slides/slide4.xml" Id="R023e63f9f3ef4148" /><Relationship Type="http://schemas.openxmlformats.org/officeDocument/2006/relationships/slide" Target="/ppt/slides/slide5.xml" Id="R81805e455b45467b" /><Relationship Type="http://schemas.openxmlformats.org/officeDocument/2006/relationships/slide" Target="/ppt/slides/slide6.xml" Id="R4ff1ec6a26704e5c" /><Relationship Type="http://schemas.openxmlformats.org/officeDocument/2006/relationships/slide" Target="/ppt/slides/slide7.xml" Id="R41afb955eaaf47a2" /><Relationship Type="http://schemas.openxmlformats.org/officeDocument/2006/relationships/slide" Target="/ppt/slides/slide8.xml" Id="R7ed2a63a953d484f" /><Relationship Type="http://schemas.openxmlformats.org/officeDocument/2006/relationships/slide" Target="/ppt/slides/slide9.xml" Id="Rb14017cb2ba140d0" /><Relationship Type="http://schemas.openxmlformats.org/officeDocument/2006/relationships/slide" Target="/ppt/slides/slide10.xml" Id="R5a4cefedc77a489c" /><Relationship Type="http://schemas.openxmlformats.org/officeDocument/2006/relationships/slide" Target="/ppt/slides/slide11.xml" Id="R6da7680d643a453b" /><Relationship Type="http://schemas.openxmlformats.org/officeDocument/2006/relationships/slide" Target="/ppt/slides/slide12.xml" Id="Ra1ff2751b4724dc7" /><Relationship Type="http://schemas.openxmlformats.org/officeDocument/2006/relationships/slide" Target="/ppt/slides/slide13.xml" Id="R0f26798ecc564cd2" /><Relationship Type="http://schemas.openxmlformats.org/officeDocument/2006/relationships/slide" Target="/ppt/slides/slide14.xml" Id="R9eff47a7ba2a44b0" /><Relationship Type="http://schemas.openxmlformats.org/officeDocument/2006/relationships/slide" Target="/ppt/slides/slide15.xml" Id="Rc2705e3a457d49af" /><Relationship Type="http://schemas.openxmlformats.org/officeDocument/2006/relationships/slide" Target="/ppt/slides/slide16.xml" Id="R74a1ea317eb7403b" /><Relationship Type="http://schemas.openxmlformats.org/officeDocument/2006/relationships/slide" Target="/ppt/slides/slide17.xml" Id="R29600188a8cf4f40" /><Relationship Type="http://schemas.openxmlformats.org/officeDocument/2006/relationships/slide" Target="/ppt/slides/slide18.xml" Id="R70c78ef68a85403b" /><Relationship Type="http://schemas.openxmlformats.org/officeDocument/2006/relationships/slide" Target="/ppt/slides/slide19.xml" Id="R203be52e95924c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0c76f34fe44a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73d7c10020408e" /><Relationship Type="http://schemas.openxmlformats.org/officeDocument/2006/relationships/notesMaster" Target="/ppt/notesMasters/notesMaster1.xml" Id="R61519ee1c63b4f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08230b7b574a08" /><Relationship Type="http://schemas.openxmlformats.org/officeDocument/2006/relationships/notesMaster" Target="/ppt/notesMasters/notesMaster1.xml" Id="Rb63a26d9f6db40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f091335d7c4d86" /><Relationship Type="http://schemas.openxmlformats.org/officeDocument/2006/relationships/notesMaster" Target="/ppt/notesMasters/notesMaster1.xml" Id="Rd47beb5060d14a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5af91483684430" /><Relationship Type="http://schemas.openxmlformats.org/officeDocument/2006/relationships/notesMaster" Target="/ppt/notesMasters/notesMaster1.xml" Id="R531f0f8d55a2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c5711049ab4cdb" /><Relationship Type="http://schemas.openxmlformats.org/officeDocument/2006/relationships/notesMaster" Target="/ppt/notesMasters/notesMaster1.xml" Id="R75cae0506b8041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8b87b5c346462b" /><Relationship Type="http://schemas.openxmlformats.org/officeDocument/2006/relationships/notesMaster" Target="/ppt/notesMasters/notesMaster1.xml" Id="R093793631e344e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846c81483e493b" /><Relationship Type="http://schemas.openxmlformats.org/officeDocument/2006/relationships/notesMaster" Target="/ppt/notesMasters/notesMaster1.xml" Id="R962bc0216b4346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941f6ac2f8400d" /><Relationship Type="http://schemas.openxmlformats.org/officeDocument/2006/relationships/notesMaster" Target="/ppt/notesMasters/notesMaster1.xml" Id="Red499ad3e3ee4e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544fd581424c66" /><Relationship Type="http://schemas.openxmlformats.org/officeDocument/2006/relationships/notesMaster" Target="/ppt/notesMasters/notesMaster1.xml" Id="Ra5d5e7ddc3df4a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436cddd9fc4837" /><Relationship Type="http://schemas.openxmlformats.org/officeDocument/2006/relationships/notesMaster" Target="/ppt/notesMasters/notesMaster1.xml" Id="Race19ab1d8d44d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45032a9199439a" /><Relationship Type="http://schemas.openxmlformats.org/officeDocument/2006/relationships/notesMaster" Target="/ppt/notesMasters/notesMaster1.xml" Id="R90f68a1b0ab740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dfa0d346b04254" /><Relationship Type="http://schemas.openxmlformats.org/officeDocument/2006/relationships/notesMaster" Target="/ppt/notesMasters/notesMaster1.xml" Id="Rd9ba3798e7da4a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21de7409b949b8" /><Relationship Type="http://schemas.openxmlformats.org/officeDocument/2006/relationships/notesMaster" Target="/ppt/notesMasters/notesMaster1.xml" Id="R1b9550abbf9d41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d1dd0760c44515" /><Relationship Type="http://schemas.openxmlformats.org/officeDocument/2006/relationships/notesMaster" Target="/ppt/notesMasters/notesMaster1.xml" Id="Rd663a9a1f3a245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ad940ff45f4a52" /><Relationship Type="http://schemas.openxmlformats.org/officeDocument/2006/relationships/notesMaster" Target="/ppt/notesMasters/notesMaster1.xml" Id="R79aabc4594054b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c646742839467e" /><Relationship Type="http://schemas.openxmlformats.org/officeDocument/2006/relationships/notesMaster" Target="/ppt/notesMasters/notesMaster1.xml" Id="R160f46b6b9fe4b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712e6e4d674057" /><Relationship Type="http://schemas.openxmlformats.org/officeDocument/2006/relationships/notesMaster" Target="/ppt/notesMasters/notesMaster1.xml" Id="R140a030c914944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9f7e58199b450d" /><Relationship Type="http://schemas.openxmlformats.org/officeDocument/2006/relationships/notesMaster" Target="/ppt/notesMasters/notesMaster1.xml" Id="R662ab10a62464f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14c2eb868048fd" /><Relationship Type="http://schemas.openxmlformats.org/officeDocument/2006/relationships/notesMaster" Target="/ppt/notesMasters/notesMaster1.xml" Id="R7be2fdbbc18a43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names and roll numbers retained from the previous Vakil Setu faculty presentation. Institutional logo supplied in the reference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C:/Users/DELL/Vakil-Setu/.codex-deck/final.mjs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and project motivation. These statements are design hypotheses rather than quantified survey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C:/Users/DELL/Vakil-Setu/PITCH_REPORT.md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Description of code-level capabilities, not a claim of live deployment or successful user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C:/Users/DELL/Vakil-Setu/frontend/src/components/VoiceRecorder.jsx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  <a:p xmlns:a="http://schemas.openxmlformats.org/drawingml/2006/main">
            <a:r>
              <a:t>C:/Users/DELL/Vakil-Setu/backend/src/controllers/paymentController.js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service descriptions support LawRato and eCourts roles. The final column is a project positioning hypothesis, not evidence that competitors lack voice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https://lawrato.com/cmses/page/how-does-lawrato-work</a:t>
            </a:r>
          </a:p>
          <a:p xmlns:a="http://schemas.openxmlformats.org/drawingml/2006/main">
            <a:r>
              <a:t>https://ecommitteesci.gov.in/service/ecourts-services-mobile-application/</a:t>
            </a:r>
          </a:p>
          <a:p xmlns:a="http://schemas.openxmlformats.org/drawingml/2006/main">
            <a:r>
              <a:t>C:/Users/DELL/Vakil-Setu/README.md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voice component uses browser Web Speech recognition. A Whisper endpoint mentioned in README is not registered in the current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C:/Users/DELL/Vakil-Setu/frontend/src/components/VoiceRecorder.jsx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C:/Users/DELL/Vakil-Setu/frontend/src/hooks/useLegalChat.js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permits confirming without payment. The current implementation does not establish an advocate acceptance workflow or collision-free appointment schedule.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C:/Users/DELL/Vakil-Setu/frontend/src/pages/BookingPage.jsx</a:t>
            </a:r>
          </a:p>
          <a:p xmlns:a="http://schemas.openxmlformats.org/drawingml/2006/main">
            <a:r>
              <a:t>C:/Users/DELL/Vakil-Setu/backend/src/controllers/bookingController.js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recreation of the reference architecture style. Connections indicate API communication, not provider-to-database access. Voice recognition currently happens through the browser.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C:/Users/DELL/Vakil-Setu/backend/src/services/paymentService.js</a:t>
            </a:r>
          </a:p>
          <a:p xmlns:a="http://schemas.openxmlformats.org/drawingml/2006/main">
            <a:r>
              <a:t>C:/Users/DELL/Vakil-Setu/frontend/src/components/VoiceRecorder.jsx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Sequence follows the client classification and advocate matching API calls. Recognition precedes API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C:/Users/DELL/Vakil-Setu/frontend/src/hooks/useLegalChat.js</a:t>
            </a:r>
          </a:p>
          <a:p xmlns:a="http://schemas.openxmlformats.org/drawingml/2006/main">
            <a:r>
              <a:t>C:/Users/DELL/Vakil-Setu/frontend/src/api/client.js</a:t>
            </a:r>
          </a:p>
          <a:p xmlns:a="http://schemas.openxmlformats.org/drawingml/2006/main">
            <a:r>
              <a:t>C:/Users/DELL/Vakil-Setu/backend/src/controllers/aiController.js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Supported browser and available speech voices affect behavior. Broader multilingual recognition is a target rather than verified end-to-end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C:/Users/DELL/Vakil-Setu/frontend/src/components/VoiceRecorder.jsx</a:t>
            </a:r>
          </a:p>
          <a:p xmlns:a="http://schemas.openxmlformats.org/drawingml/2006/main">
            <a:r>
              <a:t>C:/Users/DELL/Vakil-Setu/frontend/src/utils/webSpeech.js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Fallback output explicitly identifies limited AI service. Rule-based urgency and domains do not establish legal correctness. Gateway or Gemini depends on configured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C:/Users/DELL/Vakil-Setu/backend/src/utils/legalDomain.js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urgent lookup does not guarantee connection or response time, and does not filter by legal domain. Language data exists but normal API matching does not filter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  <a:p xmlns:a="http://schemas.openxmlformats.org/drawingml/2006/main">
            <a:r>
              <a:t>C:/Users/DELL/Vakil-Setu/backend/src/controllers/emergencyController.js</a:t>
            </a:r>
          </a:p>
          <a:p xmlns:a="http://schemas.openxmlformats.org/drawingml/2006/main">
            <a:r>
              <a:t>C:/Users/DELL/Vakil-Setu/backend/src/models/Advocate.js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documents current code responsibilities. Before production: bind the callback to the stored order, enforce a server-controlled amount, restrict demo bypass, and add reconciliation. No successful payment transaction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C:/Users/DELL/Vakil-Setu/backend/src/controllers/bookingController.js</a:t>
            </a:r>
          </a:p>
          <a:p xmlns:a="http://schemas.openxmlformats.org/drawingml/2006/main">
            <a:r>
              <a:t>C:/Users/DELL/Vakil-Setu/backend/src/controllers/paymentController.js</a:t>
            </a:r>
          </a:p>
          <a:p xmlns:a="http://schemas.openxmlformats.org/drawingml/2006/main">
            <a:r>
              <a:t>C:/Users/DELL/Vakil-Setu/backend/src/services/paymentService.js</a:t>
            </a:r>
          </a:p>
          <a:p xmlns:a="http://schemas.openxmlformats.org/drawingml/2006/main">
            <a:r>
              <a:t>C:/Users/DELL/Vakil-Setu/frontend/src/pages/BookingPage.jsx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interface data-flow diagram in the style of the reference web-console slide, not a fabricated application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C:/Users/DELL/Vakil-Setu/frontend/src/state/AppContext.jsx</a:t>
            </a:r>
          </a:p>
          <a:p xmlns:a="http://schemas.openxmlformats.org/drawingml/2006/main">
            <a:r>
              <a:t>C:/Users/DELL/Vakil-Setu/frontend/src/components/dashboard/AnalysisDashboard.jsx</a:t>
            </a:r>
          </a:p>
          <a:p xmlns:a="http://schemas.openxmlformats.org/drawingml/2006/main">
            <a:r>
              <a:t>C:/Users/DELL/Vakil-Setu/frontend/src/components/dashboard/AdvocateMatchPanel.jsx</a:t>
            </a:r>
          </a:p>
          <a:p xmlns:a="http://schemas.openxmlformats.org/drawingml/2006/main">
            <a:r>
              <a:t>C:/Users/DELL/Vakil-Setu/frontend/src/pages/BookingPage.jsx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follows repository inspection and target language coverage in prior deck. The server currently registers no authentication middleware. No measured deployment, accuracy or impact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C:/Users/DELL/Vakil-Setu/.codex-deck/final.mjs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Versions use the project dependency declarations, not a claim that these are the latest releases. Whisper is omitted because the current server has no registered voice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C:/Users/DELL/Vakil-Setu/frontend/package.json</a:t>
            </a:r>
          </a:p>
          <a:p xmlns:a="http://schemas.openxmlformats.org/drawingml/2006/main">
            <a:r>
              <a:t>C:/Users/DELL/Vakil-Setu/backend/package.json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C:/Users/DELL/Vakil-Setu/backend/scripts/scrapeAdvocates.js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semester-fit guarantee or measured social impact is claimed. This justification adapts the reference VETS structure to the actual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C:/Users/DELL/Vakil-Setu/README.md</a:t>
            </a:r>
          </a:p>
          <a:p xmlns:a="http://schemas.openxmlformats.org/drawingml/2006/main">
            <a:r>
              <a:t>C:/Users/DELL/Vakil-Setu/SRS.md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plan, not benchmark outcomes. Do not supply invented accuracy, latency or adoption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C:/Users/DELL/Vakil-Setu/PITCH_REPORT.md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16-week plan adapted from the reference, not a confirmed calendar or completed milestone record. Existing code allows effort to focus on stabilization and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summary. General guidance does not replace consultation. Targets are kept separate from implemented code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C:/Users/DELL/Vakil-Setu/README.md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C:/Users/DELL/Vakil-Setu/.codex-deck/final.mjs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9b37355644c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70fb9f08a4f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e8489bb9e42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2246ac33e4c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7d154c8104c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e6ed9ebec4d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A4889F-A0E1-4B79-9C6A-6ADC3FA72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E00ACC-C67F-4248-956F-1A27C8C46E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CDF889-1980-4980-8786-A57E91BB44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5FADF8-5EA9-4787-A0E0-9BFC621D9C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AE5CC9-D006-4DC9-8FAC-2B2D5F1474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123BA8-35CE-42C4-9480-77AD9E8523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31F763-A50B-4C98-BBE9-1C11A31CDC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A025E7-0804-4753-B170-0910E76554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E55C64-8884-4DC7-8910-CA5C6A358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B9DDA3-5D29-4AF5-AD55-315120B103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e21970d01e4006" /><Relationship Type="http://schemas.openxmlformats.org/officeDocument/2006/relationships/slideLayout" Target="/ppt/slideLayouts/slideLayout1.xml" Id="R0c1736741ca24566" /><Relationship Type="http://schemas.openxmlformats.org/officeDocument/2006/relationships/slideLayout" Target="/ppt/slideLayouts/slideLayout2.xml" Id="R74fc935a6b6044cb" /><Relationship Type="http://schemas.openxmlformats.org/officeDocument/2006/relationships/slideLayout" Target="/ppt/slideLayouts/slideLayout3.xml" Id="Rcee58982b9c24e21" /><Relationship Type="http://schemas.openxmlformats.org/officeDocument/2006/relationships/slideLayout" Target="/ppt/slideLayouts/slideLayout4.xml" Id="R0565f46fc83941b2" /><Relationship Type="http://schemas.openxmlformats.org/officeDocument/2006/relationships/slideLayout" Target="/ppt/slideLayouts/slideLayout5.xml" Id="Rfb81b3ca2fd64445" /><Relationship Type="http://schemas.openxmlformats.org/officeDocument/2006/relationships/slideLayout" Target="/ppt/slideLayouts/slideLayout6.xml" Id="Rd985fe3882c74b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1736741ca24566"/>
    <p:sldLayoutId xmlns:r="http://schemas.openxmlformats.org/officeDocument/2006/relationships" id="2147483650" r:id="R74fc935a6b6044cb"/>
    <p:sldLayoutId xmlns:r="http://schemas.openxmlformats.org/officeDocument/2006/relationships" id="2147483651" r:id="Rcee58982b9c24e21"/>
    <p:sldLayoutId xmlns:r="http://schemas.openxmlformats.org/officeDocument/2006/relationships" id="2147483652" r:id="R0565f46fc83941b2"/>
    <p:sldLayoutId xmlns:r="http://schemas.openxmlformats.org/officeDocument/2006/relationships" id="2147483653" r:id="Rfb81b3ca2fd64445"/>
    <p:sldLayoutId xmlns:r="http://schemas.openxmlformats.org/officeDocument/2006/relationships" id="2147483654" r:id="Rd985fe3882c74b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153ee0dac4f7b" /><Relationship Type="http://schemas.openxmlformats.org/officeDocument/2006/relationships/image" Target="/ppt/media/image.png" Id="R52efcf6fd1944bb5" /><Relationship Type="http://schemas.openxmlformats.org/officeDocument/2006/relationships/notesSlide" Target="/ppt/notesSlides/notesSlide1.xml" Id="Rc09dee602f1d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607a25e20450a" /><Relationship Type="http://schemas.openxmlformats.org/officeDocument/2006/relationships/notesSlide" Target="/ppt/notesSlides/notesSlide2.xml" Id="Raf7fd4c2bad349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4d722fe6b4dd7" /><Relationship Type="http://schemas.openxmlformats.org/officeDocument/2006/relationships/notesSlide" Target="/ppt/notesSlides/notesSlide3.xml" Id="R5ceb3f6763c7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490f47e01e42e5" /><Relationship Type="http://schemas.openxmlformats.org/officeDocument/2006/relationships/notesSlide" Target="/ppt/notesSlides/notesSlide4.xml" Id="R56bb293c53c9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7380b386b4aa6" /><Relationship Type="http://schemas.openxmlformats.org/officeDocument/2006/relationships/notesSlide" Target="/ppt/notesSlides/notesSlide5.xml" Id="R41456eaafece4c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b09745bad4f75" /><Relationship Type="http://schemas.openxmlformats.org/officeDocument/2006/relationships/notesSlide" Target="/ppt/notesSlides/notesSlide6.xml" Id="R6cbd449a34854b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029e81e714b77" /><Relationship Type="http://schemas.openxmlformats.org/officeDocument/2006/relationships/notesSlide" Target="/ppt/notesSlides/notesSlide7.xml" Id="Rfbefa7dd7ea948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653d6c1824dc7" /><Relationship Type="http://schemas.openxmlformats.org/officeDocument/2006/relationships/notesSlide" Target="/ppt/notesSlides/notesSlide8.xml" Id="Rc9d9d3f92d864e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c285febd64c66" /><Relationship Type="http://schemas.openxmlformats.org/officeDocument/2006/relationships/notesSlide" Target="/ppt/notesSlides/notesSlide9.xml" Id="R60284a02dca241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7323a05254f87" /><Relationship Type="http://schemas.openxmlformats.org/officeDocument/2006/relationships/notesSlide" Target="/ppt/notesSlides/notesSlide10.xml" Id="R238525adaaa14c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5e72245344cba" /><Relationship Type="http://schemas.openxmlformats.org/officeDocument/2006/relationships/notesSlide" Target="/ppt/notesSlides/notesSlide11.xml" Id="Rbd4cc5cf248a4e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669253efa4a12" /><Relationship Type="http://schemas.openxmlformats.org/officeDocument/2006/relationships/notesSlide" Target="/ppt/notesSlides/notesSlide12.xml" Id="Rd686b62badbf4e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7087b07974ddf" /><Relationship Type="http://schemas.openxmlformats.org/officeDocument/2006/relationships/notesSlide" Target="/ppt/notesSlides/notesSlide13.xml" Id="R367f00ecd0c940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8755a391e4cfe" /><Relationship Type="http://schemas.openxmlformats.org/officeDocument/2006/relationships/notesSlide" Target="/ppt/notesSlides/notesSlide14.xml" Id="R64a57b3ae2794c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3a4be7ec44813" /><Relationship Type="http://schemas.openxmlformats.org/officeDocument/2006/relationships/notesSlide" Target="/ppt/notesSlides/notesSlide15.xml" Id="Rdb5872fb4f4342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bd4d1e6b54b76" /><Relationship Type="http://schemas.openxmlformats.org/officeDocument/2006/relationships/notesSlide" Target="/ppt/notesSlides/notesSlide16.xml" Id="R2000fd71b71d4a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cc73e14454973" /><Relationship Type="http://schemas.openxmlformats.org/officeDocument/2006/relationships/notesSlide" Target="/ppt/notesSlides/notesSlide17.xml" Id="Rf333d09b92644c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f970a696b451e" /><Relationship Type="http://schemas.openxmlformats.org/officeDocument/2006/relationships/notesSlide" Target="/ppt/notesSlides/notesSlide18.xml" Id="R60d33eebd8a647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b1e5766cc4ecc" /><Relationship Type="http://schemas.openxmlformats.org/officeDocument/2006/relationships/notesSlide" Target="/ppt/notesSlides/notesSlide19.xml" Id="Rb46433e3aa584d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7F97A-F5E5-436C-BD83-0BEB7F0F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VAKIL 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0BD8A-2CAD-488C-A000-9691C90B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Multilingual voice-based legal assistance</a:t>
            </a:r>
          </a:p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and advocate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BF6E9-6801-4CC6-8796-33F412D9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742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Presented by: Raghav Nargotra (2023A1R033)</a:t>
            </a:r>
          </a:p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Sidarth Gupta (2023A1R038)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E249A-3287-4411-8F97-ABB66EAC98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fcf6fd1944bb5"/>
          <a:stretch xmlns:a="http://schemas.openxmlformats.org/drawingml/2006/main"/>
        </p:blipFill>
        <p:spPr>
          <a:xfrm xmlns:a="http://schemas.openxmlformats.org/drawingml/2006/main">
            <a:off x="3752850" y="3725676"/>
            <a:ext cx="1638300" cy="57822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AB153-3B6B-49D6-B8C2-8549B648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5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Model Institute of Engineering and Technology (Autonomous), Jammu · 2026</a:t>
            </a:r>
          </a:p>
        </p:txBody>
      </p:sp>
    </p:spTree>
    <p:extLst>
      <p:ext uri="{BB962C8B-B14F-4D97-AF65-F5344CB8AC3E}">
        <p14:creationId xmlns:p14="http://schemas.microsoft.com/office/powerpoint/2010/main" val="375553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9E46F-58F4-48A3-B544-D886139F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The problem in accessing legal help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E8A63-B64D-479A-A9C3-9FEF2382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F8BE4-E3D0-48FB-BA9E-F6ACA7F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8A16F-FD09-449E-9C70-C4B85431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28700"/>
            <a:ext cx="845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 person can describe a dispute without knowing its legal category or the right advocate.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2F658-551F-4966-84CE-52878B90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43075"/>
            <a:ext cx="8458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and literacy: formal terminology and long text forms can make the first step difficult.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Unclear next steps: users may not know which facts or documents to prepare.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 discovery: practice area, availability and language affect consultation choices.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Fragmented journey: explaining the issue, finding an advocate and booking often require separate steps.</a:t>
            </a:r>
          </a:p>
        </p:txBody>
      </p:sp>
    </p:spTree>
    <p:extLst>
      <p:ext uri="{BB962C8B-B14F-4D97-AF65-F5344CB8AC3E}">
        <p14:creationId xmlns:p14="http://schemas.microsoft.com/office/powerpoint/2010/main" val="1107781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E888F-8E0A-42DC-88C0-D4BA8551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What is Vakil 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F9947-17A1-4858-92A2-900AF37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CFF97-C0F9-4CBF-85DB-4D6C9315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55887-CC26-4871-A749-9FE3C7A2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28700"/>
            <a:ext cx="845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Vakil Setu connects a spoken or typed problem with preliminary guidance and advocate discovery.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43B6D-8BA0-4747-8A6B-8E42012A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52600"/>
            <a:ext cx="8458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Voice input: the browser converts speech into text that the user can review.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Legal triage: the service returns a category, urgency, short summary and suggested actions.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 access: the API filters by expertise and availability, then ranks profiles by rating.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Consultation booking: the system stores a request and supports Razorpay checkout.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D3A17-0229-4091-A24F-AC6B6100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The assistant provides general information. An advocate handles case-specific legal advice.</a:t>
            </a:r>
          </a:p>
        </p:txBody>
      </p:sp>
    </p:spTree>
    <p:extLst>
      <p:ext uri="{BB962C8B-B14F-4D97-AF65-F5344CB8AC3E}">
        <p14:creationId xmlns:p14="http://schemas.microsoft.com/office/powerpoint/2010/main" val="1780181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272A6-11A2-4F90-B265-74E2E270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Existing services and the project focus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25D6B-E6A6-4AD9-938E-860D9681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5E040-052D-4A5E-83C7-A309DCD9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38051-DAB3-4518-AA8B-DC0AE3AA8A10}"/>
              </a:ext>
            </a:extLst>
          </p:cNvPr>
          <p:cNvGraphicFramePr/>
          <p:nvPr/>
        </p:nvGraphicFramePr>
        <p:xfrm>
          <a:off xmlns:a="http://schemas.openxmlformats.org/drawingml/2006/main" x="342900" y="1028700"/>
          <a:ext xmlns:a="http://schemas.openxmlformats.org/drawingml/2006/main" cx="84582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7850"/>
                <a:gridCol w="2686050"/>
                <a:gridCol w="3924300"/>
              </a:tblGrid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Existing role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Vakil Setu project focus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LawRato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Lawyer discovery, consultation and legal Q&amp;A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Connect spoken intake with structured triage and matching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eCourts Services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Case status, cause lists and court orders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Support the first step before a consultation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Generic AI assistant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Conversational explanations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Use defined categories and return local advocate matches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Direct consultation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Professional case-specific advice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Help users prepare a concise issue summary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1A887-2F05-43BD-A573-EEAB501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57675"/>
            <a:ext cx="845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The differentiation to test is the combined voice-to-consultation journey. Lawyer discovery already exists.</a:t>
            </a:r>
          </a:p>
        </p:txBody>
      </p:sp>
    </p:spTree>
    <p:extLst>
      <p:ext uri="{BB962C8B-B14F-4D97-AF65-F5344CB8AC3E}">
        <p14:creationId xmlns:p14="http://schemas.microsoft.com/office/powerpoint/2010/main" val="441374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CCA08-17A9-4EE4-89EE-E09752DE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CB940-D572-49F5-A188-59951FA3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2B3BF-E353-461E-AC31-80B8C0EA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38059-38BE-4B7F-B09C-D2427FEF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One browser interface connects input, analysis, advocate matching and booking.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A2693-31C1-47AC-929B-08EEAD6C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43050"/>
            <a:ext cx="84582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Capture: choose Hindi or English, then speak or type the problem.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Review: correct the transcript before submitting it for analysis.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Analyze: the Express API sends the text and recent conversation to the AI service.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Match: filter available advocates in the returned practice area.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Book: select a profile and time, then create a consultation request.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E4124-3020-4DEE-B3CE-7732CC4F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Target users: people seeking initial legal orientation and advocates receiving consultation requests.</a:t>
            </a:r>
          </a:p>
        </p:txBody>
      </p:sp>
    </p:spTree>
    <p:extLst>
      <p:ext uri="{BB962C8B-B14F-4D97-AF65-F5344CB8AC3E}">
        <p14:creationId xmlns:p14="http://schemas.microsoft.com/office/powerpoint/2010/main" val="1991525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A8965-217F-4B6D-9CD5-D5904BD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 first consultation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3DD5B-2610-4A09-9090-010408A8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7AEA7-808C-4191-93AB-9EDBE7F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FA6BF-B314-49EE-B633-D8E8A6C6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Select Hindi or English and allow microphone access, or use typed input.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C2D3D-6CCC-4F0F-958B-A8C7AF15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Explain the issue and review the recognized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1AD40-7975-41D8-B455-B53FCDEB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Submit the transcript to receive a category, summary and suggested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2BA50-9BD0-4BCE-8E15-8230442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4. Ask a follow-up question while keeping the current conversation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16D7C-49EA-4B73-9667-D4E091C2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5. Select an available advocate and enter consultation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33D7F-6C81-44EA-9E58-27990E7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6. Create the booking, complete checkout or use the current unpaid confirmation option.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0D481-F571-48FB-A2FF-5896F4A3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Confirmation records application status. Operational acceptance by an advocate still needs validation.</a:t>
            </a:r>
          </a:p>
        </p:txBody>
      </p:sp>
    </p:spTree>
    <p:extLst>
      <p:ext uri="{BB962C8B-B14F-4D97-AF65-F5344CB8AC3E}">
        <p14:creationId xmlns:p14="http://schemas.microsoft.com/office/powerpoint/2010/main" val="1060032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2E873-A823-48C0-87DF-E14CC208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48050"/>
            <a:ext cx="44196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3555E-7987-450B-AC95-801AF280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43125"/>
            <a:ext cx="44196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3579E-A1AD-418A-B555-A50C8C98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085850"/>
            <a:ext cx="4419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AAE52-0841-4270-9B33-4695D6D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System architecture and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DD9D6-CDAE-40A3-A49E-5B04E9FF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FC177-708F-43CD-81F1-1A3A9E1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4530E-082B-469E-A957-0F5629C8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Browser client: React + Vite handles voice input, chat and booking.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Express API: routes analysis, matching and payment requests.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AI adapter: supports a college gateway or Gemini configuration.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MongoDB: stores profiles, users and bookings.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Razorpay: creates orders and returns checkout details.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DD11B-E401-4A1C-A76C-4A0F97B8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B5DCF-0834-49AB-A18C-5D960E27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133475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Client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02A8E-EA22-4671-AFAC-E57FC669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43025"/>
            <a:ext cx="17907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React + Vite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Web Speech APIs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AC67E-F35F-4ED0-9916-75AB87F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Application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CFA75-EB03-4319-BA0B-DFA96C37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86025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Node.js + Express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API controllers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EEBE0-E06A-48F5-8C27-72234383B26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467475" y="1733550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1C10C-41AE-4312-8279-1B5D89AF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95675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Data and external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315EA-B947-4F61-9B32-A289EA9B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Profiles / bookings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7C3E6-3017-4188-9D90-7B4DAEF5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100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gateway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or Gemini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A34C5-B647-4B11-8C2B-C483E7C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100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Razorpay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Orders / checkout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402BA-525D-4293-9D82-96C16AB1099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5010150" y="2933700"/>
            <a:ext cx="14573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C7B7B-552C-4A3C-ADF3-0FD19C6EFD0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457950" y="2933700"/>
            <a:ext cx="95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37244-7E83-4B74-B69C-9D444FC7795D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467475" y="2933700"/>
            <a:ext cx="143827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870628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C1B62D-EC2B-496B-8F2B-C9DFC2A7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Legal analysis request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0305-9E6C-4217-89F0-8CC53344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2F04A-0DFF-483E-A67E-F5C7CFF0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8BFDE-3633-4426-8226-AC560CF5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user reviews the recognized text.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client submits text and chat history.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API calls the configured model provider.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service parses the returned classification.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Matching queries profiles by domain.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interface displays the results.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C2572-BF0F-4C81-9EC3-4F6EDD40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8118A-8742-4078-873C-B04C8450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1144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5B233-5D28-4782-9FC4-F5856CFF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457325"/>
            <a:ext cx="571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D0E33-22FE-4FFA-8AA5-AD95984E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10050"/>
            <a:ext cx="1028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E0E40-22AB-45AD-89CE-20065C96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1144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67919-9DDE-46AD-8669-1C8E8CAA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57325"/>
            <a:ext cx="571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B4044-A233-4C5E-A8BE-23942DC5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10050"/>
            <a:ext cx="1028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56AD0-9E59-4D7E-8B59-CC9BDC3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1144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678DF-3E52-48D7-81C1-88F10472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57325"/>
            <a:ext cx="571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C3372-D806-4D60-99EB-F447F808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10050"/>
            <a:ext cx="1028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BB9DB-DB43-437F-8358-7C171F37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1144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E95C9-2EB3-4862-A3F6-5437FC60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57325"/>
            <a:ext cx="571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997A4-ACEC-4EC1-9C99-33C5C7D5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10050"/>
            <a:ext cx="1028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D768E-A74C-4176-90E4-7261BBB2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65735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5AB87-0CD9-4F0F-A4BB-5FD79A67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4340F-6AE5-4A27-B345-DFDBA55A81A2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794885" y="1659255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39258-548A-4291-9EAA-C55BAD09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95425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  Text +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A31C9-D399-4805-8816-266CE775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716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61F7E-756B-4BD1-A46E-B45D847E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716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547A5-C609-455D-A101-9C60A3293672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890260" y="1973580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AF937-47B8-428E-B8B4-5C25C27F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  Classify issue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DEE06B-A119-42F6-AA8B-2B73BF8B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8600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12386-78A8-4ED9-9736-551C080B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8600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E0B1D-B03A-4CCA-BB71-360416C3784C}"/>
              </a:ext>
            </a:extLst>
          </p:cNvPr>
          <p:cNvCxnSpPr>
            <a:stCxn xmlns:a="http://schemas.openxmlformats.org/drawingml/2006/main" id="26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5890260" y="2287905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AC790-7BF7-4419-953B-C73497C4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24075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  JSON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737714-76D8-422E-8A1B-E104A62F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0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6226DD-D5E8-4231-AC12-99CA7624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00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FEBA2-BF29-4F1E-97AC-B59CFAD3EDD6}"/>
              </a:ext>
            </a:extLst>
          </p:cNvPr>
          <p:cNvCxnSpPr>
            <a:stCxn xmlns:a="http://schemas.openxmlformats.org/drawingml/2006/main" id="30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4794885" y="2602230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D46B1A-4DBB-42DC-8806-75B2BAE6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38400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4  Guidance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6705B3-4026-43A7-96B2-38DAC262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1465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33E936-C219-44C9-AEDD-A58CEEAE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D1B4C3-FCDD-455D-9CA4-FD6274E325BF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794885" y="2916555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5BB752-0DB7-418E-AE2B-867C2172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52725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5  Match domain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F3228C-6A07-4B18-A87E-C9DB9573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289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88A430-9BAE-4E6F-9BC7-A79D42AA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289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7E282A-7FBA-43D6-A207-4D90D6C278C6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5890260" y="3230880"/>
            <a:ext cx="21869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7F63A8-4A76-47C1-9E21-407FB726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2152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6  Query profiles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9C4A6A-BF20-42D7-A155-30EB9030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6CB071-30C5-4A52-B33E-1938C07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6C1B44-C985-4D42-AC69-4A7595E12235}"/>
              </a:ext>
            </a:extLst>
          </p:cNvPr>
          <p:cNvCxnSpPr>
            <a:stCxn xmlns:a="http://schemas.openxmlformats.org/drawingml/2006/main" id="42" idx="1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5890260" y="3545205"/>
            <a:ext cx="21869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49F73F-6696-4C51-8D3E-7539D510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81375"/>
            <a:ext cx="2152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7  Ranked matches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1E56B4-3FE2-465F-9D24-3324706E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576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D9B1D0-4606-4902-A7BA-4F2229CA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576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A464AB-FEE4-40AC-AAB2-704E24C72EAF}"/>
              </a:ext>
            </a:extLst>
          </p:cNvPr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4794885" y="3859530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6B04D4-CA87-4402-BA43-EE513E9E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95700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8  Display results</a:t>
            </a:r>
          </a:p>
        </p:txBody>
      </p:sp>
    </p:spTree>
    <p:extLst>
      <p:ext uri="{BB962C8B-B14F-4D97-AF65-F5344CB8AC3E}">
        <p14:creationId xmlns:p14="http://schemas.microsoft.com/office/powerpoint/2010/main" val="1486516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40E89-B765-45AD-A40D-BBE641C4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6102E-F8EB-466E-BC4E-174407C3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5C23A-D96B-4789-8CA8-671703DD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049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156D35-1780-4CC6-B6C1-DCCDE6F4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Voice input and response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D95AB-3E79-415C-83DB-82401195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F2B20-D3BE-40BE-9499-EB35F883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52FA1-6AE1-466F-9148-5CEAAE0D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Recognition: browser Web Speech converts microphone input into text.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Transcript review: users can edit or type facts before analysis.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selection: current explicit modes cover Hindi and English.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Playback: browser speech synthesis reads the response when a suitable voice is available.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AAA63-630B-4E21-8386-5352E507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3E156-BDED-422D-B650-B38430EE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52525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Input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5858F-351D-4023-B63D-B8D89E06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097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Microphone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permission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98358-55EE-4F5F-9A3D-D22B2D8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097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Speech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recognition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06A62-CB52-410F-A905-EF894A08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Transcript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DE2E6-F45B-4D90-875B-58476BF0797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38800" y="1619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3BE39-6567-499E-8401-A589A38382A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53275" y="1619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67434-FBD1-4794-A884-55CB307A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19325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User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3E913-02AA-42F0-9C6E-3327203B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765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Edit or type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EF0DE-C36B-4129-AC04-5FB2517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Submit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confirmed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5F86D-2A4C-46DE-9B9E-E4B53C2B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765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API analysis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D2337-894C-4C18-8206-4077E85F23B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63880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B76EE-0810-49E7-BF53-788D7D5E099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53275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5678E-39A5-41CD-8D78-6445491A6577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510338" y="18288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3299E-56DE-4E26-9336-5942EA7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Response 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E7B93-E341-4FA9-914A-91B98EF5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433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Summary and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1BE16-EC77-4A93-8A72-7E7CEA6F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Browser speech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95399-16A9-4EA0-AF32-DEC3A041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433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Read or listen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15087-CDD8-4C74-A220-DB740D49AC3B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638800" y="3752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ACA07F-3F2E-45D1-B374-A2C558D6C90A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153275" y="3752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5541CC-6819-4A33-B2AD-6179741DD57D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6510338" y="28956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706137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9039B-CBCE-4326-A067-5C194318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44100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0CC5A-FDED-4483-87D3-905CB374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08E78-7291-4B2A-AE2F-52DEAE57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04900"/>
            <a:ext cx="44100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A8C1E-A317-4AD8-88FA-8D7D635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AI triage and fallback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41F0-18E6-4A80-B707-788EE36D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51E2E-523E-4902-872C-2B6C56C6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72CC5-3CC3-44D5-9AAC-8071D48F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Context: the prompt includes recent conversation and the latest user message.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Output: four legal domains, an urgency label, a summary and actions.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Language: response rules currently distinguish Hindi and English.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Fallback: local keyword rules provide a basic result when the model service fails.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FD4A5-A75C-449C-8133-D811A1D0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E4FF0-45AE-4937-A9C1-AD7F9296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152525"/>
            <a:ext cx="429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Request preparation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5CB4B-802C-4AA4-999F-BBF78643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4780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 text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+ chat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56FF2-C5B4-4A29-8921-219474C1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44780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Language rules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+ JSON schema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957B0-E21C-460E-BC54-A67478D6DFF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62675" y="16573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8A047-827B-4480-961E-7C7DDAE7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24100"/>
            <a:ext cx="429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DAAD3-DEB2-4613-92D9-7F3E72DA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98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Gateway / Gemini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model response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58C75-58BF-4158-81F4-4C6C3C70AD0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6477000" y="1866900"/>
            <a:ext cx="115252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5F351-34F6-41F9-9407-167F7C64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76625"/>
            <a:ext cx="429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Result handling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542F5-5D6B-4696-B03B-4178221D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Parse and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0C979-6109-42CE-99ED-6FD78E67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100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Rule-based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5449E-11D0-41EC-840D-1CA7D1B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00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Guidance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75904-292E-4376-9157-0AE9B318718A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5062538" y="3019425"/>
            <a:ext cx="1414463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646A6-4939-41CE-8C8F-00189B8AA929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477000" y="3019425"/>
            <a:ext cx="14288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CF3FA-1B01-4009-9195-6085E94B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529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AAFB4-737A-4077-A7F6-02E2F94A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529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83DB3-85E5-4439-9916-417FEBA10BB8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5050155" y="4248150"/>
            <a:ext cx="12382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8B6B4-4790-4A10-973F-394444705F5A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052060" y="4354830"/>
            <a:ext cx="28441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78495-2AE5-49EB-8D62-7E027FA68211}"/>
              </a:ext>
            </a:extLst>
          </p:cNvPr>
          <p:cNvCxnSpPr>
            <a:stCxn xmlns:a="http://schemas.openxmlformats.org/drawingml/2006/main" id="23" idx="0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H="1" flipV="1">
            <a:off x="7896225" y="4248150"/>
            <a:ext cx="190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296E9-8BD9-4707-BC97-6F296F34E169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34225" y="40290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549614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3CD0A-F516-4B32-8554-00B920F9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95375"/>
            <a:ext cx="21431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29882-168D-4652-91CB-FBFE4EF8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95375"/>
            <a:ext cx="21336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AA9897-AAA4-48E1-8DDF-00D07418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Advocate matching and urgent lookup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C5C7D-68FF-48DB-8923-FB75ED71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B1DDB-1E06-4D17-AE10-B9710D6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B3244-7345-4518-9A7D-9719D1B5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Normal match: normalize the domain and require availability.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Ranking: sort by rating and return up to five profiles.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Profiles: show expertise, experience and languages.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Urgent lookup: pick one available advocate by rating, across domains.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Next step: validate language fit and response availability.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B5EA1-883D-4D4E-A52B-4040FC98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4BEF-6146-48DC-BEDB-EB5A2B34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1430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Standard matching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7D260-2BD3-4D06-90E3-1E0AE575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Urgent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DF057-4E94-42C6-9096-42616AAF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85900"/>
            <a:ext cx="1790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Classified domain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0AD09-AF53-4395-BFE4-48EACF17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47900"/>
            <a:ext cx="1790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Expertise +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availability 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13718-347C-4951-B319-016E78C6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Sort by rating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Return up to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639DA-04D4-460D-A0C3-D1C0CB92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 selects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advocate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080E9-787B-4B8E-A43B-20487A11261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324475" y="19145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69CD4-D653-4B1F-89F3-73BD8C19C929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324475" y="27146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B8ACD-2946-4779-A125-B0A7147076DA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324475" y="35242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D67F9-2C57-4C85-9CC4-BFFF241E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485900"/>
            <a:ext cx="1790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Urgent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5934B-B62C-4E5E-B8BA-110606FC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47900"/>
            <a:ext cx="1790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Available profiles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Any practice area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37B72-0226-45D7-A570-F0770F13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670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Highest rating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Return 1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7A723-0F20-445B-B3AE-23F4C0A1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57625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 reviews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contact option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DD5D6-B277-4FEB-A11F-0F9D9CE9223C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591425" y="19145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21E8A-9D56-4763-9A66-D7520F803F75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591425" y="27146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CA3F15-7E5D-4A4B-AE19-1F1A1D13DD73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591425" y="35242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943191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E1485-497C-4D2A-9181-614792D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86F78-ECEF-43F7-945A-82EBA2CC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66C63-F173-49A7-A67E-27D939B5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049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46583-234A-453E-B375-644FD756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Booking and payment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FD5E6-4836-436F-95CD-3B14E979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8F155-2B91-4754-A51A-4F01E103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D4325-8D89-4EE4-BBCE-75AD4B90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Booking: the API records a user, advocate and requested date.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Order: create and save a Razorpay order.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Checkout: the browser opens the payment interface.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Verification: check the signature and update the record.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Unpaid option: demo confirmation keeps payment pending.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41096-95A2-43EA-B152-C4CD4A11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A8C22-14F2-44E0-8F04-EF450456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52525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Consultation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82538-BD26-403B-B833-57D5CADA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097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Select advocate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and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4CF18-A482-4BC0-8315-95B6A3C3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097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Create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37E44-12FE-4B5A-816F-1F479F26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A5522-FCF1-4D57-BE4A-42822ADCBEB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38800" y="1619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08523-78A6-4433-AF39-9302E79361C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53275" y="1619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35E8A-0A8B-48CB-B02C-4607AD86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19325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Payment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7CA63-9E51-4D53-9433-180E7149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765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Create order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on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88613-ACD3-4D33-9EFC-009B164A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Razorpay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5C1A7-F4C9-4318-B9AF-2097FF30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765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Payment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B0AAC-6975-40C3-B42C-EF29BA02F1D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63880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18E4B-6B1B-4BDF-9BE8-2F4F9B94236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53275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DC185-C9CF-43EE-AD3D-522F9E12A88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510338" y="18288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1BCEC-880C-4751-BCCD-38507C4A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Status 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82B3D-BAE5-44DC-B74A-A87428DF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433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Signature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03982-3622-460F-895A-1B1784F7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Save payment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and booking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E3F9D-A363-46B2-B000-1AFEDF08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433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 sees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C645F-DA56-4356-AE11-ADCC12C7E2F3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638800" y="3752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507C8-6457-4762-8009-5922CD3EB7FB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153275" y="3752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F98F7-9648-49D8-B5CB-4ACB27813610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6510338" y="28956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39545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4AE2E-5DDF-4CFF-8F69-3C69F379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38525"/>
            <a:ext cx="43910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0CF49-EE23-4F2E-877D-5D13DCFE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66950"/>
            <a:ext cx="43910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05EB6-4882-4DA4-87AB-A215E45E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95375"/>
            <a:ext cx="43910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B1C20-857A-4EE5-8A1A-DD2F59C2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Web interface and case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7DB93-DFFF-4DA9-AB51-958FF397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EBC40-C688-4DA5-9D52-E0B02BE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7DFBB-7B56-4F1C-8694-AB3AA6A7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Chat: voice or typed messages retain recent case context.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Analysis: display the category, urgency, summary and actions.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 panel: show profiles returned by matching.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Booking view: collect details and report confirmation or payment errors.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736A3-A736-473D-99B1-22DE381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A46CA-7A24-48BC-95EE-6AFA6320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143000"/>
            <a:ext cx="4276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React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52869-8B7B-4D6A-9CE7-653603C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38275"/>
            <a:ext cx="1885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Voice / text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8A5DD-4CE2-490F-8520-B1ED3094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38275"/>
            <a:ext cx="1885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Follow-up chat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CE685-5B24-4844-8DF4-B561DC050B6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296025" y="1643063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D6353-2E24-4549-B5EC-5634BB1F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14575"/>
            <a:ext cx="4276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Shared case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B54EF-E9D4-4D9E-9097-EBF2C0FF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7175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Messages and classification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Selected advocate / booking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D1307-1E19-44B8-9E69-60641DB8F92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353050" y="1847850"/>
            <a:ext cx="1095375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72ADC-EF3F-404D-A7D8-99CC7CD1447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6448425" y="1847850"/>
            <a:ext cx="110490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1264A-0F42-42AE-9F38-6A952A71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86150"/>
            <a:ext cx="4276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Result views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47971-3571-410D-8D70-3FF0D428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38575"/>
            <a:ext cx="12668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Summary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+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49FDF-74CA-4835-8957-C3FEA11E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38575"/>
            <a:ext cx="12668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Advocate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profiles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B8895-2CD8-4718-BB43-527F35AD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1257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Booking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BFEFF-61CA-4C86-A0BE-720CDF3B7412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5053013" y="2990850"/>
            <a:ext cx="1395413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2ABF1-97F1-4B8C-8A34-693792F75688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448425" y="2990850"/>
            <a:ext cx="23813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7FAF75-229D-41A3-9D57-2700058DD168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448425" y="2990850"/>
            <a:ext cx="1438275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1116931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95E47-EBD9-4AA5-A302-7E3A5BFE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Current scope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9860F-31DA-4A5B-B5AE-27133555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0710B-46E5-4BDE-B235-0E88EB13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A1938-4CE9-4096-B6A4-0A26CAD4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84582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Current code: Hindi/English voice input, contextual triage, matching, booking records and payment integration.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target: all 22 scheduled languages plus English, with recognition and playback tested separately.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Matching gap: language preference and location need explicit filtering and validation.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Operational gap: advocate verification, accepted slots and reliable urgent response need a defined workflow.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Production gap: authentication, consent, retention controls and payment reconciliation need implementation.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D76CD-6862-4CB2-8BFA-0EF00531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Live reliability and user outcomes still need evidence.</a:t>
            </a:r>
          </a:p>
        </p:txBody>
      </p:sp>
    </p:spTree>
    <p:extLst>
      <p:ext uri="{BB962C8B-B14F-4D97-AF65-F5344CB8AC3E}">
        <p14:creationId xmlns:p14="http://schemas.microsoft.com/office/powerpoint/2010/main" val="15298603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10624-7944-40F8-A8FF-AE5B3978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7D784-05AB-4568-AC6D-368AC297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70E75-A896-4AF0-A5BE-ABE56C9B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E8F9F-F3EA-462D-B272-AB485020C603}"/>
              </a:ext>
            </a:extLst>
          </p:cNvPr>
          <p:cNvGraphicFramePr/>
          <p:nvPr/>
        </p:nvGraphicFramePr>
        <p:xfrm>
          <a:off xmlns:a="http://schemas.openxmlformats.org/drawingml/2006/main" x="342900" y="1028700"/>
          <a:ext xmlns:a="http://schemas.openxmlformats.org/drawingml/2006/main" cx="8458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628900"/>
                <a:gridCol w="4114800"/>
              </a:tblGrid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Subsystem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React 18 + Vite 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Voice input, chat, results and booking views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API server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Node.js + Express 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Routes, input handling and provider calls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MongoDB + Mongoose 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Profiles, users, bookings and payment IDs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Voice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Browser Web Speech APIs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Speech recognition and spoken responses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AI service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Gateway / Gemini adapter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Issue classification and follow-up guidance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Razorpay SDK + Checkout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Order creation and signature verification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Data import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Cheerio + import scripts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Profile normalization and MongoDB upserts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7118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6551C-D500-4D35-B4F0-57EB91D1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V.E.T.S justification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89322-1068-416C-8610-3E1F58A2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F1D3F-F349-4758-A60D-CD319C97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76D6A-11AD-43BC-9665-F5A61AD980E4}"/>
              </a:ext>
            </a:extLst>
          </p:cNvPr>
          <p:cNvGraphicFramePr/>
          <p:nvPr/>
        </p:nvGraphicFramePr>
        <p:xfrm>
          <a:off xmlns:a="http://schemas.openxmlformats.org/drawingml/2006/main" x="342900" y="1028700"/>
          <a:ext xmlns:a="http://schemas.openxmlformats.org/drawingml/2006/main" cx="8458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95475"/>
                <a:gridCol w="6562725"/>
              </a:tblGrid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Criterion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Project justification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V: Viability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 bounded prototype already contains the main code paths. Provider setup and integration testing remain necessary.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E: Engineering depth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Speech input, contextual JSON triage, fallback handling, database matching and payment verification cross several system boundaries.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T: Trend alignment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Conversational interfaces and language technology support the project direction. Broader language coverage still needs evaluation.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S: Social impact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Expected benefit: clearer first-step guidance and easier advocate discovery. User trials must establish comprehension and successful task completion.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9343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8957D-B27E-42A6-9C8D-831BA7AA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Expected outcomes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468E7-53CE-466F-A3BB-09F6BB3C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8C97A-AE06-48C4-B39A-F1B431EA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5E608-3BB3-4678-B3F4-EB557013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8458200" cy="332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Demonstrable prototype: complete the spoken-input, analysis, matching and booking journey.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evaluation: check transcript quality and response comprehension.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Triage evaluation: compare labels with advocate-reviewed cases.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Matching evaluation: check expertise, availability and language fit.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Reliability evaluation: exercise model failure, microphone denial and interrupted checkout.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User evaluation: measure task completion and comprehension.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C7957-3C8D-4F2A-BAC4-A6028855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These are proposed evaluation measures. The project materials provide no measured results.</a:t>
            </a:r>
          </a:p>
        </p:txBody>
      </p:sp>
    </p:spTree>
    <p:extLst>
      <p:ext uri="{BB962C8B-B14F-4D97-AF65-F5344CB8AC3E}">
        <p14:creationId xmlns:p14="http://schemas.microsoft.com/office/powerpoint/2010/main" val="18789673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03344-2B9B-4B00-9950-3E197CE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Proposed implementation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3FE59-1906-44AD-8FA2-379555E1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D0DB2-599E-4FFC-B2FB-E17B9436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19430-CA88-49BE-85DA-0604B56186FF}"/>
              </a:ext>
            </a:extLst>
          </p:cNvPr>
          <p:cNvGraphicFramePr/>
          <p:nvPr/>
        </p:nvGraphicFramePr>
        <p:xfrm>
          <a:off xmlns:a="http://schemas.openxmlformats.org/drawingml/2006/main" x="342900" y="1028700"/>
          <a:ext xmlns:a="http://schemas.openxmlformats.org/drawingml/2006/main" cx="84582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"/>
                <a:gridCol w="952500"/>
                <a:gridCol w="644842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Weeks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Activity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1–3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Confirm requirements, user flows, data model and evaluation cases.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4–7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Stabilize Hindi/English input, contextual triage and failure handling.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8–11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Validate matching, booking and payment flows with test services.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12–14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Add access controls and consent. Pilot additional languages.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15–16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Run user trials, record results and prepare the final demonstration.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0A738-8C96-400B-AC51-01E32FA8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86250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Planning assumption: a 16-week semester. This schedule describes remaining validation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6535103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B29E0-98AF-4A47-9142-3AE87E81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3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256F1-74B8-4A30-9B60-D0F014CA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00300"/>
            <a:ext cx="7239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Vakil Setu connects spoken intake with guidance and advocate discovery.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current implementation focuses on Hindi and English.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React, Express and MongoDB support analysis, matching and booking.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diagrams show architecture and each module’s workflow.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Broader language support and consultation reliability need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F0B7B-9B14-445A-B939-EE26665A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27154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2026-10-13T13:30:55.3470000Z</dcterms:created>
  <dcterms:modified xsi:type="dcterms:W3CDTF">2026-10-13T13:30:55.3470000Z</dcterms:modified>
</coreProperties>
</file>