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ba80834a34ff7" /><Relationship Type="http://schemas.openxmlformats.org/officeDocument/2006/relationships/extended-properties" Target="/docProps/app.xml" Id="R485c0f64992249d8" /><Relationship Type="http://schemas.openxmlformats.org/officeDocument/2006/relationships/officeDocument" Target="/ppt/presentation.xml" Id="Ra68893241dcf4e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23e695beb4391"/>
  </p:sldMasterIdLst>
  <p:notesMasterIdLst>
    <p:notesMasterId xmlns:r="http://schemas.openxmlformats.org/officeDocument/2006/relationships" r:id="Rdba952a370434b7c"/>
  </p:notesMasterIdLst>
  <p:sldIdLst>
    <p:sldId xmlns:r="http://schemas.openxmlformats.org/officeDocument/2006/relationships" id="256" r:id="R790fcf57fa704c88"/>
    <p:sldId xmlns:r="http://schemas.openxmlformats.org/officeDocument/2006/relationships" id="257" r:id="R8e2c7f4650ef422d"/>
    <p:sldId xmlns:r="http://schemas.openxmlformats.org/officeDocument/2006/relationships" id="258" r:id="Rb2b46bb95f5c49fe"/>
    <p:sldId xmlns:r="http://schemas.openxmlformats.org/officeDocument/2006/relationships" id="259" r:id="R495db58271ce4800"/>
    <p:sldId xmlns:r="http://schemas.openxmlformats.org/officeDocument/2006/relationships" id="260" r:id="R240a8694497d4d66"/>
    <p:sldId xmlns:r="http://schemas.openxmlformats.org/officeDocument/2006/relationships" id="261" r:id="R182948d40a984c8d"/>
    <p:sldId xmlns:r="http://schemas.openxmlformats.org/officeDocument/2006/relationships" id="262" r:id="R00f2441615fc4227"/>
    <p:sldId xmlns:r="http://schemas.openxmlformats.org/officeDocument/2006/relationships" id="263" r:id="Rfad8f82868fc4428"/>
    <p:sldId xmlns:r="http://schemas.openxmlformats.org/officeDocument/2006/relationships" id="264" r:id="R41d6f486cb36476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e762e60e949e6" /><Relationship Type="http://schemas.openxmlformats.org/officeDocument/2006/relationships/slideMaster" Target="/ppt/slideMasters/slideMaster1.xml" Id="R13123e695beb4391" /><Relationship Type="http://schemas.openxmlformats.org/officeDocument/2006/relationships/notesMaster" Target="/ppt/notesMasters/notesMaster1.xml" Id="Rdba952a370434b7c" /><Relationship Type="http://schemas.openxmlformats.org/officeDocument/2006/relationships/presProps" Target="/ppt/presProps.xml" Id="Rf569dc1e3e934612" /><Relationship Type="http://schemas.openxmlformats.org/officeDocument/2006/relationships/tableStyles" Target="/ppt/tableStyles.xml" Id="R02dd88484d804e99" /><Relationship Type="http://schemas.openxmlformats.org/officeDocument/2006/relationships/slide" Target="/ppt/slides/slide1.xml" Id="R790fcf57fa704c88" /><Relationship Type="http://schemas.openxmlformats.org/officeDocument/2006/relationships/slide" Target="/ppt/slides/slide2.xml" Id="R8e2c7f4650ef422d" /><Relationship Type="http://schemas.openxmlformats.org/officeDocument/2006/relationships/slide" Target="/ppt/slides/slide3.xml" Id="Rb2b46bb95f5c49fe" /><Relationship Type="http://schemas.openxmlformats.org/officeDocument/2006/relationships/slide" Target="/ppt/slides/slide4.xml" Id="R495db58271ce4800" /><Relationship Type="http://schemas.openxmlformats.org/officeDocument/2006/relationships/slide" Target="/ppt/slides/slide5.xml" Id="R240a8694497d4d66" /><Relationship Type="http://schemas.openxmlformats.org/officeDocument/2006/relationships/slide" Target="/ppt/slides/slide6.xml" Id="R182948d40a984c8d" /><Relationship Type="http://schemas.openxmlformats.org/officeDocument/2006/relationships/slide" Target="/ppt/slides/slide7.xml" Id="R00f2441615fc4227" /><Relationship Type="http://schemas.openxmlformats.org/officeDocument/2006/relationships/slide" Target="/ppt/slides/slide8.xml" Id="Rfad8f82868fc4428" /><Relationship Type="http://schemas.openxmlformats.org/officeDocument/2006/relationships/slide" Target="/ppt/slides/slide9.xml" Id="R41d6f486cb3647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9157baafb45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5f01375ae40c0" /><Relationship Type="http://schemas.openxmlformats.org/officeDocument/2006/relationships/notesMaster" Target="/ppt/notesMasters/notesMaster1.xml" Id="Ra53e8950c52046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68ca0d78643cb" /><Relationship Type="http://schemas.openxmlformats.org/officeDocument/2006/relationships/notesMaster" Target="/ppt/notesMasters/notesMaster1.xml" Id="Rde2f2590363b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c7611b16a8499d" /><Relationship Type="http://schemas.openxmlformats.org/officeDocument/2006/relationships/notesMaster" Target="/ppt/notesMasters/notesMaster1.xml" Id="R08c6b33835e0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67eb5ed934ea7" /><Relationship Type="http://schemas.openxmlformats.org/officeDocument/2006/relationships/notesMaster" Target="/ppt/notesMasters/notesMaster1.xml" Id="R5c9c72bb6a694e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bcd519c8744e9" /><Relationship Type="http://schemas.openxmlformats.org/officeDocument/2006/relationships/notesMaster" Target="/ppt/notesMasters/notesMaster1.xml" Id="R444c41c23e614f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0cd56c03b4f00" /><Relationship Type="http://schemas.openxmlformats.org/officeDocument/2006/relationships/notesMaster" Target="/ppt/notesMasters/notesMaster1.xml" Id="R91aebe9376ed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33ffed9fcf4de9" /><Relationship Type="http://schemas.openxmlformats.org/officeDocument/2006/relationships/notesMaster" Target="/ppt/notesMasters/notesMaster1.xml" Id="Ra79fbbc099194b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7548be9ce42ac" /><Relationship Type="http://schemas.openxmlformats.org/officeDocument/2006/relationships/notesMaster" Target="/ppt/notesMasters/notesMaster1.xml" Id="R3f7386ee603b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9304a6d27f4947" /><Relationship Type="http://schemas.openxmlformats.org/officeDocument/2006/relationships/notesMaster" Target="/ppt/notesMasters/notesMaster1.xml" Id="R3062cad7320d43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names and roll numbers retained from the previous Vakil Setu faculty presentation. Institutional logo supplied in the reference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design hypothesis. The materials provide no population-level survey or measured market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provides general orientation. A qualified advocate handles case-specific advice. Voice depends on browser and provider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of current source code. No authentication layer, OCR service or Whisper endpoint is represented as implemented. Arrows show backend communication with the database and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C:/Users/DELL/Vakil-Setu/frontend/src/utils/webSpeech.js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uses the combined triage endpoint, which classifies and queries advocate records in one round trip. Fallback logic belongs to the backend AI adapter, not the external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C:/Users/DELL/Vakil-Setu/backend/src/controllers/aiController.js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integration exists in code, but this deck does not claim a validated transaction or production readiness. Add order binding, server-controlled pricing, restricted bypass, ownership checks and reconciliation before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C:/Users/DELL/Vakil-Setu/backend/src/controllers/emergencyController.js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follow dependency declarations. These are not claims about latest releases. The current server does not register the Whisper route mentioned in an older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C:/Users/DELL/Vakil-Setu/frontend/package.json</a:t>
            </a:r>
          </a:p>
          <a:p xmlns:a="http://schemas.openxmlformats.org/drawingml/2006/main">
            <a:r>
              <a:t>C:/Users/DELL/Vakil-Setu/backend/package.json</a:t>
            </a:r>
          </a:p>
          <a:p xmlns:a="http://schemas.openxmlformats.org/drawingml/2006/main">
            <a:r>
              <a:t>C:/Users/DELL/Vakil-Setu/backend/src/server.js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 is based on code inspection. No measured accuracy, latency, live adoption or impact is claimed. Four domain slugs appear in the classification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describes targets rather than completed milestones. General guidance supports preparation for professional consultation. Expected benefits require user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C:/Users/DELL/Vakil-Setu/.codex-deck/reference-build/build.mjs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03b2e72d84b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89f36acd74b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e899e97914b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2287c481a4b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4bd39bb134d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474005014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2976E4-2D4A-45A7-AF48-AAC69A846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05F429-A107-486A-A619-02BD48AB67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11A5B8-51FC-4578-A9CA-2E0EE8D96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D89B0-FAF5-49BF-BCD4-46BEF14628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AF628D-1097-4E36-B8FA-914DDE2AF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812EA6-B2AD-48CE-A8A8-6DF1AC151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4862D1-6312-4978-9F7F-E67053CB5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99CEEE-9383-4D4E-9C43-FB385D067E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BEAEC9-7BF2-42C6-99E9-99644B1D1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46BBB4-E86D-4831-8146-A2D6DEFD5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954430371494f" /><Relationship Type="http://schemas.openxmlformats.org/officeDocument/2006/relationships/slideLayout" Target="/ppt/slideLayouts/slideLayout1.xml" Id="R9f8135e113674678" /><Relationship Type="http://schemas.openxmlformats.org/officeDocument/2006/relationships/slideLayout" Target="/ppt/slideLayouts/slideLayout2.xml" Id="R380438cbeae542da" /><Relationship Type="http://schemas.openxmlformats.org/officeDocument/2006/relationships/slideLayout" Target="/ppt/slideLayouts/slideLayout3.xml" Id="R887fe7d4bf914ad8" /><Relationship Type="http://schemas.openxmlformats.org/officeDocument/2006/relationships/slideLayout" Target="/ppt/slideLayouts/slideLayout4.xml" Id="Rdf1577a9f817460f" /><Relationship Type="http://schemas.openxmlformats.org/officeDocument/2006/relationships/slideLayout" Target="/ppt/slideLayouts/slideLayout5.xml" Id="R20bb217dc9504e73" /><Relationship Type="http://schemas.openxmlformats.org/officeDocument/2006/relationships/slideLayout" Target="/ppt/slideLayouts/slideLayout6.xml" Id="R4bcc8fe89f3d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135e113674678"/>
    <p:sldLayoutId xmlns:r="http://schemas.openxmlformats.org/officeDocument/2006/relationships" id="2147483650" r:id="R380438cbeae542da"/>
    <p:sldLayoutId xmlns:r="http://schemas.openxmlformats.org/officeDocument/2006/relationships" id="2147483651" r:id="R887fe7d4bf914ad8"/>
    <p:sldLayoutId xmlns:r="http://schemas.openxmlformats.org/officeDocument/2006/relationships" id="2147483652" r:id="Rdf1577a9f817460f"/>
    <p:sldLayoutId xmlns:r="http://schemas.openxmlformats.org/officeDocument/2006/relationships" id="2147483653" r:id="R20bb217dc9504e73"/>
    <p:sldLayoutId xmlns:r="http://schemas.openxmlformats.org/officeDocument/2006/relationships" id="2147483654" r:id="R4bcc8fe89f3d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9a2b9732e4c9e" /><Relationship Type="http://schemas.openxmlformats.org/officeDocument/2006/relationships/image" Target="/ppt/media/image.png" Id="Rbcd4f6dc66dc4f32" /><Relationship Type="http://schemas.openxmlformats.org/officeDocument/2006/relationships/notesSlide" Target="/ppt/notesSlides/notesSlide1.xml" Id="R13e25dceaada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fcd1a010e456f" /><Relationship Type="http://schemas.openxmlformats.org/officeDocument/2006/relationships/notesSlide" Target="/ppt/notesSlides/notesSlide2.xml" Id="R1fd4a5c9eb5a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6b4060dd94518" /><Relationship Type="http://schemas.openxmlformats.org/officeDocument/2006/relationships/notesSlide" Target="/ppt/notesSlides/notesSlide3.xml" Id="R4ea5c56ae05d4e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0b2ee87844546" /><Relationship Type="http://schemas.openxmlformats.org/officeDocument/2006/relationships/notesSlide" Target="/ppt/notesSlides/notesSlide4.xml" Id="Rd991f450bdbe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f7026b36045b6" /><Relationship Type="http://schemas.openxmlformats.org/officeDocument/2006/relationships/notesSlide" Target="/ppt/notesSlides/notesSlide5.xml" Id="R88f45974957e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8eae3880341c3" /><Relationship Type="http://schemas.openxmlformats.org/officeDocument/2006/relationships/notesSlide" Target="/ppt/notesSlides/notesSlide6.xml" Id="R5f213c67833b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ced31dfae4a7f" /><Relationship Type="http://schemas.openxmlformats.org/officeDocument/2006/relationships/notesSlide" Target="/ppt/notesSlides/notesSlide7.xml" Id="R990c7ca1246e4a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28de311b243a2" /><Relationship Type="http://schemas.openxmlformats.org/officeDocument/2006/relationships/notesSlide" Target="/ppt/notesSlides/notesSlide8.xml" Id="R4ae5473410a4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0dd5d5682426b" /><Relationship Type="http://schemas.openxmlformats.org/officeDocument/2006/relationships/notesSlide" Target="/ppt/notesSlides/notesSlide9.xml" Id="R41bdac90a24040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7943B-D0DE-4A88-8E57-98A23B4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282D8-99A6-4D3C-857A-174D8A3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Multilingual voice-based legal assistance</a:t>
            </a:r>
          </a:p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and advocate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EC6A-3B50-4427-99EF-BBE927D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Presented by: Raghav Nargotra (2023A1R033)</a:t>
            </a:r>
          </a:p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Sidarth Gupta (2023A1R038)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A821-E1A5-4055-83E7-7B3BEB89C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4f6dc66dc4f32"/>
          <a:stretch xmlns:a="http://schemas.openxmlformats.org/drawingml/2006/main"/>
        </p:blipFill>
        <p:spPr>
          <a:xfrm xmlns:a="http://schemas.openxmlformats.org/drawingml/2006/main">
            <a:off x="3752850" y="3725676"/>
            <a:ext cx="1638300" cy="578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216CD-F92E-4A04-9FEF-0A3EED8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Model Institute of Engineering and Technology (Autonomous), Jammu · 2026</a:t>
            </a:r>
          </a:p>
        </p:txBody>
      </p:sp>
    </p:spTree>
    <p:extLst>
      <p:ext uri="{BB962C8B-B14F-4D97-AF65-F5344CB8AC3E}">
        <p14:creationId xmlns:p14="http://schemas.microsoft.com/office/powerpoint/2010/main" val="606218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C52A8-DD70-4906-AD67-3ED11B7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24CB0-1DE6-4556-8FDA-BA51062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F7CA2-2464-419C-8A7A-85301AA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A75D0-E100-4E53-95F1-6A730D91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can describe a dispute without knowing its legal category, the relevant advocate or the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F0C83-DAD1-4FE4-A36A-CCE7139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4582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barrier: formal terminology and long text forms can make initial intake difficult.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Unclear preparation: users may not know which facts and documents matter.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Fragmented access: guidance, advocate discovery and booking require separate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1B9E0-3B52-42DB-ADFF-C2FD1CE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05250"/>
            <a:ext cx="845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16867-3C2A-4C53-AA35-73D2315C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95775"/>
            <a:ext cx="819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seeking initial legal orientation, especially Hindi/English speakers who prefer voice input, and advocates receiving consultation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1823114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E4A40-E52C-4828-9196-5F2B4E1F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Solution and 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E34EB-BF6D-44D1-A73E-21023BF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64673-568C-413A-83AA-01BB011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E08A6-BE59-4992-82EE-4D55E30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B829C-C461-44C7-9120-889BB38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Speak or type in Hindi or English. Review the transcript.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0BFDE-199A-4F2E-BDF2-E8340D52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76908-08DA-4E05-89A7-653AABC4EB1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0505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135C-3607-474A-B26F-C3912FE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Receive category, urgency, summary and next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26098-665A-4D25-9520-51C819E3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Find an advocate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C7F65-B053-40C1-92AB-35BFCAD54AA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67225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5DAF5-2FE5-4EFC-ADAF-D1463AD1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available profiles in the relevant practice area.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CCFCD-1B1C-4AF6-9CD6-A00B968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23124-996A-4533-B955-6EE1B631711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62940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FCCF6-D0F0-4F10-8FBA-C9A1A9BF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a consultation request and open payment checkout.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B5FA9-35FA-4F4B-BD3E-A4A381C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8610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Conversation and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58129-385E-48F8-9D97-7D5A007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24250"/>
            <a:ext cx="845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Follow-up messages use recent conversation context. Browser speech synthesis can read the response aloud.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Current explicit language modes cover Hindi and English. Broader language support remains a development target.</a:t>
            </a:r>
          </a:p>
        </p:txBody>
      </p:sp>
    </p:spTree>
    <p:extLst>
      <p:ext uri="{BB962C8B-B14F-4D97-AF65-F5344CB8AC3E}">
        <p14:creationId xmlns:p14="http://schemas.microsoft.com/office/powerpoint/2010/main" val="1119042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5098C-3DCF-41FA-9F8E-8EF2DC7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8458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979E3-E84E-4C68-BEB8-C71705C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0FADF-14F5-4E80-8D8D-BB454B46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19175"/>
            <a:ext cx="8458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C77DF-160E-440C-9544-8BCF7C2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1B4D-433D-4CBA-B9B0-F87667F3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6B7B-7077-4A5B-A2E2-4F2925A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BA4B6-0CAE-49BB-91EB-89C4B35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47775"/>
            <a:ext cx="3629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React + Vite frontend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Voice input, chat, analysis and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3A317-4681-4E45-A5CC-B4CF428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3629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Node.js + Express API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Triage, matching, bookings and payments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A7E2F-C73C-47F6-ABD0-F11304937AE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938713" y="17049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27EF8-09F2-4E91-BF0F-773A1377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JSON API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D4B89-8E5E-42EC-ACD3-CC8C71BA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 + Mongoose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Users, advocates, bookings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9C7A1-34F7-49F4-93B0-7F36D1A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gateway / Gemini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Model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375D6-8C54-4AF6-AB8A-8FBB004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Orders + payment verification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452D8-BE00-4B8E-8B5F-B9C853DF652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762125" y="2828925"/>
            <a:ext cx="3176588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0FD11-833E-4BDB-8CB4-27D70E95AA0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572000" y="2828925"/>
            <a:ext cx="36671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1120D-2882-430C-A8FF-6981FEF614B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938713" y="2828925"/>
            <a:ext cx="244316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BDFB2-6CC9-41F8-BD6D-BC47D3C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Browser Web Speech handles recognition/playback. The backend holds keys and handles AI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91FDD-4029-4D27-BB21-026AC92C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CLIENT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CCA19-5503-468C-8312-8AF7FBA7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1EFE7-D59E-4A28-972D-AF59175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DATA AND SERVICES</a:t>
            </a:r>
          </a:p>
        </p:txBody>
      </p:sp>
    </p:spTree>
    <p:extLst>
      <p:ext uri="{BB962C8B-B14F-4D97-AF65-F5344CB8AC3E}">
        <p14:creationId xmlns:p14="http://schemas.microsoft.com/office/powerpoint/2010/main" val="2124572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CA6D03-9EA6-4353-B87E-AB1F311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Analysis and matching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CF27B-F073-4B13-8518-E859199B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BFB9-D91D-44F0-A2AF-128A10F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1E98A-2A1E-4ACD-854E-E0D8DDA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89F81-80DC-4E62-B1E1-B17D6DA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C700-41FF-445B-B108-DF45A46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C356D-2E64-4297-BB42-4D891F0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7DCCC-9926-41FC-9652-A71C0F56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7ECD8-FECF-4F8D-8370-BD9B3232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AFCBB-3639-420F-81B7-9365BE3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4E585-37B4-4AF3-B27E-94FAA115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7A47C-AD46-42A6-A583-CB6892D2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5542F-2899-4C09-9342-ED86AF15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C1BF0-0B11-43FE-B9CD-7E340D22E92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242060" y="18211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C9454-3D63-433D-BC85-8A66CE3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002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  POST /api/ai/triage: text +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C96D2-2ED0-4B2E-83BF-3CE18655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A8909-411E-4A99-97E6-3BCB69A6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B819E-8055-4569-B2BE-3019E452672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0910" y="22212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360D6-6A1F-457D-B2B2-B9013147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  Request issue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B17D0-3826-4F19-BD7B-8A3BE3D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B9FA3-46D4-4400-9ACE-FC66044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85546-C5F0-4EB8-BFA3-2E3B04FB8EE1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470910" y="26212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CC4CD-E41B-4DFD-B696-0F75874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  Model response or provider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7DE7C-7F9C-4A93-9E9B-03BF7B4E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6B65C-5EE0-42D9-9A3F-60CE4CB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9784B-5C5B-4B54-B39F-43442E4BF20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470910" y="302133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3089F-59E1-4895-81B9-EEDD1602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  Query expertise + availability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DDF01-7967-4052-A263-AE24675C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32F5E-C8EF-464B-BB54-20D13C0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52428-6E92-438B-8661-C8F298B48BED}"/>
              </a:ext>
            </a:extLst>
          </p:cNvPr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470910" y="342138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863D70-CEDE-4FA8-9A6C-A3D05C8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  Up to five profiles ranked by rating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A24EB-0A1B-4160-AB0E-2F960A54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786D5-210A-4DAC-A936-E94C5CC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16B2C1-ED18-4DE3-AF78-ACC1A076BEC3}"/>
              </a:ext>
            </a:extLst>
          </p:cNvPr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1242060" y="38214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8862C8-0F19-44DF-B84D-0E942E9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  Return classification + advocates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D7BB9-C513-4D50-8CE0-5F402D8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0530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The user reviews the transcript before submission. The backend applies fallback on AI failure. Results include guidance and advocate profiles.</a:t>
            </a:r>
          </a:p>
        </p:txBody>
      </p:sp>
    </p:spTree>
    <p:extLst>
      <p:ext uri="{BB962C8B-B14F-4D97-AF65-F5344CB8AC3E}">
        <p14:creationId xmlns:p14="http://schemas.microsoft.com/office/powerpoint/2010/main" val="281877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7C2C-471E-4922-9AD5-239FC71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 and 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E8403-65EB-4ED0-8722-DE368D32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54FD2-4CE7-4CF3-BAC8-FE73255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41DA1-BF2B-41A5-B7B0-BC0F9130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392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D8278-FE99-4929-9439-AF4F4BA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39243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Filter profiles by classified expertise and availability.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Sort by rating and return up to five profiles.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Urgent lookup returns one available profile by rating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84C24-36DD-48EF-B77E-BF89A68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76325"/>
            <a:ext cx="408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Booking and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0B2CF-D52D-4329-8C1F-7B0F650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43050"/>
            <a:ext cx="40862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Store the user, selected advocate and requested date.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Create a Razorpay order and open browser checkout.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Verify the signature and update booking/payment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1AB28-175E-45DF-B421-F3211459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43350"/>
            <a:ext cx="845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838C8-D1FF-4C26-9208-62CBCDA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52925"/>
            <a:ext cx="845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Language filtering and accepted time slots need development. Urgent lookup does not guarantee response. Demo confirmation can leave payment pending.</a:t>
            </a:r>
          </a:p>
        </p:txBody>
      </p:sp>
    </p:spTree>
    <p:extLst>
      <p:ext uri="{BB962C8B-B14F-4D97-AF65-F5344CB8AC3E}">
        <p14:creationId xmlns:p14="http://schemas.microsoft.com/office/powerpoint/2010/main" val="912433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56199-953B-4D1E-AD7F-9F29890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Technology stack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9B1FF-CEEE-4BFD-92CD-9A42D734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20698-9B63-4A75-8EEA-BA71AD0F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3D284-963C-4C1D-8F0A-557171F855E4}"/>
              </a:ext>
            </a:extLst>
          </p:cNvPr>
          <p:cNvGraphicFramePr/>
          <p:nvPr/>
        </p:nvGraphicFramePr>
        <p:xfrm>
          <a:off xmlns:a="http://schemas.openxmlformats.org/drawingml/2006/main" x="342900" y="1038225"/>
          <a:ext xmlns:a="http://schemas.openxmlformats.org/drawingml/2006/main" cx="84582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0675"/>
                <a:gridCol w="2762250"/>
                <a:gridCol w="4105275"/>
              </a:tblGrid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React 18 + Vite 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Input, chat, results and booking 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 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API routing and workflow coordination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MongoDB + Mongoose 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Profiles, users, bookings and payment IDs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Browser Web Speech APIs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Recognition and spoken responses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AI adapter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Gateway / Gemini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Contextual triage and basic fallback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Razorpay SDK + Checkout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Order creation and signature checks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1C521-8196-4D4B-BF0A-B7EB2B6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38650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 stack connects speech, legal triage, advocate matching and consultation records.</a:t>
            </a:r>
          </a:p>
        </p:txBody>
      </p:sp>
    </p:spTree>
    <p:extLst>
      <p:ext uri="{BB962C8B-B14F-4D97-AF65-F5344CB8AC3E}">
        <p14:creationId xmlns:p14="http://schemas.microsoft.com/office/powerpoint/2010/main" val="1776460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250DD-3470-45B2-9AF2-4295EC5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scope and 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CAE79-DCEC-4E0B-B6D8-B3C60DBB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516A4-FE3C-403D-9735-FC0C01E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AA41F-6C33-4F43-96A9-85537FE4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Implemented in the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4047C-3D05-45F3-8F1B-E6A5D5E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3981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Hindi/English voice and typed input with spoken playback.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Contextual triage in four domains: criminal, civil, family and property.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matching, booking records and payment integration.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F89DE-1C0B-4B71-B6AA-8043AE0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0477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Evidence still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795DB-67B8-4646-92B5-C394197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24000"/>
            <a:ext cx="40671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Advocate-reviewed cases for domain and urgency evaluation.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tests for transcript quality and response comprehension.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End-to-end booking and failure tests, including interrupted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D0304-4071-477A-8B48-E8404A3B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845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Security and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F5ACC-8562-42E8-90BA-7899273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29125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Authentication, consent, profile verification, accepted slots and payment reconciliation remain launch requirements.</a:t>
            </a:r>
          </a:p>
        </p:txBody>
      </p:sp>
    </p:spTree>
    <p:extLst>
      <p:ext uri="{BB962C8B-B14F-4D97-AF65-F5344CB8AC3E}">
        <p14:creationId xmlns:p14="http://schemas.microsoft.com/office/powerpoint/2010/main" val="987211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72248-DC99-49E7-B9A5-F029B367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Roadmap and expected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2FED8-059D-44E5-B41D-BCF60309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390BB-200F-41C8-85E1-FF2F5F6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FB03E-A810-4371-A0E8-93CA6830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3D1F9-B212-4F22-A1B4-344BB58A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76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Stabilize the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2DC4D-915D-47B2-B757-1B51821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763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Test Hindi/English speech, model failure and the complete consultation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28A81-37FE-4218-B6C7-1D5BB0AF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192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72F00-FFAF-4C12-835E-29A07C13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19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Validate real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641C6-E624-4FCA-B660-F864636D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cases with advocates and measure user comprehension and task completion.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4233C-ED65-4CA8-A776-9BDF121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62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B5749-7EB8-4401-BB75-87CE1DD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Strengthen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75295-F749-4F53-8FB2-85E30C8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Add verified profiles, consent, secure access and reliable booking/payment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37771-D1BB-43B6-9B60-C91DB0E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051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4E4D7-5B05-49FA-A12F-9112DE0B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Expand languages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62487-3615-4FFC-B4FE-DECF4E4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051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Target 22 scheduled languages plus English. Validate each language before rollout.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802F7-4508-425B-9EC1-4BD1161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Expected benefit: clearer initial guidance and easier advocate discovery. Faculty and advocate feedback will guide the next development stage.</a:t>
            </a:r>
          </a:p>
        </p:txBody>
      </p:sp>
    </p:spTree>
    <p:extLst>
      <p:ext uri="{BB962C8B-B14F-4D97-AF65-F5344CB8AC3E}">
        <p14:creationId xmlns:p14="http://schemas.microsoft.com/office/powerpoint/2010/main" val="875514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2026-10-14T04:47:29.0030000Z</dcterms:created>
  <dcterms:modified xsi:type="dcterms:W3CDTF">2026-10-14T04:47:29.0040000Z</dcterms:modified>
</coreProperties>
</file>