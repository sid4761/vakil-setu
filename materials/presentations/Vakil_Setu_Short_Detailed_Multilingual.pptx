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1064e4fa7d4e77" /><Relationship Type="http://schemas.openxmlformats.org/officeDocument/2006/relationships/extended-properties" Target="/docProps/app.xml" Id="R9b85379aa8de4dc7" /><Relationship Type="http://schemas.openxmlformats.org/officeDocument/2006/relationships/officeDocument" Target="/ppt/presentation.xml" Id="R12807efd0404455b" /></Relationships>
</file>

<file path=ppt/presentation.xml><?xml version="1.0" encoding="utf-8"?>
<p:presentation xmlns:p="http://schemas.openxmlformats.org/presentationml/2006/main">
  <p:sldMasterIdLst>
    <p:sldMasterId xmlns:r="http://schemas.openxmlformats.org/officeDocument/2006/relationships" id="2147483648" r:id="Raf37f958b83f47b9"/>
  </p:sldMasterIdLst>
  <p:notesMasterIdLst>
    <p:notesMasterId xmlns:r="http://schemas.openxmlformats.org/officeDocument/2006/relationships" r:id="R1e976561e5c14daf"/>
  </p:notesMasterIdLst>
  <p:sldIdLst>
    <p:sldId xmlns:r="http://schemas.openxmlformats.org/officeDocument/2006/relationships" id="256" r:id="R42826b9b22e243ac"/>
    <p:sldId xmlns:r="http://schemas.openxmlformats.org/officeDocument/2006/relationships" id="257" r:id="R9bbbbb20a1eb46eb"/>
    <p:sldId xmlns:r="http://schemas.openxmlformats.org/officeDocument/2006/relationships" id="258" r:id="Rb5025324e8bd4320"/>
    <p:sldId xmlns:r="http://schemas.openxmlformats.org/officeDocument/2006/relationships" id="259" r:id="R252ec5fffb764728"/>
    <p:sldId xmlns:r="http://schemas.openxmlformats.org/officeDocument/2006/relationships" id="260" r:id="R3514bda404ce4b59"/>
    <p:sldId xmlns:r="http://schemas.openxmlformats.org/officeDocument/2006/relationships" id="261" r:id="R95565378752445ff"/>
    <p:sldId xmlns:r="http://schemas.openxmlformats.org/officeDocument/2006/relationships" id="262" r:id="R703459160d6b4a62"/>
    <p:sldId xmlns:r="http://schemas.openxmlformats.org/officeDocument/2006/relationships" id="263" r:id="R1532f8024003441e"/>
    <p:sldId xmlns:r="http://schemas.openxmlformats.org/officeDocument/2006/relationships" id="264" r:id="Rf213d0aaf89c4202"/>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eaf2aaf21d4ed2" /><Relationship Type="http://schemas.openxmlformats.org/officeDocument/2006/relationships/slideMaster" Target="/ppt/slideMasters/slideMaster1.xml" Id="Raf37f958b83f47b9" /><Relationship Type="http://schemas.openxmlformats.org/officeDocument/2006/relationships/notesMaster" Target="/ppt/notesMasters/notesMaster1.xml" Id="R1e976561e5c14daf" /><Relationship Type="http://schemas.openxmlformats.org/officeDocument/2006/relationships/presProps" Target="/ppt/presProps.xml" Id="R3b748f4e030d489d" /><Relationship Type="http://schemas.openxmlformats.org/officeDocument/2006/relationships/tableStyles" Target="/ppt/tableStyles.xml" Id="R42eaeb02e6f64fd6" /><Relationship Type="http://schemas.openxmlformats.org/officeDocument/2006/relationships/slide" Target="/ppt/slides/slide1.xml" Id="R42826b9b22e243ac" /><Relationship Type="http://schemas.openxmlformats.org/officeDocument/2006/relationships/slide" Target="/ppt/slides/slide2.xml" Id="R9bbbbb20a1eb46eb" /><Relationship Type="http://schemas.openxmlformats.org/officeDocument/2006/relationships/slide" Target="/ppt/slides/slide3.xml" Id="Rb5025324e8bd4320" /><Relationship Type="http://schemas.openxmlformats.org/officeDocument/2006/relationships/slide" Target="/ppt/slides/slide4.xml" Id="R252ec5fffb764728" /><Relationship Type="http://schemas.openxmlformats.org/officeDocument/2006/relationships/slide" Target="/ppt/slides/slide5.xml" Id="R3514bda404ce4b59" /><Relationship Type="http://schemas.openxmlformats.org/officeDocument/2006/relationships/slide" Target="/ppt/slides/slide6.xml" Id="R95565378752445ff" /><Relationship Type="http://schemas.openxmlformats.org/officeDocument/2006/relationships/slide" Target="/ppt/slides/slide7.xml" Id="R703459160d6b4a62" /><Relationship Type="http://schemas.openxmlformats.org/officeDocument/2006/relationships/slide" Target="/ppt/slides/slide8.xml" Id="R1532f8024003441e" /><Relationship Type="http://schemas.openxmlformats.org/officeDocument/2006/relationships/slide" Target="/ppt/slides/slide9.xml" Id="Rf213d0aaf89c42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4810fd9d614f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484772e65a41da" /><Relationship Type="http://schemas.openxmlformats.org/officeDocument/2006/relationships/notesMaster" Target="/ppt/notesMasters/notesMaster1.xml" Id="Re5b91113068a4f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23bf9aa31043ad" /><Relationship Type="http://schemas.openxmlformats.org/officeDocument/2006/relationships/notesMaster" Target="/ppt/notesMasters/notesMaster1.xml" Id="R16aa0c94ccdb40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7cc1d784e14f69" /><Relationship Type="http://schemas.openxmlformats.org/officeDocument/2006/relationships/notesMaster" Target="/ppt/notesMasters/notesMaster1.xml" Id="R7049059b774b42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48cbffa53347d6" /><Relationship Type="http://schemas.openxmlformats.org/officeDocument/2006/relationships/notesMaster" Target="/ppt/notesMasters/notesMaster1.xml" Id="R8b1d224d74a549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e90b93bb274231" /><Relationship Type="http://schemas.openxmlformats.org/officeDocument/2006/relationships/notesMaster" Target="/ppt/notesMasters/notesMaster1.xml" Id="Re014fe3b869c45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7f643e1f914b87" /><Relationship Type="http://schemas.openxmlformats.org/officeDocument/2006/relationships/notesMaster" Target="/ppt/notesMasters/notesMaster1.xml" Id="R419d39af60b148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c62e1c7349c4035" /><Relationship Type="http://schemas.openxmlformats.org/officeDocument/2006/relationships/notesMaster" Target="/ppt/notesMasters/notesMaster1.xml" Id="R6a7c2362be804c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c776db50d464875" /><Relationship Type="http://schemas.openxmlformats.org/officeDocument/2006/relationships/notesMaster" Target="/ppt/notesMasters/notesMaster1.xml" Id="Redab3c9fa63b40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f256c0752a4763" /><Relationship Type="http://schemas.openxmlformats.org/officeDocument/2006/relationships/notesMaster" Target="/ppt/notesMasters/notesMaster1.xml" Id="R012c3c3ca85f47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names and roll numbers retained from the previous Vakil Setu faculty presentation. Institutional logo supplied in the reference PDF.</a:t>
            </a:r>
          </a:p>
          <a:p xmlns:a="http://schemas.openxmlformats.org/drawingml/2006/main">
            <a:r>
              <a:t/>
            </a:r>
          </a:p>
          <a:p xmlns:a="http://schemas.openxmlformats.org/drawingml/2006/main">
            <a:r>
              <a:t>Sources:</a:t>
            </a:r>
          </a:p>
          <a:p xmlns:a="http://schemas.openxmlformats.org/drawingml/2006/main">
            <a:r>
              <a:t>C:/Users/DELL/Vakil-Setu/.codex-deck/final.mjs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is a design hypothesis. The materials provide no population-level survey or measured market size.</a:t>
            </a:r>
          </a:p>
          <a:p xmlns:a="http://schemas.openxmlformats.org/drawingml/2006/main">
            <a:r>
              <a:t/>
            </a:r>
          </a:p>
          <a:p xmlns:a="http://schemas.openxmlformats.org/drawingml/2006/main">
            <a:r>
              <a:t>Sources:</a:t>
            </a:r>
          </a:p>
          <a:p xmlns:a="http://schemas.openxmlformats.org/drawingml/2006/main">
            <a:r>
              <a:t>C:/Users/DELL/Vakil-Setu/SRS.md</a:t>
            </a:r>
          </a:p>
          <a:p xmlns:a="http://schemas.openxmlformats.org/drawingml/2006/main">
            <a:r>
              <a:t>C:/Users/DELL/Vakil-Setu/README.md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has Indian multilingual scope as clarified by the user. Voice and response quality depend on browser and provider support, and need testing for each language. General orientation supports preparation for a qualified advocate.</a:t>
            </a:r>
          </a:p>
          <a:p xmlns:a="http://schemas.openxmlformats.org/drawingml/2006/main">
            <a:r>
              <a:t/>
            </a:r>
          </a:p>
          <a:p xmlns:a="http://schemas.openxmlformats.org/drawingml/2006/main">
            <a:r>
              <a:t>Sources:</a:t>
            </a:r>
          </a:p>
          <a:p xmlns:a="http://schemas.openxmlformats.org/drawingml/2006/main">
            <a:r>
              <a:t>C:/Users/DELL/Vakil-Setu/frontend/src/components/VoiceRecorder.jsx</a:t>
            </a:r>
          </a:p>
          <a:p xmlns:a="http://schemas.openxmlformats.org/drawingml/2006/main">
            <a:r>
              <a:t>C:/Users/DELL/Vakil-Setu/frontend/src/hooks/useLegalChat.js</a:t>
            </a:r>
          </a:p>
          <a:p xmlns:a="http://schemas.openxmlformats.org/drawingml/2006/main">
            <a:r>
              <a:t>C:/Users/DELL/Vakil-Setu/backend/src/services/aiService.js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of current source code. No authentication layer, OCR service or Whisper endpoint is represented as implemented. Arrows show backend communication with the database and providers.</a:t>
            </a:r>
          </a:p>
          <a:p xmlns:a="http://schemas.openxmlformats.org/drawingml/2006/main">
            <a:r>
              <a:t/>
            </a:r>
          </a:p>
          <a:p xmlns:a="http://schemas.openxmlformats.org/drawingml/2006/main">
            <a:r>
              <a:t>Sources:</a:t>
            </a:r>
          </a:p>
          <a:p xmlns:a="http://schemas.openxmlformats.org/drawingml/2006/main">
            <a:r>
              <a:t>C:/Users/DELL/Vakil-Setu/backend/src/server.js</a:t>
            </a:r>
          </a:p>
          <a:p xmlns:a="http://schemas.openxmlformats.org/drawingml/2006/main">
            <a:r>
              <a:t>C:/Users/DELL/Vakil-Setu/backend/src/services/aiService.js</a:t>
            </a:r>
          </a:p>
          <a:p xmlns:a="http://schemas.openxmlformats.org/drawingml/2006/main">
            <a:r>
              <a:t>C:/Users/DELL/Vakil-Setu/backend/src/services/paymentService.js</a:t>
            </a:r>
          </a:p>
          <a:p xmlns:a="http://schemas.openxmlformats.org/drawingml/2006/main">
            <a:r>
              <a:t>C:/Users/DELL/Vakil-Setu/frontend/src/utils/webSpeech.js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uses the combined triage endpoint, which classifies and queries advocate records in one round trip. Fallback logic belongs to the backend AI adapter, not the external provider.</a:t>
            </a:r>
          </a:p>
          <a:p xmlns:a="http://schemas.openxmlformats.org/drawingml/2006/main">
            <a:r>
              <a:t/>
            </a:r>
          </a:p>
          <a:p xmlns:a="http://schemas.openxmlformats.org/drawingml/2006/main">
            <a:r>
              <a:t>Sources:</a:t>
            </a:r>
          </a:p>
          <a:p xmlns:a="http://schemas.openxmlformats.org/drawingml/2006/main">
            <a:r>
              <a:t>C:/Users/DELL/Vakil-Setu/frontend/src/hooks/useLegalChat.js</a:t>
            </a:r>
          </a:p>
          <a:p xmlns:a="http://schemas.openxmlformats.org/drawingml/2006/main">
            <a:r>
              <a:t>C:/Users/DELL/Vakil-Setu/backend/src/controllers/aiController.js</a:t>
            </a:r>
          </a:p>
          <a:p xmlns:a="http://schemas.openxmlformats.org/drawingml/2006/main">
            <a:r>
              <a:t>C:/Users/DELL/Vakil-Setu/backend/src/services/aiService.js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Payment integration exists in code, but this deck does not claim a validated transaction or production readiness. Add order binding, server-controlled pricing, restricted bypass, ownership checks and reconciliation before launch.</a:t>
            </a:r>
          </a:p>
          <a:p xmlns:a="http://schemas.openxmlformats.org/drawingml/2006/main">
            <a:r>
              <a:t/>
            </a:r>
          </a:p>
          <a:p xmlns:a="http://schemas.openxmlformats.org/drawingml/2006/main">
            <a:r>
              <a:t>Sources:</a:t>
            </a:r>
          </a:p>
          <a:p xmlns:a="http://schemas.openxmlformats.org/drawingml/2006/main">
            <a:r>
              <a:t>C:/Users/DELL/Vakil-Setu/backend/src/controllers/advocateController.js</a:t>
            </a:r>
          </a:p>
          <a:p xmlns:a="http://schemas.openxmlformats.org/drawingml/2006/main">
            <a:r>
              <a:t>C:/Users/DELL/Vakil-Setu/backend/src/controllers/emergencyController.js</a:t>
            </a:r>
          </a:p>
          <a:p xmlns:a="http://schemas.openxmlformats.org/drawingml/2006/main">
            <a:r>
              <a:t>C:/Users/DELL/Vakil-Setu/backend/src/controllers/bookingController.js</a:t>
            </a:r>
          </a:p>
          <a:p xmlns:a="http://schemas.openxmlformats.org/drawingml/2006/main">
            <a:r>
              <a:t>C:/Users/DELL/Vakil-Setu/backend/src/controllers/paymentController.js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Versions follow dependency declarations. These are not claims about latest releases. The current server does not register the Whisper route mentioned in an older README.</a:t>
            </a:r>
          </a:p>
          <a:p xmlns:a="http://schemas.openxmlformats.org/drawingml/2006/main">
            <a:r>
              <a:t/>
            </a:r>
          </a:p>
          <a:p xmlns:a="http://schemas.openxmlformats.org/drawingml/2006/main">
            <a:r>
              <a:t>Sources:</a:t>
            </a:r>
          </a:p>
          <a:p xmlns:a="http://schemas.openxmlformats.org/drawingml/2006/main">
            <a:r>
              <a:t>C:/Users/DELL/Vakil-Setu/frontend/package.json</a:t>
            </a:r>
          </a:p>
          <a:p xmlns:a="http://schemas.openxmlformats.org/drawingml/2006/main">
            <a:r>
              <a:t>C:/Users/DELL/Vakil-Setu/backend/package.json</a:t>
            </a:r>
          </a:p>
          <a:p xmlns:a="http://schemas.openxmlformats.org/drawingml/2006/main">
            <a:r>
              <a:t>C:/Users/DELL/Vakil-Setu/backend/src/server.js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Indian multilingual coverage is the project scope confirmed by the user. Language-by-language recognition, response and playback quality require validation. The repository inspected here has explicit Hindi/English paths and does not establish complete language coverage. No measured accuracy, latency or impact is claimed.</a:t>
            </a:r>
          </a:p>
          <a:p xmlns:a="http://schemas.openxmlformats.org/drawingml/2006/main">
            <a:r>
              <a:t/>
            </a:r>
          </a:p>
          <a:p xmlns:a="http://schemas.openxmlformats.org/drawingml/2006/main">
            <a:r>
              <a:t>Sources:</a:t>
            </a:r>
          </a:p>
          <a:p xmlns:a="http://schemas.openxmlformats.org/drawingml/2006/main">
            <a:r>
              <a:t>C:/Users/DELL/Vakil-Setu/backend/src/services/aiService.js</a:t>
            </a:r>
          </a:p>
          <a:p xmlns:a="http://schemas.openxmlformats.org/drawingml/2006/main">
            <a:r>
              <a:t>C:/Users/DELL/Vakil-Setu/backend/src/server.js</a:t>
            </a:r>
          </a:p>
          <a:p xmlns:a="http://schemas.openxmlformats.org/drawingml/2006/main">
            <a:r>
              <a:t>C:/Users/DELL/Vakil-Setu/SRS.md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Roadmap describes targets rather than completed milestones. General guidance supports preparation for professional consultation. Expected benefits require user trials.</a:t>
            </a:r>
          </a:p>
          <a:p xmlns:a="http://schemas.openxmlformats.org/drawingml/2006/main">
            <a:r>
              <a:t/>
            </a:r>
          </a:p>
          <a:p xmlns:a="http://schemas.openxmlformats.org/drawingml/2006/main">
            <a:r>
              <a:t>Sources:</a:t>
            </a:r>
          </a:p>
          <a:p xmlns:a="http://schemas.openxmlformats.org/drawingml/2006/main">
            <a:r>
              <a:t>C:/Users/DELL/Vakil-Setu/SRS.md</a:t>
            </a:r>
          </a:p>
          <a:p xmlns:a="http://schemas.openxmlformats.org/drawingml/2006/main">
            <a:r>
              <a:t>C:/Users/DELL/Vakil-Setu/.codex-deck/reference-build/build.mjs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b6c13cdecd4d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b10c43aa50946a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ae008f41fd24db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39fb4fdb90a425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be1417e5843478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0076a428c5e47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D844D8-C216-4FB1-ACEB-7F63528EBFCD}"/>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FFA0C5B-9614-4A0B-8B0A-0650EB5FFE36}"/>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175B76D-9DE9-4A5C-87A2-4E808809C7FA}"/>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16B8DA-1EE9-463F-9C5A-A02FF613DFA6}"/>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ACDB607-8305-4E62-ADE4-FFAA6BE08629}"/>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CC524E9-813A-4D15-BB5E-D69879C5D2F8}"/>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C2AE5B-376B-4F41-AA72-27422B90A280}"/>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BD1007B-FDB5-43E2-AB43-2DC1B75C109A}"/>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EC0DCB-B906-4A82-BD8B-DBCACDDB9BB3}"/>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17C7F9-9B05-4001-9BEE-0979940DE380}"/>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b3937b06d443ee" /><Relationship Type="http://schemas.openxmlformats.org/officeDocument/2006/relationships/slideLayout" Target="/ppt/slideLayouts/slideLayout1.xml" Id="Rc3a2eeeb3e124e37" /><Relationship Type="http://schemas.openxmlformats.org/officeDocument/2006/relationships/slideLayout" Target="/ppt/slideLayouts/slideLayout2.xml" Id="R4bba702cead64645" /><Relationship Type="http://schemas.openxmlformats.org/officeDocument/2006/relationships/slideLayout" Target="/ppt/slideLayouts/slideLayout3.xml" Id="R445992136bde4340" /><Relationship Type="http://schemas.openxmlformats.org/officeDocument/2006/relationships/slideLayout" Target="/ppt/slideLayouts/slideLayout4.xml" Id="Rec33a2d531494944" /><Relationship Type="http://schemas.openxmlformats.org/officeDocument/2006/relationships/slideLayout" Target="/ppt/slideLayouts/slideLayout5.xml" Id="R13e2d9f405de421c" /><Relationship Type="http://schemas.openxmlformats.org/officeDocument/2006/relationships/slideLayout" Target="/ppt/slideLayouts/slideLayout6.xml" Id="Rf443fd9268bf49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a2eeeb3e124e37"/>
    <p:sldLayoutId xmlns:r="http://schemas.openxmlformats.org/officeDocument/2006/relationships" id="2147483650" r:id="R4bba702cead64645"/>
    <p:sldLayoutId xmlns:r="http://schemas.openxmlformats.org/officeDocument/2006/relationships" id="2147483651" r:id="R445992136bde4340"/>
    <p:sldLayoutId xmlns:r="http://schemas.openxmlformats.org/officeDocument/2006/relationships" id="2147483652" r:id="Rec33a2d531494944"/>
    <p:sldLayoutId xmlns:r="http://schemas.openxmlformats.org/officeDocument/2006/relationships" id="2147483653" r:id="R13e2d9f405de421c"/>
    <p:sldLayoutId xmlns:r="http://schemas.openxmlformats.org/officeDocument/2006/relationships" id="2147483654" r:id="Rf443fd9268bf49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3bbb88c198b4755" /><Relationship Type="http://schemas.openxmlformats.org/officeDocument/2006/relationships/image" Target="/ppt/media/image.png" Id="Rce699e51a3ea4fee" /><Relationship Type="http://schemas.openxmlformats.org/officeDocument/2006/relationships/notesSlide" Target="/ppt/notesSlides/notesSlide1.xml" Id="R1178bb51be8b41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380b69662cc4fac" /><Relationship Type="http://schemas.openxmlformats.org/officeDocument/2006/relationships/notesSlide" Target="/ppt/notesSlides/notesSlide2.xml" Id="Rb00609b8bff647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7593da180064e11" /><Relationship Type="http://schemas.openxmlformats.org/officeDocument/2006/relationships/notesSlide" Target="/ppt/notesSlides/notesSlide3.xml" Id="R7bbe9eabf7924c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6128ef7411940dc" /><Relationship Type="http://schemas.openxmlformats.org/officeDocument/2006/relationships/notesSlide" Target="/ppt/notesSlides/notesSlide4.xml" Id="R4d4320da06a14c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2d84627593544f4" /><Relationship Type="http://schemas.openxmlformats.org/officeDocument/2006/relationships/notesSlide" Target="/ppt/notesSlides/notesSlide5.xml" Id="Ra0d0b95fc5a143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b1fc8b0b06243b4" /><Relationship Type="http://schemas.openxmlformats.org/officeDocument/2006/relationships/notesSlide" Target="/ppt/notesSlides/notesSlide6.xml" Id="Rb303cad49fce41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6d001aa962a4e65" /><Relationship Type="http://schemas.openxmlformats.org/officeDocument/2006/relationships/notesSlide" Target="/ppt/notesSlides/notesSlide7.xml" Id="Redd874caf10148a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e98da4762b04661" /><Relationship Type="http://schemas.openxmlformats.org/officeDocument/2006/relationships/notesSlide" Target="/ppt/notesSlides/notesSlide8.xml" Id="Rfd62613e59c440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0000bc10e014530" /><Relationship Type="http://schemas.openxmlformats.org/officeDocument/2006/relationships/notesSlide" Target="/ppt/notesSlides/notesSlide9.xml" Id="R649c398411674a7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108A0B-59BC-49D5-83F5-CD12C7A715E3}"/>
              </a:ext>
            </a:extLst>
          </p:cNvPr>
          <p:cNvSpPr>
            <a:spLocks xmlns:a="http://schemas.openxmlformats.org/drawingml/2006/main" noGrp="1"/>
          </p:cNvSpPr>
          <p:nvPr/>
        </p:nvSpPr>
        <p:spPr>
          <a:xfrm xmlns:a="http://schemas.openxmlformats.org/drawingml/2006/main">
            <a:off x="476250" y="295275"/>
            <a:ext cx="819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4650" b="1">
                <a:solidFill>
                  <a:srgbClr val="0969DA"/>
                </a:solidFill>
                <a:latin typeface="Arial"/>
                <a:ea typeface="Arial"/>
                <a:cs typeface="Arial"/>
              </a:defRPr>
            </a:defPPr>
          </a:lstStyle>
          <a:p xmlns:a="http://schemas.openxmlformats.org/drawingml/2006/main">
            <a:pPr algn="ctr">
              <a:defRPr sz="4650" b="1">
                <a:solidFill>
                  <a:srgbClr val="0969DA"/>
                </a:solidFill>
                <a:latin typeface="Arial"/>
                <a:ea typeface="Arial"/>
                <a:cs typeface="Arial"/>
              </a:defRPr>
            </a:pPr>
            <a:r>
              <a:rPr sz="4650" b="1">
                <a:solidFill>
                  <a:srgbClr val="0969DA"/>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A758598A-DA6E-4C29-84B0-9DAD9DC1A682}"/>
              </a:ext>
            </a:extLst>
          </p:cNvPr>
          <p:cNvSpPr>
            <a:spLocks xmlns:a="http://schemas.openxmlformats.org/drawingml/2006/main" noGrp="1"/>
          </p:cNvSpPr>
          <p:nvPr/>
        </p:nvSpPr>
        <p:spPr>
          <a:xfrm xmlns:a="http://schemas.openxmlformats.org/drawingml/2006/main">
            <a:off x="571500" y="1228725"/>
            <a:ext cx="800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325" b="1">
                <a:solidFill>
                  <a:srgbClr val="0751AA"/>
                </a:solidFill>
                <a:latin typeface="Arial"/>
                <a:ea typeface="Arial"/>
                <a:cs typeface="Arial"/>
              </a:defRPr>
            </a:defPPr>
          </a:lstStyle>
          <a:p xmlns:a="http://schemas.openxmlformats.org/drawingml/2006/main">
            <a:pPr algn="ctr">
              <a:defRPr sz="2325" b="1">
                <a:solidFill>
                  <a:srgbClr val="0751AA"/>
                </a:solidFill>
                <a:latin typeface="Arial"/>
                <a:ea typeface="Arial"/>
                <a:cs typeface="Arial"/>
              </a:defRPr>
            </a:pPr>
            <a:r>
              <a:rPr sz="2325" b="1">
                <a:solidFill>
                  <a:srgbClr val="0751AA"/>
                </a:solidFill>
                <a:latin typeface="Arial"/>
                <a:ea typeface="Arial"/>
                <a:cs typeface="Arial"/>
              </a:rPr>
              <a:t>Multilingual voice-based legal assistance</a:t>
            </a:r>
          </a:p>
          <a:p xmlns:a="http://schemas.openxmlformats.org/drawingml/2006/main">
            <a:pPr algn="ctr">
              <a:defRPr sz="2325" b="1">
                <a:solidFill>
                  <a:srgbClr val="0751AA"/>
                </a:solidFill>
                <a:latin typeface="Arial"/>
                <a:ea typeface="Arial"/>
                <a:cs typeface="Arial"/>
              </a:defRPr>
            </a:pPr>
            <a:r>
              <a:rPr sz="2325" b="1">
                <a:solidFill>
                  <a:srgbClr val="0751AA"/>
                </a:solidFill>
                <a:latin typeface="Arial"/>
                <a:ea typeface="Arial"/>
                <a:cs typeface="Arial"/>
              </a:rPr>
              <a:t>and advocate access</a:t>
            </a:r>
          </a:p>
        </p:txBody>
      </p:sp>
      <p:sp>
        <p:nvSpPr>
          <p:cNvPr id="3" name="">
            <a:extLst xmlns:a="http://schemas.openxmlformats.org/drawingml/2006/main">
              <a:ext uri="{FF2B5EF4-FFF2-40B4-BE49-F238E27FC236}">
                <a16:creationId xmlns:a16="http://schemas.microsoft.com/office/drawing/2014/main" id="{961DB197-3121-4BC2-9133-86D40B504AE5}"/>
              </a:ext>
            </a:extLst>
          </p:cNvPr>
          <p:cNvSpPr>
            <a:spLocks xmlns:a="http://schemas.openxmlformats.org/drawingml/2006/main" noGrp="1"/>
          </p:cNvSpPr>
          <p:nvPr/>
        </p:nvSpPr>
        <p:spPr>
          <a:xfrm xmlns:a="http://schemas.openxmlformats.org/drawingml/2006/main">
            <a:off x="857250" y="2133600"/>
            <a:ext cx="7429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800" b="0">
                <a:solidFill>
                  <a:srgbClr val="24292F"/>
                </a:solidFill>
                <a:latin typeface="Arial"/>
                <a:ea typeface="Arial"/>
                <a:cs typeface="Arial"/>
              </a:defRPr>
            </a:defPPr>
          </a:lstStyle>
          <a:p xmlns:a="http://schemas.openxmlformats.org/drawingml/2006/main">
            <a:pPr algn="ctr">
              <a:defRPr sz="1800" b="0">
                <a:solidFill>
                  <a:srgbClr val="24292F"/>
                </a:solidFill>
                <a:latin typeface="Arial"/>
                <a:ea typeface="Arial"/>
                <a:cs typeface="Arial"/>
              </a:defRPr>
            </a:pPr>
            <a:r>
              <a:rPr sz="1800" b="0">
                <a:solidFill>
                  <a:srgbClr val="24292F"/>
                </a:solidFill>
                <a:latin typeface="Arial"/>
                <a:ea typeface="Arial"/>
                <a:cs typeface="Arial"/>
              </a:rPr>
              <a:t>Presented by: Raghav Nargotra (2023A1R033)</a:t>
            </a:r>
          </a:p>
          <a:p xmlns:a="http://schemas.openxmlformats.org/drawingml/2006/main">
            <a:pPr algn="ctr">
              <a:defRPr sz="1800" b="0">
                <a:solidFill>
                  <a:srgbClr val="24292F"/>
                </a:solidFill>
                <a:latin typeface="Arial"/>
                <a:ea typeface="Arial"/>
                <a:cs typeface="Arial"/>
              </a:defRPr>
            </a:pPr>
            <a:r>
              <a:rPr sz="1800" b="0">
                <a:solidFill>
                  <a:srgbClr val="24292F"/>
                </a:solidFill>
                <a:latin typeface="Arial"/>
                <a:ea typeface="Arial"/>
                <a:cs typeface="Arial"/>
              </a:rPr>
              <a:t>Sidarth Gupta (2023A1R038)</a:t>
            </a:r>
          </a:p>
        </p:txBody>
      </p:sp>
      <p:pic>
        <p:nvPicPr>
          <p:cNvPr id="4" name="">
            <a:extLst xmlns:a="http://schemas.openxmlformats.org/drawingml/2006/main">
              <a:ext uri="{FF2B5EF4-FFF2-40B4-BE49-F238E27FC236}">
                <a16:creationId xmlns:a16="http://schemas.microsoft.com/office/drawing/2014/main" id="{8773BE0C-A7B1-4C50-9D27-5174FBD24EA7}"/>
              </a:ext>
            </a:extLst>
          </p:cNvPr>
          <p:cNvPicPr>
            <a:picLocks xmlns:a="http://schemas.openxmlformats.org/drawingml/2006/main" noChangeAspect="1"/>
          </p:cNvPicPr>
          <p:nvPr/>
        </p:nvPicPr>
        <p:blipFill>
          <a:blip xmlns:r="http://schemas.openxmlformats.org/officeDocument/2006/relationships" xmlns:a="http://schemas.openxmlformats.org/drawingml/2006/main" r:embed="Rce699e51a3ea4fee"/>
          <a:stretch xmlns:a="http://schemas.openxmlformats.org/drawingml/2006/main"/>
        </p:blipFill>
        <p:spPr>
          <a:xfrm xmlns:a="http://schemas.openxmlformats.org/drawingml/2006/main">
            <a:off x="3752850" y="3725676"/>
            <a:ext cx="1638300" cy="57822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02321A8-4361-4848-B02E-30094E4F7F54}"/>
              </a:ext>
            </a:extLst>
          </p:cNvPr>
          <p:cNvSpPr>
            <a:spLocks xmlns:a="http://schemas.openxmlformats.org/drawingml/2006/main" noGrp="1"/>
          </p:cNvSpPr>
          <p:nvPr/>
        </p:nvSpPr>
        <p:spPr>
          <a:xfrm xmlns:a="http://schemas.openxmlformats.org/drawingml/2006/main">
            <a:off x="476250" y="44958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350" b="0">
                <a:solidFill>
                  <a:srgbClr val="626B76"/>
                </a:solidFill>
                <a:latin typeface="Arial"/>
                <a:ea typeface="Arial"/>
                <a:cs typeface="Arial"/>
              </a:defRPr>
            </a:defPPr>
          </a:lstStyle>
          <a:p xmlns:a="http://schemas.openxmlformats.org/drawingml/2006/main">
            <a:pPr algn="ctr">
              <a:defRPr sz="1350" b="0">
                <a:solidFill>
                  <a:srgbClr val="626B76"/>
                </a:solidFill>
                <a:latin typeface="Arial"/>
                <a:ea typeface="Arial"/>
                <a:cs typeface="Arial"/>
              </a:defRPr>
            </a:pPr>
            <a:r>
              <a:rPr sz="1350" b="0">
                <a:solidFill>
                  <a:srgbClr val="626B76"/>
                </a:solidFill>
                <a:latin typeface="Arial"/>
                <a:ea typeface="Arial"/>
                <a:cs typeface="Arial"/>
              </a:rPr>
              <a:t>Model Institute of Engineering and Technology (Autonomous), Jammu · 2026</a:t>
            </a:r>
          </a:p>
        </p:txBody>
      </p:sp>
    </p:spTree>
    <p:extLst>
      <p:ext uri="{BB962C8B-B14F-4D97-AF65-F5344CB8AC3E}">
        <p14:creationId xmlns:p14="http://schemas.microsoft.com/office/powerpoint/2010/main" val="8561236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793495-792C-41DD-A010-7D4B6A37BDC6}"/>
              </a:ext>
            </a:extLst>
          </p:cNvPr>
          <p:cNvSpPr>
            <a:spLocks xmlns:a="http://schemas.openxmlformats.org/drawingml/2006/main" noGrp="1"/>
          </p:cNvSpPr>
          <p:nvPr/>
        </p:nvSpPr>
        <p:spPr>
          <a:xfrm xmlns:a="http://schemas.openxmlformats.org/drawingml/2006/main">
            <a:off x="342900" y="247650"/>
            <a:ext cx="8458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0969DA"/>
                </a:solidFill>
                <a:latin typeface="Arial"/>
                <a:ea typeface="Arial"/>
                <a:cs typeface="Arial"/>
              </a:defRPr>
            </a:defPPr>
          </a:lstStyle>
          <a:p xmlns:a="http://schemas.openxmlformats.org/drawingml/2006/main">
            <a:pPr algn="l">
              <a:defRPr sz="3000" b="1">
                <a:solidFill>
                  <a:srgbClr val="0969DA"/>
                </a:solidFill>
                <a:latin typeface="Arial"/>
                <a:ea typeface="Arial"/>
                <a:cs typeface="Arial"/>
              </a:defRPr>
            </a:pPr>
            <a:r>
              <a:rPr sz="3000" b="1">
                <a:solidFill>
                  <a:srgbClr val="0969DA"/>
                </a:solidFill>
                <a:latin typeface="Arial"/>
                <a:ea typeface="Arial"/>
                <a:cs typeface="Arial"/>
              </a:rPr>
              <a:t>Problem and target users</a:t>
            </a:r>
          </a:p>
        </p:txBody>
      </p:sp>
      <p:sp>
        <p:nvSpPr>
          <p:cNvPr id="2" name="">
            <a:extLst xmlns:a="http://schemas.openxmlformats.org/drawingml/2006/main">
              <a:ext uri="{FF2B5EF4-FFF2-40B4-BE49-F238E27FC236}">
                <a16:creationId xmlns:a16="http://schemas.microsoft.com/office/drawing/2014/main" id="{F75C0F41-7917-4681-87B6-488AD40A59FF}"/>
              </a:ext>
            </a:extLst>
          </p:cNvPr>
          <p:cNvSpPr>
            <a:spLocks xmlns:a="http://schemas.openxmlformats.org/drawingml/2006/main" noGrp="1"/>
          </p:cNvSpPr>
          <p:nvPr/>
        </p:nvSpPr>
        <p:spPr>
          <a:xfrm xmlns:a="http://schemas.openxmlformats.org/drawingml/2006/main">
            <a:off x="342900" y="828675"/>
            <a:ext cx="8458200" cy="6668"/>
          </a:xfrm>
          <a:prstGeom xmlns:a="http://schemas.openxmlformats.org/drawingml/2006/main" prst="rect">
            <a:avLst/>
          </a:prstGeom>
          <a:solidFill xmlns:a="http://schemas.openxmlformats.org/drawingml/2006/main">
            <a:srgbClr val="CFD7E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A5BC5A8-3EBB-4FFF-A5FA-F26FD2160DDC}"/>
              </a:ext>
            </a:extLst>
          </p:cNvPr>
          <p:cNvSpPr>
            <a:spLocks xmlns:a="http://schemas.openxmlformats.org/drawingml/2006/main" noGrp="1"/>
          </p:cNvSpPr>
          <p:nvPr/>
        </p:nvSpPr>
        <p:spPr>
          <a:xfrm xmlns:a="http://schemas.openxmlformats.org/drawingml/2006/main">
            <a:off x="8524875" y="47815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777777"/>
                </a:solidFill>
                <a:latin typeface="Arial"/>
                <a:ea typeface="Arial"/>
                <a:cs typeface="Arial"/>
              </a:defRPr>
            </a:defPPr>
          </a:lstStyle>
          <a:p xmlns:a="http://schemas.openxmlformats.org/drawingml/2006/main">
            <a:pPr algn="r">
              <a:defRPr sz="1350" b="0">
                <a:solidFill>
                  <a:srgbClr val="777777"/>
                </a:solidFill>
                <a:latin typeface="Arial"/>
                <a:ea typeface="Arial"/>
                <a:cs typeface="Arial"/>
              </a:defRPr>
            </a:pPr>
            <a:r>
              <a:rPr sz="1350" b="0">
                <a:solidFill>
                  <a:srgbClr val="777777"/>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09BA4FC1-2390-494A-83F7-0BABA8F68057}"/>
              </a:ext>
            </a:extLst>
          </p:cNvPr>
          <p:cNvSpPr>
            <a:spLocks xmlns:a="http://schemas.openxmlformats.org/drawingml/2006/main" noGrp="1"/>
          </p:cNvSpPr>
          <p:nvPr/>
        </p:nvSpPr>
        <p:spPr>
          <a:xfrm xmlns:a="http://schemas.openxmlformats.org/drawingml/2006/main">
            <a:off x="342900" y="1038225"/>
            <a:ext cx="8458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4292F"/>
                </a:solidFill>
                <a:latin typeface="Arial"/>
                <a:ea typeface="Arial"/>
                <a:cs typeface="Arial"/>
              </a:defRPr>
            </a:defPPr>
          </a:lstStyle>
          <a:p xmlns:a="http://schemas.openxmlformats.org/drawingml/2006/main">
            <a:pPr algn="l">
              <a:defRPr sz="1875" b="0">
                <a:solidFill>
                  <a:srgbClr val="24292F"/>
                </a:solidFill>
                <a:latin typeface="Arial"/>
                <a:ea typeface="Arial"/>
                <a:cs typeface="Arial"/>
              </a:defRPr>
            </a:pPr>
            <a:r>
              <a:rPr sz="1875" b="0">
                <a:solidFill>
                  <a:srgbClr val="24292F"/>
                </a:solidFill>
                <a:latin typeface="Arial"/>
                <a:ea typeface="Arial"/>
                <a:cs typeface="Arial"/>
              </a:rPr>
              <a:t>People can describe a dispute without knowing its legal category, the relevant advocate or the next step.</a:t>
            </a:r>
          </a:p>
        </p:txBody>
      </p:sp>
      <p:sp>
        <p:nvSpPr>
          <p:cNvPr id="5" name="">
            <a:extLst xmlns:a="http://schemas.openxmlformats.org/drawingml/2006/main">
              <a:ext uri="{FF2B5EF4-FFF2-40B4-BE49-F238E27FC236}">
                <a16:creationId xmlns:a16="http://schemas.microsoft.com/office/drawing/2014/main" id="{7EF4688B-1C93-42F8-8EED-0986E748842D}"/>
              </a:ext>
            </a:extLst>
          </p:cNvPr>
          <p:cNvSpPr>
            <a:spLocks xmlns:a="http://schemas.openxmlformats.org/drawingml/2006/main" noGrp="1"/>
          </p:cNvSpPr>
          <p:nvPr/>
        </p:nvSpPr>
        <p:spPr>
          <a:xfrm xmlns:a="http://schemas.openxmlformats.org/drawingml/2006/main">
            <a:off x="342900" y="1809750"/>
            <a:ext cx="845820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24292F"/>
                </a:solidFill>
                <a:latin typeface="Arial"/>
                <a:ea typeface="Arial"/>
                <a:cs typeface="Arial"/>
              </a:defRPr>
            </a:defPPr>
          </a:lstStyle>
          <a:p xmlns:a="http://schemas.openxmlformats.org/drawingml/2006/main">
            <a:pPr marL="177800" indent="-127000" algn="l">
              <a:spcAft>
                <a:spcPts val="1200"/>
              </a:spcAft>
              <a:buChar char="•"/>
              <a:defRPr sz="1800" b="0">
                <a:solidFill>
                  <a:srgbClr val="24292F"/>
                </a:solidFill>
                <a:latin typeface="Arial"/>
                <a:ea typeface="Arial"/>
                <a:cs typeface="Arial"/>
              </a:defRPr>
            </a:pPr>
            <a:r>
              <a:t>Language barrier: formal terminology and long text forms can make initial intake difficult.</a:t>
            </a:r>
          </a:p>
          <a:p xmlns:a="http://schemas.openxmlformats.org/drawingml/2006/main">
            <a:pPr marL="177800" indent="-127000" algn="l">
              <a:spcAft>
                <a:spcPts val="1200"/>
              </a:spcAft>
              <a:buChar char="•"/>
              <a:defRPr sz="1800" b="0">
                <a:solidFill>
                  <a:srgbClr val="24292F"/>
                </a:solidFill>
                <a:latin typeface="Arial"/>
                <a:ea typeface="Arial"/>
                <a:cs typeface="Arial"/>
              </a:defRPr>
            </a:pPr>
            <a:r>
              <a:t>Unclear preparation: users may not know which facts and documents matter.</a:t>
            </a:r>
          </a:p>
          <a:p xmlns:a="http://schemas.openxmlformats.org/drawingml/2006/main">
            <a:pPr marL="177800" indent="-127000" algn="l">
              <a:spcAft>
                <a:spcPts val="1200"/>
              </a:spcAft>
              <a:buChar char="•"/>
              <a:defRPr sz="1800" b="0">
                <a:solidFill>
                  <a:srgbClr val="24292F"/>
                </a:solidFill>
                <a:latin typeface="Arial"/>
                <a:ea typeface="Arial"/>
                <a:cs typeface="Arial"/>
              </a:defRPr>
            </a:pPr>
            <a:r>
              <a:t>Fragmented access: guidance, advocate discovery and booking require separate steps.</a:t>
            </a:r>
          </a:p>
        </p:txBody>
      </p:sp>
      <p:sp>
        <p:nvSpPr>
          <p:cNvPr id="6" name="">
            <a:extLst xmlns:a="http://schemas.openxmlformats.org/drawingml/2006/main">
              <a:ext uri="{FF2B5EF4-FFF2-40B4-BE49-F238E27FC236}">
                <a16:creationId xmlns:a16="http://schemas.microsoft.com/office/drawing/2014/main" id="{7C84D2BB-F9FA-43A2-8410-5E4363ED64D7}"/>
              </a:ext>
            </a:extLst>
          </p:cNvPr>
          <p:cNvSpPr>
            <a:spLocks xmlns:a="http://schemas.openxmlformats.org/drawingml/2006/main" noGrp="1"/>
          </p:cNvSpPr>
          <p:nvPr/>
        </p:nvSpPr>
        <p:spPr>
          <a:xfrm xmlns:a="http://schemas.openxmlformats.org/drawingml/2006/main">
            <a:off x="342900" y="3905250"/>
            <a:ext cx="8458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969DA"/>
                </a:solidFill>
                <a:latin typeface="Arial"/>
                <a:ea typeface="Arial"/>
                <a:cs typeface="Arial"/>
              </a:defRPr>
            </a:defPPr>
          </a:lstStyle>
          <a:p xmlns:a="http://schemas.openxmlformats.org/drawingml/2006/main">
            <a:pPr algn="l">
              <a:defRPr sz="1800" b="1">
                <a:solidFill>
                  <a:srgbClr val="0969DA"/>
                </a:solidFill>
                <a:latin typeface="Arial"/>
                <a:ea typeface="Arial"/>
                <a:cs typeface="Arial"/>
              </a:defRPr>
            </a:pPr>
            <a:r>
              <a:rPr sz="1800" b="1">
                <a:solidFill>
                  <a:srgbClr val="0969DA"/>
                </a:solidFill>
                <a:latin typeface="Arial"/>
                <a:ea typeface="Arial"/>
                <a:cs typeface="Arial"/>
              </a:rPr>
              <a:t>Target users</a:t>
            </a:r>
          </a:p>
        </p:txBody>
      </p:sp>
      <p:sp>
        <p:nvSpPr>
          <p:cNvPr id="7" name="">
            <a:extLst xmlns:a="http://schemas.openxmlformats.org/drawingml/2006/main">
              <a:ext uri="{FF2B5EF4-FFF2-40B4-BE49-F238E27FC236}">
                <a16:creationId xmlns:a16="http://schemas.microsoft.com/office/drawing/2014/main" id="{D28A435D-E54F-48A2-913C-13CBF86A847D}"/>
              </a:ext>
            </a:extLst>
          </p:cNvPr>
          <p:cNvSpPr>
            <a:spLocks xmlns:a="http://schemas.openxmlformats.org/drawingml/2006/main" noGrp="1"/>
          </p:cNvSpPr>
          <p:nvPr/>
        </p:nvSpPr>
        <p:spPr>
          <a:xfrm xmlns:a="http://schemas.openxmlformats.org/drawingml/2006/main">
            <a:off x="342900" y="4295775"/>
            <a:ext cx="8191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24292F"/>
                </a:solidFill>
                <a:latin typeface="Arial"/>
                <a:ea typeface="Arial"/>
                <a:cs typeface="Arial"/>
              </a:defRPr>
            </a:defPPr>
          </a:lstStyle>
          <a:p xmlns:a="http://schemas.openxmlformats.org/drawingml/2006/main">
            <a:pPr algn="l">
              <a:defRPr sz="1650" b="0">
                <a:solidFill>
                  <a:srgbClr val="24292F"/>
                </a:solidFill>
                <a:latin typeface="Arial"/>
                <a:ea typeface="Arial"/>
                <a:cs typeface="Arial"/>
              </a:defRPr>
            </a:pPr>
            <a:r>
              <a:rPr sz="1650" b="0">
                <a:solidFill>
                  <a:srgbClr val="24292F"/>
                </a:solidFill>
                <a:latin typeface="Arial"/>
                <a:ea typeface="Arial"/>
                <a:cs typeface="Arial"/>
              </a:rPr>
              <a:t>People seeking legal orientation in their preferred Indian language, especially those who prefer voice input, and advocates receiving consultation requests.</a:t>
            </a:r>
          </a:p>
        </p:txBody>
      </p:sp>
    </p:spTree>
    <p:extLst>
      <p:ext uri="{BB962C8B-B14F-4D97-AF65-F5344CB8AC3E}">
        <p14:creationId xmlns:p14="http://schemas.microsoft.com/office/powerpoint/2010/main" val="8544179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DBBB83A-C49E-4955-ABAB-E918DC3E6C66}"/>
              </a:ext>
            </a:extLst>
          </p:cNvPr>
          <p:cNvSpPr>
            <a:spLocks xmlns:a="http://schemas.openxmlformats.org/drawingml/2006/main" noGrp="1"/>
          </p:cNvSpPr>
          <p:nvPr/>
        </p:nvSpPr>
        <p:spPr>
          <a:xfrm xmlns:a="http://schemas.openxmlformats.org/drawingml/2006/main">
            <a:off x="342900" y="247650"/>
            <a:ext cx="8458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0969DA"/>
                </a:solidFill>
                <a:latin typeface="Arial"/>
                <a:ea typeface="Arial"/>
                <a:cs typeface="Arial"/>
              </a:defRPr>
            </a:defPPr>
          </a:lstStyle>
          <a:p xmlns:a="http://schemas.openxmlformats.org/drawingml/2006/main">
            <a:pPr algn="l">
              <a:defRPr sz="3000" b="1">
                <a:solidFill>
                  <a:srgbClr val="0969DA"/>
                </a:solidFill>
                <a:latin typeface="Arial"/>
                <a:ea typeface="Arial"/>
                <a:cs typeface="Arial"/>
              </a:defRPr>
            </a:pPr>
            <a:r>
              <a:rPr sz="3000" b="1">
                <a:solidFill>
                  <a:srgbClr val="0969DA"/>
                </a:solidFill>
                <a:latin typeface="Arial"/>
                <a:ea typeface="Arial"/>
                <a:cs typeface="Arial"/>
              </a:rPr>
              <a:t>Solution and core features</a:t>
            </a:r>
          </a:p>
        </p:txBody>
      </p:sp>
      <p:sp>
        <p:nvSpPr>
          <p:cNvPr id="2" name="">
            <a:extLst xmlns:a="http://schemas.openxmlformats.org/drawingml/2006/main">
              <a:ext uri="{FF2B5EF4-FFF2-40B4-BE49-F238E27FC236}">
                <a16:creationId xmlns:a16="http://schemas.microsoft.com/office/drawing/2014/main" id="{53DF7E79-794C-4716-8D49-A78241D41AD8}"/>
              </a:ext>
            </a:extLst>
          </p:cNvPr>
          <p:cNvSpPr>
            <a:spLocks xmlns:a="http://schemas.openxmlformats.org/drawingml/2006/main" noGrp="1"/>
          </p:cNvSpPr>
          <p:nvPr/>
        </p:nvSpPr>
        <p:spPr>
          <a:xfrm xmlns:a="http://schemas.openxmlformats.org/drawingml/2006/main">
            <a:off x="342900" y="828675"/>
            <a:ext cx="8458200" cy="6668"/>
          </a:xfrm>
          <a:prstGeom xmlns:a="http://schemas.openxmlformats.org/drawingml/2006/main" prst="rect">
            <a:avLst/>
          </a:prstGeom>
          <a:solidFill xmlns:a="http://schemas.openxmlformats.org/drawingml/2006/main">
            <a:srgbClr val="CFD7E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281C35B-0186-4164-9E58-6B4158821C94}"/>
              </a:ext>
            </a:extLst>
          </p:cNvPr>
          <p:cNvSpPr>
            <a:spLocks xmlns:a="http://schemas.openxmlformats.org/drawingml/2006/main" noGrp="1"/>
          </p:cNvSpPr>
          <p:nvPr/>
        </p:nvSpPr>
        <p:spPr>
          <a:xfrm xmlns:a="http://schemas.openxmlformats.org/drawingml/2006/main">
            <a:off x="8524875" y="47815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777777"/>
                </a:solidFill>
                <a:latin typeface="Arial"/>
                <a:ea typeface="Arial"/>
                <a:cs typeface="Arial"/>
              </a:defRPr>
            </a:defPPr>
          </a:lstStyle>
          <a:p xmlns:a="http://schemas.openxmlformats.org/drawingml/2006/main">
            <a:pPr algn="r">
              <a:defRPr sz="1350" b="0">
                <a:solidFill>
                  <a:srgbClr val="777777"/>
                </a:solidFill>
                <a:latin typeface="Arial"/>
                <a:ea typeface="Arial"/>
                <a:cs typeface="Arial"/>
              </a:defRPr>
            </a:pPr>
            <a:r>
              <a:rPr sz="1350" b="0">
                <a:solidFill>
                  <a:srgbClr val="777777"/>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F5CAFAC7-B4CB-4B4A-B37F-07D817416E5C}"/>
              </a:ext>
            </a:extLst>
          </p:cNvPr>
          <p:cNvSpPr>
            <a:spLocks xmlns:a="http://schemas.openxmlformats.org/drawingml/2006/main" noGrp="1"/>
          </p:cNvSpPr>
          <p:nvPr/>
        </p:nvSpPr>
        <p:spPr>
          <a:xfrm xmlns:a="http://schemas.openxmlformats.org/drawingml/2006/main">
            <a:off x="342900" y="1114425"/>
            <a:ext cx="1962150" cy="504825"/>
          </a:xfrm>
          <a:prstGeom xmlns:a="http://schemas.openxmlformats.org/drawingml/2006/main" prst="rect">
            <a:avLst/>
          </a:prstGeom>
          <a:solidFill xmlns:a="http://schemas.openxmlformats.org/drawingml/2006/main">
            <a:srgbClr val="EEEAFE"/>
          </a:solidFill>
          <a:ln xmlns:a="http://schemas.openxmlformats.org/drawingml/2006/main" w="6668">
            <a:solidFill>
              <a:srgbClr val="AA9BEC"/>
            </a:solidFill>
          </a:ln>
        </p:spPr>
        <p:txBody>
          <a:bodyPr xmlns:a="http://schemas.openxmlformats.org/drawingml/2006/main" lIns="38100" tIns="38100" rIns="38100" bIns="38100" anchor="ctr">
            <a:noAutofit/>
          </a:bodyPr>
          <a:lstStyle xmlns:a="http://schemas.openxmlformats.org/drawingml/2006/main">
            <a:defPPr algn="ctr">
              <a:defRPr sz="1125">
                <a:solidFill>
                  <a:srgbClr val="24292F"/>
                </a:solidFill>
                <a:latin typeface="Arial"/>
                <a:ea typeface="Arial"/>
                <a:cs typeface="Arial"/>
              </a:defRPr>
            </a:defPPr>
          </a:lstStyle>
          <a:p xmlns:a="http://schemas.openxmlformats.org/drawingml/2006/main">
            <a:pPr algn="ctr">
              <a:defRPr sz="1125">
                <a:solidFill>
                  <a:srgbClr val="24292F"/>
                </a:solidFill>
                <a:latin typeface="Arial"/>
                <a:ea typeface="Arial"/>
                <a:cs typeface="Arial"/>
              </a:defRPr>
            </a:pPr>
            <a:r>
              <a:rPr sz="1125">
                <a:solidFill>
                  <a:srgbClr val="24292F"/>
                </a:solidFill>
                <a:latin typeface="Arial"/>
                <a:ea typeface="Arial"/>
                <a:cs typeface="Arial"/>
              </a:rPr>
              <a:t>Describe</a:t>
            </a:r>
          </a:p>
        </p:txBody>
      </p:sp>
      <p:sp>
        <p:nvSpPr>
          <p:cNvPr id="5" name="">
            <a:extLst xmlns:a="http://schemas.openxmlformats.org/drawingml/2006/main">
              <a:ext uri="{FF2B5EF4-FFF2-40B4-BE49-F238E27FC236}">
                <a16:creationId xmlns:a16="http://schemas.microsoft.com/office/drawing/2014/main" id="{5697741E-1F99-4652-B670-8F8DF7881E54}"/>
              </a:ext>
            </a:extLst>
          </p:cNvPr>
          <p:cNvSpPr>
            <a:spLocks xmlns:a="http://schemas.openxmlformats.org/drawingml/2006/main" noGrp="1"/>
          </p:cNvSpPr>
          <p:nvPr/>
        </p:nvSpPr>
        <p:spPr>
          <a:xfrm xmlns:a="http://schemas.openxmlformats.org/drawingml/2006/main">
            <a:off x="342900" y="1809750"/>
            <a:ext cx="19621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24292F"/>
                </a:solidFill>
                <a:latin typeface="Arial"/>
                <a:ea typeface="Arial"/>
                <a:cs typeface="Arial"/>
              </a:defRPr>
            </a:defPPr>
          </a:lstStyle>
          <a:p xmlns:a="http://schemas.openxmlformats.org/drawingml/2006/main">
            <a:pPr algn="l">
              <a:defRPr sz="1650" b="0">
                <a:solidFill>
                  <a:srgbClr val="24292F"/>
                </a:solidFill>
                <a:latin typeface="Arial"/>
                <a:ea typeface="Arial"/>
                <a:cs typeface="Arial"/>
              </a:defRPr>
            </a:pPr>
            <a:r>
              <a:rPr sz="1650" b="0">
                <a:solidFill>
                  <a:srgbClr val="24292F"/>
                </a:solidFill>
                <a:latin typeface="Arial"/>
                <a:ea typeface="Arial"/>
                <a:cs typeface="Arial"/>
              </a:rPr>
              <a:t>Speak or type in an Indian language. Review the transcript.</a:t>
            </a:r>
          </a:p>
        </p:txBody>
      </p:sp>
      <p:sp>
        <p:nvSpPr>
          <p:cNvPr id="6" name="">
            <a:extLst xmlns:a="http://schemas.openxmlformats.org/drawingml/2006/main">
              <a:ext uri="{FF2B5EF4-FFF2-40B4-BE49-F238E27FC236}">
                <a16:creationId xmlns:a16="http://schemas.microsoft.com/office/drawing/2014/main" id="{6D713700-B36B-43A0-A076-BA6F44182A99}"/>
              </a:ext>
            </a:extLst>
          </p:cNvPr>
          <p:cNvSpPr>
            <a:spLocks xmlns:a="http://schemas.openxmlformats.org/drawingml/2006/main" noGrp="1"/>
          </p:cNvSpPr>
          <p:nvPr/>
        </p:nvSpPr>
        <p:spPr>
          <a:xfrm xmlns:a="http://schemas.openxmlformats.org/drawingml/2006/main">
            <a:off x="2505075" y="1114425"/>
            <a:ext cx="1962150" cy="504825"/>
          </a:xfrm>
          <a:prstGeom xmlns:a="http://schemas.openxmlformats.org/drawingml/2006/main" prst="rect">
            <a:avLst/>
          </a:prstGeom>
          <a:solidFill xmlns:a="http://schemas.openxmlformats.org/drawingml/2006/main">
            <a:srgbClr val="EEEAFE"/>
          </a:solidFill>
          <a:ln xmlns:a="http://schemas.openxmlformats.org/drawingml/2006/main" w="6668">
            <a:solidFill>
              <a:srgbClr val="AA9BEC"/>
            </a:solidFill>
          </a:ln>
        </p:spPr>
        <p:txBody>
          <a:bodyPr xmlns:a="http://schemas.openxmlformats.org/drawingml/2006/main" lIns="38100" tIns="38100" rIns="38100" bIns="38100" anchor="ctr">
            <a:noAutofit/>
          </a:bodyPr>
          <a:lstStyle xmlns:a="http://schemas.openxmlformats.org/drawingml/2006/main">
            <a:defPPr algn="ctr">
              <a:defRPr sz="1125">
                <a:solidFill>
                  <a:srgbClr val="24292F"/>
                </a:solidFill>
                <a:latin typeface="Arial"/>
                <a:ea typeface="Arial"/>
                <a:cs typeface="Arial"/>
              </a:defRPr>
            </a:defPPr>
          </a:lstStyle>
          <a:p xmlns:a="http://schemas.openxmlformats.org/drawingml/2006/main">
            <a:pPr algn="ctr">
              <a:defRPr sz="1125">
                <a:solidFill>
                  <a:srgbClr val="24292F"/>
                </a:solidFill>
                <a:latin typeface="Arial"/>
                <a:ea typeface="Arial"/>
                <a:cs typeface="Arial"/>
              </a:defRPr>
            </a:pPr>
            <a:r>
              <a:rPr sz="1125">
                <a:solidFill>
                  <a:srgbClr val="24292F"/>
                </a:solidFill>
                <a:latin typeface="Arial"/>
                <a:ea typeface="Arial"/>
                <a:cs typeface="Arial"/>
              </a:rPr>
              <a:t>Understand</a:t>
            </a:r>
          </a:p>
        </p:txBody>
      </p:sp>
      <p:cxnSp>
        <p:nvCxnSpPr>
          <p:cNvPr id="7" name="">
            <a:extLst xmlns:a="http://schemas.openxmlformats.org/drawingml/2006/main">
              <a:ext uri="{FF2B5EF4-FFF2-40B4-BE49-F238E27FC236}">
                <a16:creationId xmlns:a16="http://schemas.microsoft.com/office/drawing/2014/main" id="{6757C0FD-4BED-428B-B6A4-13118944A830}"/>
              </a:ext>
            </a:extLst>
          </p:cNvPr>
          <p:cNvCxnSpPr>
            <a:stCxn xmlns:a="http://schemas.openxmlformats.org/drawingml/2006/main" id="4" idx="3"/>
            <a:endCxn xmlns:a="http://schemas.openxmlformats.org/drawingml/2006/main" id="6" idx="1"/>
          </p:cNvCxnSpPr>
          <p:nvPr/>
        </p:nvCxnSpPr>
        <p:spPr>
          <a:xfrm xmlns:a="http://schemas.openxmlformats.org/drawingml/2006/main">
            <a:off x="2305050" y="1366838"/>
            <a:ext cx="200025" cy="0"/>
          </a:xfrm>
          <a:prstGeom xmlns:a="http://schemas.openxmlformats.org/drawingml/2006/main" prst="straightConnector1">
            <a:avLst/>
          </a:prstGeom>
          <a:ln xmlns:a="http://schemas.openxmlformats.org/drawingml/2006/main" w="12383">
            <a:solidFill>
              <a:srgbClr val="0969DA"/>
            </a:solidFill>
            <a:prstDash val="solid"/>
            <a:tailEnd type="triangle" w="sm" len="sm"/>
          </a:ln>
        </p:spPr>
      </p:cxnSp>
      <p:sp>
        <p:nvSpPr>
          <p:cNvPr id="8" name="">
            <a:extLst xmlns:a="http://schemas.openxmlformats.org/drawingml/2006/main">
              <a:ext uri="{FF2B5EF4-FFF2-40B4-BE49-F238E27FC236}">
                <a16:creationId xmlns:a16="http://schemas.microsoft.com/office/drawing/2014/main" id="{895928EE-240C-44F4-8B73-B29E108B6AA9}"/>
              </a:ext>
            </a:extLst>
          </p:cNvPr>
          <p:cNvSpPr>
            <a:spLocks xmlns:a="http://schemas.openxmlformats.org/drawingml/2006/main" noGrp="1"/>
          </p:cNvSpPr>
          <p:nvPr/>
        </p:nvSpPr>
        <p:spPr>
          <a:xfrm xmlns:a="http://schemas.openxmlformats.org/drawingml/2006/main">
            <a:off x="2505075" y="1809750"/>
            <a:ext cx="19621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24292F"/>
                </a:solidFill>
                <a:latin typeface="Arial"/>
                <a:ea typeface="Arial"/>
                <a:cs typeface="Arial"/>
              </a:defRPr>
            </a:defPPr>
          </a:lstStyle>
          <a:p xmlns:a="http://schemas.openxmlformats.org/drawingml/2006/main">
            <a:pPr algn="l">
              <a:defRPr sz="1650" b="0">
                <a:solidFill>
                  <a:srgbClr val="24292F"/>
                </a:solidFill>
                <a:latin typeface="Arial"/>
                <a:ea typeface="Arial"/>
                <a:cs typeface="Arial"/>
              </a:defRPr>
            </a:pPr>
            <a:r>
              <a:rPr sz="1650" b="0">
                <a:solidFill>
                  <a:srgbClr val="24292F"/>
                </a:solidFill>
                <a:latin typeface="Arial"/>
                <a:ea typeface="Arial"/>
                <a:cs typeface="Arial"/>
              </a:rPr>
              <a:t>Receive category, urgency, summary and next actions.</a:t>
            </a:r>
          </a:p>
        </p:txBody>
      </p:sp>
      <p:sp>
        <p:nvSpPr>
          <p:cNvPr id="9" name="">
            <a:extLst xmlns:a="http://schemas.openxmlformats.org/drawingml/2006/main">
              <a:ext uri="{FF2B5EF4-FFF2-40B4-BE49-F238E27FC236}">
                <a16:creationId xmlns:a16="http://schemas.microsoft.com/office/drawing/2014/main" id="{ED0B80AE-A4A7-4008-B95B-1E22AE0D9E34}"/>
              </a:ext>
            </a:extLst>
          </p:cNvPr>
          <p:cNvSpPr>
            <a:spLocks xmlns:a="http://schemas.openxmlformats.org/drawingml/2006/main" noGrp="1"/>
          </p:cNvSpPr>
          <p:nvPr/>
        </p:nvSpPr>
        <p:spPr>
          <a:xfrm xmlns:a="http://schemas.openxmlformats.org/drawingml/2006/main">
            <a:off x="4667250" y="1114425"/>
            <a:ext cx="1962150" cy="504825"/>
          </a:xfrm>
          <a:prstGeom xmlns:a="http://schemas.openxmlformats.org/drawingml/2006/main" prst="rect">
            <a:avLst/>
          </a:prstGeom>
          <a:solidFill xmlns:a="http://schemas.openxmlformats.org/drawingml/2006/main">
            <a:srgbClr val="EEEAFE"/>
          </a:solidFill>
          <a:ln xmlns:a="http://schemas.openxmlformats.org/drawingml/2006/main" w="6668">
            <a:solidFill>
              <a:srgbClr val="AA9BEC"/>
            </a:solidFill>
          </a:ln>
        </p:spPr>
        <p:txBody>
          <a:bodyPr xmlns:a="http://schemas.openxmlformats.org/drawingml/2006/main" lIns="38100" tIns="38100" rIns="38100" bIns="38100" anchor="ctr">
            <a:noAutofit/>
          </a:bodyPr>
          <a:lstStyle xmlns:a="http://schemas.openxmlformats.org/drawingml/2006/main">
            <a:defPPr algn="ctr">
              <a:defRPr sz="1125">
                <a:solidFill>
                  <a:srgbClr val="24292F"/>
                </a:solidFill>
                <a:latin typeface="Arial"/>
                <a:ea typeface="Arial"/>
                <a:cs typeface="Arial"/>
              </a:defRPr>
            </a:defPPr>
          </a:lstStyle>
          <a:p xmlns:a="http://schemas.openxmlformats.org/drawingml/2006/main">
            <a:pPr algn="ctr">
              <a:defRPr sz="1125">
                <a:solidFill>
                  <a:srgbClr val="24292F"/>
                </a:solidFill>
                <a:latin typeface="Arial"/>
                <a:ea typeface="Arial"/>
                <a:cs typeface="Arial"/>
              </a:defRPr>
            </a:pPr>
            <a:r>
              <a:rPr sz="1125">
                <a:solidFill>
                  <a:srgbClr val="24292F"/>
                </a:solidFill>
                <a:latin typeface="Arial"/>
                <a:ea typeface="Arial"/>
                <a:cs typeface="Arial"/>
              </a:rPr>
              <a:t>Find an advocate</a:t>
            </a:r>
          </a:p>
        </p:txBody>
      </p:sp>
      <p:cxnSp>
        <p:nvCxnSpPr>
          <p:cNvPr id="10" name="">
            <a:extLst xmlns:a="http://schemas.openxmlformats.org/drawingml/2006/main">
              <a:ext uri="{FF2B5EF4-FFF2-40B4-BE49-F238E27FC236}">
                <a16:creationId xmlns:a16="http://schemas.microsoft.com/office/drawing/2014/main" id="{A99ED9F5-BA33-4692-94A3-BBE4D8065959}"/>
              </a:ext>
            </a:extLst>
          </p:cNvPr>
          <p:cNvCxnSpPr>
            <a:stCxn xmlns:a="http://schemas.openxmlformats.org/drawingml/2006/main" id="6" idx="3"/>
            <a:endCxn xmlns:a="http://schemas.openxmlformats.org/drawingml/2006/main" id="9" idx="1"/>
          </p:cNvCxnSpPr>
          <p:nvPr/>
        </p:nvCxnSpPr>
        <p:spPr>
          <a:xfrm xmlns:a="http://schemas.openxmlformats.org/drawingml/2006/main">
            <a:off x="4467225" y="1366838"/>
            <a:ext cx="200025" cy="0"/>
          </a:xfrm>
          <a:prstGeom xmlns:a="http://schemas.openxmlformats.org/drawingml/2006/main" prst="straightConnector1">
            <a:avLst/>
          </a:prstGeom>
          <a:ln xmlns:a="http://schemas.openxmlformats.org/drawingml/2006/main" w="12383">
            <a:solidFill>
              <a:srgbClr val="0969DA"/>
            </a:solidFill>
            <a:prstDash val="solid"/>
            <a:tailEnd type="triangle" w="sm" len="sm"/>
          </a:ln>
        </p:spPr>
      </p:cxnSp>
      <p:sp>
        <p:nvSpPr>
          <p:cNvPr id="11" name="">
            <a:extLst xmlns:a="http://schemas.openxmlformats.org/drawingml/2006/main">
              <a:ext uri="{FF2B5EF4-FFF2-40B4-BE49-F238E27FC236}">
                <a16:creationId xmlns:a16="http://schemas.microsoft.com/office/drawing/2014/main" id="{AFD865D6-D5BE-4050-B5F3-38738F7160D0}"/>
              </a:ext>
            </a:extLst>
          </p:cNvPr>
          <p:cNvSpPr>
            <a:spLocks xmlns:a="http://schemas.openxmlformats.org/drawingml/2006/main" noGrp="1"/>
          </p:cNvSpPr>
          <p:nvPr/>
        </p:nvSpPr>
        <p:spPr>
          <a:xfrm xmlns:a="http://schemas.openxmlformats.org/drawingml/2006/main">
            <a:off x="4667250" y="1809750"/>
            <a:ext cx="19621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24292F"/>
                </a:solidFill>
                <a:latin typeface="Arial"/>
                <a:ea typeface="Arial"/>
                <a:cs typeface="Arial"/>
              </a:defRPr>
            </a:defPPr>
          </a:lstStyle>
          <a:p xmlns:a="http://schemas.openxmlformats.org/drawingml/2006/main">
            <a:pPr algn="l">
              <a:defRPr sz="1650" b="0">
                <a:solidFill>
                  <a:srgbClr val="24292F"/>
                </a:solidFill>
                <a:latin typeface="Arial"/>
                <a:ea typeface="Arial"/>
                <a:cs typeface="Arial"/>
              </a:defRPr>
            </a:pPr>
            <a:r>
              <a:rPr sz="1650" b="0">
                <a:solidFill>
                  <a:srgbClr val="24292F"/>
                </a:solidFill>
                <a:latin typeface="Arial"/>
                <a:ea typeface="Arial"/>
                <a:cs typeface="Arial"/>
              </a:rPr>
              <a:t>Review available profiles in the relevant practice area.</a:t>
            </a:r>
          </a:p>
        </p:txBody>
      </p:sp>
      <p:sp>
        <p:nvSpPr>
          <p:cNvPr id="12" name="">
            <a:extLst xmlns:a="http://schemas.openxmlformats.org/drawingml/2006/main">
              <a:ext uri="{FF2B5EF4-FFF2-40B4-BE49-F238E27FC236}">
                <a16:creationId xmlns:a16="http://schemas.microsoft.com/office/drawing/2014/main" id="{23068C99-FC60-409E-82E6-1AB881ED828B}"/>
              </a:ext>
            </a:extLst>
          </p:cNvPr>
          <p:cNvSpPr>
            <a:spLocks xmlns:a="http://schemas.openxmlformats.org/drawingml/2006/main" noGrp="1"/>
          </p:cNvSpPr>
          <p:nvPr/>
        </p:nvSpPr>
        <p:spPr>
          <a:xfrm xmlns:a="http://schemas.openxmlformats.org/drawingml/2006/main">
            <a:off x="6829425" y="1114425"/>
            <a:ext cx="1962150" cy="504825"/>
          </a:xfrm>
          <a:prstGeom xmlns:a="http://schemas.openxmlformats.org/drawingml/2006/main" prst="rect">
            <a:avLst/>
          </a:prstGeom>
          <a:solidFill xmlns:a="http://schemas.openxmlformats.org/drawingml/2006/main">
            <a:srgbClr val="EEEAFE"/>
          </a:solidFill>
          <a:ln xmlns:a="http://schemas.openxmlformats.org/drawingml/2006/main" w="6668">
            <a:solidFill>
              <a:srgbClr val="AA9BEC"/>
            </a:solidFill>
          </a:ln>
        </p:spPr>
        <p:txBody>
          <a:bodyPr xmlns:a="http://schemas.openxmlformats.org/drawingml/2006/main" lIns="38100" tIns="38100" rIns="38100" bIns="38100" anchor="ctr">
            <a:noAutofit/>
          </a:bodyPr>
          <a:lstStyle xmlns:a="http://schemas.openxmlformats.org/drawingml/2006/main">
            <a:defPPr algn="ctr">
              <a:defRPr sz="1125">
                <a:solidFill>
                  <a:srgbClr val="24292F"/>
                </a:solidFill>
                <a:latin typeface="Arial"/>
                <a:ea typeface="Arial"/>
                <a:cs typeface="Arial"/>
              </a:defRPr>
            </a:defPPr>
          </a:lstStyle>
          <a:p xmlns:a="http://schemas.openxmlformats.org/drawingml/2006/main">
            <a:pPr algn="ctr">
              <a:defRPr sz="1125">
                <a:solidFill>
                  <a:srgbClr val="24292F"/>
                </a:solidFill>
                <a:latin typeface="Arial"/>
                <a:ea typeface="Arial"/>
                <a:cs typeface="Arial"/>
              </a:defRPr>
            </a:pPr>
            <a:r>
              <a:rPr sz="1125">
                <a:solidFill>
                  <a:srgbClr val="24292F"/>
                </a:solidFill>
                <a:latin typeface="Arial"/>
                <a:ea typeface="Arial"/>
                <a:cs typeface="Arial"/>
              </a:rPr>
              <a:t>Book</a:t>
            </a:r>
          </a:p>
        </p:txBody>
      </p:sp>
      <p:cxnSp>
        <p:nvCxnSpPr>
          <p:cNvPr id="13" name="">
            <a:extLst xmlns:a="http://schemas.openxmlformats.org/drawingml/2006/main">
              <a:ext uri="{FF2B5EF4-FFF2-40B4-BE49-F238E27FC236}">
                <a16:creationId xmlns:a16="http://schemas.microsoft.com/office/drawing/2014/main" id="{7D653DB0-A6CA-4A8D-9148-5C234E219346}"/>
              </a:ext>
            </a:extLst>
          </p:cNvPr>
          <p:cNvCxnSpPr>
            <a:stCxn xmlns:a="http://schemas.openxmlformats.org/drawingml/2006/main" id="9" idx="3"/>
            <a:endCxn xmlns:a="http://schemas.openxmlformats.org/drawingml/2006/main" id="12" idx="1"/>
          </p:cNvCxnSpPr>
          <p:nvPr/>
        </p:nvCxnSpPr>
        <p:spPr>
          <a:xfrm xmlns:a="http://schemas.openxmlformats.org/drawingml/2006/main">
            <a:off x="6629400" y="1366838"/>
            <a:ext cx="200025" cy="0"/>
          </a:xfrm>
          <a:prstGeom xmlns:a="http://schemas.openxmlformats.org/drawingml/2006/main" prst="straightConnector1">
            <a:avLst/>
          </a:prstGeom>
          <a:ln xmlns:a="http://schemas.openxmlformats.org/drawingml/2006/main" w="12383">
            <a:solidFill>
              <a:srgbClr val="0969DA"/>
            </a:solidFill>
            <a:prstDash val="solid"/>
            <a:tailEnd type="triangle" w="sm" len="sm"/>
          </a:ln>
        </p:spPr>
      </p:cxnSp>
      <p:sp>
        <p:nvSpPr>
          <p:cNvPr id="14" name="">
            <a:extLst xmlns:a="http://schemas.openxmlformats.org/drawingml/2006/main">
              <a:ext uri="{FF2B5EF4-FFF2-40B4-BE49-F238E27FC236}">
                <a16:creationId xmlns:a16="http://schemas.microsoft.com/office/drawing/2014/main" id="{821FB069-5E50-4D18-B9F8-0085C8A325C7}"/>
              </a:ext>
            </a:extLst>
          </p:cNvPr>
          <p:cNvSpPr>
            <a:spLocks xmlns:a="http://schemas.openxmlformats.org/drawingml/2006/main" noGrp="1"/>
          </p:cNvSpPr>
          <p:nvPr/>
        </p:nvSpPr>
        <p:spPr>
          <a:xfrm xmlns:a="http://schemas.openxmlformats.org/drawingml/2006/main">
            <a:off x="6829425" y="1809750"/>
            <a:ext cx="19621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24292F"/>
                </a:solidFill>
                <a:latin typeface="Arial"/>
                <a:ea typeface="Arial"/>
                <a:cs typeface="Arial"/>
              </a:defRPr>
            </a:defPPr>
          </a:lstStyle>
          <a:p xmlns:a="http://schemas.openxmlformats.org/drawingml/2006/main">
            <a:pPr algn="l">
              <a:defRPr sz="1650" b="0">
                <a:solidFill>
                  <a:srgbClr val="24292F"/>
                </a:solidFill>
                <a:latin typeface="Arial"/>
                <a:ea typeface="Arial"/>
                <a:cs typeface="Arial"/>
              </a:defRPr>
            </a:pPr>
            <a:r>
              <a:rPr sz="1650" b="0">
                <a:solidFill>
                  <a:srgbClr val="24292F"/>
                </a:solidFill>
                <a:latin typeface="Arial"/>
                <a:ea typeface="Arial"/>
                <a:cs typeface="Arial"/>
              </a:rPr>
              <a:t>Create a consultation request and open payment checkout.</a:t>
            </a:r>
          </a:p>
        </p:txBody>
      </p:sp>
      <p:sp>
        <p:nvSpPr>
          <p:cNvPr id="15" name="">
            <a:extLst xmlns:a="http://schemas.openxmlformats.org/drawingml/2006/main">
              <a:ext uri="{FF2B5EF4-FFF2-40B4-BE49-F238E27FC236}">
                <a16:creationId xmlns:a16="http://schemas.microsoft.com/office/drawing/2014/main" id="{8334E6FD-2F29-4DC1-B498-1C5F51125F09}"/>
              </a:ext>
            </a:extLst>
          </p:cNvPr>
          <p:cNvSpPr>
            <a:spLocks xmlns:a="http://schemas.openxmlformats.org/drawingml/2006/main" noGrp="1"/>
          </p:cNvSpPr>
          <p:nvPr/>
        </p:nvSpPr>
        <p:spPr>
          <a:xfrm xmlns:a="http://schemas.openxmlformats.org/drawingml/2006/main">
            <a:off x="342900" y="3086100"/>
            <a:ext cx="8458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0969DA"/>
                </a:solidFill>
                <a:latin typeface="Arial"/>
                <a:ea typeface="Arial"/>
                <a:cs typeface="Arial"/>
              </a:defRPr>
            </a:defPPr>
          </a:lstStyle>
          <a:p xmlns:a="http://schemas.openxmlformats.org/drawingml/2006/main">
            <a:pPr algn="l">
              <a:defRPr sz="1875" b="1">
                <a:solidFill>
                  <a:srgbClr val="0969DA"/>
                </a:solidFill>
                <a:latin typeface="Arial"/>
                <a:ea typeface="Arial"/>
                <a:cs typeface="Arial"/>
              </a:defRPr>
            </a:pPr>
            <a:r>
              <a:rPr sz="1875" b="1">
                <a:solidFill>
                  <a:srgbClr val="0969DA"/>
                </a:solidFill>
                <a:latin typeface="Arial"/>
                <a:ea typeface="Arial"/>
                <a:cs typeface="Arial"/>
              </a:rPr>
              <a:t>Conversation and accessibility</a:t>
            </a:r>
          </a:p>
        </p:txBody>
      </p:sp>
      <p:sp>
        <p:nvSpPr>
          <p:cNvPr id="16" name="">
            <a:extLst xmlns:a="http://schemas.openxmlformats.org/drawingml/2006/main">
              <a:ext uri="{FF2B5EF4-FFF2-40B4-BE49-F238E27FC236}">
                <a16:creationId xmlns:a16="http://schemas.microsoft.com/office/drawing/2014/main" id="{C09C1EEC-147B-48E6-B53B-CF89DE87EF96}"/>
              </a:ext>
            </a:extLst>
          </p:cNvPr>
          <p:cNvSpPr>
            <a:spLocks xmlns:a="http://schemas.openxmlformats.org/drawingml/2006/main" noGrp="1"/>
          </p:cNvSpPr>
          <p:nvPr/>
        </p:nvSpPr>
        <p:spPr>
          <a:xfrm xmlns:a="http://schemas.openxmlformats.org/drawingml/2006/main">
            <a:off x="342900" y="3524250"/>
            <a:ext cx="8458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24292F"/>
                </a:solidFill>
                <a:latin typeface="Arial"/>
                <a:ea typeface="Arial"/>
                <a:cs typeface="Arial"/>
              </a:defRPr>
            </a:defPPr>
          </a:lstStyle>
          <a:p xmlns:a="http://schemas.openxmlformats.org/drawingml/2006/main">
            <a:pPr marL="177800" indent="-127000" algn="l">
              <a:spcAft>
                <a:spcPts val="1200"/>
              </a:spcAft>
              <a:buChar char="•"/>
              <a:defRPr sz="1650" b="0">
                <a:solidFill>
                  <a:srgbClr val="24292F"/>
                </a:solidFill>
                <a:latin typeface="Arial"/>
                <a:ea typeface="Arial"/>
                <a:cs typeface="Arial"/>
              </a:defRPr>
            </a:pPr>
            <a:r>
              <a:t>Follow-up messages use recent conversation context. Browser speech synthesis can read the response aloud.</a:t>
            </a:r>
          </a:p>
          <a:p xmlns:a="http://schemas.openxmlformats.org/drawingml/2006/main">
            <a:pPr marL="177800" indent="-127000" algn="l">
              <a:spcAft>
                <a:spcPts val="1200"/>
              </a:spcAft>
              <a:buChar char="•"/>
              <a:defRPr sz="1650" b="0">
                <a:solidFill>
                  <a:srgbClr val="24292F"/>
                </a:solidFill>
                <a:latin typeface="Arial"/>
                <a:ea typeface="Arial"/>
                <a:cs typeface="Arial"/>
              </a:defRPr>
            </a:pPr>
            <a:r>
              <a:t>Indian multilingual scope includes voice input, explanations and spoken playback. Quality needs validation for each language.</a:t>
            </a:r>
          </a:p>
        </p:txBody>
      </p:sp>
    </p:spTree>
    <p:extLst>
      <p:ext uri="{BB962C8B-B14F-4D97-AF65-F5344CB8AC3E}">
        <p14:creationId xmlns:p14="http://schemas.microsoft.com/office/powerpoint/2010/main" val="12868225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4ABDDF5-F124-4D30-B343-2E0C923660DB}"/>
              </a:ext>
            </a:extLst>
          </p:cNvPr>
          <p:cNvSpPr>
            <a:spLocks xmlns:a="http://schemas.openxmlformats.org/drawingml/2006/main" noGrp="1"/>
          </p:cNvSpPr>
          <p:nvPr/>
        </p:nvSpPr>
        <p:spPr>
          <a:xfrm xmlns:a="http://schemas.openxmlformats.org/drawingml/2006/main">
            <a:off x="342900" y="3276600"/>
            <a:ext cx="8458200" cy="1019175"/>
          </a:xfrm>
          <a:prstGeom xmlns:a="http://schemas.openxmlformats.org/drawingml/2006/main" prst="rect">
            <a:avLst/>
          </a:prstGeom>
          <a:solidFill xmlns:a="http://schemas.openxmlformats.org/drawingml/2006/main">
            <a:srgbClr val="FFFFDF"/>
          </a:solidFill>
          <a:ln xmlns:a="http://schemas.openxmlformats.org/drawingml/2006/main" w="6668">
            <a:solidFill>
              <a:srgbClr val="C8C889"/>
            </a:solidFill>
          </a:ln>
        </p:spPr>
      </p:sp>
      <p:sp>
        <p:nvSpPr>
          <p:cNvPr id="7" name="">
            <a:extLst xmlns:a="http://schemas.openxmlformats.org/drawingml/2006/main">
              <a:ext uri="{FF2B5EF4-FFF2-40B4-BE49-F238E27FC236}">
                <a16:creationId xmlns:a16="http://schemas.microsoft.com/office/drawing/2014/main" id="{95198AB3-86AB-45A3-B66C-04B9ED2C8E31}"/>
              </a:ext>
            </a:extLst>
          </p:cNvPr>
          <p:cNvSpPr>
            <a:spLocks xmlns:a="http://schemas.openxmlformats.org/drawingml/2006/main" noGrp="1"/>
          </p:cNvSpPr>
          <p:nvPr/>
        </p:nvSpPr>
        <p:spPr>
          <a:xfrm xmlns:a="http://schemas.openxmlformats.org/drawingml/2006/main">
            <a:off x="342900" y="2114550"/>
            <a:ext cx="8458200" cy="838200"/>
          </a:xfrm>
          <a:prstGeom xmlns:a="http://schemas.openxmlformats.org/drawingml/2006/main" prst="rect">
            <a:avLst/>
          </a:prstGeom>
          <a:solidFill xmlns:a="http://schemas.openxmlformats.org/drawingml/2006/main">
            <a:srgbClr val="FFFFDF"/>
          </a:solidFill>
          <a:ln xmlns:a="http://schemas.openxmlformats.org/drawingml/2006/main" w="6668">
            <a:solidFill>
              <a:srgbClr val="C8C889"/>
            </a:solidFill>
          </a:ln>
        </p:spPr>
      </p:sp>
      <p:sp>
        <p:nvSpPr>
          <p:cNvPr id="4" name="">
            <a:extLst xmlns:a="http://schemas.openxmlformats.org/drawingml/2006/main">
              <a:ext uri="{FF2B5EF4-FFF2-40B4-BE49-F238E27FC236}">
                <a16:creationId xmlns:a16="http://schemas.microsoft.com/office/drawing/2014/main" id="{9F6C9BF5-E5DD-4ECD-A260-ED493FA92678}"/>
              </a:ext>
            </a:extLst>
          </p:cNvPr>
          <p:cNvSpPr>
            <a:spLocks xmlns:a="http://schemas.openxmlformats.org/drawingml/2006/main" noGrp="1"/>
          </p:cNvSpPr>
          <p:nvPr/>
        </p:nvSpPr>
        <p:spPr>
          <a:xfrm xmlns:a="http://schemas.openxmlformats.org/drawingml/2006/main">
            <a:off x="342900" y="1019175"/>
            <a:ext cx="8458200" cy="790575"/>
          </a:xfrm>
          <a:prstGeom xmlns:a="http://schemas.openxmlformats.org/drawingml/2006/main" prst="rect">
            <a:avLst/>
          </a:prstGeom>
          <a:solidFill xmlns:a="http://schemas.openxmlformats.org/drawingml/2006/main">
            <a:srgbClr val="FFFFDF"/>
          </a:solidFill>
          <a:ln xmlns:a="http://schemas.openxmlformats.org/drawingml/2006/main" w="6668">
            <a:solidFill>
              <a:srgbClr val="C8C889"/>
            </a:solidFill>
          </a:ln>
        </p:spPr>
      </p:sp>
      <p:sp>
        <p:nvSpPr>
          <p:cNvPr id="21" name="">
            <a:extLst xmlns:a="http://schemas.openxmlformats.org/drawingml/2006/main">
              <a:ext uri="{FF2B5EF4-FFF2-40B4-BE49-F238E27FC236}">
                <a16:creationId xmlns:a16="http://schemas.microsoft.com/office/drawing/2014/main" id="{3DBA14E1-B5E5-41D7-ACAD-341610C0FBFE}"/>
              </a:ext>
            </a:extLst>
          </p:cNvPr>
          <p:cNvSpPr>
            <a:spLocks xmlns:a="http://schemas.openxmlformats.org/drawingml/2006/main" noGrp="1"/>
          </p:cNvSpPr>
          <p:nvPr/>
        </p:nvSpPr>
        <p:spPr>
          <a:xfrm xmlns:a="http://schemas.openxmlformats.org/drawingml/2006/main">
            <a:off x="342900" y="247650"/>
            <a:ext cx="8458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0969DA"/>
                </a:solidFill>
                <a:latin typeface="Arial"/>
                <a:ea typeface="Arial"/>
                <a:cs typeface="Arial"/>
              </a:defRPr>
            </a:defPPr>
          </a:lstStyle>
          <a:p xmlns:a="http://schemas.openxmlformats.org/drawingml/2006/main">
            <a:pPr algn="l">
              <a:defRPr sz="3000" b="1">
                <a:solidFill>
                  <a:srgbClr val="0969DA"/>
                </a:solidFill>
                <a:latin typeface="Arial"/>
                <a:ea typeface="Arial"/>
                <a:cs typeface="Arial"/>
              </a:defRPr>
            </a:pPr>
            <a:r>
              <a:rPr sz="3000" b="1">
                <a:solidFill>
                  <a:srgbClr val="0969DA"/>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93808071-B06F-4434-99C9-72281A69892E}"/>
              </a:ext>
            </a:extLst>
          </p:cNvPr>
          <p:cNvSpPr>
            <a:spLocks xmlns:a="http://schemas.openxmlformats.org/drawingml/2006/main" noGrp="1"/>
          </p:cNvSpPr>
          <p:nvPr/>
        </p:nvSpPr>
        <p:spPr>
          <a:xfrm xmlns:a="http://schemas.openxmlformats.org/drawingml/2006/main">
            <a:off x="342900" y="828675"/>
            <a:ext cx="8458200" cy="6668"/>
          </a:xfrm>
          <a:prstGeom xmlns:a="http://schemas.openxmlformats.org/drawingml/2006/main" prst="rect">
            <a:avLst/>
          </a:prstGeom>
          <a:solidFill xmlns:a="http://schemas.openxmlformats.org/drawingml/2006/main">
            <a:srgbClr val="CFD7E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2628C3D-F8FA-43C1-9B3A-293190A93326}"/>
              </a:ext>
            </a:extLst>
          </p:cNvPr>
          <p:cNvSpPr>
            <a:spLocks xmlns:a="http://schemas.openxmlformats.org/drawingml/2006/main" noGrp="1"/>
          </p:cNvSpPr>
          <p:nvPr/>
        </p:nvSpPr>
        <p:spPr>
          <a:xfrm xmlns:a="http://schemas.openxmlformats.org/drawingml/2006/main">
            <a:off x="8524875" y="47815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777777"/>
                </a:solidFill>
                <a:latin typeface="Arial"/>
                <a:ea typeface="Arial"/>
                <a:cs typeface="Arial"/>
              </a:defRPr>
            </a:defPPr>
          </a:lstStyle>
          <a:p xmlns:a="http://schemas.openxmlformats.org/drawingml/2006/main">
            <a:pPr algn="r">
              <a:defRPr sz="1350" b="0">
                <a:solidFill>
                  <a:srgbClr val="777777"/>
                </a:solidFill>
                <a:latin typeface="Arial"/>
                <a:ea typeface="Arial"/>
                <a:cs typeface="Arial"/>
              </a:defRPr>
            </a:pPr>
            <a:r>
              <a:rPr sz="1350" b="0">
                <a:solidFill>
                  <a:srgbClr val="777777"/>
                </a:solidFill>
                <a:latin typeface="Arial"/>
                <a:ea typeface="Arial"/>
                <a:cs typeface="Arial"/>
              </a:rPr>
              <a:t>4</a:t>
            </a:r>
          </a:p>
        </p:txBody>
      </p:sp>
      <p:sp>
        <p:nvSpPr>
          <p:cNvPr id="6" name="">
            <a:extLst xmlns:a="http://schemas.openxmlformats.org/drawingml/2006/main">
              <a:ext uri="{FF2B5EF4-FFF2-40B4-BE49-F238E27FC236}">
                <a16:creationId xmlns:a16="http://schemas.microsoft.com/office/drawing/2014/main" id="{C5D06FD0-D5E5-419C-983D-1ED87DE9B585}"/>
              </a:ext>
            </a:extLst>
          </p:cNvPr>
          <p:cNvSpPr>
            <a:spLocks xmlns:a="http://schemas.openxmlformats.org/drawingml/2006/main" noGrp="1"/>
          </p:cNvSpPr>
          <p:nvPr/>
        </p:nvSpPr>
        <p:spPr>
          <a:xfrm xmlns:a="http://schemas.openxmlformats.org/drawingml/2006/main">
            <a:off x="3124200" y="1247775"/>
            <a:ext cx="3629025" cy="457200"/>
          </a:xfrm>
          <a:prstGeom xmlns:a="http://schemas.openxmlformats.org/drawingml/2006/main" prst="rect">
            <a:avLst/>
          </a:prstGeom>
          <a:solidFill xmlns:a="http://schemas.openxmlformats.org/drawingml/2006/main">
            <a:srgbClr val="EEEAFE"/>
          </a:solidFill>
          <a:ln xmlns:a="http://schemas.openxmlformats.org/drawingml/2006/main" w="6668">
            <a:solidFill>
              <a:srgbClr val="AA9BEC"/>
            </a:solidFill>
          </a:ln>
        </p:spPr>
        <p:txBody>
          <a:bodyPr xmlns:a="http://schemas.openxmlformats.org/drawingml/2006/main" lIns="38100" tIns="38100" rIns="38100" bIns="38100" anchor="ctr">
            <a:noAutofit/>
          </a:bodyPr>
          <a:lstStyle xmlns:a="http://schemas.openxmlformats.org/drawingml/2006/main">
            <a:defPPr algn="ctr">
              <a:defRPr sz="1125">
                <a:solidFill>
                  <a:srgbClr val="24292F"/>
                </a:solidFill>
                <a:latin typeface="Arial"/>
                <a:ea typeface="Arial"/>
                <a:cs typeface="Arial"/>
              </a:defRPr>
            </a:defPPr>
          </a:lstStyle>
          <a:p xmlns:a="http://schemas.openxmlformats.org/drawingml/2006/main">
            <a:pPr algn="ctr">
              <a:defRPr sz="1125">
                <a:solidFill>
                  <a:srgbClr val="24292F"/>
                </a:solidFill>
                <a:latin typeface="Arial"/>
                <a:ea typeface="Arial"/>
                <a:cs typeface="Arial"/>
              </a:defRPr>
            </a:pPr>
            <a:r>
              <a:rPr sz="1125">
                <a:solidFill>
                  <a:srgbClr val="24292F"/>
                </a:solidFill>
                <a:latin typeface="Arial"/>
                <a:ea typeface="Arial"/>
                <a:cs typeface="Arial"/>
              </a:rPr>
              <a:t>React + Vite frontend</a:t>
            </a:r>
          </a:p>
          <a:p xmlns:a="http://schemas.openxmlformats.org/drawingml/2006/main">
            <a:pPr algn="ctr">
              <a:defRPr sz="1125">
                <a:solidFill>
                  <a:srgbClr val="24292F"/>
                </a:solidFill>
                <a:latin typeface="Arial"/>
                <a:ea typeface="Arial"/>
                <a:cs typeface="Arial"/>
              </a:defRPr>
            </a:pPr>
            <a:r>
              <a:rPr sz="1125">
                <a:solidFill>
                  <a:srgbClr val="24292F"/>
                </a:solidFill>
                <a:latin typeface="Arial"/>
                <a:ea typeface="Arial"/>
                <a:cs typeface="Arial"/>
              </a:rPr>
              <a:t>Voice input, chat, analysis and booking</a:t>
            </a:r>
          </a:p>
        </p:txBody>
      </p:sp>
      <p:sp>
        <p:nvSpPr>
          <p:cNvPr id="9" name="">
            <a:extLst xmlns:a="http://schemas.openxmlformats.org/drawingml/2006/main">
              <a:ext uri="{FF2B5EF4-FFF2-40B4-BE49-F238E27FC236}">
                <a16:creationId xmlns:a16="http://schemas.microsoft.com/office/drawing/2014/main" id="{94C99C36-D6E0-4B8B-8641-7215FA906BBF}"/>
              </a:ext>
            </a:extLst>
          </p:cNvPr>
          <p:cNvSpPr>
            <a:spLocks xmlns:a="http://schemas.openxmlformats.org/drawingml/2006/main" noGrp="1"/>
          </p:cNvSpPr>
          <p:nvPr/>
        </p:nvSpPr>
        <p:spPr>
          <a:xfrm xmlns:a="http://schemas.openxmlformats.org/drawingml/2006/main">
            <a:off x="3124200" y="2362200"/>
            <a:ext cx="3629025" cy="466725"/>
          </a:xfrm>
          <a:prstGeom xmlns:a="http://schemas.openxmlformats.org/drawingml/2006/main" prst="rect">
            <a:avLst/>
          </a:prstGeom>
          <a:solidFill xmlns:a="http://schemas.openxmlformats.org/drawingml/2006/main">
            <a:srgbClr val="EEEAFE"/>
          </a:solidFill>
          <a:ln xmlns:a="http://schemas.openxmlformats.org/drawingml/2006/main" w="6668">
            <a:solidFill>
              <a:srgbClr val="AA9BEC"/>
            </a:solidFill>
          </a:ln>
        </p:spPr>
        <p:txBody>
          <a:bodyPr xmlns:a="http://schemas.openxmlformats.org/drawingml/2006/main" lIns="38100" tIns="38100" rIns="38100" bIns="38100" anchor="ctr">
            <a:noAutofit/>
          </a:bodyPr>
          <a:lstStyle xmlns:a="http://schemas.openxmlformats.org/drawingml/2006/main">
            <a:defPPr algn="ctr">
              <a:defRPr sz="1125">
                <a:solidFill>
                  <a:srgbClr val="24292F"/>
                </a:solidFill>
                <a:latin typeface="Arial"/>
                <a:ea typeface="Arial"/>
                <a:cs typeface="Arial"/>
              </a:defRPr>
            </a:defPPr>
          </a:lstStyle>
          <a:p xmlns:a="http://schemas.openxmlformats.org/drawingml/2006/main">
            <a:pPr algn="ctr">
              <a:defRPr sz="1125">
                <a:solidFill>
                  <a:srgbClr val="24292F"/>
                </a:solidFill>
                <a:latin typeface="Arial"/>
                <a:ea typeface="Arial"/>
                <a:cs typeface="Arial"/>
              </a:defRPr>
            </a:pPr>
            <a:r>
              <a:rPr sz="1125">
                <a:solidFill>
                  <a:srgbClr val="24292F"/>
                </a:solidFill>
                <a:latin typeface="Arial"/>
                <a:ea typeface="Arial"/>
                <a:cs typeface="Arial"/>
              </a:rPr>
              <a:t>Node.js + Express API</a:t>
            </a:r>
          </a:p>
          <a:p xmlns:a="http://schemas.openxmlformats.org/drawingml/2006/main">
            <a:pPr algn="ctr">
              <a:defRPr sz="1125">
                <a:solidFill>
                  <a:srgbClr val="24292F"/>
                </a:solidFill>
                <a:latin typeface="Arial"/>
                <a:ea typeface="Arial"/>
                <a:cs typeface="Arial"/>
              </a:defRPr>
            </a:pPr>
            <a:r>
              <a:rPr sz="1125">
                <a:solidFill>
                  <a:srgbClr val="24292F"/>
                </a:solidFill>
                <a:latin typeface="Arial"/>
                <a:ea typeface="Arial"/>
                <a:cs typeface="Arial"/>
              </a:rPr>
              <a:t>Triage, matching, bookings and payments</a:t>
            </a:r>
          </a:p>
        </p:txBody>
      </p:sp>
      <p:cxnSp>
        <p:nvCxnSpPr>
          <p:cNvPr id="10" name="">
            <a:extLst xmlns:a="http://schemas.openxmlformats.org/drawingml/2006/main">
              <a:ext uri="{FF2B5EF4-FFF2-40B4-BE49-F238E27FC236}">
                <a16:creationId xmlns:a16="http://schemas.microsoft.com/office/drawing/2014/main" id="{B8F8BC80-A2F0-46CE-B546-7D97404EAF18}"/>
              </a:ext>
            </a:extLst>
          </p:cNvPr>
          <p:cNvCxnSpPr>
            <a:stCxn xmlns:a="http://schemas.openxmlformats.org/drawingml/2006/main" id="6" idx="2"/>
            <a:endCxn xmlns:a="http://schemas.openxmlformats.org/drawingml/2006/main" id="9" idx="0"/>
          </p:cNvCxnSpPr>
          <p:nvPr/>
        </p:nvCxnSpPr>
        <p:spPr>
          <a:xfrm xmlns:a="http://schemas.openxmlformats.org/drawingml/2006/main">
            <a:off x="4938713" y="1704975"/>
            <a:ext cx="0" cy="657225"/>
          </a:xfrm>
          <a:prstGeom xmlns:a="http://schemas.openxmlformats.org/drawingml/2006/main" prst="straightConnector1">
            <a:avLst/>
          </a:prstGeom>
          <a:ln xmlns:a="http://schemas.openxmlformats.org/drawingml/2006/main" w="12383">
            <a:solidFill>
              <a:srgbClr val="0969DA"/>
            </a:solidFill>
            <a:prstDash val="solid"/>
            <a:tailEnd type="triangle" w="sm" len="sm"/>
          </a:ln>
        </p:spPr>
      </p:cxnSp>
      <p:sp>
        <p:nvSpPr>
          <p:cNvPr id="11" name="">
            <a:extLst xmlns:a="http://schemas.openxmlformats.org/drawingml/2006/main">
              <a:ext uri="{FF2B5EF4-FFF2-40B4-BE49-F238E27FC236}">
                <a16:creationId xmlns:a16="http://schemas.microsoft.com/office/drawing/2014/main" id="{A8F43FBD-D2BA-4A1C-8539-5396C105E05E}"/>
              </a:ext>
            </a:extLst>
          </p:cNvPr>
          <p:cNvSpPr>
            <a:spLocks xmlns:a="http://schemas.openxmlformats.org/drawingml/2006/main" noGrp="1"/>
          </p:cNvSpPr>
          <p:nvPr/>
        </p:nvSpPr>
        <p:spPr>
          <a:xfrm xmlns:a="http://schemas.openxmlformats.org/drawingml/2006/main">
            <a:off x="7000875" y="1847850"/>
            <a:ext cx="1800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626B76"/>
                </a:solidFill>
                <a:latin typeface="Arial"/>
                <a:ea typeface="Arial"/>
                <a:cs typeface="Arial"/>
              </a:defRPr>
            </a:defPPr>
          </a:lstStyle>
          <a:p xmlns:a="http://schemas.openxmlformats.org/drawingml/2006/main">
            <a:pPr algn="l">
              <a:defRPr sz="1125" b="0">
                <a:solidFill>
                  <a:srgbClr val="626B76"/>
                </a:solidFill>
                <a:latin typeface="Arial"/>
                <a:ea typeface="Arial"/>
                <a:cs typeface="Arial"/>
              </a:defRPr>
            </a:pPr>
            <a:r>
              <a:rPr sz="1125" b="0">
                <a:solidFill>
                  <a:srgbClr val="626B76"/>
                </a:solidFill>
                <a:latin typeface="Arial"/>
                <a:ea typeface="Arial"/>
                <a:cs typeface="Arial"/>
              </a:rPr>
              <a:t>JSON API requests</a:t>
            </a:r>
          </a:p>
        </p:txBody>
      </p:sp>
      <p:sp>
        <p:nvSpPr>
          <p:cNvPr id="14" name="">
            <a:extLst xmlns:a="http://schemas.openxmlformats.org/drawingml/2006/main">
              <a:ext uri="{FF2B5EF4-FFF2-40B4-BE49-F238E27FC236}">
                <a16:creationId xmlns:a16="http://schemas.microsoft.com/office/drawing/2014/main" id="{8B680CB1-479F-455B-8CC9-7110B5B34D2F}"/>
              </a:ext>
            </a:extLst>
          </p:cNvPr>
          <p:cNvSpPr>
            <a:spLocks xmlns:a="http://schemas.openxmlformats.org/drawingml/2006/main" noGrp="1"/>
          </p:cNvSpPr>
          <p:nvPr/>
        </p:nvSpPr>
        <p:spPr>
          <a:xfrm xmlns:a="http://schemas.openxmlformats.org/drawingml/2006/main">
            <a:off x="523875" y="3581400"/>
            <a:ext cx="2476500" cy="523875"/>
          </a:xfrm>
          <a:prstGeom xmlns:a="http://schemas.openxmlformats.org/drawingml/2006/main" prst="rect">
            <a:avLst/>
          </a:prstGeom>
          <a:solidFill xmlns:a="http://schemas.openxmlformats.org/drawingml/2006/main">
            <a:srgbClr val="EEEAFE"/>
          </a:solidFill>
          <a:ln xmlns:a="http://schemas.openxmlformats.org/drawingml/2006/main" w="6668">
            <a:solidFill>
              <a:srgbClr val="AA9BEC"/>
            </a:solidFill>
          </a:ln>
        </p:spPr>
        <p:txBody>
          <a:bodyPr xmlns:a="http://schemas.openxmlformats.org/drawingml/2006/main" lIns="38100" tIns="38100" rIns="38100" bIns="38100" anchor="ctr">
            <a:noAutofit/>
          </a:bodyPr>
          <a:lstStyle xmlns:a="http://schemas.openxmlformats.org/drawingml/2006/main">
            <a:defPPr algn="ctr">
              <a:defRPr sz="1125">
                <a:solidFill>
                  <a:srgbClr val="24292F"/>
                </a:solidFill>
                <a:latin typeface="Arial"/>
                <a:ea typeface="Arial"/>
                <a:cs typeface="Arial"/>
              </a:defRPr>
            </a:defPPr>
          </a:lstStyle>
          <a:p xmlns:a="http://schemas.openxmlformats.org/drawingml/2006/main">
            <a:pPr algn="ctr">
              <a:defRPr sz="1125">
                <a:solidFill>
                  <a:srgbClr val="24292F"/>
                </a:solidFill>
                <a:latin typeface="Arial"/>
                <a:ea typeface="Arial"/>
                <a:cs typeface="Arial"/>
              </a:defRPr>
            </a:pPr>
            <a:r>
              <a:rPr sz="1125">
                <a:solidFill>
                  <a:srgbClr val="24292F"/>
                </a:solidFill>
                <a:latin typeface="Arial"/>
                <a:ea typeface="Arial"/>
                <a:cs typeface="Arial"/>
              </a:rPr>
              <a:t>MongoDB + Mongoose</a:t>
            </a:r>
          </a:p>
          <a:p xmlns:a="http://schemas.openxmlformats.org/drawingml/2006/main">
            <a:pPr algn="ctr">
              <a:defRPr sz="1125">
                <a:solidFill>
                  <a:srgbClr val="24292F"/>
                </a:solidFill>
                <a:latin typeface="Arial"/>
                <a:ea typeface="Arial"/>
                <a:cs typeface="Arial"/>
              </a:defRPr>
            </a:pPr>
            <a:r>
              <a:rPr sz="1125">
                <a:solidFill>
                  <a:srgbClr val="24292F"/>
                </a:solidFill>
                <a:latin typeface="Arial"/>
                <a:ea typeface="Arial"/>
                <a:cs typeface="Arial"/>
              </a:rPr>
              <a:t>Users, advocates, bookings</a:t>
            </a:r>
          </a:p>
        </p:txBody>
      </p:sp>
      <p:sp>
        <p:nvSpPr>
          <p:cNvPr id="15" name="">
            <a:extLst xmlns:a="http://schemas.openxmlformats.org/drawingml/2006/main">
              <a:ext uri="{FF2B5EF4-FFF2-40B4-BE49-F238E27FC236}">
                <a16:creationId xmlns:a16="http://schemas.microsoft.com/office/drawing/2014/main" id="{13943FAA-D530-427D-AF68-4048029C1F23}"/>
              </a:ext>
            </a:extLst>
          </p:cNvPr>
          <p:cNvSpPr>
            <a:spLocks xmlns:a="http://schemas.openxmlformats.org/drawingml/2006/main" noGrp="1"/>
          </p:cNvSpPr>
          <p:nvPr/>
        </p:nvSpPr>
        <p:spPr>
          <a:xfrm xmlns:a="http://schemas.openxmlformats.org/drawingml/2006/main">
            <a:off x="3333750" y="3581400"/>
            <a:ext cx="2476500" cy="523875"/>
          </a:xfrm>
          <a:prstGeom xmlns:a="http://schemas.openxmlformats.org/drawingml/2006/main" prst="rect">
            <a:avLst/>
          </a:prstGeom>
          <a:solidFill xmlns:a="http://schemas.openxmlformats.org/drawingml/2006/main">
            <a:srgbClr val="EEEAFE"/>
          </a:solidFill>
          <a:ln xmlns:a="http://schemas.openxmlformats.org/drawingml/2006/main" w="6668">
            <a:solidFill>
              <a:srgbClr val="AA9BEC"/>
            </a:solidFill>
          </a:ln>
        </p:spPr>
        <p:txBody>
          <a:bodyPr xmlns:a="http://schemas.openxmlformats.org/drawingml/2006/main" lIns="38100" tIns="38100" rIns="38100" bIns="38100" anchor="ctr">
            <a:noAutofit/>
          </a:bodyPr>
          <a:lstStyle xmlns:a="http://schemas.openxmlformats.org/drawingml/2006/main">
            <a:defPPr algn="ctr">
              <a:defRPr sz="1125">
                <a:solidFill>
                  <a:srgbClr val="24292F"/>
                </a:solidFill>
                <a:latin typeface="Arial"/>
                <a:ea typeface="Arial"/>
                <a:cs typeface="Arial"/>
              </a:defRPr>
            </a:defPPr>
          </a:lstStyle>
          <a:p xmlns:a="http://schemas.openxmlformats.org/drawingml/2006/main">
            <a:pPr algn="ctr">
              <a:defRPr sz="1125">
                <a:solidFill>
                  <a:srgbClr val="24292F"/>
                </a:solidFill>
                <a:latin typeface="Arial"/>
                <a:ea typeface="Arial"/>
                <a:cs typeface="Arial"/>
              </a:defRPr>
            </a:pPr>
            <a:r>
              <a:rPr sz="1125">
                <a:solidFill>
                  <a:srgbClr val="24292F"/>
                </a:solidFill>
                <a:latin typeface="Arial"/>
                <a:ea typeface="Arial"/>
                <a:cs typeface="Arial"/>
              </a:rPr>
              <a:t>AI gateway / Gemini</a:t>
            </a:r>
          </a:p>
          <a:p xmlns:a="http://schemas.openxmlformats.org/drawingml/2006/main">
            <a:pPr algn="ctr">
              <a:defRPr sz="1125">
                <a:solidFill>
                  <a:srgbClr val="24292F"/>
                </a:solidFill>
                <a:latin typeface="Arial"/>
                <a:ea typeface="Arial"/>
                <a:cs typeface="Arial"/>
              </a:defRPr>
            </a:pPr>
            <a:r>
              <a:rPr sz="1125">
                <a:solidFill>
                  <a:srgbClr val="24292F"/>
                </a:solidFill>
                <a:latin typeface="Arial"/>
                <a:ea typeface="Arial"/>
                <a:cs typeface="Arial"/>
              </a:rPr>
              <a:t>Model classification</a:t>
            </a:r>
          </a:p>
        </p:txBody>
      </p:sp>
      <p:sp>
        <p:nvSpPr>
          <p:cNvPr id="16" name="">
            <a:extLst xmlns:a="http://schemas.openxmlformats.org/drawingml/2006/main">
              <a:ext uri="{FF2B5EF4-FFF2-40B4-BE49-F238E27FC236}">
                <a16:creationId xmlns:a16="http://schemas.microsoft.com/office/drawing/2014/main" id="{F8EABBDC-4D21-4114-A9E4-C6F221BDEB3C}"/>
              </a:ext>
            </a:extLst>
          </p:cNvPr>
          <p:cNvSpPr>
            <a:spLocks xmlns:a="http://schemas.openxmlformats.org/drawingml/2006/main" noGrp="1"/>
          </p:cNvSpPr>
          <p:nvPr/>
        </p:nvSpPr>
        <p:spPr>
          <a:xfrm xmlns:a="http://schemas.openxmlformats.org/drawingml/2006/main">
            <a:off x="6143625" y="3581400"/>
            <a:ext cx="2476500" cy="523875"/>
          </a:xfrm>
          <a:prstGeom xmlns:a="http://schemas.openxmlformats.org/drawingml/2006/main" prst="rect">
            <a:avLst/>
          </a:prstGeom>
          <a:solidFill xmlns:a="http://schemas.openxmlformats.org/drawingml/2006/main">
            <a:srgbClr val="EEEAFE"/>
          </a:solidFill>
          <a:ln xmlns:a="http://schemas.openxmlformats.org/drawingml/2006/main" w="6668">
            <a:solidFill>
              <a:srgbClr val="AA9BEC"/>
            </a:solidFill>
          </a:ln>
        </p:spPr>
        <p:txBody>
          <a:bodyPr xmlns:a="http://schemas.openxmlformats.org/drawingml/2006/main" lIns="38100" tIns="38100" rIns="38100" bIns="38100" anchor="ctr">
            <a:noAutofit/>
          </a:bodyPr>
          <a:lstStyle xmlns:a="http://schemas.openxmlformats.org/drawingml/2006/main">
            <a:defPPr algn="ctr">
              <a:defRPr sz="1125">
                <a:solidFill>
                  <a:srgbClr val="24292F"/>
                </a:solidFill>
                <a:latin typeface="Arial"/>
                <a:ea typeface="Arial"/>
                <a:cs typeface="Arial"/>
              </a:defRPr>
            </a:defPPr>
          </a:lstStyle>
          <a:p xmlns:a="http://schemas.openxmlformats.org/drawingml/2006/main">
            <a:pPr algn="ctr">
              <a:defRPr sz="1125">
                <a:solidFill>
                  <a:srgbClr val="24292F"/>
                </a:solidFill>
                <a:latin typeface="Arial"/>
                <a:ea typeface="Arial"/>
                <a:cs typeface="Arial"/>
              </a:defRPr>
            </a:pPr>
            <a:r>
              <a:rPr sz="1125">
                <a:solidFill>
                  <a:srgbClr val="24292F"/>
                </a:solidFill>
                <a:latin typeface="Arial"/>
                <a:ea typeface="Arial"/>
                <a:cs typeface="Arial"/>
              </a:rPr>
              <a:t>Razorpay</a:t>
            </a:r>
          </a:p>
          <a:p xmlns:a="http://schemas.openxmlformats.org/drawingml/2006/main">
            <a:pPr algn="ctr">
              <a:defRPr sz="1125">
                <a:solidFill>
                  <a:srgbClr val="24292F"/>
                </a:solidFill>
                <a:latin typeface="Arial"/>
                <a:ea typeface="Arial"/>
                <a:cs typeface="Arial"/>
              </a:defRPr>
            </a:pPr>
            <a:r>
              <a:rPr sz="1125">
                <a:solidFill>
                  <a:srgbClr val="24292F"/>
                </a:solidFill>
                <a:latin typeface="Arial"/>
                <a:ea typeface="Arial"/>
                <a:cs typeface="Arial"/>
              </a:rPr>
              <a:t>Orders + payment verification</a:t>
            </a:r>
          </a:p>
        </p:txBody>
      </p:sp>
      <p:cxnSp>
        <p:nvCxnSpPr>
          <p:cNvPr id="17" name="">
            <a:extLst xmlns:a="http://schemas.openxmlformats.org/drawingml/2006/main">
              <a:ext uri="{FF2B5EF4-FFF2-40B4-BE49-F238E27FC236}">
                <a16:creationId xmlns:a16="http://schemas.microsoft.com/office/drawing/2014/main" id="{6731B8C1-9E94-470A-842E-FD6AD1FEFE1A}"/>
              </a:ext>
            </a:extLst>
          </p:cNvPr>
          <p:cNvCxnSpPr>
            <a:stCxn xmlns:a="http://schemas.openxmlformats.org/drawingml/2006/main" id="9" idx="2"/>
            <a:endCxn xmlns:a="http://schemas.openxmlformats.org/drawingml/2006/main" id="14" idx="0"/>
          </p:cNvCxnSpPr>
          <p:nvPr/>
        </p:nvCxnSpPr>
        <p:spPr>
          <a:xfrm xmlns:a="http://schemas.openxmlformats.org/drawingml/2006/main" flipH="1">
            <a:off x="1762125" y="2828925"/>
            <a:ext cx="3176588" cy="752475"/>
          </a:xfrm>
          <a:prstGeom xmlns:a="http://schemas.openxmlformats.org/drawingml/2006/main" prst="straightConnector1">
            <a:avLst/>
          </a:prstGeom>
          <a:ln xmlns:a="http://schemas.openxmlformats.org/drawingml/2006/main" w="12383">
            <a:solidFill>
              <a:srgbClr val="0969DA"/>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8C823F09-F6AF-43F8-8C7C-FC68A76C5E9E}"/>
              </a:ext>
            </a:extLst>
          </p:cNvPr>
          <p:cNvCxnSpPr>
            <a:stCxn xmlns:a="http://schemas.openxmlformats.org/drawingml/2006/main" id="9" idx="2"/>
            <a:endCxn xmlns:a="http://schemas.openxmlformats.org/drawingml/2006/main" id="15" idx="0"/>
          </p:cNvCxnSpPr>
          <p:nvPr/>
        </p:nvCxnSpPr>
        <p:spPr>
          <a:xfrm xmlns:a="http://schemas.openxmlformats.org/drawingml/2006/main" flipH="1">
            <a:off x="4572000" y="2828925"/>
            <a:ext cx="366713" cy="752475"/>
          </a:xfrm>
          <a:prstGeom xmlns:a="http://schemas.openxmlformats.org/drawingml/2006/main" prst="straightConnector1">
            <a:avLst/>
          </a:prstGeom>
          <a:ln xmlns:a="http://schemas.openxmlformats.org/drawingml/2006/main" w="12383">
            <a:solidFill>
              <a:srgbClr val="0969DA"/>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82B593A8-23FE-4F34-9664-4840CB3723CA}"/>
              </a:ext>
            </a:extLst>
          </p:cNvPr>
          <p:cNvCxnSpPr>
            <a:stCxn xmlns:a="http://schemas.openxmlformats.org/drawingml/2006/main" id="9" idx="2"/>
            <a:endCxn xmlns:a="http://schemas.openxmlformats.org/drawingml/2006/main" id="16" idx="0"/>
          </p:cNvCxnSpPr>
          <p:nvPr/>
        </p:nvCxnSpPr>
        <p:spPr>
          <a:xfrm xmlns:a="http://schemas.openxmlformats.org/drawingml/2006/main">
            <a:off x="4938713" y="2828925"/>
            <a:ext cx="2443163" cy="752475"/>
          </a:xfrm>
          <a:prstGeom xmlns:a="http://schemas.openxmlformats.org/drawingml/2006/main" prst="straightConnector1">
            <a:avLst/>
          </a:prstGeom>
          <a:ln xmlns:a="http://schemas.openxmlformats.org/drawingml/2006/main" w="12383">
            <a:solidFill>
              <a:srgbClr val="0969DA"/>
            </a:solidFill>
            <a:prstDash val="solid"/>
            <a:tailEnd type="triangle" w="sm" len="sm"/>
          </a:ln>
        </p:spPr>
      </p:cxnSp>
      <p:sp>
        <p:nvSpPr>
          <p:cNvPr id="20" name="">
            <a:extLst xmlns:a="http://schemas.openxmlformats.org/drawingml/2006/main">
              <a:ext uri="{FF2B5EF4-FFF2-40B4-BE49-F238E27FC236}">
                <a16:creationId xmlns:a16="http://schemas.microsoft.com/office/drawing/2014/main" id="{BBB9BDFA-A2D7-4ED1-88B5-BF363B25E4BD}"/>
              </a:ext>
            </a:extLst>
          </p:cNvPr>
          <p:cNvSpPr>
            <a:spLocks xmlns:a="http://schemas.openxmlformats.org/drawingml/2006/main" noGrp="1"/>
          </p:cNvSpPr>
          <p:nvPr/>
        </p:nvSpPr>
        <p:spPr>
          <a:xfrm xmlns:a="http://schemas.openxmlformats.org/drawingml/2006/main">
            <a:off x="342900" y="4391025"/>
            <a:ext cx="819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626B76"/>
                </a:solidFill>
                <a:latin typeface="Arial"/>
                <a:ea typeface="Arial"/>
                <a:cs typeface="Arial"/>
              </a:defRPr>
            </a:defPPr>
          </a:lstStyle>
          <a:p xmlns:a="http://schemas.openxmlformats.org/drawingml/2006/main">
            <a:pPr algn="l">
              <a:defRPr sz="1350" b="0">
                <a:solidFill>
                  <a:srgbClr val="626B76"/>
                </a:solidFill>
                <a:latin typeface="Arial"/>
                <a:ea typeface="Arial"/>
                <a:cs typeface="Arial"/>
              </a:defRPr>
            </a:pPr>
            <a:r>
              <a:rPr sz="1350" b="0">
                <a:solidFill>
                  <a:srgbClr val="626B76"/>
                </a:solidFill>
                <a:latin typeface="Arial"/>
                <a:ea typeface="Arial"/>
                <a:cs typeface="Arial"/>
              </a:rPr>
              <a:t>Browser Web Speech handles recognition/playback. The backend holds keys and handles AI fallback.</a:t>
            </a:r>
          </a:p>
        </p:txBody>
      </p:sp>
      <p:sp>
        <p:nvSpPr>
          <p:cNvPr id="5" name="">
            <a:extLst xmlns:a="http://schemas.openxmlformats.org/drawingml/2006/main">
              <a:ext uri="{FF2B5EF4-FFF2-40B4-BE49-F238E27FC236}">
                <a16:creationId xmlns:a16="http://schemas.microsoft.com/office/drawing/2014/main" id="{AF9A4FF0-4A9F-4731-88CF-5FF213105AAC}"/>
              </a:ext>
            </a:extLst>
          </p:cNvPr>
          <p:cNvSpPr>
            <a:spLocks xmlns:a="http://schemas.openxmlformats.org/drawingml/2006/main" noGrp="1"/>
          </p:cNvSpPr>
          <p:nvPr/>
        </p:nvSpPr>
        <p:spPr>
          <a:xfrm xmlns:a="http://schemas.openxmlformats.org/drawingml/2006/main">
            <a:off x="457200" y="1066800"/>
            <a:ext cx="1809750" cy="200025"/>
          </a:xfrm>
          <a:prstGeom xmlns:a="http://schemas.openxmlformats.org/drawingml/2006/main" prst="rect">
            <a:avLst/>
          </a:prstGeom>
          <a:solidFill xmlns:a="http://schemas.openxmlformats.org/drawingml/2006/main">
            <a:srgbClr val="FFFFDF"/>
          </a:solidFill>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0">
                <a:solidFill>
                  <a:srgbClr val="24292F"/>
                </a:solidFill>
                <a:latin typeface="Arial"/>
                <a:ea typeface="Arial"/>
                <a:cs typeface="Arial"/>
              </a:defRPr>
            </a:defPPr>
          </a:lstStyle>
          <a:p xmlns:a="http://schemas.openxmlformats.org/drawingml/2006/main">
            <a:pPr algn="l">
              <a:defRPr sz="975" b="0">
                <a:solidFill>
                  <a:srgbClr val="24292F"/>
                </a:solidFill>
                <a:latin typeface="Arial"/>
                <a:ea typeface="Arial"/>
                <a:cs typeface="Arial"/>
              </a:defRPr>
            </a:pPr>
            <a:r>
              <a:rPr sz="975" b="0">
                <a:solidFill>
                  <a:srgbClr val="24292F"/>
                </a:solidFill>
                <a:latin typeface="Arial"/>
                <a:ea typeface="Arial"/>
                <a:cs typeface="Arial"/>
              </a:rPr>
              <a:t>CLIENT LAYER</a:t>
            </a:r>
          </a:p>
        </p:txBody>
      </p:sp>
      <p:sp>
        <p:nvSpPr>
          <p:cNvPr id="8" name="">
            <a:extLst xmlns:a="http://schemas.openxmlformats.org/drawingml/2006/main">
              <a:ext uri="{FF2B5EF4-FFF2-40B4-BE49-F238E27FC236}">
                <a16:creationId xmlns:a16="http://schemas.microsoft.com/office/drawing/2014/main" id="{4D108B62-3E50-43F9-99F9-998732E4A0F2}"/>
              </a:ext>
            </a:extLst>
          </p:cNvPr>
          <p:cNvSpPr>
            <a:spLocks xmlns:a="http://schemas.openxmlformats.org/drawingml/2006/main" noGrp="1"/>
          </p:cNvSpPr>
          <p:nvPr/>
        </p:nvSpPr>
        <p:spPr>
          <a:xfrm xmlns:a="http://schemas.openxmlformats.org/drawingml/2006/main">
            <a:off x="457200" y="2162175"/>
            <a:ext cx="1809750" cy="200025"/>
          </a:xfrm>
          <a:prstGeom xmlns:a="http://schemas.openxmlformats.org/drawingml/2006/main" prst="rect">
            <a:avLst/>
          </a:prstGeom>
          <a:solidFill xmlns:a="http://schemas.openxmlformats.org/drawingml/2006/main">
            <a:srgbClr val="FFFFDF"/>
          </a:solidFill>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0">
                <a:solidFill>
                  <a:srgbClr val="24292F"/>
                </a:solidFill>
                <a:latin typeface="Arial"/>
                <a:ea typeface="Arial"/>
                <a:cs typeface="Arial"/>
              </a:defRPr>
            </a:defPPr>
          </a:lstStyle>
          <a:p xmlns:a="http://schemas.openxmlformats.org/drawingml/2006/main">
            <a:pPr algn="l">
              <a:defRPr sz="975" b="0">
                <a:solidFill>
                  <a:srgbClr val="24292F"/>
                </a:solidFill>
                <a:latin typeface="Arial"/>
                <a:ea typeface="Arial"/>
                <a:cs typeface="Arial"/>
              </a:defRPr>
            </a:pPr>
            <a:r>
              <a:rPr sz="975" b="0">
                <a:solidFill>
                  <a:srgbClr val="24292F"/>
                </a:solidFill>
                <a:latin typeface="Arial"/>
                <a:ea typeface="Arial"/>
                <a:cs typeface="Arial"/>
              </a:rPr>
              <a:t>APPLICATION LAYER</a:t>
            </a:r>
          </a:p>
        </p:txBody>
      </p:sp>
      <p:sp>
        <p:nvSpPr>
          <p:cNvPr id="13" name="">
            <a:extLst xmlns:a="http://schemas.openxmlformats.org/drawingml/2006/main">
              <a:ext uri="{FF2B5EF4-FFF2-40B4-BE49-F238E27FC236}">
                <a16:creationId xmlns:a16="http://schemas.microsoft.com/office/drawing/2014/main" id="{16442B20-44F2-48DC-8BBD-542E5D076310}"/>
              </a:ext>
            </a:extLst>
          </p:cNvPr>
          <p:cNvSpPr>
            <a:spLocks xmlns:a="http://schemas.openxmlformats.org/drawingml/2006/main" noGrp="1"/>
          </p:cNvSpPr>
          <p:nvPr/>
        </p:nvSpPr>
        <p:spPr>
          <a:xfrm xmlns:a="http://schemas.openxmlformats.org/drawingml/2006/main">
            <a:off x="457200" y="3324225"/>
            <a:ext cx="1809750" cy="200025"/>
          </a:xfrm>
          <a:prstGeom xmlns:a="http://schemas.openxmlformats.org/drawingml/2006/main" prst="rect">
            <a:avLst/>
          </a:prstGeom>
          <a:solidFill xmlns:a="http://schemas.openxmlformats.org/drawingml/2006/main">
            <a:srgbClr val="FFFFDF"/>
          </a:solidFill>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0">
                <a:solidFill>
                  <a:srgbClr val="24292F"/>
                </a:solidFill>
                <a:latin typeface="Arial"/>
                <a:ea typeface="Arial"/>
                <a:cs typeface="Arial"/>
              </a:defRPr>
            </a:defPPr>
          </a:lstStyle>
          <a:p xmlns:a="http://schemas.openxmlformats.org/drawingml/2006/main">
            <a:pPr algn="l">
              <a:defRPr sz="975" b="0">
                <a:solidFill>
                  <a:srgbClr val="24292F"/>
                </a:solidFill>
                <a:latin typeface="Arial"/>
                <a:ea typeface="Arial"/>
                <a:cs typeface="Arial"/>
              </a:defRPr>
            </a:pPr>
            <a:r>
              <a:rPr sz="975" b="0">
                <a:solidFill>
                  <a:srgbClr val="24292F"/>
                </a:solidFill>
                <a:latin typeface="Arial"/>
                <a:ea typeface="Arial"/>
                <a:cs typeface="Arial"/>
              </a:rPr>
              <a:t>DATA AND SERVICES</a:t>
            </a:r>
          </a:p>
        </p:txBody>
      </p:sp>
    </p:spTree>
    <p:extLst>
      <p:ext uri="{BB962C8B-B14F-4D97-AF65-F5344CB8AC3E}">
        <p14:creationId xmlns:p14="http://schemas.microsoft.com/office/powerpoint/2010/main" val="6337176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919A4469-D062-454A-98FA-9122BFFB6929}"/>
              </a:ext>
            </a:extLst>
          </p:cNvPr>
          <p:cNvSpPr>
            <a:spLocks xmlns:a="http://schemas.openxmlformats.org/drawingml/2006/main" noGrp="1"/>
          </p:cNvSpPr>
          <p:nvPr/>
        </p:nvSpPr>
        <p:spPr>
          <a:xfrm xmlns:a="http://schemas.openxmlformats.org/drawingml/2006/main">
            <a:off x="342900" y="247650"/>
            <a:ext cx="8458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0969DA"/>
                </a:solidFill>
                <a:latin typeface="Arial"/>
                <a:ea typeface="Arial"/>
                <a:cs typeface="Arial"/>
              </a:defRPr>
            </a:defPPr>
          </a:lstStyle>
          <a:p xmlns:a="http://schemas.openxmlformats.org/drawingml/2006/main">
            <a:pPr algn="l">
              <a:defRPr sz="3000" b="1">
                <a:solidFill>
                  <a:srgbClr val="0969DA"/>
                </a:solidFill>
                <a:latin typeface="Arial"/>
                <a:ea typeface="Arial"/>
                <a:cs typeface="Arial"/>
              </a:defRPr>
            </a:pPr>
            <a:r>
              <a:rPr sz="3000" b="1">
                <a:solidFill>
                  <a:srgbClr val="0969DA"/>
                </a:solidFill>
                <a:latin typeface="Arial"/>
                <a:ea typeface="Arial"/>
                <a:cs typeface="Arial"/>
              </a:rPr>
              <a:t>Analysis and matching sequence</a:t>
            </a:r>
          </a:p>
        </p:txBody>
      </p:sp>
      <p:sp>
        <p:nvSpPr>
          <p:cNvPr id="2" name="">
            <a:extLst xmlns:a="http://schemas.openxmlformats.org/drawingml/2006/main">
              <a:ext uri="{FF2B5EF4-FFF2-40B4-BE49-F238E27FC236}">
                <a16:creationId xmlns:a16="http://schemas.microsoft.com/office/drawing/2014/main" id="{A60E0B32-6B44-4290-9D8D-E4251FD6E58B}"/>
              </a:ext>
            </a:extLst>
          </p:cNvPr>
          <p:cNvSpPr>
            <a:spLocks xmlns:a="http://schemas.openxmlformats.org/drawingml/2006/main" noGrp="1"/>
          </p:cNvSpPr>
          <p:nvPr/>
        </p:nvSpPr>
        <p:spPr>
          <a:xfrm xmlns:a="http://schemas.openxmlformats.org/drawingml/2006/main">
            <a:off x="342900" y="828675"/>
            <a:ext cx="8458200" cy="6668"/>
          </a:xfrm>
          <a:prstGeom xmlns:a="http://schemas.openxmlformats.org/drawingml/2006/main" prst="rect">
            <a:avLst/>
          </a:prstGeom>
          <a:solidFill xmlns:a="http://schemas.openxmlformats.org/drawingml/2006/main">
            <a:srgbClr val="CFD7E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B81EEA3-6864-4325-9B9B-C7966EC75F66}"/>
              </a:ext>
            </a:extLst>
          </p:cNvPr>
          <p:cNvSpPr>
            <a:spLocks xmlns:a="http://schemas.openxmlformats.org/drawingml/2006/main" noGrp="1"/>
          </p:cNvSpPr>
          <p:nvPr/>
        </p:nvSpPr>
        <p:spPr>
          <a:xfrm xmlns:a="http://schemas.openxmlformats.org/drawingml/2006/main">
            <a:off x="8524875" y="47815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777777"/>
                </a:solidFill>
                <a:latin typeface="Arial"/>
                <a:ea typeface="Arial"/>
                <a:cs typeface="Arial"/>
              </a:defRPr>
            </a:defPPr>
          </a:lstStyle>
          <a:p xmlns:a="http://schemas.openxmlformats.org/drawingml/2006/main">
            <a:pPr algn="r">
              <a:defRPr sz="1350" b="0">
                <a:solidFill>
                  <a:srgbClr val="777777"/>
                </a:solidFill>
                <a:latin typeface="Arial"/>
                <a:ea typeface="Arial"/>
                <a:cs typeface="Arial"/>
              </a:defRPr>
            </a:pPr>
            <a:r>
              <a:rPr sz="1350" b="0">
                <a:solidFill>
                  <a:srgbClr val="777777"/>
                </a:solidFill>
                <a:latin typeface="Arial"/>
                <a:ea typeface="Arial"/>
                <a:cs typeface="Arial"/>
              </a:rPr>
              <a:t>5</a:t>
            </a:r>
          </a:p>
        </p:txBody>
      </p:sp>
      <p:sp>
        <p:nvSpPr>
          <p:cNvPr id="4" name="">
            <a:extLst xmlns:a="http://schemas.openxmlformats.org/drawingml/2006/main">
              <a:ext uri="{FF2B5EF4-FFF2-40B4-BE49-F238E27FC236}">
                <a16:creationId xmlns:a16="http://schemas.microsoft.com/office/drawing/2014/main" id="{B7C50254-86BF-40C8-AA98-89040237A669}"/>
              </a:ext>
            </a:extLst>
          </p:cNvPr>
          <p:cNvSpPr>
            <a:spLocks xmlns:a="http://schemas.openxmlformats.org/drawingml/2006/main" noGrp="1"/>
          </p:cNvSpPr>
          <p:nvPr/>
        </p:nvSpPr>
        <p:spPr>
          <a:xfrm xmlns:a="http://schemas.openxmlformats.org/drawingml/2006/main">
            <a:off x="457200" y="1057275"/>
            <a:ext cx="1562100" cy="381000"/>
          </a:xfrm>
          <a:prstGeom xmlns:a="http://schemas.openxmlformats.org/drawingml/2006/main" prst="rect">
            <a:avLst/>
          </a:prstGeom>
          <a:solidFill xmlns:a="http://schemas.openxmlformats.org/drawingml/2006/main">
            <a:srgbClr val="EEEAFE"/>
          </a:solidFill>
          <a:ln xmlns:a="http://schemas.openxmlformats.org/drawingml/2006/main" w="6668">
            <a:solidFill>
              <a:srgbClr val="AA9BEC"/>
            </a:solidFill>
          </a:ln>
        </p:spPr>
        <p:txBody>
          <a:bodyPr xmlns:a="http://schemas.openxmlformats.org/drawingml/2006/main" lIns="38100" tIns="38100" rIns="38100" bIns="38100" anchor="ctr">
            <a:noAutofit/>
          </a:bodyPr>
          <a:lstStyle xmlns:a="http://schemas.openxmlformats.org/drawingml/2006/main">
            <a:defPPr algn="ctr">
              <a:defRPr sz="1125">
                <a:solidFill>
                  <a:srgbClr val="24292F"/>
                </a:solidFill>
                <a:latin typeface="Arial"/>
                <a:ea typeface="Arial"/>
                <a:cs typeface="Arial"/>
              </a:defRPr>
            </a:defPPr>
          </a:lstStyle>
          <a:p xmlns:a="http://schemas.openxmlformats.org/drawingml/2006/main">
            <a:pPr algn="ctr">
              <a:defRPr sz="1125">
                <a:solidFill>
                  <a:srgbClr val="24292F"/>
                </a:solidFill>
                <a:latin typeface="Arial"/>
                <a:ea typeface="Arial"/>
                <a:cs typeface="Arial"/>
              </a:defRPr>
            </a:pPr>
            <a:r>
              <a:rPr sz="1125">
                <a:solidFill>
                  <a:srgbClr val="24292F"/>
                </a:solidFill>
                <a:latin typeface="Arial"/>
                <a:ea typeface="Arial"/>
                <a:cs typeface="Arial"/>
              </a:rPr>
              <a:t>Browser client</a:t>
            </a:r>
          </a:p>
        </p:txBody>
      </p:sp>
      <p:sp>
        <p:nvSpPr>
          <p:cNvPr id="5" name="">
            <a:extLst xmlns:a="http://schemas.openxmlformats.org/drawingml/2006/main">
              <a:ext uri="{FF2B5EF4-FFF2-40B4-BE49-F238E27FC236}">
                <a16:creationId xmlns:a16="http://schemas.microsoft.com/office/drawing/2014/main" id="{08F14EE5-8FD7-4FF2-BE24-087F6C570E28}"/>
              </a:ext>
            </a:extLst>
          </p:cNvPr>
          <p:cNvSpPr>
            <a:spLocks xmlns:a="http://schemas.openxmlformats.org/drawingml/2006/main" noGrp="1"/>
          </p:cNvSpPr>
          <p:nvPr/>
        </p:nvSpPr>
        <p:spPr>
          <a:xfrm xmlns:a="http://schemas.openxmlformats.org/drawingml/2006/main">
            <a:off x="1238250" y="1438275"/>
            <a:ext cx="6668" cy="2619375"/>
          </a:xfrm>
          <a:prstGeom xmlns:a="http://schemas.openxmlformats.org/drawingml/2006/main" prst="rect">
            <a:avLst/>
          </a:prstGeom>
          <a:solidFill xmlns:a="http://schemas.openxmlformats.org/drawingml/2006/main">
            <a:srgbClr val="C7BDF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CCB1010-1443-46CF-A760-CB90C5DF4100}"/>
              </a:ext>
            </a:extLst>
          </p:cNvPr>
          <p:cNvSpPr>
            <a:spLocks xmlns:a="http://schemas.openxmlformats.org/drawingml/2006/main" noGrp="1"/>
          </p:cNvSpPr>
          <p:nvPr/>
        </p:nvSpPr>
        <p:spPr>
          <a:xfrm xmlns:a="http://schemas.openxmlformats.org/drawingml/2006/main">
            <a:off x="2686050" y="1057275"/>
            <a:ext cx="1562100" cy="381000"/>
          </a:xfrm>
          <a:prstGeom xmlns:a="http://schemas.openxmlformats.org/drawingml/2006/main" prst="rect">
            <a:avLst/>
          </a:prstGeom>
          <a:solidFill xmlns:a="http://schemas.openxmlformats.org/drawingml/2006/main">
            <a:srgbClr val="EEEAFE"/>
          </a:solidFill>
          <a:ln xmlns:a="http://schemas.openxmlformats.org/drawingml/2006/main" w="6668">
            <a:solidFill>
              <a:srgbClr val="AA9BEC"/>
            </a:solidFill>
          </a:ln>
        </p:spPr>
        <p:txBody>
          <a:bodyPr xmlns:a="http://schemas.openxmlformats.org/drawingml/2006/main" lIns="38100" tIns="38100" rIns="38100" bIns="38100" anchor="ctr">
            <a:noAutofit/>
          </a:bodyPr>
          <a:lstStyle xmlns:a="http://schemas.openxmlformats.org/drawingml/2006/main">
            <a:defPPr algn="ctr">
              <a:defRPr sz="1125">
                <a:solidFill>
                  <a:srgbClr val="24292F"/>
                </a:solidFill>
                <a:latin typeface="Arial"/>
                <a:ea typeface="Arial"/>
                <a:cs typeface="Arial"/>
              </a:defRPr>
            </a:defPPr>
          </a:lstStyle>
          <a:p xmlns:a="http://schemas.openxmlformats.org/drawingml/2006/main">
            <a:pPr algn="ctr">
              <a:defRPr sz="1125">
                <a:solidFill>
                  <a:srgbClr val="24292F"/>
                </a:solidFill>
                <a:latin typeface="Arial"/>
                <a:ea typeface="Arial"/>
                <a:cs typeface="Arial"/>
              </a:defRPr>
            </a:pPr>
            <a:r>
              <a:rPr sz="1125">
                <a:solidFill>
                  <a:srgbClr val="24292F"/>
                </a:solidFill>
                <a:latin typeface="Arial"/>
                <a:ea typeface="Arial"/>
                <a:cs typeface="Arial"/>
              </a:rPr>
              <a:t>Express API</a:t>
            </a:r>
          </a:p>
        </p:txBody>
      </p:sp>
      <p:sp>
        <p:nvSpPr>
          <p:cNvPr id="7" name="">
            <a:extLst xmlns:a="http://schemas.openxmlformats.org/drawingml/2006/main">
              <a:ext uri="{FF2B5EF4-FFF2-40B4-BE49-F238E27FC236}">
                <a16:creationId xmlns:a16="http://schemas.microsoft.com/office/drawing/2014/main" id="{8E13739C-0637-4C8E-AC8E-83B7873EB02E}"/>
              </a:ext>
            </a:extLst>
          </p:cNvPr>
          <p:cNvSpPr>
            <a:spLocks xmlns:a="http://schemas.openxmlformats.org/drawingml/2006/main" noGrp="1"/>
          </p:cNvSpPr>
          <p:nvPr/>
        </p:nvSpPr>
        <p:spPr>
          <a:xfrm xmlns:a="http://schemas.openxmlformats.org/drawingml/2006/main">
            <a:off x="3467100" y="1438275"/>
            <a:ext cx="6668" cy="2619375"/>
          </a:xfrm>
          <a:prstGeom xmlns:a="http://schemas.openxmlformats.org/drawingml/2006/main" prst="rect">
            <a:avLst/>
          </a:prstGeom>
          <a:solidFill xmlns:a="http://schemas.openxmlformats.org/drawingml/2006/main">
            <a:srgbClr val="C7BDF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94CE21B-95FF-4AE1-880E-A4BEC60CB4E3}"/>
              </a:ext>
            </a:extLst>
          </p:cNvPr>
          <p:cNvSpPr>
            <a:spLocks xmlns:a="http://schemas.openxmlformats.org/drawingml/2006/main" noGrp="1"/>
          </p:cNvSpPr>
          <p:nvPr/>
        </p:nvSpPr>
        <p:spPr>
          <a:xfrm xmlns:a="http://schemas.openxmlformats.org/drawingml/2006/main">
            <a:off x="4914900" y="1057275"/>
            <a:ext cx="1562100" cy="381000"/>
          </a:xfrm>
          <a:prstGeom xmlns:a="http://schemas.openxmlformats.org/drawingml/2006/main" prst="rect">
            <a:avLst/>
          </a:prstGeom>
          <a:solidFill xmlns:a="http://schemas.openxmlformats.org/drawingml/2006/main">
            <a:srgbClr val="EEEAFE"/>
          </a:solidFill>
          <a:ln xmlns:a="http://schemas.openxmlformats.org/drawingml/2006/main" w="6668">
            <a:solidFill>
              <a:srgbClr val="AA9BEC"/>
            </a:solidFill>
          </a:ln>
        </p:spPr>
        <p:txBody>
          <a:bodyPr xmlns:a="http://schemas.openxmlformats.org/drawingml/2006/main" lIns="38100" tIns="38100" rIns="38100" bIns="38100" anchor="ctr">
            <a:noAutofit/>
          </a:bodyPr>
          <a:lstStyle xmlns:a="http://schemas.openxmlformats.org/drawingml/2006/main">
            <a:defPPr algn="ctr">
              <a:defRPr sz="1125">
                <a:solidFill>
                  <a:srgbClr val="24292F"/>
                </a:solidFill>
                <a:latin typeface="Arial"/>
                <a:ea typeface="Arial"/>
                <a:cs typeface="Arial"/>
              </a:defRPr>
            </a:defPPr>
          </a:lstStyle>
          <a:p xmlns:a="http://schemas.openxmlformats.org/drawingml/2006/main">
            <a:pPr algn="ctr">
              <a:defRPr sz="1125">
                <a:solidFill>
                  <a:srgbClr val="24292F"/>
                </a:solidFill>
                <a:latin typeface="Arial"/>
                <a:ea typeface="Arial"/>
                <a:cs typeface="Arial"/>
              </a:defRPr>
            </a:pPr>
            <a:r>
              <a:rPr sz="1125">
                <a:solidFill>
                  <a:srgbClr val="24292F"/>
                </a:solidFill>
                <a:latin typeface="Arial"/>
                <a:ea typeface="Arial"/>
                <a:cs typeface="Arial"/>
              </a:rPr>
              <a:t>AI provider</a:t>
            </a:r>
          </a:p>
        </p:txBody>
      </p:sp>
      <p:sp>
        <p:nvSpPr>
          <p:cNvPr id="9" name="">
            <a:extLst xmlns:a="http://schemas.openxmlformats.org/drawingml/2006/main">
              <a:ext uri="{FF2B5EF4-FFF2-40B4-BE49-F238E27FC236}">
                <a16:creationId xmlns:a16="http://schemas.microsoft.com/office/drawing/2014/main" id="{1C40BD52-37CC-46E5-AEEC-73AE6D0013DE}"/>
              </a:ext>
            </a:extLst>
          </p:cNvPr>
          <p:cNvSpPr>
            <a:spLocks xmlns:a="http://schemas.openxmlformats.org/drawingml/2006/main" noGrp="1"/>
          </p:cNvSpPr>
          <p:nvPr/>
        </p:nvSpPr>
        <p:spPr>
          <a:xfrm xmlns:a="http://schemas.openxmlformats.org/drawingml/2006/main">
            <a:off x="5695950" y="1438275"/>
            <a:ext cx="6668" cy="2619375"/>
          </a:xfrm>
          <a:prstGeom xmlns:a="http://schemas.openxmlformats.org/drawingml/2006/main" prst="rect">
            <a:avLst/>
          </a:prstGeom>
          <a:solidFill xmlns:a="http://schemas.openxmlformats.org/drawingml/2006/main">
            <a:srgbClr val="C7BDF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EFC24F3-2326-4165-B22F-79034AA6D8F2}"/>
              </a:ext>
            </a:extLst>
          </p:cNvPr>
          <p:cNvSpPr>
            <a:spLocks xmlns:a="http://schemas.openxmlformats.org/drawingml/2006/main" noGrp="1"/>
          </p:cNvSpPr>
          <p:nvPr/>
        </p:nvSpPr>
        <p:spPr>
          <a:xfrm xmlns:a="http://schemas.openxmlformats.org/drawingml/2006/main">
            <a:off x="7143750" y="1057275"/>
            <a:ext cx="1562100" cy="381000"/>
          </a:xfrm>
          <a:prstGeom xmlns:a="http://schemas.openxmlformats.org/drawingml/2006/main" prst="rect">
            <a:avLst/>
          </a:prstGeom>
          <a:solidFill xmlns:a="http://schemas.openxmlformats.org/drawingml/2006/main">
            <a:srgbClr val="EEEAFE"/>
          </a:solidFill>
          <a:ln xmlns:a="http://schemas.openxmlformats.org/drawingml/2006/main" w="6668">
            <a:solidFill>
              <a:srgbClr val="AA9BEC"/>
            </a:solidFill>
          </a:ln>
        </p:spPr>
        <p:txBody>
          <a:bodyPr xmlns:a="http://schemas.openxmlformats.org/drawingml/2006/main" lIns="38100" tIns="38100" rIns="38100" bIns="38100" anchor="ctr">
            <a:noAutofit/>
          </a:bodyPr>
          <a:lstStyle xmlns:a="http://schemas.openxmlformats.org/drawingml/2006/main">
            <a:defPPr algn="ctr">
              <a:defRPr sz="1125">
                <a:solidFill>
                  <a:srgbClr val="24292F"/>
                </a:solidFill>
                <a:latin typeface="Arial"/>
                <a:ea typeface="Arial"/>
                <a:cs typeface="Arial"/>
              </a:defRPr>
            </a:defPPr>
          </a:lstStyle>
          <a:p xmlns:a="http://schemas.openxmlformats.org/drawingml/2006/main">
            <a:pPr algn="ctr">
              <a:defRPr sz="1125">
                <a:solidFill>
                  <a:srgbClr val="24292F"/>
                </a:solidFill>
                <a:latin typeface="Arial"/>
                <a:ea typeface="Arial"/>
                <a:cs typeface="Arial"/>
              </a:defRPr>
            </a:pPr>
            <a:r>
              <a:rPr sz="1125">
                <a:solidFill>
                  <a:srgbClr val="24292F"/>
                </a:solidFill>
                <a:latin typeface="Arial"/>
                <a:ea typeface="Arial"/>
                <a:cs typeface="Arial"/>
              </a:rPr>
              <a:t>MongoDB</a:t>
            </a:r>
          </a:p>
        </p:txBody>
      </p:sp>
      <p:sp>
        <p:nvSpPr>
          <p:cNvPr id="11" name="">
            <a:extLst xmlns:a="http://schemas.openxmlformats.org/drawingml/2006/main">
              <a:ext uri="{FF2B5EF4-FFF2-40B4-BE49-F238E27FC236}">
                <a16:creationId xmlns:a16="http://schemas.microsoft.com/office/drawing/2014/main" id="{6070F379-E78C-4463-8447-C8E2C111E136}"/>
              </a:ext>
            </a:extLst>
          </p:cNvPr>
          <p:cNvSpPr>
            <a:spLocks xmlns:a="http://schemas.openxmlformats.org/drawingml/2006/main" noGrp="1"/>
          </p:cNvSpPr>
          <p:nvPr/>
        </p:nvSpPr>
        <p:spPr>
          <a:xfrm xmlns:a="http://schemas.openxmlformats.org/drawingml/2006/main">
            <a:off x="7924800" y="1438275"/>
            <a:ext cx="6668" cy="2619375"/>
          </a:xfrm>
          <a:prstGeom xmlns:a="http://schemas.openxmlformats.org/drawingml/2006/main" prst="rect">
            <a:avLst/>
          </a:prstGeom>
          <a:solidFill xmlns:a="http://schemas.openxmlformats.org/drawingml/2006/main">
            <a:srgbClr val="C7BDF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18B0764-5C7A-42FC-8A5E-98870F4E81B5}"/>
              </a:ext>
            </a:extLst>
          </p:cNvPr>
          <p:cNvSpPr>
            <a:spLocks xmlns:a="http://schemas.openxmlformats.org/drawingml/2006/main" noGrp="1"/>
          </p:cNvSpPr>
          <p:nvPr/>
        </p:nvSpPr>
        <p:spPr>
          <a:xfrm xmlns:a="http://schemas.openxmlformats.org/drawingml/2006/main">
            <a:off x="1238250" y="1819275"/>
            <a:ext cx="3810" cy="3810"/>
          </a:xfrm>
          <a:prstGeom xmlns:a="http://schemas.openxmlformats.org/drawingml/2006/main" prst="rect">
            <a:avLst/>
          </a:prstGeom>
          <a:noFill xmlns:a="http://schemas.openxmlformats.org/drawingml/2006/main"/>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FF6A959-72E9-45E0-846A-9ADBEBD2E2CD}"/>
              </a:ext>
            </a:extLst>
          </p:cNvPr>
          <p:cNvSpPr>
            <a:spLocks xmlns:a="http://schemas.openxmlformats.org/drawingml/2006/main" noGrp="1"/>
          </p:cNvSpPr>
          <p:nvPr/>
        </p:nvSpPr>
        <p:spPr>
          <a:xfrm xmlns:a="http://schemas.openxmlformats.org/drawingml/2006/main">
            <a:off x="3467100" y="181927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4" name="">
            <a:extLst xmlns:a="http://schemas.openxmlformats.org/drawingml/2006/main">
              <a:ext uri="{FF2B5EF4-FFF2-40B4-BE49-F238E27FC236}">
                <a16:creationId xmlns:a16="http://schemas.microsoft.com/office/drawing/2014/main" id="{7FBE6816-3CD1-4CBD-A412-EE300240DAE4}"/>
              </a:ext>
            </a:extLst>
          </p:cNvPr>
          <p:cNvCxnSpPr>
            <a:stCxn xmlns:a="http://schemas.openxmlformats.org/drawingml/2006/main" id="12" idx="3"/>
            <a:endCxn xmlns:a="http://schemas.openxmlformats.org/drawingml/2006/main" id="13" idx="1"/>
          </p:cNvCxnSpPr>
          <p:nvPr/>
        </p:nvCxnSpPr>
        <p:spPr>
          <a:xfrm xmlns:a="http://schemas.openxmlformats.org/drawingml/2006/main">
            <a:off x="1242060" y="1821180"/>
            <a:ext cx="2225040" cy="0"/>
          </a:xfrm>
          <a:prstGeom xmlns:a="http://schemas.openxmlformats.org/drawingml/2006/main" prst="straightConnector1">
            <a:avLst/>
          </a:prstGeom>
          <a:ln xmlns:a="http://schemas.openxmlformats.org/drawingml/2006/main" w="12383">
            <a:solidFill>
              <a:srgbClr val="0969DA"/>
            </a:solidFill>
            <a:prstDash val="solid"/>
            <a:tailEnd type="triangle" w="sm" len="sm"/>
          </a:ln>
        </p:spPr>
      </p:cxnSp>
      <p:sp>
        <p:nvSpPr>
          <p:cNvPr id="15" name="">
            <a:extLst xmlns:a="http://schemas.openxmlformats.org/drawingml/2006/main">
              <a:ext uri="{FF2B5EF4-FFF2-40B4-BE49-F238E27FC236}">
                <a16:creationId xmlns:a16="http://schemas.microsoft.com/office/drawing/2014/main" id="{61E935B4-4D6D-42CF-AB68-CA34FD87AE59}"/>
              </a:ext>
            </a:extLst>
          </p:cNvPr>
          <p:cNvSpPr>
            <a:spLocks xmlns:a="http://schemas.openxmlformats.org/drawingml/2006/main" noGrp="1"/>
          </p:cNvSpPr>
          <p:nvPr/>
        </p:nvSpPr>
        <p:spPr>
          <a:xfrm xmlns:a="http://schemas.openxmlformats.org/drawingml/2006/main">
            <a:off x="1295400" y="1600200"/>
            <a:ext cx="2114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050" b="0">
                <a:solidFill>
                  <a:srgbClr val="24292F"/>
                </a:solidFill>
                <a:latin typeface="Arial"/>
                <a:ea typeface="Arial"/>
                <a:cs typeface="Arial"/>
              </a:defRPr>
            </a:defPPr>
          </a:lstStyle>
          <a:p xmlns:a="http://schemas.openxmlformats.org/drawingml/2006/main">
            <a:pPr algn="ctr">
              <a:defRPr sz="1050" b="0">
                <a:solidFill>
                  <a:srgbClr val="24292F"/>
                </a:solidFill>
                <a:latin typeface="Arial"/>
                <a:ea typeface="Arial"/>
                <a:cs typeface="Arial"/>
              </a:defRPr>
            </a:pPr>
            <a:r>
              <a:rPr sz="1050" b="0">
                <a:solidFill>
                  <a:srgbClr val="24292F"/>
                </a:solidFill>
                <a:latin typeface="Arial"/>
                <a:ea typeface="Arial"/>
                <a:cs typeface="Arial"/>
              </a:rPr>
              <a:t>1  POST /api/ai/triage: text + history</a:t>
            </a:r>
          </a:p>
        </p:txBody>
      </p:sp>
      <p:sp>
        <p:nvSpPr>
          <p:cNvPr id="16" name="">
            <a:extLst xmlns:a="http://schemas.openxmlformats.org/drawingml/2006/main">
              <a:ext uri="{FF2B5EF4-FFF2-40B4-BE49-F238E27FC236}">
                <a16:creationId xmlns:a16="http://schemas.microsoft.com/office/drawing/2014/main" id="{C0F4CD59-C357-4EC2-A976-D49F4D7FF088}"/>
              </a:ext>
            </a:extLst>
          </p:cNvPr>
          <p:cNvSpPr>
            <a:spLocks xmlns:a="http://schemas.openxmlformats.org/drawingml/2006/main" noGrp="1"/>
          </p:cNvSpPr>
          <p:nvPr/>
        </p:nvSpPr>
        <p:spPr>
          <a:xfrm xmlns:a="http://schemas.openxmlformats.org/drawingml/2006/main">
            <a:off x="3467100" y="2219325"/>
            <a:ext cx="3810" cy="3810"/>
          </a:xfrm>
          <a:prstGeom xmlns:a="http://schemas.openxmlformats.org/drawingml/2006/main" prst="rect">
            <a:avLst/>
          </a:prstGeom>
          <a:noFill xmlns:a="http://schemas.openxmlformats.org/drawingml/2006/main"/>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A0448B7-1B49-4A97-B2EE-DE2387008B84}"/>
              </a:ext>
            </a:extLst>
          </p:cNvPr>
          <p:cNvSpPr>
            <a:spLocks xmlns:a="http://schemas.openxmlformats.org/drawingml/2006/main" noGrp="1"/>
          </p:cNvSpPr>
          <p:nvPr/>
        </p:nvSpPr>
        <p:spPr>
          <a:xfrm xmlns:a="http://schemas.openxmlformats.org/drawingml/2006/main">
            <a:off x="5695950" y="221932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8" name="">
            <a:extLst xmlns:a="http://schemas.openxmlformats.org/drawingml/2006/main">
              <a:ext uri="{FF2B5EF4-FFF2-40B4-BE49-F238E27FC236}">
                <a16:creationId xmlns:a16="http://schemas.microsoft.com/office/drawing/2014/main" id="{ED295758-97C7-44D7-8787-A59A83802939}"/>
              </a:ext>
            </a:extLst>
          </p:cNvPr>
          <p:cNvCxnSpPr>
            <a:stCxn xmlns:a="http://schemas.openxmlformats.org/drawingml/2006/main" id="16" idx="3"/>
            <a:endCxn xmlns:a="http://schemas.openxmlformats.org/drawingml/2006/main" id="17" idx="1"/>
          </p:cNvCxnSpPr>
          <p:nvPr/>
        </p:nvCxnSpPr>
        <p:spPr>
          <a:xfrm xmlns:a="http://schemas.openxmlformats.org/drawingml/2006/main">
            <a:off x="3470910" y="2221230"/>
            <a:ext cx="2225040" cy="0"/>
          </a:xfrm>
          <a:prstGeom xmlns:a="http://schemas.openxmlformats.org/drawingml/2006/main" prst="straightConnector1">
            <a:avLst/>
          </a:prstGeom>
          <a:ln xmlns:a="http://schemas.openxmlformats.org/drawingml/2006/main" w="12383">
            <a:solidFill>
              <a:srgbClr val="0969DA"/>
            </a:solidFill>
            <a:prstDash val="solid"/>
            <a:tailEnd type="triangle" w="sm" len="sm"/>
          </a:ln>
        </p:spPr>
      </p:cxnSp>
      <p:sp>
        <p:nvSpPr>
          <p:cNvPr id="19" name="">
            <a:extLst xmlns:a="http://schemas.openxmlformats.org/drawingml/2006/main">
              <a:ext uri="{FF2B5EF4-FFF2-40B4-BE49-F238E27FC236}">
                <a16:creationId xmlns:a16="http://schemas.microsoft.com/office/drawing/2014/main" id="{F3480C01-C4AC-4FEF-BF44-3B3330523E91}"/>
              </a:ext>
            </a:extLst>
          </p:cNvPr>
          <p:cNvSpPr>
            <a:spLocks xmlns:a="http://schemas.openxmlformats.org/drawingml/2006/main" noGrp="1"/>
          </p:cNvSpPr>
          <p:nvPr/>
        </p:nvSpPr>
        <p:spPr>
          <a:xfrm xmlns:a="http://schemas.openxmlformats.org/drawingml/2006/main">
            <a:off x="3524250" y="2000250"/>
            <a:ext cx="2114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050" b="0">
                <a:solidFill>
                  <a:srgbClr val="24292F"/>
                </a:solidFill>
                <a:latin typeface="Arial"/>
                <a:ea typeface="Arial"/>
                <a:cs typeface="Arial"/>
              </a:defRPr>
            </a:defPPr>
          </a:lstStyle>
          <a:p xmlns:a="http://schemas.openxmlformats.org/drawingml/2006/main">
            <a:pPr algn="ctr">
              <a:defRPr sz="1050" b="0">
                <a:solidFill>
                  <a:srgbClr val="24292F"/>
                </a:solidFill>
                <a:latin typeface="Arial"/>
                <a:ea typeface="Arial"/>
                <a:cs typeface="Arial"/>
              </a:defRPr>
            </a:pPr>
            <a:r>
              <a:rPr sz="1050" b="0">
                <a:solidFill>
                  <a:srgbClr val="24292F"/>
                </a:solidFill>
                <a:latin typeface="Arial"/>
                <a:ea typeface="Arial"/>
                <a:cs typeface="Arial"/>
              </a:rPr>
              <a:t>2  Request issue classification</a:t>
            </a:r>
          </a:p>
        </p:txBody>
      </p:sp>
      <p:sp>
        <p:nvSpPr>
          <p:cNvPr id="20" name="">
            <a:extLst xmlns:a="http://schemas.openxmlformats.org/drawingml/2006/main">
              <a:ext uri="{FF2B5EF4-FFF2-40B4-BE49-F238E27FC236}">
                <a16:creationId xmlns:a16="http://schemas.microsoft.com/office/drawing/2014/main" id="{3CEA2D92-949E-422B-872C-9D9B07A51839}"/>
              </a:ext>
            </a:extLst>
          </p:cNvPr>
          <p:cNvSpPr>
            <a:spLocks xmlns:a="http://schemas.openxmlformats.org/drawingml/2006/main" noGrp="1"/>
          </p:cNvSpPr>
          <p:nvPr/>
        </p:nvSpPr>
        <p:spPr>
          <a:xfrm xmlns:a="http://schemas.openxmlformats.org/drawingml/2006/main">
            <a:off x="5695950" y="2619375"/>
            <a:ext cx="3810" cy="3810"/>
          </a:xfrm>
          <a:prstGeom xmlns:a="http://schemas.openxmlformats.org/drawingml/2006/main" prst="rect">
            <a:avLst/>
          </a:prstGeom>
          <a:noFill xmlns:a="http://schemas.openxmlformats.org/drawingml/2006/main"/>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10AE3DD-D314-4E37-8461-D36AA0EEE3E4}"/>
              </a:ext>
            </a:extLst>
          </p:cNvPr>
          <p:cNvSpPr>
            <a:spLocks xmlns:a="http://schemas.openxmlformats.org/drawingml/2006/main" noGrp="1"/>
          </p:cNvSpPr>
          <p:nvPr/>
        </p:nvSpPr>
        <p:spPr>
          <a:xfrm xmlns:a="http://schemas.openxmlformats.org/drawingml/2006/main">
            <a:off x="3467100" y="261937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2" name="">
            <a:extLst xmlns:a="http://schemas.openxmlformats.org/drawingml/2006/main">
              <a:ext uri="{FF2B5EF4-FFF2-40B4-BE49-F238E27FC236}">
                <a16:creationId xmlns:a16="http://schemas.microsoft.com/office/drawing/2014/main" id="{C92C01DB-9DA9-465C-B588-14EB8ECA4486}"/>
              </a:ext>
            </a:extLst>
          </p:cNvPr>
          <p:cNvCxnSpPr>
            <a:stCxn xmlns:a="http://schemas.openxmlformats.org/drawingml/2006/main" id="20" idx="1"/>
            <a:endCxn xmlns:a="http://schemas.openxmlformats.org/drawingml/2006/main" id="21" idx="3"/>
          </p:cNvCxnSpPr>
          <p:nvPr/>
        </p:nvCxnSpPr>
        <p:spPr>
          <a:xfrm xmlns:a="http://schemas.openxmlformats.org/drawingml/2006/main" flipH="1">
            <a:off x="3470910" y="2621280"/>
            <a:ext cx="2225040" cy="0"/>
          </a:xfrm>
          <a:prstGeom xmlns:a="http://schemas.openxmlformats.org/drawingml/2006/main" prst="straightConnector1">
            <a:avLst/>
          </a:prstGeom>
          <a:ln xmlns:a="http://schemas.openxmlformats.org/drawingml/2006/main" w="12383">
            <a:solidFill>
              <a:srgbClr val="0969DA"/>
            </a:solidFill>
            <a:prstDash val="solid"/>
            <a:tailEnd type="triangle" w="sm" len="sm"/>
          </a:ln>
        </p:spPr>
      </p:cxnSp>
      <p:sp>
        <p:nvSpPr>
          <p:cNvPr id="23" name="">
            <a:extLst xmlns:a="http://schemas.openxmlformats.org/drawingml/2006/main">
              <a:ext uri="{FF2B5EF4-FFF2-40B4-BE49-F238E27FC236}">
                <a16:creationId xmlns:a16="http://schemas.microsoft.com/office/drawing/2014/main" id="{EA196C06-903F-4261-8CC3-ACE766D3B4C5}"/>
              </a:ext>
            </a:extLst>
          </p:cNvPr>
          <p:cNvSpPr>
            <a:spLocks xmlns:a="http://schemas.openxmlformats.org/drawingml/2006/main" noGrp="1"/>
          </p:cNvSpPr>
          <p:nvPr/>
        </p:nvSpPr>
        <p:spPr>
          <a:xfrm xmlns:a="http://schemas.openxmlformats.org/drawingml/2006/main">
            <a:off x="3524250" y="2400300"/>
            <a:ext cx="2114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050" b="0">
                <a:solidFill>
                  <a:srgbClr val="24292F"/>
                </a:solidFill>
                <a:latin typeface="Arial"/>
                <a:ea typeface="Arial"/>
                <a:cs typeface="Arial"/>
              </a:defRPr>
            </a:defPPr>
          </a:lstStyle>
          <a:p xmlns:a="http://schemas.openxmlformats.org/drawingml/2006/main">
            <a:pPr algn="ctr">
              <a:defRPr sz="1050" b="0">
                <a:solidFill>
                  <a:srgbClr val="24292F"/>
                </a:solidFill>
                <a:latin typeface="Arial"/>
                <a:ea typeface="Arial"/>
                <a:cs typeface="Arial"/>
              </a:defRPr>
            </a:pPr>
            <a:r>
              <a:rPr sz="1050" b="0">
                <a:solidFill>
                  <a:srgbClr val="24292F"/>
                </a:solidFill>
                <a:latin typeface="Arial"/>
                <a:ea typeface="Arial"/>
                <a:cs typeface="Arial"/>
              </a:rPr>
              <a:t>3  Model response or provider error</a:t>
            </a:r>
          </a:p>
        </p:txBody>
      </p:sp>
      <p:sp>
        <p:nvSpPr>
          <p:cNvPr id="24" name="">
            <a:extLst xmlns:a="http://schemas.openxmlformats.org/drawingml/2006/main">
              <a:ext uri="{FF2B5EF4-FFF2-40B4-BE49-F238E27FC236}">
                <a16:creationId xmlns:a16="http://schemas.microsoft.com/office/drawing/2014/main" id="{85C67C1A-3167-4258-B0E9-CFF2D5E7594A}"/>
              </a:ext>
            </a:extLst>
          </p:cNvPr>
          <p:cNvSpPr>
            <a:spLocks xmlns:a="http://schemas.openxmlformats.org/drawingml/2006/main" noGrp="1"/>
          </p:cNvSpPr>
          <p:nvPr/>
        </p:nvSpPr>
        <p:spPr>
          <a:xfrm xmlns:a="http://schemas.openxmlformats.org/drawingml/2006/main">
            <a:off x="3467100" y="3019425"/>
            <a:ext cx="3810" cy="3810"/>
          </a:xfrm>
          <a:prstGeom xmlns:a="http://schemas.openxmlformats.org/drawingml/2006/main" prst="rect">
            <a:avLst/>
          </a:prstGeom>
          <a:noFill xmlns:a="http://schemas.openxmlformats.org/drawingml/2006/main"/>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E35DAEB-AD0F-48C0-8557-F5D43631FA1B}"/>
              </a:ext>
            </a:extLst>
          </p:cNvPr>
          <p:cNvSpPr>
            <a:spLocks xmlns:a="http://schemas.openxmlformats.org/drawingml/2006/main" noGrp="1"/>
          </p:cNvSpPr>
          <p:nvPr/>
        </p:nvSpPr>
        <p:spPr>
          <a:xfrm xmlns:a="http://schemas.openxmlformats.org/drawingml/2006/main">
            <a:off x="7924800" y="301942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6" name="">
            <a:extLst xmlns:a="http://schemas.openxmlformats.org/drawingml/2006/main">
              <a:ext uri="{FF2B5EF4-FFF2-40B4-BE49-F238E27FC236}">
                <a16:creationId xmlns:a16="http://schemas.microsoft.com/office/drawing/2014/main" id="{589E9EB2-4AF4-4779-B9C2-55A16AFA989C}"/>
              </a:ext>
            </a:extLst>
          </p:cNvPr>
          <p:cNvCxnSpPr>
            <a:stCxn xmlns:a="http://schemas.openxmlformats.org/drawingml/2006/main" id="24" idx="3"/>
            <a:endCxn xmlns:a="http://schemas.openxmlformats.org/drawingml/2006/main" id="25" idx="1"/>
          </p:cNvCxnSpPr>
          <p:nvPr/>
        </p:nvCxnSpPr>
        <p:spPr>
          <a:xfrm xmlns:a="http://schemas.openxmlformats.org/drawingml/2006/main">
            <a:off x="3470910" y="3021330"/>
            <a:ext cx="4453890" cy="0"/>
          </a:xfrm>
          <a:prstGeom xmlns:a="http://schemas.openxmlformats.org/drawingml/2006/main" prst="straightConnector1">
            <a:avLst/>
          </a:prstGeom>
          <a:ln xmlns:a="http://schemas.openxmlformats.org/drawingml/2006/main" w="12383">
            <a:solidFill>
              <a:srgbClr val="0969DA"/>
            </a:solidFill>
            <a:prstDash val="solid"/>
            <a:tailEnd type="triangle" w="sm" len="sm"/>
          </a:ln>
        </p:spPr>
      </p:cxnSp>
      <p:sp>
        <p:nvSpPr>
          <p:cNvPr id="27" name="">
            <a:extLst xmlns:a="http://schemas.openxmlformats.org/drawingml/2006/main">
              <a:ext uri="{FF2B5EF4-FFF2-40B4-BE49-F238E27FC236}">
                <a16:creationId xmlns:a16="http://schemas.microsoft.com/office/drawing/2014/main" id="{8099157D-DF0E-4AD7-958A-D3BED01BCBD9}"/>
              </a:ext>
            </a:extLst>
          </p:cNvPr>
          <p:cNvSpPr>
            <a:spLocks xmlns:a="http://schemas.openxmlformats.org/drawingml/2006/main" noGrp="1"/>
          </p:cNvSpPr>
          <p:nvPr/>
        </p:nvSpPr>
        <p:spPr>
          <a:xfrm xmlns:a="http://schemas.openxmlformats.org/drawingml/2006/main">
            <a:off x="3524250" y="2800350"/>
            <a:ext cx="43434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050" b="0">
                <a:solidFill>
                  <a:srgbClr val="24292F"/>
                </a:solidFill>
                <a:latin typeface="Arial"/>
                <a:ea typeface="Arial"/>
                <a:cs typeface="Arial"/>
              </a:defRPr>
            </a:defPPr>
          </a:lstStyle>
          <a:p xmlns:a="http://schemas.openxmlformats.org/drawingml/2006/main">
            <a:pPr algn="ctr">
              <a:defRPr sz="1050" b="0">
                <a:solidFill>
                  <a:srgbClr val="24292F"/>
                </a:solidFill>
                <a:latin typeface="Arial"/>
                <a:ea typeface="Arial"/>
                <a:cs typeface="Arial"/>
              </a:defRPr>
            </a:pPr>
            <a:r>
              <a:rPr sz="1050" b="0">
                <a:solidFill>
                  <a:srgbClr val="24292F"/>
                </a:solidFill>
                <a:latin typeface="Arial"/>
                <a:ea typeface="Arial"/>
                <a:cs typeface="Arial"/>
              </a:rPr>
              <a:t>4  Query expertise + availability</a:t>
            </a:r>
          </a:p>
        </p:txBody>
      </p:sp>
      <p:sp>
        <p:nvSpPr>
          <p:cNvPr id="28" name="">
            <a:extLst xmlns:a="http://schemas.openxmlformats.org/drawingml/2006/main">
              <a:ext uri="{FF2B5EF4-FFF2-40B4-BE49-F238E27FC236}">
                <a16:creationId xmlns:a16="http://schemas.microsoft.com/office/drawing/2014/main" id="{3B5EFE67-E6FB-499B-8D4A-6D4331ECF9AD}"/>
              </a:ext>
            </a:extLst>
          </p:cNvPr>
          <p:cNvSpPr>
            <a:spLocks xmlns:a="http://schemas.openxmlformats.org/drawingml/2006/main" noGrp="1"/>
          </p:cNvSpPr>
          <p:nvPr/>
        </p:nvSpPr>
        <p:spPr>
          <a:xfrm xmlns:a="http://schemas.openxmlformats.org/drawingml/2006/main">
            <a:off x="7924800" y="3419475"/>
            <a:ext cx="3810" cy="3810"/>
          </a:xfrm>
          <a:prstGeom xmlns:a="http://schemas.openxmlformats.org/drawingml/2006/main" prst="rect">
            <a:avLst/>
          </a:prstGeom>
          <a:noFill xmlns:a="http://schemas.openxmlformats.org/drawingml/2006/main"/>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5BE42831-E22B-46BD-9D9F-063E3E3D6628}"/>
              </a:ext>
            </a:extLst>
          </p:cNvPr>
          <p:cNvSpPr>
            <a:spLocks xmlns:a="http://schemas.openxmlformats.org/drawingml/2006/main" noGrp="1"/>
          </p:cNvSpPr>
          <p:nvPr/>
        </p:nvSpPr>
        <p:spPr>
          <a:xfrm xmlns:a="http://schemas.openxmlformats.org/drawingml/2006/main">
            <a:off x="3467100" y="341947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0" name="">
            <a:extLst xmlns:a="http://schemas.openxmlformats.org/drawingml/2006/main">
              <a:ext uri="{FF2B5EF4-FFF2-40B4-BE49-F238E27FC236}">
                <a16:creationId xmlns:a16="http://schemas.microsoft.com/office/drawing/2014/main" id="{51563FAA-768C-4B93-9F6F-5724AB8A8A3A}"/>
              </a:ext>
            </a:extLst>
          </p:cNvPr>
          <p:cNvCxnSpPr>
            <a:stCxn xmlns:a="http://schemas.openxmlformats.org/drawingml/2006/main" id="28" idx="1"/>
            <a:endCxn xmlns:a="http://schemas.openxmlformats.org/drawingml/2006/main" id="29" idx="3"/>
          </p:cNvCxnSpPr>
          <p:nvPr/>
        </p:nvCxnSpPr>
        <p:spPr>
          <a:xfrm xmlns:a="http://schemas.openxmlformats.org/drawingml/2006/main" flipH="1">
            <a:off x="3470910" y="3421380"/>
            <a:ext cx="4453890" cy="0"/>
          </a:xfrm>
          <a:prstGeom xmlns:a="http://schemas.openxmlformats.org/drawingml/2006/main" prst="straightConnector1">
            <a:avLst/>
          </a:prstGeom>
          <a:ln xmlns:a="http://schemas.openxmlformats.org/drawingml/2006/main" w="12383">
            <a:solidFill>
              <a:srgbClr val="0969DA"/>
            </a:solidFill>
            <a:prstDash val="solid"/>
            <a:tailEnd type="triangle" w="sm" len="sm"/>
          </a:ln>
        </p:spPr>
      </p:cxnSp>
      <p:sp>
        <p:nvSpPr>
          <p:cNvPr id="31" name="">
            <a:extLst xmlns:a="http://schemas.openxmlformats.org/drawingml/2006/main">
              <a:ext uri="{FF2B5EF4-FFF2-40B4-BE49-F238E27FC236}">
                <a16:creationId xmlns:a16="http://schemas.microsoft.com/office/drawing/2014/main" id="{7BFF7C3B-B868-4E2C-ACA7-6D2D967FF704}"/>
              </a:ext>
            </a:extLst>
          </p:cNvPr>
          <p:cNvSpPr>
            <a:spLocks xmlns:a="http://schemas.openxmlformats.org/drawingml/2006/main" noGrp="1"/>
          </p:cNvSpPr>
          <p:nvPr/>
        </p:nvSpPr>
        <p:spPr>
          <a:xfrm xmlns:a="http://schemas.openxmlformats.org/drawingml/2006/main">
            <a:off x="3524250" y="3200400"/>
            <a:ext cx="43434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050" b="0">
                <a:solidFill>
                  <a:srgbClr val="24292F"/>
                </a:solidFill>
                <a:latin typeface="Arial"/>
                <a:ea typeface="Arial"/>
                <a:cs typeface="Arial"/>
              </a:defRPr>
            </a:defPPr>
          </a:lstStyle>
          <a:p xmlns:a="http://schemas.openxmlformats.org/drawingml/2006/main">
            <a:pPr algn="ctr">
              <a:defRPr sz="1050" b="0">
                <a:solidFill>
                  <a:srgbClr val="24292F"/>
                </a:solidFill>
                <a:latin typeface="Arial"/>
                <a:ea typeface="Arial"/>
                <a:cs typeface="Arial"/>
              </a:defRPr>
            </a:pPr>
            <a:r>
              <a:rPr sz="1050" b="0">
                <a:solidFill>
                  <a:srgbClr val="24292F"/>
                </a:solidFill>
                <a:latin typeface="Arial"/>
                <a:ea typeface="Arial"/>
                <a:cs typeface="Arial"/>
              </a:rPr>
              <a:t>5  Up to five profiles ranked by rating</a:t>
            </a:r>
          </a:p>
        </p:txBody>
      </p:sp>
      <p:sp>
        <p:nvSpPr>
          <p:cNvPr id="32" name="">
            <a:extLst xmlns:a="http://schemas.openxmlformats.org/drawingml/2006/main">
              <a:ext uri="{FF2B5EF4-FFF2-40B4-BE49-F238E27FC236}">
                <a16:creationId xmlns:a16="http://schemas.microsoft.com/office/drawing/2014/main" id="{8E474004-101C-42D0-832C-2F5C96FF4282}"/>
              </a:ext>
            </a:extLst>
          </p:cNvPr>
          <p:cNvSpPr>
            <a:spLocks xmlns:a="http://schemas.openxmlformats.org/drawingml/2006/main" noGrp="1"/>
          </p:cNvSpPr>
          <p:nvPr/>
        </p:nvSpPr>
        <p:spPr>
          <a:xfrm xmlns:a="http://schemas.openxmlformats.org/drawingml/2006/main">
            <a:off x="3467100" y="3819525"/>
            <a:ext cx="3810" cy="3810"/>
          </a:xfrm>
          <a:prstGeom xmlns:a="http://schemas.openxmlformats.org/drawingml/2006/main" prst="rect">
            <a:avLst/>
          </a:prstGeom>
          <a:noFill xmlns:a="http://schemas.openxmlformats.org/drawingml/2006/main"/>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09BF5E6-9C7D-4A7D-A179-C5ADF80FD6C4}"/>
              </a:ext>
            </a:extLst>
          </p:cNvPr>
          <p:cNvSpPr>
            <a:spLocks xmlns:a="http://schemas.openxmlformats.org/drawingml/2006/main" noGrp="1"/>
          </p:cNvSpPr>
          <p:nvPr/>
        </p:nvSpPr>
        <p:spPr>
          <a:xfrm xmlns:a="http://schemas.openxmlformats.org/drawingml/2006/main">
            <a:off x="1238250" y="381952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4" name="">
            <a:extLst xmlns:a="http://schemas.openxmlformats.org/drawingml/2006/main">
              <a:ext uri="{FF2B5EF4-FFF2-40B4-BE49-F238E27FC236}">
                <a16:creationId xmlns:a16="http://schemas.microsoft.com/office/drawing/2014/main" id="{58FC0D48-2516-46DB-B318-C32C0881B63C}"/>
              </a:ext>
            </a:extLst>
          </p:cNvPr>
          <p:cNvCxnSpPr>
            <a:stCxn xmlns:a="http://schemas.openxmlformats.org/drawingml/2006/main" id="32" idx="1"/>
            <a:endCxn xmlns:a="http://schemas.openxmlformats.org/drawingml/2006/main" id="33" idx="3"/>
          </p:cNvCxnSpPr>
          <p:nvPr/>
        </p:nvCxnSpPr>
        <p:spPr>
          <a:xfrm xmlns:a="http://schemas.openxmlformats.org/drawingml/2006/main" flipH="1">
            <a:off x="1242060" y="3821430"/>
            <a:ext cx="2225040" cy="0"/>
          </a:xfrm>
          <a:prstGeom xmlns:a="http://schemas.openxmlformats.org/drawingml/2006/main" prst="straightConnector1">
            <a:avLst/>
          </a:prstGeom>
          <a:ln xmlns:a="http://schemas.openxmlformats.org/drawingml/2006/main" w="12383">
            <a:solidFill>
              <a:srgbClr val="0969DA"/>
            </a:solidFill>
            <a:prstDash val="solid"/>
            <a:tailEnd type="triangle" w="sm" len="sm"/>
          </a:ln>
        </p:spPr>
      </p:cxnSp>
      <p:sp>
        <p:nvSpPr>
          <p:cNvPr id="35" name="">
            <a:extLst xmlns:a="http://schemas.openxmlformats.org/drawingml/2006/main">
              <a:ext uri="{FF2B5EF4-FFF2-40B4-BE49-F238E27FC236}">
                <a16:creationId xmlns:a16="http://schemas.microsoft.com/office/drawing/2014/main" id="{3DD05F57-5C4A-4760-B26A-EE54E996A7AB}"/>
              </a:ext>
            </a:extLst>
          </p:cNvPr>
          <p:cNvSpPr>
            <a:spLocks xmlns:a="http://schemas.openxmlformats.org/drawingml/2006/main" noGrp="1"/>
          </p:cNvSpPr>
          <p:nvPr/>
        </p:nvSpPr>
        <p:spPr>
          <a:xfrm xmlns:a="http://schemas.openxmlformats.org/drawingml/2006/main">
            <a:off x="1295400" y="3600450"/>
            <a:ext cx="2114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050" b="0">
                <a:solidFill>
                  <a:srgbClr val="24292F"/>
                </a:solidFill>
                <a:latin typeface="Arial"/>
                <a:ea typeface="Arial"/>
                <a:cs typeface="Arial"/>
              </a:defRPr>
            </a:defPPr>
          </a:lstStyle>
          <a:p xmlns:a="http://schemas.openxmlformats.org/drawingml/2006/main">
            <a:pPr algn="ctr">
              <a:defRPr sz="1050" b="0">
                <a:solidFill>
                  <a:srgbClr val="24292F"/>
                </a:solidFill>
                <a:latin typeface="Arial"/>
                <a:ea typeface="Arial"/>
                <a:cs typeface="Arial"/>
              </a:defRPr>
            </a:pPr>
            <a:r>
              <a:rPr sz="1050" b="0">
                <a:solidFill>
                  <a:srgbClr val="24292F"/>
                </a:solidFill>
                <a:latin typeface="Arial"/>
                <a:ea typeface="Arial"/>
                <a:cs typeface="Arial"/>
              </a:rPr>
              <a:t>6  Return classification + advocates</a:t>
            </a:r>
          </a:p>
        </p:txBody>
      </p:sp>
      <p:sp>
        <p:nvSpPr>
          <p:cNvPr id="36" name="">
            <a:extLst xmlns:a="http://schemas.openxmlformats.org/drawingml/2006/main">
              <a:ext uri="{FF2B5EF4-FFF2-40B4-BE49-F238E27FC236}">
                <a16:creationId xmlns:a16="http://schemas.microsoft.com/office/drawing/2014/main" id="{897409A1-92DC-42AC-B309-0A0BA3AE161A}"/>
              </a:ext>
            </a:extLst>
          </p:cNvPr>
          <p:cNvSpPr>
            <a:spLocks xmlns:a="http://schemas.openxmlformats.org/drawingml/2006/main" noGrp="1"/>
          </p:cNvSpPr>
          <p:nvPr/>
        </p:nvSpPr>
        <p:spPr>
          <a:xfrm xmlns:a="http://schemas.openxmlformats.org/drawingml/2006/main">
            <a:off x="342900" y="4305300"/>
            <a:ext cx="8458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24292F"/>
                </a:solidFill>
                <a:latin typeface="Arial"/>
                <a:ea typeface="Arial"/>
                <a:cs typeface="Arial"/>
              </a:defRPr>
            </a:defPPr>
          </a:lstStyle>
          <a:p xmlns:a="http://schemas.openxmlformats.org/drawingml/2006/main">
            <a:pPr algn="l">
              <a:defRPr sz="1575" b="0">
                <a:solidFill>
                  <a:srgbClr val="24292F"/>
                </a:solidFill>
                <a:latin typeface="Arial"/>
                <a:ea typeface="Arial"/>
                <a:cs typeface="Arial"/>
              </a:defRPr>
            </a:pPr>
            <a:r>
              <a:rPr sz="1575" b="0">
                <a:solidFill>
                  <a:srgbClr val="24292F"/>
                </a:solidFill>
                <a:latin typeface="Arial"/>
                <a:ea typeface="Arial"/>
                <a:cs typeface="Arial"/>
              </a:rPr>
              <a:t>The user reviews the transcript before submission. The backend applies fallback on AI failure. Results include guidance and advocate profiles.</a:t>
            </a:r>
          </a:p>
        </p:txBody>
      </p:sp>
    </p:spTree>
    <p:extLst>
      <p:ext uri="{BB962C8B-B14F-4D97-AF65-F5344CB8AC3E}">
        <p14:creationId xmlns:p14="http://schemas.microsoft.com/office/powerpoint/2010/main" val="14158498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41B5434-4A38-44FB-ADEC-8DA8149CE315}"/>
              </a:ext>
            </a:extLst>
          </p:cNvPr>
          <p:cNvSpPr>
            <a:spLocks xmlns:a="http://schemas.openxmlformats.org/drawingml/2006/main" noGrp="1"/>
          </p:cNvSpPr>
          <p:nvPr/>
        </p:nvSpPr>
        <p:spPr>
          <a:xfrm xmlns:a="http://schemas.openxmlformats.org/drawingml/2006/main">
            <a:off x="342900" y="247650"/>
            <a:ext cx="8458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0969DA"/>
                </a:solidFill>
                <a:latin typeface="Arial"/>
                <a:ea typeface="Arial"/>
                <a:cs typeface="Arial"/>
              </a:defRPr>
            </a:defPPr>
          </a:lstStyle>
          <a:p xmlns:a="http://schemas.openxmlformats.org/drawingml/2006/main">
            <a:pPr algn="l">
              <a:defRPr sz="3000" b="1">
                <a:solidFill>
                  <a:srgbClr val="0969DA"/>
                </a:solidFill>
                <a:latin typeface="Arial"/>
                <a:ea typeface="Arial"/>
                <a:cs typeface="Arial"/>
              </a:defRPr>
            </a:pPr>
            <a:r>
              <a:rPr sz="3000" b="1">
                <a:solidFill>
                  <a:srgbClr val="0969DA"/>
                </a:solidFill>
                <a:latin typeface="Arial"/>
                <a:ea typeface="Arial"/>
                <a:cs typeface="Arial"/>
              </a:rPr>
              <a:t>Advocate matching and booking</a:t>
            </a:r>
          </a:p>
        </p:txBody>
      </p:sp>
      <p:sp>
        <p:nvSpPr>
          <p:cNvPr id="2" name="">
            <a:extLst xmlns:a="http://schemas.openxmlformats.org/drawingml/2006/main">
              <a:ext uri="{FF2B5EF4-FFF2-40B4-BE49-F238E27FC236}">
                <a16:creationId xmlns:a16="http://schemas.microsoft.com/office/drawing/2014/main" id="{C79281D9-923F-45A5-9CA4-59DA9EB12AFC}"/>
              </a:ext>
            </a:extLst>
          </p:cNvPr>
          <p:cNvSpPr>
            <a:spLocks xmlns:a="http://schemas.openxmlformats.org/drawingml/2006/main" noGrp="1"/>
          </p:cNvSpPr>
          <p:nvPr/>
        </p:nvSpPr>
        <p:spPr>
          <a:xfrm xmlns:a="http://schemas.openxmlformats.org/drawingml/2006/main">
            <a:off x="342900" y="828675"/>
            <a:ext cx="8458200" cy="6668"/>
          </a:xfrm>
          <a:prstGeom xmlns:a="http://schemas.openxmlformats.org/drawingml/2006/main" prst="rect">
            <a:avLst/>
          </a:prstGeom>
          <a:solidFill xmlns:a="http://schemas.openxmlformats.org/drawingml/2006/main">
            <a:srgbClr val="CFD7E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828EBD4-1F51-40D1-8014-65D9C9C571EE}"/>
              </a:ext>
            </a:extLst>
          </p:cNvPr>
          <p:cNvSpPr>
            <a:spLocks xmlns:a="http://schemas.openxmlformats.org/drawingml/2006/main" noGrp="1"/>
          </p:cNvSpPr>
          <p:nvPr/>
        </p:nvSpPr>
        <p:spPr>
          <a:xfrm xmlns:a="http://schemas.openxmlformats.org/drawingml/2006/main">
            <a:off x="8524875" y="47815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777777"/>
                </a:solidFill>
                <a:latin typeface="Arial"/>
                <a:ea typeface="Arial"/>
                <a:cs typeface="Arial"/>
              </a:defRPr>
            </a:defPPr>
          </a:lstStyle>
          <a:p xmlns:a="http://schemas.openxmlformats.org/drawingml/2006/main">
            <a:pPr algn="r">
              <a:defRPr sz="1350" b="0">
                <a:solidFill>
                  <a:srgbClr val="777777"/>
                </a:solidFill>
                <a:latin typeface="Arial"/>
                <a:ea typeface="Arial"/>
                <a:cs typeface="Arial"/>
              </a:defRPr>
            </a:pPr>
            <a:r>
              <a:rPr sz="1350" b="0">
                <a:solidFill>
                  <a:srgbClr val="777777"/>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8F215730-E9FF-4CF8-AC43-279792F2194B}"/>
              </a:ext>
            </a:extLst>
          </p:cNvPr>
          <p:cNvSpPr>
            <a:spLocks xmlns:a="http://schemas.openxmlformats.org/drawingml/2006/main" noGrp="1"/>
          </p:cNvSpPr>
          <p:nvPr/>
        </p:nvSpPr>
        <p:spPr>
          <a:xfrm xmlns:a="http://schemas.openxmlformats.org/drawingml/2006/main">
            <a:off x="342900" y="1076325"/>
            <a:ext cx="3924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0969DA"/>
                </a:solidFill>
                <a:latin typeface="Arial"/>
                <a:ea typeface="Arial"/>
                <a:cs typeface="Arial"/>
              </a:defRPr>
            </a:defPPr>
          </a:lstStyle>
          <a:p xmlns:a="http://schemas.openxmlformats.org/drawingml/2006/main">
            <a:pPr algn="l">
              <a:defRPr sz="1950" b="1">
                <a:solidFill>
                  <a:srgbClr val="0969DA"/>
                </a:solidFill>
                <a:latin typeface="Arial"/>
                <a:ea typeface="Arial"/>
                <a:cs typeface="Arial"/>
              </a:defRPr>
            </a:pPr>
            <a:r>
              <a:rPr sz="1950" b="1">
                <a:solidFill>
                  <a:srgbClr val="0969DA"/>
                </a:solidFill>
                <a:latin typeface="Arial"/>
                <a:ea typeface="Arial"/>
                <a:cs typeface="Arial"/>
              </a:rPr>
              <a:t>Advocate matching</a:t>
            </a:r>
          </a:p>
        </p:txBody>
      </p:sp>
      <p:sp>
        <p:nvSpPr>
          <p:cNvPr id="5" name="">
            <a:extLst xmlns:a="http://schemas.openxmlformats.org/drawingml/2006/main">
              <a:ext uri="{FF2B5EF4-FFF2-40B4-BE49-F238E27FC236}">
                <a16:creationId xmlns:a16="http://schemas.microsoft.com/office/drawing/2014/main" id="{E98A02C3-EA93-438D-B525-BB00EA47B3A1}"/>
              </a:ext>
            </a:extLst>
          </p:cNvPr>
          <p:cNvSpPr>
            <a:spLocks xmlns:a="http://schemas.openxmlformats.org/drawingml/2006/main" noGrp="1"/>
          </p:cNvSpPr>
          <p:nvPr/>
        </p:nvSpPr>
        <p:spPr>
          <a:xfrm xmlns:a="http://schemas.openxmlformats.org/drawingml/2006/main">
            <a:off x="342900" y="1543050"/>
            <a:ext cx="39243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24292F"/>
                </a:solidFill>
                <a:latin typeface="Arial"/>
                <a:ea typeface="Arial"/>
                <a:cs typeface="Arial"/>
              </a:defRPr>
            </a:defPPr>
          </a:lstStyle>
          <a:p xmlns:a="http://schemas.openxmlformats.org/drawingml/2006/main">
            <a:pPr marL="177800" indent="-127000" algn="l">
              <a:spcAft>
                <a:spcPts val="1200"/>
              </a:spcAft>
              <a:buChar char="•"/>
              <a:defRPr sz="1725" b="0">
                <a:solidFill>
                  <a:srgbClr val="24292F"/>
                </a:solidFill>
                <a:latin typeface="Arial"/>
                <a:ea typeface="Arial"/>
                <a:cs typeface="Arial"/>
              </a:defRPr>
            </a:pPr>
            <a:r>
              <a:t>Filter profiles by classified expertise and availability.</a:t>
            </a:r>
          </a:p>
          <a:p xmlns:a="http://schemas.openxmlformats.org/drawingml/2006/main">
            <a:pPr marL="177800" indent="-127000" algn="l">
              <a:spcAft>
                <a:spcPts val="1200"/>
              </a:spcAft>
              <a:buChar char="•"/>
              <a:defRPr sz="1725" b="0">
                <a:solidFill>
                  <a:srgbClr val="24292F"/>
                </a:solidFill>
                <a:latin typeface="Arial"/>
                <a:ea typeface="Arial"/>
                <a:cs typeface="Arial"/>
              </a:defRPr>
            </a:pPr>
            <a:r>
              <a:t>Sort by rating and return up to five profiles.</a:t>
            </a:r>
          </a:p>
          <a:p xmlns:a="http://schemas.openxmlformats.org/drawingml/2006/main">
            <a:pPr marL="177800" indent="-127000" algn="l">
              <a:spcAft>
                <a:spcPts val="1200"/>
              </a:spcAft>
              <a:buChar char="•"/>
              <a:defRPr sz="1725" b="0">
                <a:solidFill>
                  <a:srgbClr val="24292F"/>
                </a:solidFill>
                <a:latin typeface="Arial"/>
                <a:ea typeface="Arial"/>
                <a:cs typeface="Arial"/>
              </a:defRPr>
            </a:pPr>
            <a:r>
              <a:t>Urgent lookup returns one available profile by rating across domains.</a:t>
            </a:r>
          </a:p>
        </p:txBody>
      </p:sp>
      <p:sp>
        <p:nvSpPr>
          <p:cNvPr id="6" name="">
            <a:extLst xmlns:a="http://schemas.openxmlformats.org/drawingml/2006/main">
              <a:ext uri="{FF2B5EF4-FFF2-40B4-BE49-F238E27FC236}">
                <a16:creationId xmlns:a16="http://schemas.microsoft.com/office/drawing/2014/main" id="{60E45CDC-962B-4F94-B7D3-5462724E3D56}"/>
              </a:ext>
            </a:extLst>
          </p:cNvPr>
          <p:cNvSpPr>
            <a:spLocks xmlns:a="http://schemas.openxmlformats.org/drawingml/2006/main" noGrp="1"/>
          </p:cNvSpPr>
          <p:nvPr/>
        </p:nvSpPr>
        <p:spPr>
          <a:xfrm xmlns:a="http://schemas.openxmlformats.org/drawingml/2006/main">
            <a:off x="4714875" y="1076325"/>
            <a:ext cx="4086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0969DA"/>
                </a:solidFill>
                <a:latin typeface="Arial"/>
                <a:ea typeface="Arial"/>
                <a:cs typeface="Arial"/>
              </a:defRPr>
            </a:defPPr>
          </a:lstStyle>
          <a:p xmlns:a="http://schemas.openxmlformats.org/drawingml/2006/main">
            <a:pPr algn="l">
              <a:defRPr sz="1950" b="1">
                <a:solidFill>
                  <a:srgbClr val="0969DA"/>
                </a:solidFill>
                <a:latin typeface="Arial"/>
                <a:ea typeface="Arial"/>
                <a:cs typeface="Arial"/>
              </a:defRPr>
            </a:pPr>
            <a:r>
              <a:rPr sz="1950" b="1">
                <a:solidFill>
                  <a:srgbClr val="0969DA"/>
                </a:solidFill>
                <a:latin typeface="Arial"/>
                <a:ea typeface="Arial"/>
                <a:cs typeface="Arial"/>
              </a:rPr>
              <a:t>Booking and payment</a:t>
            </a:r>
          </a:p>
        </p:txBody>
      </p:sp>
      <p:sp>
        <p:nvSpPr>
          <p:cNvPr id="7" name="">
            <a:extLst xmlns:a="http://schemas.openxmlformats.org/drawingml/2006/main">
              <a:ext uri="{FF2B5EF4-FFF2-40B4-BE49-F238E27FC236}">
                <a16:creationId xmlns:a16="http://schemas.microsoft.com/office/drawing/2014/main" id="{D63FF607-D634-46BC-A0A1-52BFF1DA0957}"/>
              </a:ext>
            </a:extLst>
          </p:cNvPr>
          <p:cNvSpPr>
            <a:spLocks xmlns:a="http://schemas.openxmlformats.org/drawingml/2006/main" noGrp="1"/>
          </p:cNvSpPr>
          <p:nvPr/>
        </p:nvSpPr>
        <p:spPr>
          <a:xfrm xmlns:a="http://schemas.openxmlformats.org/drawingml/2006/main">
            <a:off x="4714875" y="1543050"/>
            <a:ext cx="4086225"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24292F"/>
                </a:solidFill>
                <a:latin typeface="Arial"/>
                <a:ea typeface="Arial"/>
                <a:cs typeface="Arial"/>
              </a:defRPr>
            </a:defPPr>
          </a:lstStyle>
          <a:p xmlns:a="http://schemas.openxmlformats.org/drawingml/2006/main">
            <a:pPr marL="177800" indent="-127000" algn="l">
              <a:spcAft>
                <a:spcPts val="1200"/>
              </a:spcAft>
              <a:buChar char="•"/>
              <a:defRPr sz="1725" b="0">
                <a:solidFill>
                  <a:srgbClr val="24292F"/>
                </a:solidFill>
                <a:latin typeface="Arial"/>
                <a:ea typeface="Arial"/>
                <a:cs typeface="Arial"/>
              </a:defRPr>
            </a:pPr>
            <a:r>
              <a:t>Store the user, selected advocate and requested date.</a:t>
            </a:r>
          </a:p>
          <a:p xmlns:a="http://schemas.openxmlformats.org/drawingml/2006/main">
            <a:pPr marL="177800" indent="-127000" algn="l">
              <a:spcAft>
                <a:spcPts val="1200"/>
              </a:spcAft>
              <a:buChar char="•"/>
              <a:defRPr sz="1725" b="0">
                <a:solidFill>
                  <a:srgbClr val="24292F"/>
                </a:solidFill>
                <a:latin typeface="Arial"/>
                <a:ea typeface="Arial"/>
                <a:cs typeface="Arial"/>
              </a:defRPr>
            </a:pPr>
            <a:r>
              <a:t>Create a Razorpay order and open browser checkout.</a:t>
            </a:r>
          </a:p>
          <a:p xmlns:a="http://schemas.openxmlformats.org/drawingml/2006/main">
            <a:pPr marL="177800" indent="-127000" algn="l">
              <a:spcAft>
                <a:spcPts val="1200"/>
              </a:spcAft>
              <a:buChar char="•"/>
              <a:defRPr sz="1725" b="0">
                <a:solidFill>
                  <a:srgbClr val="24292F"/>
                </a:solidFill>
                <a:latin typeface="Arial"/>
                <a:ea typeface="Arial"/>
                <a:cs typeface="Arial"/>
              </a:defRPr>
            </a:pPr>
            <a:r>
              <a:t>Verify the signature and update booking/payment status.</a:t>
            </a:r>
          </a:p>
        </p:txBody>
      </p:sp>
      <p:sp>
        <p:nvSpPr>
          <p:cNvPr id="8" name="">
            <a:extLst xmlns:a="http://schemas.openxmlformats.org/drawingml/2006/main">
              <a:ext uri="{FF2B5EF4-FFF2-40B4-BE49-F238E27FC236}">
                <a16:creationId xmlns:a16="http://schemas.microsoft.com/office/drawing/2014/main" id="{E31096BA-9439-447D-ADCA-7722F5F236D8}"/>
              </a:ext>
            </a:extLst>
          </p:cNvPr>
          <p:cNvSpPr>
            <a:spLocks xmlns:a="http://schemas.openxmlformats.org/drawingml/2006/main" noGrp="1"/>
          </p:cNvSpPr>
          <p:nvPr/>
        </p:nvSpPr>
        <p:spPr>
          <a:xfrm xmlns:a="http://schemas.openxmlformats.org/drawingml/2006/main">
            <a:off x="342900" y="3943350"/>
            <a:ext cx="845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969DA"/>
                </a:solidFill>
                <a:latin typeface="Arial"/>
                <a:ea typeface="Arial"/>
                <a:cs typeface="Arial"/>
              </a:defRPr>
            </a:defPPr>
          </a:lstStyle>
          <a:p xmlns:a="http://schemas.openxmlformats.org/drawingml/2006/main">
            <a:pPr algn="l">
              <a:defRPr sz="1800" b="1">
                <a:solidFill>
                  <a:srgbClr val="0969DA"/>
                </a:solidFill>
                <a:latin typeface="Arial"/>
                <a:ea typeface="Arial"/>
                <a:cs typeface="Arial"/>
              </a:defRPr>
            </a:pPr>
            <a:r>
              <a:rPr sz="1800" b="1">
                <a:solidFill>
                  <a:srgbClr val="0969DA"/>
                </a:solidFill>
                <a:latin typeface="Arial"/>
                <a:ea typeface="Arial"/>
                <a:cs typeface="Arial"/>
              </a:rPr>
              <a:t>Current limits</a:t>
            </a:r>
          </a:p>
        </p:txBody>
      </p:sp>
      <p:sp>
        <p:nvSpPr>
          <p:cNvPr id="9" name="">
            <a:extLst xmlns:a="http://schemas.openxmlformats.org/drawingml/2006/main">
              <a:ext uri="{FF2B5EF4-FFF2-40B4-BE49-F238E27FC236}">
                <a16:creationId xmlns:a16="http://schemas.microsoft.com/office/drawing/2014/main" id="{A1BFF843-CB05-49D3-AB0C-7F6CD8152C92}"/>
              </a:ext>
            </a:extLst>
          </p:cNvPr>
          <p:cNvSpPr>
            <a:spLocks xmlns:a="http://schemas.openxmlformats.org/drawingml/2006/main" noGrp="1"/>
          </p:cNvSpPr>
          <p:nvPr/>
        </p:nvSpPr>
        <p:spPr>
          <a:xfrm xmlns:a="http://schemas.openxmlformats.org/drawingml/2006/main">
            <a:off x="342900" y="4352925"/>
            <a:ext cx="8458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24292F"/>
                </a:solidFill>
                <a:latin typeface="Arial"/>
                <a:ea typeface="Arial"/>
                <a:cs typeface="Arial"/>
              </a:defRPr>
            </a:defPPr>
          </a:lstStyle>
          <a:p xmlns:a="http://schemas.openxmlformats.org/drawingml/2006/main">
            <a:pPr algn="l">
              <a:defRPr sz="1575" b="0">
                <a:solidFill>
                  <a:srgbClr val="24292F"/>
                </a:solidFill>
                <a:latin typeface="Arial"/>
                <a:ea typeface="Arial"/>
                <a:cs typeface="Arial"/>
              </a:defRPr>
            </a:pPr>
            <a:r>
              <a:rPr sz="1575" b="0">
                <a:solidFill>
                  <a:srgbClr val="24292F"/>
                </a:solidFill>
                <a:latin typeface="Arial"/>
                <a:ea typeface="Arial"/>
                <a:cs typeface="Arial"/>
              </a:rPr>
              <a:t>Language filtering and accepted time slots need development. Urgent lookup does not guarantee response. Demo confirmation can leave payment pending.</a:t>
            </a:r>
          </a:p>
        </p:txBody>
      </p:sp>
    </p:spTree>
    <p:extLst>
      <p:ext uri="{BB962C8B-B14F-4D97-AF65-F5344CB8AC3E}">
        <p14:creationId xmlns:p14="http://schemas.microsoft.com/office/powerpoint/2010/main" val="18390190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FD3B72-B769-4742-AF05-49F38BF73818}"/>
              </a:ext>
            </a:extLst>
          </p:cNvPr>
          <p:cNvSpPr>
            <a:spLocks xmlns:a="http://schemas.openxmlformats.org/drawingml/2006/main" noGrp="1"/>
          </p:cNvSpPr>
          <p:nvPr/>
        </p:nvSpPr>
        <p:spPr>
          <a:xfrm xmlns:a="http://schemas.openxmlformats.org/drawingml/2006/main">
            <a:off x="342900" y="247650"/>
            <a:ext cx="8458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0969DA"/>
                </a:solidFill>
                <a:latin typeface="Arial"/>
                <a:ea typeface="Arial"/>
                <a:cs typeface="Arial"/>
              </a:defRPr>
            </a:defPPr>
          </a:lstStyle>
          <a:p xmlns:a="http://schemas.openxmlformats.org/drawingml/2006/main">
            <a:pPr algn="l">
              <a:defRPr sz="3000" b="1">
                <a:solidFill>
                  <a:srgbClr val="0969DA"/>
                </a:solidFill>
                <a:latin typeface="Arial"/>
                <a:ea typeface="Arial"/>
                <a:cs typeface="Arial"/>
              </a:defRPr>
            </a:pPr>
            <a:r>
              <a:rPr sz="3000" b="1">
                <a:solidFill>
                  <a:srgbClr val="0969DA"/>
                </a:solidFill>
                <a:latin typeface="Arial"/>
                <a:ea typeface="Arial"/>
                <a:cs typeface="Arial"/>
              </a:rPr>
              <a:t>Technology stack and responsibilities</a:t>
            </a:r>
          </a:p>
        </p:txBody>
      </p:sp>
      <p:sp>
        <p:nvSpPr>
          <p:cNvPr id="2" name="">
            <a:extLst xmlns:a="http://schemas.openxmlformats.org/drawingml/2006/main">
              <a:ext uri="{FF2B5EF4-FFF2-40B4-BE49-F238E27FC236}">
                <a16:creationId xmlns:a16="http://schemas.microsoft.com/office/drawing/2014/main" id="{8C24F4B8-8EA8-4A83-B1BD-C741D39F16DA}"/>
              </a:ext>
            </a:extLst>
          </p:cNvPr>
          <p:cNvSpPr>
            <a:spLocks xmlns:a="http://schemas.openxmlformats.org/drawingml/2006/main" noGrp="1"/>
          </p:cNvSpPr>
          <p:nvPr/>
        </p:nvSpPr>
        <p:spPr>
          <a:xfrm xmlns:a="http://schemas.openxmlformats.org/drawingml/2006/main">
            <a:off x="342900" y="828675"/>
            <a:ext cx="8458200" cy="6668"/>
          </a:xfrm>
          <a:prstGeom xmlns:a="http://schemas.openxmlformats.org/drawingml/2006/main" prst="rect">
            <a:avLst/>
          </a:prstGeom>
          <a:solidFill xmlns:a="http://schemas.openxmlformats.org/drawingml/2006/main">
            <a:srgbClr val="CFD7E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D4BCBF-073C-4B79-9397-1A7A8D143166}"/>
              </a:ext>
            </a:extLst>
          </p:cNvPr>
          <p:cNvSpPr>
            <a:spLocks xmlns:a="http://schemas.openxmlformats.org/drawingml/2006/main" noGrp="1"/>
          </p:cNvSpPr>
          <p:nvPr/>
        </p:nvSpPr>
        <p:spPr>
          <a:xfrm xmlns:a="http://schemas.openxmlformats.org/drawingml/2006/main">
            <a:off x="8524875" y="47815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777777"/>
                </a:solidFill>
                <a:latin typeface="Arial"/>
                <a:ea typeface="Arial"/>
                <a:cs typeface="Arial"/>
              </a:defRPr>
            </a:defPPr>
          </a:lstStyle>
          <a:p xmlns:a="http://schemas.openxmlformats.org/drawingml/2006/main">
            <a:pPr algn="r">
              <a:defRPr sz="1350" b="0">
                <a:solidFill>
                  <a:srgbClr val="777777"/>
                </a:solidFill>
                <a:latin typeface="Arial"/>
                <a:ea typeface="Arial"/>
                <a:cs typeface="Arial"/>
              </a:defRPr>
            </a:pPr>
            <a:r>
              <a:rPr sz="1350" b="0">
                <a:solidFill>
                  <a:srgbClr val="777777"/>
                </a:solidFill>
                <a:latin typeface="Arial"/>
                <a:ea typeface="Arial"/>
                <a:cs typeface="Arial"/>
              </a:rPr>
              <a:t>7</a:t>
            </a:r>
          </a:p>
        </p:txBody>
      </p:sp>
      <p:graphicFrame>
        <p:nvGraphicFramePr>
          <p:cNvPr id="4" name="">
            <a:extLst xmlns:a="http://schemas.openxmlformats.org/drawingml/2006/main">
              <a:ext uri="{FF2B5EF4-FFF2-40B4-BE49-F238E27FC236}">
                <a16:creationId xmlns:a16="http://schemas.microsoft.com/office/drawing/2014/main" id="{702A57F9-0642-4EEA-978E-5A12BFFDD156}"/>
              </a:ext>
            </a:extLst>
          </p:cNvPr>
          <p:cNvGraphicFramePr/>
          <p:nvPr/>
        </p:nvGraphicFramePr>
        <p:xfrm>
          <a:off xmlns:a="http://schemas.openxmlformats.org/drawingml/2006/main" x="342900" y="1038225"/>
          <a:ext xmlns:a="http://schemas.openxmlformats.org/drawingml/2006/main" cx="8458200" cy="3209925"/>
        </p:xfrm>
        <a:graphic xmlns:a="http://schemas.openxmlformats.org/drawingml/2006/main">
          <a:graphicData uri="http://schemas.openxmlformats.org/drawingml/2006/table">
            <a:tbl>
              <a:tblPr/>
              <a:tblGrid>
                <a:gridCol w="1590675"/>
                <a:gridCol w="2762250"/>
                <a:gridCol w="4105275"/>
              </a:tblGrid>
              <a:tr h="458561">
                <a:tc>
                  <a:txBody>
                    <a:bodyPr/>
                    <a:lstStyle/>
                    <a:p>
                      <a:r>
                        <a:rPr sz="1500" b="1">
                          <a:solidFill>
                            <a:srgbClr val="0969DA"/>
                          </a:solidFill>
                          <a:latin typeface="Arial"/>
                          <a:ea typeface="Arial"/>
                          <a:cs typeface="Arial"/>
                        </a:rPr>
                        <a:t>Component</a:t>
                      </a:r>
                    </a:p>
                  </a:txBody>
                  <a:tcPr marL="91440" marR="91440" marT="45720" marB="45720">
                    <a:lnL w="6668">
                      <a:solidFill>
                        <a:srgbClr val="CFD7E2"/>
                      </a:solidFill>
                      <a:prstDash val="solid"/>
                    </a:lnL>
                    <a:lnR w="6668">
                      <a:solidFill>
                        <a:srgbClr val="CFD7E2"/>
                      </a:solidFill>
                      <a:prstDash val="solid"/>
                    </a:lnR>
                    <a:lnT w="6668">
                      <a:solidFill>
                        <a:srgbClr val="CFD7E2"/>
                      </a:solidFill>
                      <a:prstDash val="solid"/>
                    </a:lnT>
                    <a:lnB w="6668">
                      <a:solidFill>
                        <a:srgbClr val="CFD7E2"/>
                      </a:solidFill>
                      <a:prstDash val="solid"/>
                    </a:lnB>
                    <a:solidFill>
                      <a:srgbClr val="F4F6F8"/>
                    </a:solidFill>
                  </a:tcPr>
                </a:tc>
                <a:tc>
                  <a:txBody>
                    <a:bodyPr/>
                    <a:lstStyle/>
                    <a:p>
                      <a:r>
                        <a:rPr sz="1500" b="1">
                          <a:solidFill>
                            <a:srgbClr val="0969DA"/>
                          </a:solidFill>
                          <a:latin typeface="Arial"/>
                          <a:ea typeface="Arial"/>
                          <a:cs typeface="Arial"/>
                        </a:rPr>
                        <a:t>Technology</a:t>
                      </a:r>
                    </a:p>
                  </a:txBody>
                  <a:tcPr marL="91440" marR="91440" marT="45720" marB="45720">
                    <a:lnR w="6668">
                      <a:solidFill>
                        <a:srgbClr val="CFD7E2"/>
                      </a:solidFill>
                      <a:prstDash val="solid"/>
                    </a:lnR>
                    <a:lnT w="6668">
                      <a:solidFill>
                        <a:srgbClr val="CFD7E2"/>
                      </a:solidFill>
                      <a:prstDash val="solid"/>
                    </a:lnT>
                    <a:lnB w="6668">
                      <a:solidFill>
                        <a:srgbClr val="CFD7E2"/>
                      </a:solidFill>
                      <a:prstDash val="solid"/>
                    </a:lnB>
                    <a:solidFill>
                      <a:srgbClr val="F4F6F8"/>
                    </a:solidFill>
                  </a:tcPr>
                </a:tc>
                <a:tc>
                  <a:txBody>
                    <a:bodyPr/>
                    <a:lstStyle/>
                    <a:p>
                      <a:r>
                        <a:rPr sz="1500" b="1">
                          <a:solidFill>
                            <a:srgbClr val="0969DA"/>
                          </a:solidFill>
                          <a:latin typeface="Arial"/>
                          <a:ea typeface="Arial"/>
                          <a:cs typeface="Arial"/>
                        </a:rPr>
                        <a:t>Responsibility</a:t>
                      </a:r>
                    </a:p>
                  </a:txBody>
                  <a:tcPr marL="91440" marR="91440" marT="45720" marB="45720">
                    <a:lnR w="6668">
                      <a:solidFill>
                        <a:srgbClr val="CFD7E2"/>
                      </a:solidFill>
                      <a:prstDash val="solid"/>
                    </a:lnR>
                    <a:lnT w="6668">
                      <a:solidFill>
                        <a:srgbClr val="CFD7E2"/>
                      </a:solidFill>
                      <a:prstDash val="solid"/>
                    </a:lnT>
                    <a:lnB w="6668">
                      <a:solidFill>
                        <a:srgbClr val="CFD7E2"/>
                      </a:solidFill>
                      <a:prstDash val="solid"/>
                    </a:lnB>
                    <a:solidFill>
                      <a:srgbClr val="F4F6F8"/>
                    </a:solidFill>
                  </a:tcPr>
                </a:tc>
              </a:tr>
              <a:tr h="458561">
                <a:tc>
                  <a:txBody>
                    <a:bodyPr/>
                    <a:lstStyle/>
                    <a:p>
                      <a:r>
                        <a:rPr sz="1500" b="1">
                          <a:solidFill>
                            <a:srgbClr val="24292F"/>
                          </a:solidFill>
                          <a:latin typeface="Arial"/>
                          <a:ea typeface="Arial"/>
                          <a:cs typeface="Arial"/>
                        </a:rPr>
                        <a:t>Frontend</a:t>
                      </a:r>
                    </a:p>
                  </a:txBody>
                  <a:tcPr marL="91440" marR="91440" marT="45720" marB="45720">
                    <a:lnL w="6668">
                      <a:solidFill>
                        <a:srgbClr val="CFD7E2"/>
                      </a:solidFill>
                      <a:prstDash val="solid"/>
                    </a:lnL>
                    <a:lnR w="6668">
                      <a:solidFill>
                        <a:srgbClr val="CFD7E2"/>
                      </a:solidFill>
                      <a:prstDash val="solid"/>
                    </a:lnR>
                    <a:lnB w="6668">
                      <a:solidFill>
                        <a:srgbClr val="CFD7E2"/>
                      </a:solidFill>
                      <a:prstDash val="solid"/>
                    </a:lnB>
                    <a:solidFill>
                      <a:srgbClr val="FFFFFF"/>
                    </a:solidFill>
                  </a:tcPr>
                </a:tc>
                <a:tc>
                  <a:txBody>
                    <a:bodyPr/>
                    <a:lstStyle/>
                    <a:p>
                      <a:r>
                        <a:rPr sz="1500" b="0">
                          <a:solidFill>
                            <a:srgbClr val="24292F"/>
                          </a:solidFill>
                          <a:latin typeface="Arial"/>
                          <a:ea typeface="Arial"/>
                          <a:cs typeface="Arial"/>
                        </a:rPr>
                        <a:t>React 18 + Vite 5</a:t>
                      </a:r>
                    </a:p>
                  </a:txBody>
                  <a:tcPr marL="91440" marR="91440" marT="45720" marB="45720">
                    <a:lnR w="6668">
                      <a:solidFill>
                        <a:srgbClr val="CFD7E2"/>
                      </a:solidFill>
                      <a:prstDash val="solid"/>
                    </a:lnR>
                    <a:lnB w="6668">
                      <a:solidFill>
                        <a:srgbClr val="CFD7E2"/>
                      </a:solidFill>
                      <a:prstDash val="solid"/>
                    </a:lnB>
                    <a:solidFill>
                      <a:srgbClr val="FFFFFF"/>
                    </a:solidFill>
                  </a:tcPr>
                </a:tc>
                <a:tc>
                  <a:txBody>
                    <a:bodyPr/>
                    <a:lstStyle/>
                    <a:p>
                      <a:r>
                        <a:rPr sz="1500" b="0">
                          <a:solidFill>
                            <a:srgbClr val="24292F"/>
                          </a:solidFill>
                          <a:latin typeface="Arial"/>
                          <a:ea typeface="Arial"/>
                          <a:cs typeface="Arial"/>
                        </a:rPr>
                        <a:t>Input, chat, results and booking views</a:t>
                      </a:r>
                    </a:p>
                  </a:txBody>
                  <a:tcPr marL="91440" marR="91440" marT="45720" marB="45720">
                    <a:lnR w="6668">
                      <a:solidFill>
                        <a:srgbClr val="CFD7E2"/>
                      </a:solidFill>
                      <a:prstDash val="solid"/>
                    </a:lnR>
                    <a:lnB w="6668">
                      <a:solidFill>
                        <a:srgbClr val="CFD7E2"/>
                      </a:solidFill>
                      <a:prstDash val="solid"/>
                    </a:lnB>
                    <a:solidFill>
                      <a:srgbClr val="FFFFFF"/>
                    </a:solidFill>
                  </a:tcPr>
                </a:tc>
              </a:tr>
              <a:tr h="458561">
                <a:tc>
                  <a:txBody>
                    <a:bodyPr/>
                    <a:lstStyle/>
                    <a:p>
                      <a:r>
                        <a:rPr sz="1500" b="1">
                          <a:solidFill>
                            <a:srgbClr val="24292F"/>
                          </a:solidFill>
                          <a:latin typeface="Arial"/>
                          <a:ea typeface="Arial"/>
                          <a:cs typeface="Arial"/>
                        </a:rPr>
                        <a:t>Backend</a:t>
                      </a:r>
                    </a:p>
                  </a:txBody>
                  <a:tcPr marL="91440" marR="91440" marT="45720" marB="45720">
                    <a:lnL w="6668">
                      <a:solidFill>
                        <a:srgbClr val="CFD7E2"/>
                      </a:solidFill>
                      <a:prstDash val="solid"/>
                    </a:lnL>
                    <a:lnR w="6668">
                      <a:solidFill>
                        <a:srgbClr val="CFD7E2"/>
                      </a:solidFill>
                      <a:prstDash val="solid"/>
                    </a:lnR>
                    <a:lnB w="6668">
                      <a:solidFill>
                        <a:srgbClr val="CFD7E2"/>
                      </a:solidFill>
                      <a:prstDash val="solid"/>
                    </a:lnB>
                    <a:solidFill>
                      <a:srgbClr val="F4F6F8"/>
                    </a:solidFill>
                  </a:tcPr>
                </a:tc>
                <a:tc>
                  <a:txBody>
                    <a:bodyPr/>
                    <a:lstStyle/>
                    <a:p>
                      <a:r>
                        <a:rPr sz="1500" b="0">
                          <a:solidFill>
                            <a:srgbClr val="24292F"/>
                          </a:solidFill>
                          <a:latin typeface="Arial"/>
                          <a:ea typeface="Arial"/>
                          <a:cs typeface="Arial"/>
                        </a:rPr>
                        <a:t>Node.js + Express 4</a:t>
                      </a:r>
                    </a:p>
                  </a:txBody>
                  <a:tcPr marL="91440" marR="91440" marT="45720" marB="45720">
                    <a:lnR w="6668">
                      <a:solidFill>
                        <a:srgbClr val="CFD7E2"/>
                      </a:solidFill>
                      <a:prstDash val="solid"/>
                    </a:lnR>
                    <a:lnB w="6668">
                      <a:solidFill>
                        <a:srgbClr val="CFD7E2"/>
                      </a:solidFill>
                      <a:prstDash val="solid"/>
                    </a:lnB>
                    <a:solidFill>
                      <a:srgbClr val="F4F6F8"/>
                    </a:solidFill>
                  </a:tcPr>
                </a:tc>
                <a:tc>
                  <a:txBody>
                    <a:bodyPr/>
                    <a:lstStyle/>
                    <a:p>
                      <a:r>
                        <a:rPr sz="1500" b="0">
                          <a:solidFill>
                            <a:srgbClr val="24292F"/>
                          </a:solidFill>
                          <a:latin typeface="Arial"/>
                          <a:ea typeface="Arial"/>
                          <a:cs typeface="Arial"/>
                        </a:rPr>
                        <a:t>API routing and workflow coordination</a:t>
                      </a:r>
                    </a:p>
                  </a:txBody>
                  <a:tcPr marL="91440" marR="91440" marT="45720" marB="45720">
                    <a:lnR w="6668">
                      <a:solidFill>
                        <a:srgbClr val="CFD7E2"/>
                      </a:solidFill>
                      <a:prstDash val="solid"/>
                    </a:lnR>
                    <a:lnB w="6668">
                      <a:solidFill>
                        <a:srgbClr val="CFD7E2"/>
                      </a:solidFill>
                      <a:prstDash val="solid"/>
                    </a:lnB>
                    <a:solidFill>
                      <a:srgbClr val="F4F6F8"/>
                    </a:solidFill>
                  </a:tcPr>
                </a:tc>
              </a:tr>
              <a:tr h="458561">
                <a:tc>
                  <a:txBody>
                    <a:bodyPr/>
                    <a:lstStyle/>
                    <a:p>
                      <a:r>
                        <a:rPr sz="1500" b="1">
                          <a:solidFill>
                            <a:srgbClr val="24292F"/>
                          </a:solidFill>
                          <a:latin typeface="Arial"/>
                          <a:ea typeface="Arial"/>
                          <a:cs typeface="Arial"/>
                        </a:rPr>
                        <a:t>Database</a:t>
                      </a:r>
                    </a:p>
                  </a:txBody>
                  <a:tcPr marL="91440" marR="91440" marT="45720" marB="45720">
                    <a:lnL w="6668">
                      <a:solidFill>
                        <a:srgbClr val="CFD7E2"/>
                      </a:solidFill>
                      <a:prstDash val="solid"/>
                    </a:lnL>
                    <a:lnR w="6668">
                      <a:solidFill>
                        <a:srgbClr val="CFD7E2"/>
                      </a:solidFill>
                      <a:prstDash val="solid"/>
                    </a:lnR>
                    <a:lnB w="6668">
                      <a:solidFill>
                        <a:srgbClr val="CFD7E2"/>
                      </a:solidFill>
                      <a:prstDash val="solid"/>
                    </a:lnB>
                    <a:solidFill>
                      <a:srgbClr val="FFFFFF"/>
                    </a:solidFill>
                  </a:tcPr>
                </a:tc>
                <a:tc>
                  <a:txBody>
                    <a:bodyPr/>
                    <a:lstStyle/>
                    <a:p>
                      <a:r>
                        <a:rPr sz="1500" b="0">
                          <a:solidFill>
                            <a:srgbClr val="24292F"/>
                          </a:solidFill>
                          <a:latin typeface="Arial"/>
                          <a:ea typeface="Arial"/>
                          <a:cs typeface="Arial"/>
                        </a:rPr>
                        <a:t>MongoDB + Mongoose 8</a:t>
                      </a:r>
                    </a:p>
                  </a:txBody>
                  <a:tcPr marL="91440" marR="91440" marT="45720" marB="45720">
                    <a:lnR w="6668">
                      <a:solidFill>
                        <a:srgbClr val="CFD7E2"/>
                      </a:solidFill>
                      <a:prstDash val="solid"/>
                    </a:lnR>
                    <a:lnB w="6668">
                      <a:solidFill>
                        <a:srgbClr val="CFD7E2"/>
                      </a:solidFill>
                      <a:prstDash val="solid"/>
                    </a:lnB>
                    <a:solidFill>
                      <a:srgbClr val="FFFFFF"/>
                    </a:solidFill>
                  </a:tcPr>
                </a:tc>
                <a:tc>
                  <a:txBody>
                    <a:bodyPr/>
                    <a:lstStyle/>
                    <a:p>
                      <a:r>
                        <a:rPr sz="1500" b="0">
                          <a:solidFill>
                            <a:srgbClr val="24292F"/>
                          </a:solidFill>
                          <a:latin typeface="Arial"/>
                          <a:ea typeface="Arial"/>
                          <a:cs typeface="Arial"/>
                        </a:rPr>
                        <a:t>Profiles, users, bookings and payment IDs</a:t>
                      </a:r>
                    </a:p>
                  </a:txBody>
                  <a:tcPr marL="91440" marR="91440" marT="45720" marB="45720">
                    <a:lnR w="6668">
                      <a:solidFill>
                        <a:srgbClr val="CFD7E2"/>
                      </a:solidFill>
                      <a:prstDash val="solid"/>
                    </a:lnR>
                    <a:lnB w="6668">
                      <a:solidFill>
                        <a:srgbClr val="CFD7E2"/>
                      </a:solidFill>
                      <a:prstDash val="solid"/>
                    </a:lnB>
                    <a:solidFill>
                      <a:srgbClr val="FFFFFF"/>
                    </a:solidFill>
                  </a:tcPr>
                </a:tc>
              </a:tr>
              <a:tr h="458561">
                <a:tc>
                  <a:txBody>
                    <a:bodyPr/>
                    <a:lstStyle/>
                    <a:p>
                      <a:r>
                        <a:rPr sz="1500" b="1">
                          <a:solidFill>
                            <a:srgbClr val="24292F"/>
                          </a:solidFill>
                          <a:latin typeface="Arial"/>
                          <a:ea typeface="Arial"/>
                          <a:cs typeface="Arial"/>
                        </a:rPr>
                        <a:t>Speech</a:t>
                      </a:r>
                    </a:p>
                  </a:txBody>
                  <a:tcPr marL="91440" marR="91440" marT="45720" marB="45720">
                    <a:lnL w="6668">
                      <a:solidFill>
                        <a:srgbClr val="CFD7E2"/>
                      </a:solidFill>
                      <a:prstDash val="solid"/>
                    </a:lnL>
                    <a:lnR w="6668">
                      <a:solidFill>
                        <a:srgbClr val="CFD7E2"/>
                      </a:solidFill>
                      <a:prstDash val="solid"/>
                    </a:lnR>
                    <a:lnB w="6668">
                      <a:solidFill>
                        <a:srgbClr val="CFD7E2"/>
                      </a:solidFill>
                      <a:prstDash val="solid"/>
                    </a:lnB>
                    <a:solidFill>
                      <a:srgbClr val="F4F6F8"/>
                    </a:solidFill>
                  </a:tcPr>
                </a:tc>
                <a:tc>
                  <a:txBody>
                    <a:bodyPr/>
                    <a:lstStyle/>
                    <a:p>
                      <a:r>
                        <a:rPr sz="1500" b="0">
                          <a:solidFill>
                            <a:srgbClr val="24292F"/>
                          </a:solidFill>
                          <a:latin typeface="Arial"/>
                          <a:ea typeface="Arial"/>
                          <a:cs typeface="Arial"/>
                        </a:rPr>
                        <a:t>Browser Web Speech APIs</a:t>
                      </a:r>
                    </a:p>
                  </a:txBody>
                  <a:tcPr marL="91440" marR="91440" marT="45720" marB="45720">
                    <a:lnR w="6668">
                      <a:solidFill>
                        <a:srgbClr val="CFD7E2"/>
                      </a:solidFill>
                      <a:prstDash val="solid"/>
                    </a:lnR>
                    <a:lnB w="6668">
                      <a:solidFill>
                        <a:srgbClr val="CFD7E2"/>
                      </a:solidFill>
                      <a:prstDash val="solid"/>
                    </a:lnB>
                    <a:solidFill>
                      <a:srgbClr val="F4F6F8"/>
                    </a:solidFill>
                  </a:tcPr>
                </a:tc>
                <a:tc>
                  <a:txBody>
                    <a:bodyPr/>
                    <a:lstStyle/>
                    <a:p>
                      <a:r>
                        <a:rPr sz="1500" b="0">
                          <a:solidFill>
                            <a:srgbClr val="24292F"/>
                          </a:solidFill>
                          <a:latin typeface="Arial"/>
                          <a:ea typeface="Arial"/>
                          <a:cs typeface="Arial"/>
                        </a:rPr>
                        <a:t>Recognition and spoken responses</a:t>
                      </a:r>
                    </a:p>
                  </a:txBody>
                  <a:tcPr marL="91440" marR="91440" marT="45720" marB="45720">
                    <a:lnR w="6668">
                      <a:solidFill>
                        <a:srgbClr val="CFD7E2"/>
                      </a:solidFill>
                      <a:prstDash val="solid"/>
                    </a:lnR>
                    <a:lnB w="6668">
                      <a:solidFill>
                        <a:srgbClr val="CFD7E2"/>
                      </a:solidFill>
                      <a:prstDash val="solid"/>
                    </a:lnB>
                    <a:solidFill>
                      <a:srgbClr val="F4F6F8"/>
                    </a:solidFill>
                  </a:tcPr>
                </a:tc>
              </a:tr>
              <a:tr h="458561">
                <a:tc>
                  <a:txBody>
                    <a:bodyPr/>
                    <a:lstStyle/>
                    <a:p>
                      <a:r>
                        <a:rPr sz="1500" b="1">
                          <a:solidFill>
                            <a:srgbClr val="24292F"/>
                          </a:solidFill>
                          <a:latin typeface="Arial"/>
                          <a:ea typeface="Arial"/>
                          <a:cs typeface="Arial"/>
                        </a:rPr>
                        <a:t>AI adapter</a:t>
                      </a:r>
                    </a:p>
                  </a:txBody>
                  <a:tcPr marL="91440" marR="91440" marT="45720" marB="45720">
                    <a:lnL w="6668">
                      <a:solidFill>
                        <a:srgbClr val="CFD7E2"/>
                      </a:solidFill>
                      <a:prstDash val="solid"/>
                    </a:lnL>
                    <a:lnR w="6668">
                      <a:solidFill>
                        <a:srgbClr val="CFD7E2"/>
                      </a:solidFill>
                      <a:prstDash val="solid"/>
                    </a:lnR>
                    <a:lnB w="6668">
                      <a:solidFill>
                        <a:srgbClr val="CFD7E2"/>
                      </a:solidFill>
                      <a:prstDash val="solid"/>
                    </a:lnB>
                    <a:solidFill>
                      <a:srgbClr val="FFFFFF"/>
                    </a:solidFill>
                  </a:tcPr>
                </a:tc>
                <a:tc>
                  <a:txBody>
                    <a:bodyPr/>
                    <a:lstStyle/>
                    <a:p>
                      <a:r>
                        <a:rPr sz="1500" b="0">
                          <a:solidFill>
                            <a:srgbClr val="24292F"/>
                          </a:solidFill>
                          <a:latin typeface="Arial"/>
                          <a:ea typeface="Arial"/>
                          <a:cs typeface="Arial"/>
                        </a:rPr>
                        <a:t>Gateway / Gemini</a:t>
                      </a:r>
                    </a:p>
                  </a:txBody>
                  <a:tcPr marL="91440" marR="91440" marT="45720" marB="45720">
                    <a:lnR w="6668">
                      <a:solidFill>
                        <a:srgbClr val="CFD7E2"/>
                      </a:solidFill>
                      <a:prstDash val="solid"/>
                    </a:lnR>
                    <a:lnB w="6668">
                      <a:solidFill>
                        <a:srgbClr val="CFD7E2"/>
                      </a:solidFill>
                      <a:prstDash val="solid"/>
                    </a:lnB>
                    <a:solidFill>
                      <a:srgbClr val="FFFFFF"/>
                    </a:solidFill>
                  </a:tcPr>
                </a:tc>
                <a:tc>
                  <a:txBody>
                    <a:bodyPr/>
                    <a:lstStyle/>
                    <a:p>
                      <a:r>
                        <a:rPr sz="1500" b="0">
                          <a:solidFill>
                            <a:srgbClr val="24292F"/>
                          </a:solidFill>
                          <a:latin typeface="Arial"/>
                          <a:ea typeface="Arial"/>
                          <a:cs typeface="Arial"/>
                        </a:rPr>
                        <a:t>Contextual triage and basic fallback</a:t>
                      </a:r>
                    </a:p>
                  </a:txBody>
                  <a:tcPr marL="91440" marR="91440" marT="45720" marB="45720">
                    <a:lnR w="6668">
                      <a:solidFill>
                        <a:srgbClr val="CFD7E2"/>
                      </a:solidFill>
                      <a:prstDash val="solid"/>
                    </a:lnR>
                    <a:lnB w="6668">
                      <a:solidFill>
                        <a:srgbClr val="CFD7E2"/>
                      </a:solidFill>
                      <a:prstDash val="solid"/>
                    </a:lnB>
                    <a:solidFill>
                      <a:srgbClr val="FFFFFF"/>
                    </a:solidFill>
                  </a:tcPr>
                </a:tc>
              </a:tr>
              <a:tr h="458561">
                <a:tc>
                  <a:txBody>
                    <a:bodyPr/>
                    <a:lstStyle/>
                    <a:p>
                      <a:r>
                        <a:rPr sz="1500" b="1">
                          <a:solidFill>
                            <a:srgbClr val="24292F"/>
                          </a:solidFill>
                          <a:latin typeface="Arial"/>
                          <a:ea typeface="Arial"/>
                          <a:cs typeface="Arial"/>
                        </a:rPr>
                        <a:t>Payments</a:t>
                      </a:r>
                    </a:p>
                  </a:txBody>
                  <a:tcPr marL="91440" marR="91440" marT="45720" marB="45720">
                    <a:lnL w="6668">
                      <a:solidFill>
                        <a:srgbClr val="CFD7E2"/>
                      </a:solidFill>
                      <a:prstDash val="solid"/>
                    </a:lnL>
                    <a:lnR w="6668">
                      <a:solidFill>
                        <a:srgbClr val="CFD7E2"/>
                      </a:solidFill>
                      <a:prstDash val="solid"/>
                    </a:lnR>
                    <a:lnB w="6668">
                      <a:solidFill>
                        <a:srgbClr val="CFD7E2"/>
                      </a:solidFill>
                      <a:prstDash val="solid"/>
                    </a:lnB>
                    <a:solidFill>
                      <a:srgbClr val="F4F6F8"/>
                    </a:solidFill>
                  </a:tcPr>
                </a:tc>
                <a:tc>
                  <a:txBody>
                    <a:bodyPr/>
                    <a:lstStyle/>
                    <a:p>
                      <a:r>
                        <a:rPr sz="1500" b="0">
                          <a:solidFill>
                            <a:srgbClr val="24292F"/>
                          </a:solidFill>
                          <a:latin typeface="Arial"/>
                          <a:ea typeface="Arial"/>
                          <a:cs typeface="Arial"/>
                        </a:rPr>
                        <a:t>Razorpay SDK + Checkout</a:t>
                      </a:r>
                    </a:p>
                  </a:txBody>
                  <a:tcPr marL="91440" marR="91440" marT="45720" marB="45720">
                    <a:lnR w="6668">
                      <a:solidFill>
                        <a:srgbClr val="CFD7E2"/>
                      </a:solidFill>
                      <a:prstDash val="solid"/>
                    </a:lnR>
                    <a:lnB w="6668">
                      <a:solidFill>
                        <a:srgbClr val="CFD7E2"/>
                      </a:solidFill>
                      <a:prstDash val="solid"/>
                    </a:lnB>
                    <a:solidFill>
                      <a:srgbClr val="F4F6F8"/>
                    </a:solidFill>
                  </a:tcPr>
                </a:tc>
                <a:tc>
                  <a:txBody>
                    <a:bodyPr/>
                    <a:lstStyle/>
                    <a:p>
                      <a:r>
                        <a:rPr sz="1500" b="0">
                          <a:solidFill>
                            <a:srgbClr val="24292F"/>
                          </a:solidFill>
                          <a:latin typeface="Arial"/>
                          <a:ea typeface="Arial"/>
                          <a:cs typeface="Arial"/>
                        </a:rPr>
                        <a:t>Order creation and signature checks</a:t>
                      </a:r>
                    </a:p>
                  </a:txBody>
                  <a:tcPr marL="91440" marR="91440" marT="45720" marB="45720">
                    <a:lnR w="6668">
                      <a:solidFill>
                        <a:srgbClr val="CFD7E2"/>
                      </a:solidFill>
                      <a:prstDash val="solid"/>
                    </a:lnR>
                    <a:lnB w="6668">
                      <a:solidFill>
                        <a:srgbClr val="CFD7E2"/>
                      </a:solidFill>
                      <a:prstDash val="solid"/>
                    </a:lnB>
                    <a:solidFill>
                      <a:srgbClr val="F4F6F8"/>
                    </a:solidFill>
                  </a:tcPr>
                </a:tc>
              </a:tr>
            </a:tbl>
          </a:graphicData>
        </a:graphic>
      </p:graphicFrame>
      <p:sp>
        <p:nvSpPr>
          <p:cNvPr id="5" name="">
            <a:extLst xmlns:a="http://schemas.openxmlformats.org/drawingml/2006/main">
              <a:ext uri="{FF2B5EF4-FFF2-40B4-BE49-F238E27FC236}">
                <a16:creationId xmlns:a16="http://schemas.microsoft.com/office/drawing/2014/main" id="{4A4F615F-8A61-4B9C-B611-A438B190C686}"/>
              </a:ext>
            </a:extLst>
          </p:cNvPr>
          <p:cNvSpPr>
            <a:spLocks xmlns:a="http://schemas.openxmlformats.org/drawingml/2006/main" noGrp="1"/>
          </p:cNvSpPr>
          <p:nvPr/>
        </p:nvSpPr>
        <p:spPr>
          <a:xfrm xmlns:a="http://schemas.openxmlformats.org/drawingml/2006/main">
            <a:off x="342900" y="4438650"/>
            <a:ext cx="8458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626B76"/>
                </a:solidFill>
                <a:latin typeface="Arial"/>
                <a:ea typeface="Arial"/>
                <a:cs typeface="Arial"/>
              </a:defRPr>
            </a:defPPr>
          </a:lstStyle>
          <a:p xmlns:a="http://schemas.openxmlformats.org/drawingml/2006/main">
            <a:pPr algn="l">
              <a:defRPr sz="1500" b="0">
                <a:solidFill>
                  <a:srgbClr val="626B76"/>
                </a:solidFill>
                <a:latin typeface="Arial"/>
                <a:ea typeface="Arial"/>
                <a:cs typeface="Arial"/>
              </a:defRPr>
            </a:pPr>
            <a:r>
              <a:rPr sz="1500" b="0">
                <a:solidFill>
                  <a:srgbClr val="626B76"/>
                </a:solidFill>
                <a:latin typeface="Arial"/>
                <a:ea typeface="Arial"/>
                <a:cs typeface="Arial"/>
              </a:rPr>
              <a:t>The stack connects speech, legal triage, advocate matching and consultation records.</a:t>
            </a:r>
          </a:p>
        </p:txBody>
      </p:sp>
    </p:spTree>
    <p:extLst>
      <p:ext uri="{BB962C8B-B14F-4D97-AF65-F5344CB8AC3E}">
        <p14:creationId xmlns:p14="http://schemas.microsoft.com/office/powerpoint/2010/main" val="197381391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CD18946-30F4-4B9F-8311-087279CCC22E}"/>
              </a:ext>
            </a:extLst>
          </p:cNvPr>
          <p:cNvSpPr>
            <a:spLocks xmlns:a="http://schemas.openxmlformats.org/drawingml/2006/main" noGrp="1"/>
          </p:cNvSpPr>
          <p:nvPr/>
        </p:nvSpPr>
        <p:spPr>
          <a:xfrm xmlns:a="http://schemas.openxmlformats.org/drawingml/2006/main">
            <a:off x="342900" y="247650"/>
            <a:ext cx="8458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0969DA"/>
                </a:solidFill>
                <a:latin typeface="Arial"/>
                <a:ea typeface="Arial"/>
                <a:cs typeface="Arial"/>
              </a:defRPr>
            </a:defPPr>
          </a:lstStyle>
          <a:p xmlns:a="http://schemas.openxmlformats.org/drawingml/2006/main">
            <a:pPr algn="l">
              <a:defRPr sz="3000" b="1">
                <a:solidFill>
                  <a:srgbClr val="0969DA"/>
                </a:solidFill>
                <a:latin typeface="Arial"/>
                <a:ea typeface="Arial"/>
                <a:cs typeface="Arial"/>
              </a:defRPr>
            </a:pPr>
            <a:r>
              <a:rPr sz="3000" b="1">
                <a:solidFill>
                  <a:srgbClr val="0969DA"/>
                </a:solidFill>
                <a:latin typeface="Arial"/>
                <a:ea typeface="Arial"/>
                <a:cs typeface="Arial"/>
              </a:rPr>
              <a:t>Project scope and validation plan</a:t>
            </a:r>
          </a:p>
        </p:txBody>
      </p:sp>
      <p:sp>
        <p:nvSpPr>
          <p:cNvPr id="2" name="">
            <a:extLst xmlns:a="http://schemas.openxmlformats.org/drawingml/2006/main">
              <a:ext uri="{FF2B5EF4-FFF2-40B4-BE49-F238E27FC236}">
                <a16:creationId xmlns:a16="http://schemas.microsoft.com/office/drawing/2014/main" id="{2A36276B-0EC7-44D6-866B-32985BC87F01}"/>
              </a:ext>
            </a:extLst>
          </p:cNvPr>
          <p:cNvSpPr>
            <a:spLocks xmlns:a="http://schemas.openxmlformats.org/drawingml/2006/main" noGrp="1"/>
          </p:cNvSpPr>
          <p:nvPr/>
        </p:nvSpPr>
        <p:spPr>
          <a:xfrm xmlns:a="http://schemas.openxmlformats.org/drawingml/2006/main">
            <a:off x="342900" y="828675"/>
            <a:ext cx="8458200" cy="6668"/>
          </a:xfrm>
          <a:prstGeom xmlns:a="http://schemas.openxmlformats.org/drawingml/2006/main" prst="rect">
            <a:avLst/>
          </a:prstGeom>
          <a:solidFill xmlns:a="http://schemas.openxmlformats.org/drawingml/2006/main">
            <a:srgbClr val="CFD7E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4F3E2C-688B-4B56-8015-C99B65C2E851}"/>
              </a:ext>
            </a:extLst>
          </p:cNvPr>
          <p:cNvSpPr>
            <a:spLocks xmlns:a="http://schemas.openxmlformats.org/drawingml/2006/main" noGrp="1"/>
          </p:cNvSpPr>
          <p:nvPr/>
        </p:nvSpPr>
        <p:spPr>
          <a:xfrm xmlns:a="http://schemas.openxmlformats.org/drawingml/2006/main">
            <a:off x="8524875" y="47815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777777"/>
                </a:solidFill>
                <a:latin typeface="Arial"/>
                <a:ea typeface="Arial"/>
                <a:cs typeface="Arial"/>
              </a:defRPr>
            </a:defPPr>
          </a:lstStyle>
          <a:p xmlns:a="http://schemas.openxmlformats.org/drawingml/2006/main">
            <a:pPr algn="r">
              <a:defRPr sz="1350" b="0">
                <a:solidFill>
                  <a:srgbClr val="777777"/>
                </a:solidFill>
                <a:latin typeface="Arial"/>
                <a:ea typeface="Arial"/>
                <a:cs typeface="Arial"/>
              </a:defRPr>
            </a:pPr>
            <a:r>
              <a:rPr sz="1350" b="0">
                <a:solidFill>
                  <a:srgbClr val="777777"/>
                </a:solidFill>
                <a:latin typeface="Arial"/>
                <a:ea typeface="Arial"/>
                <a:cs typeface="Arial"/>
              </a:rPr>
              <a:t>8</a:t>
            </a:r>
          </a:p>
        </p:txBody>
      </p:sp>
      <p:sp>
        <p:nvSpPr>
          <p:cNvPr id="4" name="">
            <a:extLst xmlns:a="http://schemas.openxmlformats.org/drawingml/2006/main">
              <a:ext uri="{FF2B5EF4-FFF2-40B4-BE49-F238E27FC236}">
                <a16:creationId xmlns:a16="http://schemas.microsoft.com/office/drawing/2014/main" id="{0424EBAD-22A2-4869-A4CD-87227F73A77F}"/>
              </a:ext>
            </a:extLst>
          </p:cNvPr>
          <p:cNvSpPr>
            <a:spLocks xmlns:a="http://schemas.openxmlformats.org/drawingml/2006/main" noGrp="1"/>
          </p:cNvSpPr>
          <p:nvPr/>
        </p:nvSpPr>
        <p:spPr>
          <a:xfrm xmlns:a="http://schemas.openxmlformats.org/drawingml/2006/main">
            <a:off x="342900" y="1047750"/>
            <a:ext cx="3981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0969DA"/>
                </a:solidFill>
                <a:latin typeface="Arial"/>
                <a:ea typeface="Arial"/>
                <a:cs typeface="Arial"/>
              </a:defRPr>
            </a:defPPr>
          </a:lstStyle>
          <a:p xmlns:a="http://schemas.openxmlformats.org/drawingml/2006/main">
            <a:pPr algn="l">
              <a:defRPr sz="1950" b="1">
                <a:solidFill>
                  <a:srgbClr val="0969DA"/>
                </a:solidFill>
                <a:latin typeface="Arial"/>
                <a:ea typeface="Arial"/>
                <a:cs typeface="Arial"/>
              </a:defRPr>
            </a:pPr>
            <a:r>
              <a:rPr sz="1950" b="1">
                <a:solidFill>
                  <a:srgbClr val="0969DA"/>
                </a:solidFill>
                <a:latin typeface="Arial"/>
                <a:ea typeface="Arial"/>
                <a:cs typeface="Arial"/>
              </a:rPr>
              <a:t>Multilingual project scope</a:t>
            </a:r>
          </a:p>
        </p:txBody>
      </p:sp>
      <p:sp>
        <p:nvSpPr>
          <p:cNvPr id="5" name="">
            <a:extLst xmlns:a="http://schemas.openxmlformats.org/drawingml/2006/main">
              <a:ext uri="{FF2B5EF4-FFF2-40B4-BE49-F238E27FC236}">
                <a16:creationId xmlns:a16="http://schemas.microsoft.com/office/drawing/2014/main" id="{1E8CCAE3-E794-4721-B3CA-3EA570447A38}"/>
              </a:ext>
            </a:extLst>
          </p:cNvPr>
          <p:cNvSpPr>
            <a:spLocks xmlns:a="http://schemas.openxmlformats.org/drawingml/2006/main" noGrp="1"/>
          </p:cNvSpPr>
          <p:nvPr/>
        </p:nvSpPr>
        <p:spPr>
          <a:xfrm xmlns:a="http://schemas.openxmlformats.org/drawingml/2006/main">
            <a:off x="342900" y="1524000"/>
            <a:ext cx="39814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24292F"/>
                </a:solidFill>
                <a:latin typeface="Arial"/>
                <a:ea typeface="Arial"/>
                <a:cs typeface="Arial"/>
              </a:defRPr>
            </a:defPPr>
          </a:lstStyle>
          <a:p xmlns:a="http://schemas.openxmlformats.org/drawingml/2006/main">
            <a:pPr marL="177800" indent="-127000" algn="l">
              <a:spcAft>
                <a:spcPts val="1200"/>
              </a:spcAft>
              <a:buChar char="•"/>
              <a:defRPr sz="1725" b="0">
                <a:solidFill>
                  <a:srgbClr val="24292F"/>
                </a:solidFill>
                <a:latin typeface="Arial"/>
                <a:ea typeface="Arial"/>
                <a:cs typeface="Arial"/>
              </a:defRPr>
            </a:pPr>
            <a:r>
              <a:t>Voice and typed input across Indian languages, with spoken playback.</a:t>
            </a:r>
          </a:p>
          <a:p xmlns:a="http://schemas.openxmlformats.org/drawingml/2006/main">
            <a:pPr marL="177800" indent="-127000" algn="l">
              <a:spcAft>
                <a:spcPts val="1200"/>
              </a:spcAft>
              <a:buChar char="•"/>
              <a:defRPr sz="1725" b="0">
                <a:solidFill>
                  <a:srgbClr val="24292F"/>
                </a:solidFill>
                <a:latin typeface="Arial"/>
                <a:ea typeface="Arial"/>
                <a:cs typeface="Arial"/>
              </a:defRPr>
            </a:pPr>
            <a:r>
              <a:t>Contextual triage in four domains: criminal, civil, family and property.</a:t>
            </a:r>
          </a:p>
          <a:p xmlns:a="http://schemas.openxmlformats.org/drawingml/2006/main">
            <a:pPr marL="177800" indent="-127000" algn="l">
              <a:spcAft>
                <a:spcPts val="1200"/>
              </a:spcAft>
              <a:buChar char="•"/>
              <a:defRPr sz="1725" b="0">
                <a:solidFill>
                  <a:srgbClr val="24292F"/>
                </a:solidFill>
                <a:latin typeface="Arial"/>
                <a:ea typeface="Arial"/>
                <a:cs typeface="Arial"/>
              </a:defRPr>
            </a:pPr>
            <a:r>
              <a:t>Advocate matching, booking records and payment integration.</a:t>
            </a:r>
          </a:p>
        </p:txBody>
      </p:sp>
      <p:sp>
        <p:nvSpPr>
          <p:cNvPr id="6" name="">
            <a:extLst xmlns:a="http://schemas.openxmlformats.org/drawingml/2006/main">
              <a:ext uri="{FF2B5EF4-FFF2-40B4-BE49-F238E27FC236}">
                <a16:creationId xmlns:a16="http://schemas.microsoft.com/office/drawing/2014/main" id="{62C43140-92DB-4181-A3B1-DD3C840B8309}"/>
              </a:ext>
            </a:extLst>
          </p:cNvPr>
          <p:cNvSpPr>
            <a:spLocks xmlns:a="http://schemas.openxmlformats.org/drawingml/2006/main" noGrp="1"/>
          </p:cNvSpPr>
          <p:nvPr/>
        </p:nvSpPr>
        <p:spPr>
          <a:xfrm xmlns:a="http://schemas.openxmlformats.org/drawingml/2006/main">
            <a:off x="4733925" y="1047750"/>
            <a:ext cx="4067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0969DA"/>
                </a:solidFill>
                <a:latin typeface="Arial"/>
                <a:ea typeface="Arial"/>
                <a:cs typeface="Arial"/>
              </a:defRPr>
            </a:defPPr>
          </a:lstStyle>
          <a:p xmlns:a="http://schemas.openxmlformats.org/drawingml/2006/main">
            <a:pPr algn="l">
              <a:defRPr sz="1950" b="1">
                <a:solidFill>
                  <a:srgbClr val="0969DA"/>
                </a:solidFill>
                <a:latin typeface="Arial"/>
                <a:ea typeface="Arial"/>
                <a:cs typeface="Arial"/>
              </a:defRPr>
            </a:pPr>
            <a:r>
              <a:rPr sz="1950" b="1">
                <a:solidFill>
                  <a:srgbClr val="0969DA"/>
                </a:solidFill>
                <a:latin typeface="Arial"/>
                <a:ea typeface="Arial"/>
                <a:cs typeface="Arial"/>
              </a:rPr>
              <a:t>Evidence still required</a:t>
            </a:r>
          </a:p>
        </p:txBody>
      </p:sp>
      <p:sp>
        <p:nvSpPr>
          <p:cNvPr id="7" name="">
            <a:extLst xmlns:a="http://schemas.openxmlformats.org/drawingml/2006/main">
              <a:ext uri="{FF2B5EF4-FFF2-40B4-BE49-F238E27FC236}">
                <a16:creationId xmlns:a16="http://schemas.microsoft.com/office/drawing/2014/main" id="{E885CF46-88AA-4D71-B80D-147BBFB6AA06}"/>
              </a:ext>
            </a:extLst>
          </p:cNvPr>
          <p:cNvSpPr>
            <a:spLocks xmlns:a="http://schemas.openxmlformats.org/drawingml/2006/main" noGrp="1"/>
          </p:cNvSpPr>
          <p:nvPr/>
        </p:nvSpPr>
        <p:spPr>
          <a:xfrm xmlns:a="http://schemas.openxmlformats.org/drawingml/2006/main">
            <a:off x="4733925" y="1524000"/>
            <a:ext cx="4067175"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24292F"/>
                </a:solidFill>
                <a:latin typeface="Arial"/>
                <a:ea typeface="Arial"/>
                <a:cs typeface="Arial"/>
              </a:defRPr>
            </a:defPPr>
          </a:lstStyle>
          <a:p xmlns:a="http://schemas.openxmlformats.org/drawingml/2006/main">
            <a:pPr marL="177800" indent="-127000" algn="l">
              <a:spcAft>
                <a:spcPts val="1200"/>
              </a:spcAft>
              <a:buChar char="•"/>
              <a:defRPr sz="1725" b="0">
                <a:solidFill>
                  <a:srgbClr val="24292F"/>
                </a:solidFill>
                <a:latin typeface="Arial"/>
                <a:ea typeface="Arial"/>
                <a:cs typeface="Arial"/>
              </a:defRPr>
            </a:pPr>
            <a:r>
              <a:t>Advocate-reviewed cases for domain and urgency evaluation.</a:t>
            </a:r>
          </a:p>
          <a:p xmlns:a="http://schemas.openxmlformats.org/drawingml/2006/main">
            <a:pPr marL="177800" indent="-127000" algn="l">
              <a:spcAft>
                <a:spcPts val="1200"/>
              </a:spcAft>
              <a:buChar char="•"/>
              <a:defRPr sz="1725" b="0">
                <a:solidFill>
                  <a:srgbClr val="24292F"/>
                </a:solidFill>
                <a:latin typeface="Arial"/>
                <a:ea typeface="Arial"/>
                <a:cs typeface="Arial"/>
              </a:defRPr>
            </a:pPr>
            <a:r>
              <a:t>Language tests for transcript quality and response comprehension.</a:t>
            </a:r>
          </a:p>
          <a:p xmlns:a="http://schemas.openxmlformats.org/drawingml/2006/main">
            <a:pPr marL="177800" indent="-127000" algn="l">
              <a:spcAft>
                <a:spcPts val="1200"/>
              </a:spcAft>
              <a:buChar char="•"/>
              <a:defRPr sz="1725" b="0">
                <a:solidFill>
                  <a:srgbClr val="24292F"/>
                </a:solidFill>
                <a:latin typeface="Arial"/>
                <a:ea typeface="Arial"/>
                <a:cs typeface="Arial"/>
              </a:defRPr>
            </a:pPr>
            <a:r>
              <a:t>End-to-end booking and failure tests, including interrupted checkout.</a:t>
            </a:r>
          </a:p>
        </p:txBody>
      </p:sp>
      <p:sp>
        <p:nvSpPr>
          <p:cNvPr id="8" name="">
            <a:extLst xmlns:a="http://schemas.openxmlformats.org/drawingml/2006/main">
              <a:ext uri="{FF2B5EF4-FFF2-40B4-BE49-F238E27FC236}">
                <a16:creationId xmlns:a16="http://schemas.microsoft.com/office/drawing/2014/main" id="{D4230705-C118-4E61-9E03-DD13A161AF27}"/>
              </a:ext>
            </a:extLst>
          </p:cNvPr>
          <p:cNvSpPr>
            <a:spLocks xmlns:a="http://schemas.openxmlformats.org/drawingml/2006/main" noGrp="1"/>
          </p:cNvSpPr>
          <p:nvPr/>
        </p:nvSpPr>
        <p:spPr>
          <a:xfrm xmlns:a="http://schemas.openxmlformats.org/drawingml/2006/main">
            <a:off x="342900" y="4048125"/>
            <a:ext cx="845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969DA"/>
                </a:solidFill>
                <a:latin typeface="Arial"/>
                <a:ea typeface="Arial"/>
                <a:cs typeface="Arial"/>
              </a:defRPr>
            </a:defPPr>
          </a:lstStyle>
          <a:p xmlns:a="http://schemas.openxmlformats.org/drawingml/2006/main">
            <a:pPr algn="l">
              <a:defRPr sz="1800" b="1">
                <a:solidFill>
                  <a:srgbClr val="0969DA"/>
                </a:solidFill>
                <a:latin typeface="Arial"/>
                <a:ea typeface="Arial"/>
                <a:cs typeface="Arial"/>
              </a:defRPr>
            </a:pPr>
            <a:r>
              <a:rPr sz="1800" b="1">
                <a:solidFill>
                  <a:srgbClr val="0969DA"/>
                </a:solidFill>
                <a:latin typeface="Arial"/>
                <a:ea typeface="Arial"/>
                <a:cs typeface="Arial"/>
              </a:rPr>
              <a:t>Security and operations</a:t>
            </a:r>
          </a:p>
        </p:txBody>
      </p:sp>
      <p:sp>
        <p:nvSpPr>
          <p:cNvPr id="9" name="">
            <a:extLst xmlns:a="http://schemas.openxmlformats.org/drawingml/2006/main">
              <a:ext uri="{FF2B5EF4-FFF2-40B4-BE49-F238E27FC236}">
                <a16:creationId xmlns:a16="http://schemas.microsoft.com/office/drawing/2014/main" id="{7FFF956A-FE5C-44BB-B885-56545BEA9147}"/>
              </a:ext>
            </a:extLst>
          </p:cNvPr>
          <p:cNvSpPr>
            <a:spLocks xmlns:a="http://schemas.openxmlformats.org/drawingml/2006/main" noGrp="1"/>
          </p:cNvSpPr>
          <p:nvPr/>
        </p:nvSpPr>
        <p:spPr>
          <a:xfrm xmlns:a="http://schemas.openxmlformats.org/drawingml/2006/main">
            <a:off x="342900" y="4429125"/>
            <a:ext cx="8458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24292F"/>
                </a:solidFill>
                <a:latin typeface="Arial"/>
                <a:ea typeface="Arial"/>
                <a:cs typeface="Arial"/>
              </a:defRPr>
            </a:defPPr>
          </a:lstStyle>
          <a:p xmlns:a="http://schemas.openxmlformats.org/drawingml/2006/main">
            <a:pPr algn="l">
              <a:defRPr sz="1575" b="0">
                <a:solidFill>
                  <a:srgbClr val="24292F"/>
                </a:solidFill>
                <a:latin typeface="Arial"/>
                <a:ea typeface="Arial"/>
                <a:cs typeface="Arial"/>
              </a:defRPr>
            </a:pPr>
            <a:r>
              <a:rPr sz="1575" b="0">
                <a:solidFill>
                  <a:srgbClr val="24292F"/>
                </a:solidFill>
                <a:latin typeface="Arial"/>
                <a:ea typeface="Arial"/>
                <a:cs typeface="Arial"/>
              </a:rPr>
              <a:t>Authentication, consent, profile verification, accepted slots and payment reconciliation remain launch requirements.</a:t>
            </a:r>
          </a:p>
        </p:txBody>
      </p:sp>
    </p:spTree>
    <p:extLst>
      <p:ext uri="{BB962C8B-B14F-4D97-AF65-F5344CB8AC3E}">
        <p14:creationId xmlns:p14="http://schemas.microsoft.com/office/powerpoint/2010/main" val="162772376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E418E6C-4536-4AEF-97DC-9DF9C40EFC5F}"/>
              </a:ext>
            </a:extLst>
          </p:cNvPr>
          <p:cNvSpPr>
            <a:spLocks xmlns:a="http://schemas.openxmlformats.org/drawingml/2006/main" noGrp="1"/>
          </p:cNvSpPr>
          <p:nvPr/>
        </p:nvSpPr>
        <p:spPr>
          <a:xfrm xmlns:a="http://schemas.openxmlformats.org/drawingml/2006/main">
            <a:off x="342900" y="247650"/>
            <a:ext cx="8458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0969DA"/>
                </a:solidFill>
                <a:latin typeface="Arial"/>
                <a:ea typeface="Arial"/>
                <a:cs typeface="Arial"/>
              </a:defRPr>
            </a:defPPr>
          </a:lstStyle>
          <a:p xmlns:a="http://schemas.openxmlformats.org/drawingml/2006/main">
            <a:pPr algn="l">
              <a:defRPr sz="3000" b="1">
                <a:solidFill>
                  <a:srgbClr val="0969DA"/>
                </a:solidFill>
                <a:latin typeface="Arial"/>
                <a:ea typeface="Arial"/>
                <a:cs typeface="Arial"/>
              </a:defRPr>
            </a:pPr>
            <a:r>
              <a:rPr sz="3000" b="1">
                <a:solidFill>
                  <a:srgbClr val="0969DA"/>
                </a:solidFill>
                <a:latin typeface="Arial"/>
                <a:ea typeface="Arial"/>
                <a:cs typeface="Arial"/>
              </a:rPr>
              <a:t>Roadmap and expected benefits</a:t>
            </a:r>
          </a:p>
        </p:txBody>
      </p:sp>
      <p:sp>
        <p:nvSpPr>
          <p:cNvPr id="2" name="">
            <a:extLst xmlns:a="http://schemas.openxmlformats.org/drawingml/2006/main">
              <a:ext uri="{FF2B5EF4-FFF2-40B4-BE49-F238E27FC236}">
                <a16:creationId xmlns:a16="http://schemas.microsoft.com/office/drawing/2014/main" id="{DA9E9DB9-2EAE-4C41-9797-B7341E859E6E}"/>
              </a:ext>
            </a:extLst>
          </p:cNvPr>
          <p:cNvSpPr>
            <a:spLocks xmlns:a="http://schemas.openxmlformats.org/drawingml/2006/main" noGrp="1"/>
          </p:cNvSpPr>
          <p:nvPr/>
        </p:nvSpPr>
        <p:spPr>
          <a:xfrm xmlns:a="http://schemas.openxmlformats.org/drawingml/2006/main">
            <a:off x="342900" y="828675"/>
            <a:ext cx="8458200" cy="6668"/>
          </a:xfrm>
          <a:prstGeom xmlns:a="http://schemas.openxmlformats.org/drawingml/2006/main" prst="rect">
            <a:avLst/>
          </a:prstGeom>
          <a:solidFill xmlns:a="http://schemas.openxmlformats.org/drawingml/2006/main">
            <a:srgbClr val="CFD7E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51FD698-4F75-4007-B27A-09745489F138}"/>
              </a:ext>
            </a:extLst>
          </p:cNvPr>
          <p:cNvSpPr>
            <a:spLocks xmlns:a="http://schemas.openxmlformats.org/drawingml/2006/main" noGrp="1"/>
          </p:cNvSpPr>
          <p:nvPr/>
        </p:nvSpPr>
        <p:spPr>
          <a:xfrm xmlns:a="http://schemas.openxmlformats.org/drawingml/2006/main">
            <a:off x="8524875" y="47815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777777"/>
                </a:solidFill>
                <a:latin typeface="Arial"/>
                <a:ea typeface="Arial"/>
                <a:cs typeface="Arial"/>
              </a:defRPr>
            </a:defPPr>
          </a:lstStyle>
          <a:p xmlns:a="http://schemas.openxmlformats.org/drawingml/2006/main">
            <a:pPr algn="r">
              <a:defRPr sz="1350" b="0">
                <a:solidFill>
                  <a:srgbClr val="777777"/>
                </a:solidFill>
                <a:latin typeface="Arial"/>
                <a:ea typeface="Arial"/>
                <a:cs typeface="Arial"/>
              </a:defRPr>
            </a:pPr>
            <a:r>
              <a:rPr sz="1350" b="0">
                <a:solidFill>
                  <a:srgbClr val="777777"/>
                </a:solidFill>
                <a:latin typeface="Arial"/>
                <a:ea typeface="Arial"/>
                <a:cs typeface="Arial"/>
              </a:rPr>
              <a:t>9</a:t>
            </a:r>
          </a:p>
        </p:txBody>
      </p:sp>
      <p:sp>
        <p:nvSpPr>
          <p:cNvPr id="4" name="">
            <a:extLst xmlns:a="http://schemas.openxmlformats.org/drawingml/2006/main">
              <a:ext uri="{FF2B5EF4-FFF2-40B4-BE49-F238E27FC236}">
                <a16:creationId xmlns:a16="http://schemas.microsoft.com/office/drawing/2014/main" id="{9A10B612-FE33-4003-99E7-72BCE3884C59}"/>
              </a:ext>
            </a:extLst>
          </p:cNvPr>
          <p:cNvSpPr>
            <a:spLocks xmlns:a="http://schemas.openxmlformats.org/drawingml/2006/main" noGrp="1"/>
          </p:cNvSpPr>
          <p:nvPr/>
        </p:nvSpPr>
        <p:spPr>
          <a:xfrm xmlns:a="http://schemas.openxmlformats.org/drawingml/2006/main">
            <a:off x="342900" y="1076325"/>
            <a:ext cx="628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0969DA"/>
                </a:solidFill>
                <a:latin typeface="Arial"/>
                <a:ea typeface="Arial"/>
                <a:cs typeface="Arial"/>
              </a:defRPr>
            </a:defPPr>
          </a:lstStyle>
          <a:p xmlns:a="http://schemas.openxmlformats.org/drawingml/2006/main">
            <a:pPr algn="l">
              <a:defRPr sz="2250" b="1">
                <a:solidFill>
                  <a:srgbClr val="0969DA"/>
                </a:solidFill>
                <a:latin typeface="Arial"/>
                <a:ea typeface="Arial"/>
                <a:cs typeface="Arial"/>
              </a:defRPr>
            </a:pPr>
            <a:r>
              <a:rPr sz="2250" b="1">
                <a:solidFill>
                  <a:srgbClr val="0969DA"/>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7571C40-550F-4F50-B7E9-C681F8904612}"/>
              </a:ext>
            </a:extLst>
          </p:cNvPr>
          <p:cNvSpPr>
            <a:spLocks xmlns:a="http://schemas.openxmlformats.org/drawingml/2006/main" noGrp="1"/>
          </p:cNvSpPr>
          <p:nvPr/>
        </p:nvSpPr>
        <p:spPr>
          <a:xfrm xmlns:a="http://schemas.openxmlformats.org/drawingml/2006/main">
            <a:off x="1066800" y="107632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969DA"/>
                </a:solidFill>
                <a:latin typeface="Arial"/>
                <a:ea typeface="Arial"/>
                <a:cs typeface="Arial"/>
              </a:defRPr>
            </a:defPPr>
          </a:lstStyle>
          <a:p xmlns:a="http://schemas.openxmlformats.org/drawingml/2006/main">
            <a:pPr algn="l">
              <a:defRPr sz="1800" b="1">
                <a:solidFill>
                  <a:srgbClr val="0969DA"/>
                </a:solidFill>
                <a:latin typeface="Arial"/>
                <a:ea typeface="Arial"/>
                <a:cs typeface="Arial"/>
              </a:defRPr>
            </a:pPr>
            <a:r>
              <a:rPr sz="1800" b="1">
                <a:solidFill>
                  <a:srgbClr val="0969DA"/>
                </a:solidFill>
                <a:latin typeface="Arial"/>
                <a:ea typeface="Arial"/>
                <a:cs typeface="Arial"/>
              </a:rPr>
              <a:t>Stabilize the prototype</a:t>
            </a:r>
          </a:p>
        </p:txBody>
      </p:sp>
      <p:sp>
        <p:nvSpPr>
          <p:cNvPr id="6" name="">
            <a:extLst xmlns:a="http://schemas.openxmlformats.org/drawingml/2006/main">
              <a:ext uri="{FF2B5EF4-FFF2-40B4-BE49-F238E27FC236}">
                <a16:creationId xmlns:a16="http://schemas.microsoft.com/office/drawing/2014/main" id="{B8C7D1A6-040C-48B5-BC69-82CA0659187D}"/>
              </a:ext>
            </a:extLst>
          </p:cNvPr>
          <p:cNvSpPr>
            <a:spLocks xmlns:a="http://schemas.openxmlformats.org/drawingml/2006/main" noGrp="1"/>
          </p:cNvSpPr>
          <p:nvPr/>
        </p:nvSpPr>
        <p:spPr>
          <a:xfrm xmlns:a="http://schemas.openxmlformats.org/drawingml/2006/main">
            <a:off x="3733800" y="1076325"/>
            <a:ext cx="5029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24292F"/>
                </a:solidFill>
                <a:latin typeface="Arial"/>
                <a:ea typeface="Arial"/>
                <a:cs typeface="Arial"/>
              </a:defRPr>
            </a:defPPr>
          </a:lstStyle>
          <a:p xmlns:a="http://schemas.openxmlformats.org/drawingml/2006/main">
            <a:pPr algn="l">
              <a:defRPr sz="1650" b="0">
                <a:solidFill>
                  <a:srgbClr val="24292F"/>
                </a:solidFill>
                <a:latin typeface="Arial"/>
                <a:ea typeface="Arial"/>
                <a:cs typeface="Arial"/>
              </a:defRPr>
            </a:pPr>
            <a:r>
              <a:rPr sz="1650" b="0">
                <a:solidFill>
                  <a:srgbClr val="24292F"/>
                </a:solidFill>
                <a:latin typeface="Arial"/>
                <a:ea typeface="Arial"/>
                <a:cs typeface="Arial"/>
              </a:rPr>
              <a:t>Test speech across Indian languages, model failure and the complete consultation journey.</a:t>
            </a:r>
          </a:p>
        </p:txBody>
      </p:sp>
      <p:sp>
        <p:nvSpPr>
          <p:cNvPr id="7" name="">
            <a:extLst xmlns:a="http://schemas.openxmlformats.org/drawingml/2006/main">
              <a:ext uri="{FF2B5EF4-FFF2-40B4-BE49-F238E27FC236}">
                <a16:creationId xmlns:a16="http://schemas.microsoft.com/office/drawing/2014/main" id="{2FA5FDBC-47B7-4578-BC03-454BAC4306A4}"/>
              </a:ext>
            </a:extLst>
          </p:cNvPr>
          <p:cNvSpPr>
            <a:spLocks xmlns:a="http://schemas.openxmlformats.org/drawingml/2006/main" noGrp="1"/>
          </p:cNvSpPr>
          <p:nvPr/>
        </p:nvSpPr>
        <p:spPr>
          <a:xfrm xmlns:a="http://schemas.openxmlformats.org/drawingml/2006/main">
            <a:off x="342900" y="1819275"/>
            <a:ext cx="628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0969DA"/>
                </a:solidFill>
                <a:latin typeface="Arial"/>
                <a:ea typeface="Arial"/>
                <a:cs typeface="Arial"/>
              </a:defRPr>
            </a:defPPr>
          </a:lstStyle>
          <a:p xmlns:a="http://schemas.openxmlformats.org/drawingml/2006/main">
            <a:pPr algn="l">
              <a:defRPr sz="2250" b="1">
                <a:solidFill>
                  <a:srgbClr val="0969DA"/>
                </a:solidFill>
                <a:latin typeface="Arial"/>
                <a:ea typeface="Arial"/>
                <a:cs typeface="Arial"/>
              </a:defRPr>
            </a:pPr>
            <a:r>
              <a:rPr sz="2250" b="1">
                <a:solidFill>
                  <a:srgbClr val="0969DA"/>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3077F098-CD5E-4AB4-BAFE-6FE8FE5AC4BE}"/>
              </a:ext>
            </a:extLst>
          </p:cNvPr>
          <p:cNvSpPr>
            <a:spLocks xmlns:a="http://schemas.openxmlformats.org/drawingml/2006/main" noGrp="1"/>
          </p:cNvSpPr>
          <p:nvPr/>
        </p:nvSpPr>
        <p:spPr>
          <a:xfrm xmlns:a="http://schemas.openxmlformats.org/drawingml/2006/main">
            <a:off x="1066800" y="181927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969DA"/>
                </a:solidFill>
                <a:latin typeface="Arial"/>
                <a:ea typeface="Arial"/>
                <a:cs typeface="Arial"/>
              </a:defRPr>
            </a:defPPr>
          </a:lstStyle>
          <a:p xmlns:a="http://schemas.openxmlformats.org/drawingml/2006/main">
            <a:pPr algn="l">
              <a:defRPr sz="1800" b="1">
                <a:solidFill>
                  <a:srgbClr val="0969DA"/>
                </a:solidFill>
                <a:latin typeface="Arial"/>
                <a:ea typeface="Arial"/>
                <a:cs typeface="Arial"/>
              </a:defRPr>
            </a:pPr>
            <a:r>
              <a:rPr sz="1800" b="1">
                <a:solidFill>
                  <a:srgbClr val="0969DA"/>
                </a:solidFill>
                <a:latin typeface="Arial"/>
                <a:ea typeface="Arial"/>
                <a:cs typeface="Arial"/>
              </a:rPr>
              <a:t>Validate real use</a:t>
            </a:r>
          </a:p>
        </p:txBody>
      </p:sp>
      <p:sp>
        <p:nvSpPr>
          <p:cNvPr id="9" name="">
            <a:extLst xmlns:a="http://schemas.openxmlformats.org/drawingml/2006/main">
              <a:ext uri="{FF2B5EF4-FFF2-40B4-BE49-F238E27FC236}">
                <a16:creationId xmlns:a16="http://schemas.microsoft.com/office/drawing/2014/main" id="{23E5980F-2859-42F5-A3B1-1F99FECFAB64}"/>
              </a:ext>
            </a:extLst>
          </p:cNvPr>
          <p:cNvSpPr>
            <a:spLocks xmlns:a="http://schemas.openxmlformats.org/drawingml/2006/main" noGrp="1"/>
          </p:cNvSpPr>
          <p:nvPr/>
        </p:nvSpPr>
        <p:spPr>
          <a:xfrm xmlns:a="http://schemas.openxmlformats.org/drawingml/2006/main">
            <a:off x="3733800" y="1819275"/>
            <a:ext cx="5029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24292F"/>
                </a:solidFill>
                <a:latin typeface="Arial"/>
                <a:ea typeface="Arial"/>
                <a:cs typeface="Arial"/>
              </a:defRPr>
            </a:defPPr>
          </a:lstStyle>
          <a:p xmlns:a="http://schemas.openxmlformats.org/drawingml/2006/main">
            <a:pPr algn="l">
              <a:defRPr sz="1650" b="0">
                <a:solidFill>
                  <a:srgbClr val="24292F"/>
                </a:solidFill>
                <a:latin typeface="Arial"/>
                <a:ea typeface="Arial"/>
                <a:cs typeface="Arial"/>
              </a:defRPr>
            </a:pPr>
            <a:r>
              <a:rPr sz="1650" b="0">
                <a:solidFill>
                  <a:srgbClr val="24292F"/>
                </a:solidFill>
                <a:latin typeface="Arial"/>
                <a:ea typeface="Arial"/>
                <a:cs typeface="Arial"/>
              </a:rPr>
              <a:t>Review cases with advocates and measure user comprehension and task completion.</a:t>
            </a:r>
          </a:p>
        </p:txBody>
      </p:sp>
      <p:sp>
        <p:nvSpPr>
          <p:cNvPr id="10" name="">
            <a:extLst xmlns:a="http://schemas.openxmlformats.org/drawingml/2006/main">
              <a:ext uri="{FF2B5EF4-FFF2-40B4-BE49-F238E27FC236}">
                <a16:creationId xmlns:a16="http://schemas.microsoft.com/office/drawing/2014/main" id="{EA2D6674-7C43-44F4-80CF-50F26AFCB9F3}"/>
              </a:ext>
            </a:extLst>
          </p:cNvPr>
          <p:cNvSpPr>
            <a:spLocks xmlns:a="http://schemas.openxmlformats.org/drawingml/2006/main" noGrp="1"/>
          </p:cNvSpPr>
          <p:nvPr/>
        </p:nvSpPr>
        <p:spPr>
          <a:xfrm xmlns:a="http://schemas.openxmlformats.org/drawingml/2006/main">
            <a:off x="342900" y="2562225"/>
            <a:ext cx="628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0969DA"/>
                </a:solidFill>
                <a:latin typeface="Arial"/>
                <a:ea typeface="Arial"/>
                <a:cs typeface="Arial"/>
              </a:defRPr>
            </a:defPPr>
          </a:lstStyle>
          <a:p xmlns:a="http://schemas.openxmlformats.org/drawingml/2006/main">
            <a:pPr algn="l">
              <a:defRPr sz="2250" b="1">
                <a:solidFill>
                  <a:srgbClr val="0969DA"/>
                </a:solidFill>
                <a:latin typeface="Arial"/>
                <a:ea typeface="Arial"/>
                <a:cs typeface="Arial"/>
              </a:defRPr>
            </a:pPr>
            <a:r>
              <a:rPr sz="2250" b="1">
                <a:solidFill>
                  <a:srgbClr val="0969DA"/>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8F5573C9-2E70-4FC0-AA58-6B93B1DB2041}"/>
              </a:ext>
            </a:extLst>
          </p:cNvPr>
          <p:cNvSpPr>
            <a:spLocks xmlns:a="http://schemas.openxmlformats.org/drawingml/2006/main" noGrp="1"/>
          </p:cNvSpPr>
          <p:nvPr/>
        </p:nvSpPr>
        <p:spPr>
          <a:xfrm xmlns:a="http://schemas.openxmlformats.org/drawingml/2006/main">
            <a:off x="1066800" y="256222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969DA"/>
                </a:solidFill>
                <a:latin typeface="Arial"/>
                <a:ea typeface="Arial"/>
                <a:cs typeface="Arial"/>
              </a:defRPr>
            </a:defPPr>
          </a:lstStyle>
          <a:p xmlns:a="http://schemas.openxmlformats.org/drawingml/2006/main">
            <a:pPr algn="l">
              <a:defRPr sz="1800" b="1">
                <a:solidFill>
                  <a:srgbClr val="0969DA"/>
                </a:solidFill>
                <a:latin typeface="Arial"/>
                <a:ea typeface="Arial"/>
                <a:cs typeface="Arial"/>
              </a:defRPr>
            </a:pPr>
            <a:r>
              <a:rPr sz="1800" b="1">
                <a:solidFill>
                  <a:srgbClr val="0969DA"/>
                </a:solidFill>
                <a:latin typeface="Arial"/>
                <a:ea typeface="Arial"/>
                <a:cs typeface="Arial"/>
              </a:rPr>
              <a:t>Strengthen operations</a:t>
            </a:r>
          </a:p>
        </p:txBody>
      </p:sp>
      <p:sp>
        <p:nvSpPr>
          <p:cNvPr id="12" name="">
            <a:extLst xmlns:a="http://schemas.openxmlformats.org/drawingml/2006/main">
              <a:ext uri="{FF2B5EF4-FFF2-40B4-BE49-F238E27FC236}">
                <a16:creationId xmlns:a16="http://schemas.microsoft.com/office/drawing/2014/main" id="{8ECDBEC8-8B43-4BEF-9098-E7971DE5EB76}"/>
              </a:ext>
            </a:extLst>
          </p:cNvPr>
          <p:cNvSpPr>
            <a:spLocks xmlns:a="http://schemas.openxmlformats.org/drawingml/2006/main" noGrp="1"/>
          </p:cNvSpPr>
          <p:nvPr/>
        </p:nvSpPr>
        <p:spPr>
          <a:xfrm xmlns:a="http://schemas.openxmlformats.org/drawingml/2006/main">
            <a:off x="3733800" y="2562225"/>
            <a:ext cx="5029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24292F"/>
                </a:solidFill>
                <a:latin typeface="Arial"/>
                <a:ea typeface="Arial"/>
                <a:cs typeface="Arial"/>
              </a:defRPr>
            </a:defPPr>
          </a:lstStyle>
          <a:p xmlns:a="http://schemas.openxmlformats.org/drawingml/2006/main">
            <a:pPr algn="l">
              <a:defRPr sz="1650" b="0">
                <a:solidFill>
                  <a:srgbClr val="24292F"/>
                </a:solidFill>
                <a:latin typeface="Arial"/>
                <a:ea typeface="Arial"/>
                <a:cs typeface="Arial"/>
              </a:defRPr>
            </a:pPr>
            <a:r>
              <a:rPr sz="1650" b="0">
                <a:solidFill>
                  <a:srgbClr val="24292F"/>
                </a:solidFill>
                <a:latin typeface="Arial"/>
                <a:ea typeface="Arial"/>
                <a:cs typeface="Arial"/>
              </a:rPr>
              <a:t>Add verified profiles, consent, secure access and reliable booking/payment status.</a:t>
            </a:r>
          </a:p>
        </p:txBody>
      </p:sp>
      <p:sp>
        <p:nvSpPr>
          <p:cNvPr id="13" name="">
            <a:extLst xmlns:a="http://schemas.openxmlformats.org/drawingml/2006/main">
              <a:ext uri="{FF2B5EF4-FFF2-40B4-BE49-F238E27FC236}">
                <a16:creationId xmlns:a16="http://schemas.microsoft.com/office/drawing/2014/main" id="{18B33363-F2D1-4E5B-89DE-C836137BC0DD}"/>
              </a:ext>
            </a:extLst>
          </p:cNvPr>
          <p:cNvSpPr>
            <a:spLocks xmlns:a="http://schemas.openxmlformats.org/drawingml/2006/main" noGrp="1"/>
          </p:cNvSpPr>
          <p:nvPr/>
        </p:nvSpPr>
        <p:spPr>
          <a:xfrm xmlns:a="http://schemas.openxmlformats.org/drawingml/2006/main">
            <a:off x="342900" y="3305175"/>
            <a:ext cx="628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0969DA"/>
                </a:solidFill>
                <a:latin typeface="Arial"/>
                <a:ea typeface="Arial"/>
                <a:cs typeface="Arial"/>
              </a:defRPr>
            </a:defPPr>
          </a:lstStyle>
          <a:p xmlns:a="http://schemas.openxmlformats.org/drawingml/2006/main">
            <a:pPr algn="l">
              <a:defRPr sz="2250" b="1">
                <a:solidFill>
                  <a:srgbClr val="0969DA"/>
                </a:solidFill>
                <a:latin typeface="Arial"/>
                <a:ea typeface="Arial"/>
                <a:cs typeface="Arial"/>
              </a:defRPr>
            </a:pPr>
            <a:r>
              <a:rPr sz="2250" b="1">
                <a:solidFill>
                  <a:srgbClr val="0969DA"/>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5C21D594-84E6-47E8-A730-275311FBDF4C}"/>
              </a:ext>
            </a:extLst>
          </p:cNvPr>
          <p:cNvSpPr>
            <a:spLocks xmlns:a="http://schemas.openxmlformats.org/drawingml/2006/main" noGrp="1"/>
          </p:cNvSpPr>
          <p:nvPr/>
        </p:nvSpPr>
        <p:spPr>
          <a:xfrm xmlns:a="http://schemas.openxmlformats.org/drawingml/2006/main">
            <a:off x="1066800" y="330517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969DA"/>
                </a:solidFill>
                <a:latin typeface="Arial"/>
                <a:ea typeface="Arial"/>
                <a:cs typeface="Arial"/>
              </a:defRPr>
            </a:defPPr>
          </a:lstStyle>
          <a:p xmlns:a="http://schemas.openxmlformats.org/drawingml/2006/main">
            <a:pPr algn="l">
              <a:defRPr sz="1800" b="1">
                <a:solidFill>
                  <a:srgbClr val="0969DA"/>
                </a:solidFill>
                <a:latin typeface="Arial"/>
                <a:ea typeface="Arial"/>
                <a:cs typeface="Arial"/>
              </a:defRPr>
            </a:pPr>
            <a:r>
              <a:rPr sz="1800" b="1">
                <a:solidFill>
                  <a:srgbClr val="0969DA"/>
                </a:solidFill>
                <a:latin typeface="Arial"/>
                <a:ea typeface="Arial"/>
                <a:cs typeface="Arial"/>
              </a:rPr>
              <a:t>Validate languages</a:t>
            </a:r>
          </a:p>
        </p:txBody>
      </p:sp>
      <p:sp>
        <p:nvSpPr>
          <p:cNvPr id="15" name="">
            <a:extLst xmlns:a="http://schemas.openxmlformats.org/drawingml/2006/main">
              <a:ext uri="{FF2B5EF4-FFF2-40B4-BE49-F238E27FC236}">
                <a16:creationId xmlns:a16="http://schemas.microsoft.com/office/drawing/2014/main" id="{7B201F95-B988-4C42-A543-71B9C598BE5D}"/>
              </a:ext>
            </a:extLst>
          </p:cNvPr>
          <p:cNvSpPr>
            <a:spLocks xmlns:a="http://schemas.openxmlformats.org/drawingml/2006/main" noGrp="1"/>
          </p:cNvSpPr>
          <p:nvPr/>
        </p:nvSpPr>
        <p:spPr>
          <a:xfrm xmlns:a="http://schemas.openxmlformats.org/drawingml/2006/main">
            <a:off x="3733800" y="3305175"/>
            <a:ext cx="5029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24292F"/>
                </a:solidFill>
                <a:latin typeface="Arial"/>
                <a:ea typeface="Arial"/>
                <a:cs typeface="Arial"/>
              </a:defRPr>
            </a:defPPr>
          </a:lstStyle>
          <a:p xmlns:a="http://schemas.openxmlformats.org/drawingml/2006/main">
            <a:pPr algn="l">
              <a:defRPr sz="1650" b="0">
                <a:solidFill>
                  <a:srgbClr val="24292F"/>
                </a:solidFill>
                <a:latin typeface="Arial"/>
                <a:ea typeface="Arial"/>
                <a:cs typeface="Arial"/>
              </a:defRPr>
            </a:pPr>
            <a:r>
              <a:rPr sz="1650" b="0">
                <a:solidFill>
                  <a:srgbClr val="24292F"/>
                </a:solidFill>
                <a:latin typeface="Arial"/>
                <a:ea typeface="Arial"/>
                <a:cs typeface="Arial"/>
              </a:rPr>
              <a:t>Scope includes 22 scheduled languages plus English. Validate each language before rollout.</a:t>
            </a:r>
          </a:p>
        </p:txBody>
      </p:sp>
      <p:sp>
        <p:nvSpPr>
          <p:cNvPr id="16" name="">
            <a:extLst xmlns:a="http://schemas.openxmlformats.org/drawingml/2006/main">
              <a:ext uri="{FF2B5EF4-FFF2-40B4-BE49-F238E27FC236}">
                <a16:creationId xmlns:a16="http://schemas.microsoft.com/office/drawing/2014/main" id="{B27E4E1A-EC46-4CB7-9679-3E391CBD6E3B}"/>
              </a:ext>
            </a:extLst>
          </p:cNvPr>
          <p:cNvSpPr>
            <a:spLocks xmlns:a="http://schemas.openxmlformats.org/drawingml/2006/main" noGrp="1"/>
          </p:cNvSpPr>
          <p:nvPr/>
        </p:nvSpPr>
        <p:spPr>
          <a:xfrm xmlns:a="http://schemas.openxmlformats.org/drawingml/2006/main">
            <a:off x="342900" y="4343400"/>
            <a:ext cx="8458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24292F"/>
                </a:solidFill>
                <a:latin typeface="Arial"/>
                <a:ea typeface="Arial"/>
                <a:cs typeface="Arial"/>
              </a:defRPr>
            </a:defPPr>
          </a:lstStyle>
          <a:p xmlns:a="http://schemas.openxmlformats.org/drawingml/2006/main">
            <a:pPr algn="l">
              <a:defRPr sz="1650" b="0">
                <a:solidFill>
                  <a:srgbClr val="24292F"/>
                </a:solidFill>
                <a:latin typeface="Arial"/>
                <a:ea typeface="Arial"/>
                <a:cs typeface="Arial"/>
              </a:defRPr>
            </a:pPr>
            <a:r>
              <a:rPr sz="1650" b="0">
                <a:solidFill>
                  <a:srgbClr val="24292F"/>
                </a:solidFill>
                <a:latin typeface="Arial"/>
                <a:ea typeface="Arial"/>
                <a:cs typeface="Arial"/>
              </a:rPr>
              <a:t>Expected benefit: clearer initial guidance and easier advocate discovery. Faculty and advocate feedback will guide the next development stage.</a:t>
            </a:r>
          </a:p>
        </p:txBody>
      </p:sp>
    </p:spTree>
    <p:extLst>
      <p:ext uri="{BB962C8B-B14F-4D97-AF65-F5344CB8AC3E}">
        <p14:creationId xmlns:p14="http://schemas.microsoft.com/office/powerpoint/2010/main" val="7417747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2026-10-14T04:51:05.7650000Z</dcterms:created>
  <dcterms:modified xsi:type="dcterms:W3CDTF">2026-10-14T04:51:05.7650000Z</dcterms:modified>
</coreProperties>
</file>