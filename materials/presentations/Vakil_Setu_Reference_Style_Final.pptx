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f324efd5b14c3a" /><Relationship Type="http://schemas.openxmlformats.org/officeDocument/2006/relationships/extended-properties" Target="/docProps/app.xml" Id="Rc3248db503f04fa9" /><Relationship Type="http://schemas.openxmlformats.org/officeDocument/2006/relationships/officeDocument" Target="/ppt/presentation.xml" Id="R551e505a1fb149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99b9965ddc4608"/>
  </p:sldMasterIdLst>
  <p:notesMasterIdLst>
    <p:notesMasterId xmlns:r="http://schemas.openxmlformats.org/officeDocument/2006/relationships" r:id="Rdc0fd23fbfc941ad"/>
  </p:notesMasterIdLst>
  <p:sldIdLst>
    <p:sldId xmlns:r="http://schemas.openxmlformats.org/officeDocument/2006/relationships" id="256" r:id="Rf25212f68ca741c8"/>
    <p:sldId xmlns:r="http://schemas.openxmlformats.org/officeDocument/2006/relationships" id="257" r:id="R53931757434f4e0d"/>
    <p:sldId xmlns:r="http://schemas.openxmlformats.org/officeDocument/2006/relationships" id="258" r:id="R601595c0c4854ec1"/>
    <p:sldId xmlns:r="http://schemas.openxmlformats.org/officeDocument/2006/relationships" id="259" r:id="Rb7f6ec90273b446c"/>
    <p:sldId xmlns:r="http://schemas.openxmlformats.org/officeDocument/2006/relationships" id="260" r:id="Ra51f1dde39814535"/>
    <p:sldId xmlns:r="http://schemas.openxmlformats.org/officeDocument/2006/relationships" id="261" r:id="Rb8ea2d29a1b24201"/>
    <p:sldId xmlns:r="http://schemas.openxmlformats.org/officeDocument/2006/relationships" id="262" r:id="R9316dcd3e35a4a6a"/>
    <p:sldId xmlns:r="http://schemas.openxmlformats.org/officeDocument/2006/relationships" id="263" r:id="R987dce241c57474b"/>
    <p:sldId xmlns:r="http://schemas.openxmlformats.org/officeDocument/2006/relationships" id="264" r:id="R736db9e63eec44a1"/>
    <p:sldId xmlns:r="http://schemas.openxmlformats.org/officeDocument/2006/relationships" id="265" r:id="R06465f0142314bd4"/>
    <p:sldId xmlns:r="http://schemas.openxmlformats.org/officeDocument/2006/relationships" id="266" r:id="R982a0ed07e3040de"/>
    <p:sldId xmlns:r="http://schemas.openxmlformats.org/officeDocument/2006/relationships" id="267" r:id="R51dfcd6e3f0a499b"/>
    <p:sldId xmlns:r="http://schemas.openxmlformats.org/officeDocument/2006/relationships" id="268" r:id="R27b5e0fd7a0547cf"/>
    <p:sldId xmlns:r="http://schemas.openxmlformats.org/officeDocument/2006/relationships" id="269" r:id="R05dec1dc4ae84240"/>
    <p:sldId xmlns:r="http://schemas.openxmlformats.org/officeDocument/2006/relationships" id="270" r:id="Rf68d460a22e04f7f"/>
    <p:sldId xmlns:r="http://schemas.openxmlformats.org/officeDocument/2006/relationships" id="271" r:id="R3509a3b2fc1f4cf4"/>
    <p:sldId xmlns:r="http://schemas.openxmlformats.org/officeDocument/2006/relationships" id="272" r:id="Rde5cb14bfbc24f72"/>
    <p:sldId xmlns:r="http://schemas.openxmlformats.org/officeDocument/2006/relationships" id="273" r:id="R2df74d39a94c4f9a"/>
    <p:sldId xmlns:r="http://schemas.openxmlformats.org/officeDocument/2006/relationships" id="274" r:id="R8bdadaf7288445c7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f7c7ee2c544d6e" /><Relationship Type="http://schemas.openxmlformats.org/officeDocument/2006/relationships/slideMaster" Target="/ppt/slideMasters/slideMaster1.xml" Id="R2b99b9965ddc4608" /><Relationship Type="http://schemas.openxmlformats.org/officeDocument/2006/relationships/notesMaster" Target="/ppt/notesMasters/notesMaster1.xml" Id="Rdc0fd23fbfc941ad" /><Relationship Type="http://schemas.openxmlformats.org/officeDocument/2006/relationships/presProps" Target="/ppt/presProps.xml" Id="R87c962d40e224ca6" /><Relationship Type="http://schemas.openxmlformats.org/officeDocument/2006/relationships/tableStyles" Target="/ppt/tableStyles.xml" Id="R14a6fea561cc422c" /><Relationship Type="http://schemas.openxmlformats.org/officeDocument/2006/relationships/slide" Target="/ppt/slides/slide1.xml" Id="Rf25212f68ca741c8" /><Relationship Type="http://schemas.openxmlformats.org/officeDocument/2006/relationships/slide" Target="/ppt/slides/slide2.xml" Id="R53931757434f4e0d" /><Relationship Type="http://schemas.openxmlformats.org/officeDocument/2006/relationships/slide" Target="/ppt/slides/slide3.xml" Id="R601595c0c4854ec1" /><Relationship Type="http://schemas.openxmlformats.org/officeDocument/2006/relationships/slide" Target="/ppt/slides/slide4.xml" Id="Rb7f6ec90273b446c" /><Relationship Type="http://schemas.openxmlformats.org/officeDocument/2006/relationships/slide" Target="/ppt/slides/slide5.xml" Id="Ra51f1dde39814535" /><Relationship Type="http://schemas.openxmlformats.org/officeDocument/2006/relationships/slide" Target="/ppt/slides/slide6.xml" Id="Rb8ea2d29a1b24201" /><Relationship Type="http://schemas.openxmlformats.org/officeDocument/2006/relationships/slide" Target="/ppt/slides/slide7.xml" Id="R9316dcd3e35a4a6a" /><Relationship Type="http://schemas.openxmlformats.org/officeDocument/2006/relationships/slide" Target="/ppt/slides/slide8.xml" Id="R987dce241c57474b" /><Relationship Type="http://schemas.openxmlformats.org/officeDocument/2006/relationships/slide" Target="/ppt/slides/slide9.xml" Id="R736db9e63eec44a1" /><Relationship Type="http://schemas.openxmlformats.org/officeDocument/2006/relationships/slide" Target="/ppt/slides/slide10.xml" Id="R06465f0142314bd4" /><Relationship Type="http://schemas.openxmlformats.org/officeDocument/2006/relationships/slide" Target="/ppt/slides/slide11.xml" Id="R982a0ed07e3040de" /><Relationship Type="http://schemas.openxmlformats.org/officeDocument/2006/relationships/slide" Target="/ppt/slides/slide12.xml" Id="R51dfcd6e3f0a499b" /><Relationship Type="http://schemas.openxmlformats.org/officeDocument/2006/relationships/slide" Target="/ppt/slides/slide13.xml" Id="R27b5e0fd7a0547cf" /><Relationship Type="http://schemas.openxmlformats.org/officeDocument/2006/relationships/slide" Target="/ppt/slides/slide14.xml" Id="R05dec1dc4ae84240" /><Relationship Type="http://schemas.openxmlformats.org/officeDocument/2006/relationships/slide" Target="/ppt/slides/slide15.xml" Id="Rf68d460a22e04f7f" /><Relationship Type="http://schemas.openxmlformats.org/officeDocument/2006/relationships/slide" Target="/ppt/slides/slide16.xml" Id="R3509a3b2fc1f4cf4" /><Relationship Type="http://schemas.openxmlformats.org/officeDocument/2006/relationships/slide" Target="/ppt/slides/slide17.xml" Id="Rde5cb14bfbc24f72" /><Relationship Type="http://schemas.openxmlformats.org/officeDocument/2006/relationships/slide" Target="/ppt/slides/slide18.xml" Id="R2df74d39a94c4f9a" /><Relationship Type="http://schemas.openxmlformats.org/officeDocument/2006/relationships/slide" Target="/ppt/slides/slide19.xml" Id="R8bdadaf72884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6b4039b84e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17111a335b41f7" /><Relationship Type="http://schemas.openxmlformats.org/officeDocument/2006/relationships/notesMaster" Target="/ppt/notesMasters/notesMaster1.xml" Id="Rbaeba0033e0747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2eb0cc984c4055" /><Relationship Type="http://schemas.openxmlformats.org/officeDocument/2006/relationships/notesMaster" Target="/ppt/notesMasters/notesMaster1.xml" Id="R2de95d2f05a746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cddc809ebd4f0b" /><Relationship Type="http://schemas.openxmlformats.org/officeDocument/2006/relationships/notesMaster" Target="/ppt/notesMasters/notesMaster1.xml" Id="R52fc794cb40d4c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63afd67904387" /><Relationship Type="http://schemas.openxmlformats.org/officeDocument/2006/relationships/notesMaster" Target="/ppt/notesMasters/notesMaster1.xml" Id="R5ba84eefe50f43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7f7283ea92451f" /><Relationship Type="http://schemas.openxmlformats.org/officeDocument/2006/relationships/notesMaster" Target="/ppt/notesMasters/notesMaster1.xml" Id="Re0751ea6fec047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38ba105d034ab2" /><Relationship Type="http://schemas.openxmlformats.org/officeDocument/2006/relationships/notesMaster" Target="/ppt/notesMasters/notesMaster1.xml" Id="R251e110ac0904d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7affd6b1e943d7" /><Relationship Type="http://schemas.openxmlformats.org/officeDocument/2006/relationships/notesMaster" Target="/ppt/notesMasters/notesMaster1.xml" Id="R7768615bff2942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51983a8fb245ec" /><Relationship Type="http://schemas.openxmlformats.org/officeDocument/2006/relationships/notesMaster" Target="/ppt/notesMasters/notesMaster1.xml" Id="Rd0e816a33e8e4c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412e0d636e4b25" /><Relationship Type="http://schemas.openxmlformats.org/officeDocument/2006/relationships/notesMaster" Target="/ppt/notesMasters/notesMaster1.xml" Id="Rd10e2804f1734d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38daceb848452a" /><Relationship Type="http://schemas.openxmlformats.org/officeDocument/2006/relationships/notesMaster" Target="/ppt/notesMasters/notesMaster1.xml" Id="R8c67fa4212154b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444efcf4e44bd0" /><Relationship Type="http://schemas.openxmlformats.org/officeDocument/2006/relationships/notesMaster" Target="/ppt/notesMasters/notesMaster1.xml" Id="Rc0b758e02d754b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13e0dfd0244561" /><Relationship Type="http://schemas.openxmlformats.org/officeDocument/2006/relationships/notesMaster" Target="/ppt/notesMasters/notesMaster1.xml" Id="Rbc062dd3262e4d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aedc0f98904fa9" /><Relationship Type="http://schemas.openxmlformats.org/officeDocument/2006/relationships/notesMaster" Target="/ppt/notesMasters/notesMaster1.xml" Id="R0e1ddc0dd64b4d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0fdcaa831c4003" /><Relationship Type="http://schemas.openxmlformats.org/officeDocument/2006/relationships/notesMaster" Target="/ppt/notesMasters/notesMaster1.xml" Id="R171edcd3d00841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57f864fa4240ad" /><Relationship Type="http://schemas.openxmlformats.org/officeDocument/2006/relationships/notesMaster" Target="/ppt/notesMasters/notesMaster1.xml" Id="Ra92a7f4b3c984f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9019a670214c4e" /><Relationship Type="http://schemas.openxmlformats.org/officeDocument/2006/relationships/notesMaster" Target="/ppt/notesMasters/notesMaster1.xml" Id="R10dbbb922e974e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f297fd84e54ea0" /><Relationship Type="http://schemas.openxmlformats.org/officeDocument/2006/relationships/notesMaster" Target="/ppt/notesMasters/notesMaster1.xml" Id="Rbec9408f677642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4ef67a8c434ae5" /><Relationship Type="http://schemas.openxmlformats.org/officeDocument/2006/relationships/notesMaster" Target="/ppt/notesMasters/notesMaster1.xml" Id="R9b63f54dbcdc49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78dc80dcec4102" /><Relationship Type="http://schemas.openxmlformats.org/officeDocument/2006/relationships/notesMaster" Target="/ppt/notesMasters/notesMaster1.xml" Id="Rd55d2b7d366f47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names and roll numbers retained from the previous Vakil Setu faculty presentation. Institutional logo supplied in the reference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C:/Users/DELL/Vakil-Setu/.codex-deck/final.mjs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and project motivation. These statements are design hypotheses rather than quantified survey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C:/Users/DELL/Vakil-Setu/PITCH_REPORT.md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Description of code-level capabilities, not a claim of live deployment or successful user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C:/Users/DELL/Vakil-Setu/frontend/src/components/VoiceRecorder.jsx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  <a:p xmlns:a="http://schemas.openxmlformats.org/drawingml/2006/main">
            <a:r>
              <a:t>C:/Users/DELL/Vakil-Setu/backend/src/controllers/paymentController.js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service descriptions support LawRato and eCourts roles. The final column is a project positioning hypothesis, not evidence that competitors lack voice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https://lawrato.com/cmses/page/how-does-lawrato-work</a:t>
            </a:r>
          </a:p>
          <a:p xmlns:a="http://schemas.openxmlformats.org/drawingml/2006/main">
            <a:r>
              <a:t>https://ecommitteesci.gov.in/service/ecourts-services-mobile-application/</a:t>
            </a:r>
          </a:p>
          <a:p xmlns:a="http://schemas.openxmlformats.org/drawingml/2006/main">
            <a:r>
              <a:t>C:/Users/DELL/Vakil-Setu/README.md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voice component uses browser Web Speech recognition. A Whisper endpoint mentioned in README is not registered in the current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C:/Users/DELL/Vakil-Setu/frontend/src/components/VoiceRecorder.jsx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C:/Users/DELL/Vakil-Setu/frontend/src/hooks/useLegalChat.js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permits confirming without payment. The current implementation does not establish an advocate acceptance workflow or collision-free appointment schedule.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C:/Users/DELL/Vakil-Setu/frontend/src/pages/BookingPage.jsx</a:t>
            </a:r>
          </a:p>
          <a:p xmlns:a="http://schemas.openxmlformats.org/drawingml/2006/main">
            <a:r>
              <a:t>C:/Users/DELL/Vakil-Setu/backend/src/controllers/bookingController.js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recreation of the reference architecture style. Connections indicate API communication, not provider-to-database access. Voice recognition currently happens through the browser.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C:/Users/DELL/Vakil-Setu/backend/src/services/paymentService.js</a:t>
            </a:r>
          </a:p>
          <a:p xmlns:a="http://schemas.openxmlformats.org/drawingml/2006/main">
            <a:r>
              <a:t>C:/Users/DELL/Vakil-Setu/frontend/src/components/VoiceRecorder.jsx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Sequence follows the client classification and advocate matching API calls. Recognition precedes API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C:/Users/DELL/Vakil-Setu/frontend/src/hooks/useLegalChat.js</a:t>
            </a:r>
          </a:p>
          <a:p xmlns:a="http://schemas.openxmlformats.org/drawingml/2006/main">
            <a:r>
              <a:t>C:/Users/DELL/Vakil-Setu/frontend/src/api/client.js</a:t>
            </a:r>
          </a:p>
          <a:p xmlns:a="http://schemas.openxmlformats.org/drawingml/2006/main">
            <a:r>
              <a:t>C:/Users/DELL/Vakil-Setu/backend/src/controllers/aiController.js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Supported browser and available speech voices affect behavior. Broader multilingual recognition is a target rather than verified end-to-end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C:/Users/DELL/Vakil-Setu/frontend/src/components/VoiceRecorder.jsx</a:t>
            </a:r>
          </a:p>
          <a:p xmlns:a="http://schemas.openxmlformats.org/drawingml/2006/main">
            <a:r>
              <a:t>C:/Users/DELL/Vakil-Setu/frontend/src/utils/webSpeech.js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Fallback output explicitly identifies limited AI service. Rule-based urgency and domains do not establish legal correctness. Gateway or Gemini depends on configured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C:/Users/DELL/Vakil-Setu/backend/src/services/aiService.js</a:t>
            </a:r>
          </a:p>
          <a:p xmlns:a="http://schemas.openxmlformats.org/drawingml/2006/main">
            <a:r>
              <a:t>C:/Users/DELL/Vakil-Setu/backend/src/utils/legalDomain.js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urgent lookup does not guarantee connection or response time, and does not filter by legal domain. Language data exists but normal API matching does not filter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  <a:p xmlns:a="http://schemas.openxmlformats.org/drawingml/2006/main">
            <a:r>
              <a:t>C:/Users/DELL/Vakil-Setu/backend/src/controllers/emergencyController.js</a:t>
            </a:r>
          </a:p>
          <a:p xmlns:a="http://schemas.openxmlformats.org/drawingml/2006/main">
            <a:r>
              <a:t>C:/Users/DELL/Vakil-Setu/backend/src/models/Advocate.js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documents current code responsibilities. Before production: bind the callback to the stored order, enforce a server-controlled amount, restrict demo bypass, and add reconciliation. No successful payment transaction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C:/Users/DELL/Vakil-Setu/backend/src/controllers/bookingController.js</a:t>
            </a:r>
          </a:p>
          <a:p xmlns:a="http://schemas.openxmlformats.org/drawingml/2006/main">
            <a:r>
              <a:t>C:/Users/DELL/Vakil-Setu/backend/src/controllers/paymentController.js</a:t>
            </a:r>
          </a:p>
          <a:p xmlns:a="http://schemas.openxmlformats.org/drawingml/2006/main">
            <a:r>
              <a:t>C:/Users/DELL/Vakil-Setu/backend/src/services/paymentService.js</a:t>
            </a:r>
          </a:p>
          <a:p xmlns:a="http://schemas.openxmlformats.org/drawingml/2006/main">
            <a:r>
              <a:t>C:/Users/DELL/Vakil-Setu/frontend/src/pages/BookingPage.jsx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interface data-flow diagram in the style of the reference web-console slide, not a fabricated application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C:/Users/DELL/Vakil-Setu/frontend/src/state/AppContext.jsx</a:t>
            </a:r>
          </a:p>
          <a:p xmlns:a="http://schemas.openxmlformats.org/drawingml/2006/main">
            <a:r>
              <a:t>C:/Users/DELL/Vakil-Setu/frontend/src/components/dashboard/AnalysisDashboard.jsx</a:t>
            </a:r>
          </a:p>
          <a:p xmlns:a="http://schemas.openxmlformats.org/drawingml/2006/main">
            <a:r>
              <a:t>C:/Users/DELL/Vakil-Setu/frontend/src/components/dashboard/AdvocateMatchPanel.jsx</a:t>
            </a:r>
          </a:p>
          <a:p xmlns:a="http://schemas.openxmlformats.org/drawingml/2006/main">
            <a:r>
              <a:t>C:/Users/DELL/Vakil-Setu/frontend/src/pages/BookingPage.jsx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follows repository inspection and target language coverage in prior deck. The server currently registers no authentication middleware. No measured deployment, accuracy or impact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C:/Users/DELL/Vakil-Setu/.codex-deck/final.mjs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C:/Users/DELL/Vakil-Setu/backend/src/controllers/advocateController.js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Versions use the project dependency declarations, not a claim that these are the latest releases. Whisper is omitted because the current server has no registered voice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C:/Users/DELL/Vakil-Setu/frontend/package.json</a:t>
            </a:r>
          </a:p>
          <a:p xmlns:a="http://schemas.openxmlformats.org/drawingml/2006/main">
            <a:r>
              <a:t>C:/Users/DELL/Vakil-Setu/backend/package.json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C:/Users/DELL/Vakil-Setu/backend/scripts/scrapeAdvocates.js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semester-fit guarantee or measured social impact is claimed. This justification adapts the reference VETS structure to the actual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C:/Users/DELL/Vakil-Setu/README.md</a:t>
            </a:r>
          </a:p>
          <a:p xmlns:a="http://schemas.openxmlformats.org/drawingml/2006/main">
            <a:r>
              <a:t>C:/Users/DELL/Vakil-Setu/SRS.md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plan, not benchmark outcomes. Do not supply invented accuracy, latency or adoption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  <a:p xmlns:a="http://schemas.openxmlformats.org/drawingml/2006/main">
            <a:r>
              <a:t>C:/Users/DELL/Vakil-Setu/PITCH_REPORT.md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16-week plan adapted from the reference, not a confirmed calendar or completed milestone record. Existing code allows effort to focus on stabilization and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C:/Users/DELL/Vakil-Setu/SRS.md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summary. General guidance does not replace consultation. Targets are kept separate from implemented code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C:/Users/DELL/Vakil-Setu/README.md</a:t>
            </a:r>
          </a:p>
          <a:p xmlns:a="http://schemas.openxmlformats.org/drawingml/2006/main">
            <a:r>
              <a:t>C:/Users/DELL/Vakil-Setu/backend/src/server.js</a:t>
            </a:r>
          </a:p>
          <a:p xmlns:a="http://schemas.openxmlformats.org/drawingml/2006/main">
            <a:r>
              <a:t>C:/Users/DELL/Vakil-Setu/.codex-deck/final.mjs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4dd794dab45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f9e85abd345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ae632a7454d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75c6b4e8641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0db5003054b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f6b67beac48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1DF932-E881-43DB-80A6-31782BAB3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7F8266-631B-4E1A-988B-3E8E33E924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7E682D-80E9-47A8-8E68-42723D5E7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202709-DE48-4337-A32D-7E73401FD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FD8687-F51E-4CE9-A6FD-4AE1A75C5C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32646F-CAC1-4DAD-B92A-02AEB28FC7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6E0705-3DBF-4BDF-B472-21ECEA7A0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A14876-53EB-4AD7-8B45-A2BC2A828E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589717-455D-435B-9033-50DE2326F2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F70676-CBFF-4DC6-BE49-3C36688435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e3577decd84fde" /><Relationship Type="http://schemas.openxmlformats.org/officeDocument/2006/relationships/slideLayout" Target="/ppt/slideLayouts/slideLayout1.xml" Id="R862f86db1e9b4e7d" /><Relationship Type="http://schemas.openxmlformats.org/officeDocument/2006/relationships/slideLayout" Target="/ppt/slideLayouts/slideLayout2.xml" Id="R4bd1207e77234e8a" /><Relationship Type="http://schemas.openxmlformats.org/officeDocument/2006/relationships/slideLayout" Target="/ppt/slideLayouts/slideLayout3.xml" Id="R6b328a39273b401d" /><Relationship Type="http://schemas.openxmlformats.org/officeDocument/2006/relationships/slideLayout" Target="/ppt/slideLayouts/slideLayout4.xml" Id="Rdda49435c2f64161" /><Relationship Type="http://schemas.openxmlformats.org/officeDocument/2006/relationships/slideLayout" Target="/ppt/slideLayouts/slideLayout5.xml" Id="R0788e6d814f048d4" /><Relationship Type="http://schemas.openxmlformats.org/officeDocument/2006/relationships/slideLayout" Target="/ppt/slideLayouts/slideLayout6.xml" Id="R2d80f479343649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2f86db1e9b4e7d"/>
    <p:sldLayoutId xmlns:r="http://schemas.openxmlformats.org/officeDocument/2006/relationships" id="2147483650" r:id="R4bd1207e77234e8a"/>
    <p:sldLayoutId xmlns:r="http://schemas.openxmlformats.org/officeDocument/2006/relationships" id="2147483651" r:id="R6b328a39273b401d"/>
    <p:sldLayoutId xmlns:r="http://schemas.openxmlformats.org/officeDocument/2006/relationships" id="2147483652" r:id="Rdda49435c2f64161"/>
    <p:sldLayoutId xmlns:r="http://schemas.openxmlformats.org/officeDocument/2006/relationships" id="2147483653" r:id="R0788e6d814f048d4"/>
    <p:sldLayoutId xmlns:r="http://schemas.openxmlformats.org/officeDocument/2006/relationships" id="2147483654" r:id="R2d80f479343649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92513d7d64ea7" /><Relationship Type="http://schemas.openxmlformats.org/officeDocument/2006/relationships/image" Target="/ppt/media/image.png" Id="Raa3f08d8f859460f" /><Relationship Type="http://schemas.openxmlformats.org/officeDocument/2006/relationships/notesSlide" Target="/ppt/notesSlides/notesSlide1.xml" Id="Rbfced86281cd4d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f2cd577394683" /><Relationship Type="http://schemas.openxmlformats.org/officeDocument/2006/relationships/notesSlide" Target="/ppt/notesSlides/notesSlide2.xml" Id="R0da56d5488f146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b596a669c4424" /><Relationship Type="http://schemas.openxmlformats.org/officeDocument/2006/relationships/notesSlide" Target="/ppt/notesSlides/notesSlide3.xml" Id="R866b9834a25b46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d2c030b264996" /><Relationship Type="http://schemas.openxmlformats.org/officeDocument/2006/relationships/notesSlide" Target="/ppt/notesSlides/notesSlide4.xml" Id="R24db64848f1a4d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93882334c4e03" /><Relationship Type="http://schemas.openxmlformats.org/officeDocument/2006/relationships/notesSlide" Target="/ppt/notesSlides/notesSlide5.xml" Id="Ra7a3f504c1824e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8f689afa54259" /><Relationship Type="http://schemas.openxmlformats.org/officeDocument/2006/relationships/notesSlide" Target="/ppt/notesSlides/notesSlide6.xml" Id="R008ca3cb655a4d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9fbc99a7e4192" /><Relationship Type="http://schemas.openxmlformats.org/officeDocument/2006/relationships/notesSlide" Target="/ppt/notesSlides/notesSlide7.xml" Id="Red828eadbce14e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f37b222264965" /><Relationship Type="http://schemas.openxmlformats.org/officeDocument/2006/relationships/notesSlide" Target="/ppt/notesSlides/notesSlide8.xml" Id="Ra4d20a8ef87f44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4e25ba31441ee" /><Relationship Type="http://schemas.openxmlformats.org/officeDocument/2006/relationships/notesSlide" Target="/ppt/notesSlides/notesSlide9.xml" Id="Rc9305208a80248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c7b36e2554916" /><Relationship Type="http://schemas.openxmlformats.org/officeDocument/2006/relationships/notesSlide" Target="/ppt/notesSlides/notesSlide10.xml" Id="Ra09ed72f8d0c41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9c3b2c2d345a7" /><Relationship Type="http://schemas.openxmlformats.org/officeDocument/2006/relationships/notesSlide" Target="/ppt/notesSlides/notesSlide11.xml" Id="Reff39e93855842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ce8bc1a0c4c27" /><Relationship Type="http://schemas.openxmlformats.org/officeDocument/2006/relationships/notesSlide" Target="/ppt/notesSlides/notesSlide12.xml" Id="Rbd5bb6dddae747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1db65a55546ff" /><Relationship Type="http://schemas.openxmlformats.org/officeDocument/2006/relationships/notesSlide" Target="/ppt/notesSlides/notesSlide13.xml" Id="R9debb7bcd64d4b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e34c133e04415" /><Relationship Type="http://schemas.openxmlformats.org/officeDocument/2006/relationships/notesSlide" Target="/ppt/notesSlides/notesSlide14.xml" Id="Re602ae3f0e9540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345dd4863141c3" /><Relationship Type="http://schemas.openxmlformats.org/officeDocument/2006/relationships/notesSlide" Target="/ppt/notesSlides/notesSlide15.xml" Id="Rbff3db2058a345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b2ec24d864dd4" /><Relationship Type="http://schemas.openxmlformats.org/officeDocument/2006/relationships/notesSlide" Target="/ppt/notesSlides/notesSlide16.xml" Id="R4573776599ff48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f74a9b6f64ce2" /><Relationship Type="http://schemas.openxmlformats.org/officeDocument/2006/relationships/notesSlide" Target="/ppt/notesSlides/notesSlide17.xml" Id="R6d2632a22ae84c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662fcbc7845ab" /><Relationship Type="http://schemas.openxmlformats.org/officeDocument/2006/relationships/notesSlide" Target="/ppt/notesSlides/notesSlide18.xml" Id="Raa69620f83374c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2b656d9234846" /><Relationship Type="http://schemas.openxmlformats.org/officeDocument/2006/relationships/notesSlide" Target="/ppt/notesSlides/notesSlide19.xml" Id="R999a40a3915c4a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CCB28-9014-4BEB-BAA6-34B414FB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VAKIL 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BE677-6B66-4947-9650-6E46FC03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Multilingual voice-based legal assistance</a:t>
            </a:r>
          </a:p>
          <a:p xmlns:a="http://schemas.openxmlformats.org/drawingml/2006/main">
            <a:pPr algn="ctr">
              <a:defRPr sz="2325" b="1">
                <a:solidFill>
                  <a:srgbClr val="0751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51AA"/>
                </a:solidFill>
                <a:latin typeface="Arial"/>
                <a:ea typeface="Arial"/>
                <a:cs typeface="Arial"/>
              </a:rPr>
              <a:t>and advocate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98FE6-78FD-4241-B639-6815500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742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Presented by: Raghav Nargotra (2023A1R033)</a:t>
            </a:r>
          </a:p>
          <a:p xmlns:a="http://schemas.openxmlformats.org/drawingml/2006/main">
            <a:pPr algn="ctr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Sidarth Gupta (2023A1R038)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E2145-A7AD-41DE-9737-502B5B6882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f08d8f859460f"/>
          <a:stretch xmlns:a="http://schemas.openxmlformats.org/drawingml/2006/main"/>
        </p:blipFill>
        <p:spPr>
          <a:xfrm xmlns:a="http://schemas.openxmlformats.org/drawingml/2006/main">
            <a:off x="3752850" y="3725676"/>
            <a:ext cx="1638300" cy="57822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57EE1-9D00-4FD7-836B-6F454BE0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5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Model Institute of Engineering and Technology (Autonomous), Jammu · 2026</a:t>
            </a:r>
          </a:p>
        </p:txBody>
      </p:sp>
    </p:spTree>
    <p:extLst>
      <p:ext uri="{BB962C8B-B14F-4D97-AF65-F5344CB8AC3E}">
        <p14:creationId xmlns:p14="http://schemas.microsoft.com/office/powerpoint/2010/main" val="1157315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1474B-0531-48F3-884A-33DC2406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The problem in accessing legal help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69058-EDB0-46A5-B8FD-2122B8CC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180A1-D366-492A-801F-50242918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94E55-608F-4CF9-9859-EE21A356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28700"/>
            <a:ext cx="845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 person can describe a dispute without knowing its legal category or the right advocate.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290C3-85AC-40BD-95FA-CDDF132D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43075"/>
            <a:ext cx="8458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and literacy: formal terminology and long text forms can make the first step difficult.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Unclear next steps: users may not know which facts or documents to prepare.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 discovery: practice area, availability and language affect consultation choices.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Fragmented journey: explaining the issue, finding an advocate and booking often require separate steps.</a:t>
            </a:r>
          </a:p>
        </p:txBody>
      </p:sp>
    </p:spTree>
    <p:extLst>
      <p:ext uri="{BB962C8B-B14F-4D97-AF65-F5344CB8AC3E}">
        <p14:creationId xmlns:p14="http://schemas.microsoft.com/office/powerpoint/2010/main" val="2072278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F45BB-3E8C-49AD-92DF-868D9ADB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What is Vakil 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B0D54-6066-4A6B-BF32-511D8AF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27D1D-D3CB-4B5F-BA6E-2D494E3B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2B533-6EA1-4918-9F7E-88C767E8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28700"/>
            <a:ext cx="845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Vakil Setu connects a spoken or typed problem with preliminary guidance and advocate discovery.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FE788-4AFB-4625-A1EC-2CD10A8D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52600"/>
            <a:ext cx="8458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Voice input: the browser converts speech into text that the user can review.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Legal triage: the service returns a category, urgency, short summary and suggested actions.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 access: the API filters by expertise and availability, then ranks profiles by rating.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Consultation booking: the system stores a request and supports Razorpay checkout.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A4DE0-FE73-42EF-98BA-B31745F2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The assistant provides general information. An advocate handles case-specific legal advice.</a:t>
            </a:r>
          </a:p>
        </p:txBody>
      </p:sp>
    </p:spTree>
    <p:extLst>
      <p:ext uri="{BB962C8B-B14F-4D97-AF65-F5344CB8AC3E}">
        <p14:creationId xmlns:p14="http://schemas.microsoft.com/office/powerpoint/2010/main" val="434946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53028-3EA7-4ADE-BC0D-3F11923B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Existing services and the project focus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CFF9B-0365-422B-9564-E635D973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0A921-9D39-4A0D-A585-EB5E7A93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D117B-249C-4552-B1C7-101FF949030F}"/>
              </a:ext>
            </a:extLst>
          </p:cNvPr>
          <p:cNvGraphicFramePr/>
          <p:nvPr/>
        </p:nvGraphicFramePr>
        <p:xfrm>
          <a:off xmlns:a="http://schemas.openxmlformats.org/drawingml/2006/main" x="342900" y="1028700"/>
          <a:ext xmlns:a="http://schemas.openxmlformats.org/drawingml/2006/main" cx="84582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7850"/>
                <a:gridCol w="2686050"/>
                <a:gridCol w="3924300"/>
              </a:tblGrid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Existing role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Vakil Setu project focus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LawRato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Lawyer discovery, consultation and legal Q&amp;A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Connect spoken intake with structured triage and matching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eCourts Services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Case status, cause lists and court orders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Support the first step before a consultation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Generic AI assistant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Conversational explanations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Use defined categories and return local advocate matches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Direct consultation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Professional case-specific advice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Help users prepare a concise issue summary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AEB8A-41E8-43EC-BEF8-5450E656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57675"/>
            <a:ext cx="845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The differentiation to test is the combined voice-to-consultation journey. Lawyer discovery already exists.</a:t>
            </a:r>
          </a:p>
        </p:txBody>
      </p:sp>
    </p:spTree>
    <p:extLst>
      <p:ext uri="{BB962C8B-B14F-4D97-AF65-F5344CB8AC3E}">
        <p14:creationId xmlns:p14="http://schemas.microsoft.com/office/powerpoint/2010/main" val="19417666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CD056-EB1C-438F-BCA7-275B71B4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4CDC2-7634-4973-9C6C-AA8BD1F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8FC75-5A4A-495D-8360-F6BA8855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71E9A-B728-4F19-A95F-69105DBC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845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One browser interface connects input, analysis, advocate matching and booking.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3073D-107A-4ACA-9183-615DC0DE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43050"/>
            <a:ext cx="84582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Capture: choose Hindi or English, then speak or type the problem.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Review: correct the transcript before submitting it for analysis.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Analyze: the Express API sends the text and recent conversation to the AI service.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Match: filter available advocates in the returned practice area.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Book: select a profile and time, then create a consultation request.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CCF3E-88BB-4EBE-9CCF-FB94F62E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Target users: people seeking initial legal orientation and advocates receiving consultation requests.</a:t>
            </a:r>
          </a:p>
        </p:txBody>
      </p:sp>
    </p:spTree>
    <p:extLst>
      <p:ext uri="{BB962C8B-B14F-4D97-AF65-F5344CB8AC3E}">
        <p14:creationId xmlns:p14="http://schemas.microsoft.com/office/powerpoint/2010/main" val="1391342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3DE7D-5CAE-4598-A0DC-FA953C7A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 first consultation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D8502-DD20-445D-BAE1-2866EAB3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E1F9C-B8ED-4938-9FB6-9B540E3F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69C56-8289-4CF3-AC08-5565C3E8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Select Hindi or English and allow microphone access, or use typed input.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A9CD0-1DE9-49FD-84E7-3FEE9E3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Explain the issue and review the recognized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CF4AD-35D0-4180-963C-33F157A9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40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Submit the transcript to receive a category, summary and suggested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C7BD7-039A-4385-BAF1-B899C899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4. Ask a follow-up question while keeping the current conversation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95865-E3C9-44C4-AC80-E711F0F7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5. Select an available advocate and enter consultation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9A56D-EE84-4CB6-A965-FDFBBE30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8077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6. Create the booking, complete checkout or use the current unpaid confirmation option.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E11F4-D48F-4334-BC62-E082CE8B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Confirmation records application status. Operational acceptance by an advocate still needs validation.</a:t>
            </a:r>
          </a:p>
        </p:txBody>
      </p:sp>
    </p:spTree>
    <p:extLst>
      <p:ext uri="{BB962C8B-B14F-4D97-AF65-F5344CB8AC3E}">
        <p14:creationId xmlns:p14="http://schemas.microsoft.com/office/powerpoint/2010/main" val="733862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B219D-10AE-491E-8AA6-FCD6C395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48050"/>
            <a:ext cx="44196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9DEC5-C5D0-4BE3-B654-D18F4FD4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43125"/>
            <a:ext cx="44196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EB2E0-0C01-421B-B2E3-6900A402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085850"/>
            <a:ext cx="4419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9DAA0-135E-46EC-9D66-4B670D4C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System architecture and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64F7C-4D57-4FAB-9923-5E5546C2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7DB6B-0F3D-466B-AC2B-2827372B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A5B3F-0F15-4036-8DFD-9D1CC215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Browser client: React + Vite handles voice input, chat and booking.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Express API: routes analysis, matching and payment requests.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AI adapter: supports a college gateway or Gemini configuration.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MongoDB: stores profiles, users and bookings.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Razorpay: creates orders and returns checkout details.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870E4-9505-4BF4-8CA2-7F1E5B4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CA5BE-C52D-4520-9FE2-B96A6266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43025"/>
            <a:ext cx="17907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React + Vite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Web Speech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830FA-15F1-4E4E-9258-7C978656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86025"/>
            <a:ext cx="17907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Node.js + Express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API controllers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3F390-A069-49CD-8C0D-7EBDA34A9CA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467475" y="1733550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B0656-8F53-4F74-8136-5BFE0C2E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Profiles / bookings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F6A29-5FA2-413E-A5A0-302EF175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100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gateway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or Gemini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D92A4-6760-48DA-B3F7-B308E36F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8100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Razorpay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Orders / checkout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56659-8DB6-43E8-8EB0-D64D98F8E43A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5010150" y="2933700"/>
            <a:ext cx="14573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7EA05-BBD8-4D76-B5E6-C61C333BEA33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457950" y="2933700"/>
            <a:ext cx="95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65484-44AB-451B-86CB-C5467D7502CC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467475" y="2933700"/>
            <a:ext cx="143827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E97F9-4093-41AF-A502-6A173FB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890" y="1133475"/>
            <a:ext cx="96012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Client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18DF5-044E-4D70-95F1-9DEC4FB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678" y="2190750"/>
            <a:ext cx="131254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Application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E86F4-4D46-4D4C-8445-2CECFA0D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495" y="3495675"/>
            <a:ext cx="194691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Data and external services</a:t>
            </a:r>
          </a:p>
        </p:txBody>
      </p:sp>
    </p:spTree>
    <p:extLst>
      <p:ext uri="{BB962C8B-B14F-4D97-AF65-F5344CB8AC3E}">
        <p14:creationId xmlns:p14="http://schemas.microsoft.com/office/powerpoint/2010/main" val="12028565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AF40AA-D83E-4E62-8B46-9953B567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Legal analysis request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D9F58-62F7-43D1-8940-BD15390C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086ED-2294-461B-A0FC-3EE64DAB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7BE12-F035-4E66-8057-73B95AF4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user reviews the recognized text.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client submits text and chat history.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API calls the configured model provider.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service parses the returned classification.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Matching queries profiles by domain.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interface displays the results.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6BFA5-1352-4734-8B38-C38270C6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A392A-DA1C-474C-8045-19C30813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1144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EBC15-5650-47B4-8FC0-5A3B8BCD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457325"/>
            <a:ext cx="571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9BE37-FC8E-4EAB-B238-94D5DFEF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10050"/>
            <a:ext cx="1028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F7940-8B5E-49F6-958A-FABC18FC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1144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62296-4BB3-4848-BA46-05B40BF5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57325"/>
            <a:ext cx="571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B5C06-5C9C-4E68-ADF2-274BE5F3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10050"/>
            <a:ext cx="1028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53746-0EBC-4014-B264-DDEA9913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1144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B3509-560D-4106-BE5E-50FDB86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57325"/>
            <a:ext cx="571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831D5-9BDF-45CF-9FE2-87852ED9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10050"/>
            <a:ext cx="1028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AI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CD0EA-45B6-4A70-9393-F040010B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114425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B8DA4-B48A-4D75-A22C-8683FC1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57325"/>
            <a:ext cx="571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D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61759-7708-4875-9D00-184A8C77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10050"/>
            <a:ext cx="1028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E8E11-9AD9-4197-B460-36B2E13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65735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66A8D-2F0C-4D78-A250-B812A8EE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A2233-C49D-4ED5-BC80-6E824B0C09E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794885" y="1659255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D9D20-5832-40AE-86F4-75F954A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95425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  Text +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73EFA-37EB-4444-B1F5-1EBB88D7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716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23B71-B07D-4B6C-9CC5-CB532132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716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C5C38-EA7E-4ADE-A23F-A8F99961AED1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890260" y="1973580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2EAC92-9B65-48C2-B53F-51B0A871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  Classify issue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61AFE2-D174-4E75-AFFC-EC9A92BD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8600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5EC2B-90E8-451A-82DA-09D8DF97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8600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DEEBB-BAC0-4D5A-B8B5-7521A1827E95}"/>
              </a:ext>
            </a:extLst>
          </p:cNvPr>
          <p:cNvCxnSpPr>
            <a:stCxn xmlns:a="http://schemas.openxmlformats.org/drawingml/2006/main" id="26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5890260" y="2287905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CF684-2F1F-475D-B012-18BAE13B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24075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  JSON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B12A3-6EA0-4D0E-8A62-E2EA0F1D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0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B5E5BF-78FD-400E-8B1D-8F76B6DF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003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265E70-06C2-495B-86C8-0655062972B2}"/>
              </a:ext>
            </a:extLst>
          </p:cNvPr>
          <p:cNvCxnSpPr>
            <a:stCxn xmlns:a="http://schemas.openxmlformats.org/drawingml/2006/main" id="30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4794885" y="2602230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C79312-1B83-48DF-9075-347E2F5B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38400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4  Guidance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7D6291-7DA8-4167-B5A2-B79B6C13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1465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91AA42-6611-4B8A-B123-B5081E93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369BBC-E590-4796-A35C-36B1E1FFE653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794885" y="2916555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C071C0-EA67-47CE-93E7-FBB085F5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52725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5  Match domain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9D2775-3421-43D6-AB2E-CB835BF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289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588C78-F327-4F96-9759-075BF104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2897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6E6456-8F02-431E-9880-ABC185EE1537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5890260" y="3230880"/>
            <a:ext cx="21869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06B5E3-D18F-4C6B-A242-3BA94097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2152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6  Query profiles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F82623-21E8-488C-96EE-65F5241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CAD994-81B7-4676-B85C-57CDBBF5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CF0BC5-F17B-4678-A1C7-933CCDC28D1E}"/>
              </a:ext>
            </a:extLst>
          </p:cNvPr>
          <p:cNvCxnSpPr>
            <a:stCxn xmlns:a="http://schemas.openxmlformats.org/drawingml/2006/main" id="42" idx="1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5890260" y="3545205"/>
            <a:ext cx="218694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A7FB9B-22B6-49CC-9204-2A69C834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81375"/>
            <a:ext cx="2152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7  Ranked matches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FB4238-AB59-4C4E-9296-72A2210C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576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7B3D17-139C-4345-9561-4E2E3A2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576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71CD1D-1208-4346-B4D2-234D60A3945D}"/>
              </a:ext>
            </a:extLst>
          </p:cNvPr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4794885" y="3859530"/>
            <a:ext cx="10915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EEC857-0A3F-41CC-AD9E-80DDF5CD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95700"/>
            <a:ext cx="1057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8  Display results</a:t>
            </a:r>
          </a:p>
        </p:txBody>
      </p:sp>
    </p:spTree>
    <p:extLst>
      <p:ext uri="{BB962C8B-B14F-4D97-AF65-F5344CB8AC3E}">
        <p14:creationId xmlns:p14="http://schemas.microsoft.com/office/powerpoint/2010/main" val="372236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2191A-A32D-4314-B848-6F4DACD1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6C682-2C1C-4962-9148-744C50FF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012E5-CC37-4768-AB25-0B6F1620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049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89D74B-CE39-4AA7-9131-55847B19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Voice input and response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D4805-D4AA-4DB7-8FAF-9E8BDB20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502D0-6EB2-43F5-A3B6-8BB4EDA5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24383-1BA4-4A9F-B441-340A4EF8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Recognition: browser Web Speech converts microphone input into text.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Transcript review: users can edit or type facts before analysis.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selection: current explicit modes cover Hindi and English.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Playback: browser speech synthesis reads the response when a suitable voice is available.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65B7C-5B87-4924-93B1-B7438E6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BA2EA-FF19-46D6-955F-36224386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097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Microphone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permission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D8E94-9A1B-4F6F-92E8-620FD6C6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097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Speech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recognition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B6478-42A2-4367-B192-D2F4E30A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Transcript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7BD7E-E739-4550-BD87-D21B97423A5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38800" y="1619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D78D7-F6E6-47BA-8B86-306ED46F10D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53275" y="1619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170BC-8C91-4ED9-8737-717C9CC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765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Edit or type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85862-E640-44E1-8B81-830474E8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Submit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confirmed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85AA3-7649-4B9C-AF5D-C80B311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765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API analysis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F6D9D-0803-4998-8A1C-2A105DEF996A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153275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84EDF-F53C-4B92-A9C9-D61E009C326A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63880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EAD40-A3E1-402C-BF04-5A3ADD3DF7FB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972425" y="18288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D0148-1124-40D0-91F2-88214571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433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Summary and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1BB0B-F2D7-4CB7-A707-36415BF1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Browser speech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03D03-B31D-410D-B9C9-E0A9087B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433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Read or listen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F792B-B23C-4874-97A1-714CD9D3E091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638800" y="3752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904EA-3D28-4AA6-84FE-CDBA6B817BF2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153275" y="3752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C0BC70-FD7B-4813-8B4C-7BDE6FC55D0C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4995863" y="28956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6C35C-FBB9-49E9-AD08-CE0BC2A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1152525"/>
            <a:ext cx="124206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Input capture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34758-4A03-42D6-8643-0908052D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05" y="2219325"/>
            <a:ext cx="110109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User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ACB7A-FC61-40D8-8DCE-8B69168F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86125"/>
            <a:ext cx="1524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Response delivery</a:t>
            </a:r>
          </a:p>
        </p:txBody>
      </p:sp>
    </p:spTree>
    <p:extLst>
      <p:ext uri="{BB962C8B-B14F-4D97-AF65-F5344CB8AC3E}">
        <p14:creationId xmlns:p14="http://schemas.microsoft.com/office/powerpoint/2010/main" val="12731743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3B61D-B7F9-45AE-A803-E58A0FC1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44100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4D6EA-8D31-4276-A538-D0BB8AAF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76475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5AB2E-FA64-4094-9150-5DCE31F7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104900"/>
            <a:ext cx="44100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2633B4-454E-4C01-85DD-1B9B93C3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AI triage and fallback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08A19-1025-4FE4-A0EB-629B7C85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A95BE-F4B7-4F5D-B5D7-68E3C5E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BD4B1-45C8-47C0-BC99-08125C92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Context: the prompt includes recent conversation and the latest user message.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Output: four legal domains, an urgency label, a summary and actions.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Language: response rules currently distinguish Hindi and English.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Fallback: local keyword rules provide a basic result when the model service fails.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6A05C-E371-4F39-84B9-A67B3EBF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88370-AA12-4E48-9F5C-80987E96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4780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 text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+ chat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F77F5-E17E-49F1-BE9C-76B5748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44780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Language rules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+ JSON schema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AB184-252F-4C5C-BE17-052AB86E512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62675" y="16573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D7B4E-6919-4B33-AB6A-DAEFF76B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98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Gateway / Gemini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model response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D9E56-A854-41B6-8762-F29312E36E48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6477000" y="1866900"/>
            <a:ext cx="115252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31AEC-4FD2-4D22-ACB7-2FF01BF0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Parse and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58293-65D8-4549-BD1C-7326679C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100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Rule-based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5FFBF-9D2B-4CD8-B905-3A646DCC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00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Guidance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83CB1-2FF4-4CC9-A9BC-7F6A477D5E5C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5062538" y="3019425"/>
            <a:ext cx="1414463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EB0A8-D93B-4A84-8C49-C651721FA004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477000" y="3019425"/>
            <a:ext cx="14288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F4A0F-B2DB-4CB8-99F5-D9898EEC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529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63EB9-98CD-4A3D-B1D9-B7691420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52925"/>
            <a:ext cx="3810" cy="3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419E6-00C6-4D34-A72D-DB65C3509DDA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5050155" y="4248150"/>
            <a:ext cx="12382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4C96C-E6C5-4D29-A598-809932AF4E7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052060" y="4354830"/>
            <a:ext cx="284416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343FA-1D29-4389-83FF-A1124454B7FB}"/>
              </a:ext>
            </a:extLst>
          </p:cNvPr>
          <p:cNvCxnSpPr>
            <a:stCxn xmlns:a="http://schemas.openxmlformats.org/drawingml/2006/main" id="23" idx="0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H="1" flipV="1">
            <a:off x="7896225" y="4248150"/>
            <a:ext cx="190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132CD-B41F-4D78-A191-9E36FEE24EF8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34225" y="40290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F0D0A-6D13-4823-964F-F4A98DC8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228" y="1152525"/>
            <a:ext cx="166497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Request preparation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9FFFC-8EC9-43BD-B179-9141EDF0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324100"/>
            <a:ext cx="131254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84F8E-E3BA-4A1C-A5ED-C13A0977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198" y="3476625"/>
            <a:ext cx="138303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Result handling</a:t>
            </a:r>
          </a:p>
        </p:txBody>
      </p:sp>
    </p:spTree>
    <p:extLst>
      <p:ext uri="{BB962C8B-B14F-4D97-AF65-F5344CB8AC3E}">
        <p14:creationId xmlns:p14="http://schemas.microsoft.com/office/powerpoint/2010/main" val="7477816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A936A-44BD-4D9E-B25E-6763CBE4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95375"/>
            <a:ext cx="21431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FEAA6-811D-41B2-83CB-E05D66DE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95375"/>
            <a:ext cx="21336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6ED9C-3978-4169-94A6-A1CEBC7B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Advocate matching and urgent lookup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9A6BE-1C6A-478D-A9EF-521746A2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888A8-E808-44E4-8B29-97D09CDC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8BDFB-0B4C-442B-808F-815C48BD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Normal match: normalize the domain and require availability.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Ranking: sort by rating and return up to five profiles.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Profiles: show expertise, experience and languages.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Urgent lookup: pick one available advocate by rating, across domains.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Next step: validate language fit and response availability.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26195-4447-4989-BB2F-4854D9E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5EB5E-65A2-4E26-BB83-0ADE1FC3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85900"/>
            <a:ext cx="1790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Classified domain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7776B-C091-4506-ACFA-80A90552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47900"/>
            <a:ext cx="1790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Expertise +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availability 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9C483-3D6D-4E79-8856-249338D5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670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Sort by rating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Return up to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668DB-1A46-42B1-9380-5B5BC7CB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 selects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advocate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A4D5C-F4A7-43A4-9B64-D55386800C9D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324475" y="19145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5540A-646D-4646-BC64-27914E8C166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324475" y="27146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668EC-065B-4386-A595-E73FF0580DFE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324475" y="35242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DCC26-7963-46E9-AA3D-11450DBF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485900"/>
            <a:ext cx="17907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Urgent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B40B8-E65F-4DFC-9AC6-58B70BDB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47900"/>
            <a:ext cx="1790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Available profiles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Any practice area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ED20D-A2F5-4DED-B486-DC01AD9D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67050"/>
            <a:ext cx="179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Highest rating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Return 1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0F915-A0E5-4D46-B945-6B6A7BD3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57625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 reviews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contact option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C9701-F269-4DB3-AA96-E1DC685EE4DF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591425" y="19145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B2BD0-0290-449D-BA6D-3707E1332FBA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591425" y="271462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9AAA3-1EBC-4ED7-95A4-496BEEF9E915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591425" y="35242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F317E-4438-4917-8A7F-EC05FBC6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203" y="1143000"/>
            <a:ext cx="131254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Standard matching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3FC47-45CE-4A53-8D4C-F692A84A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1143000"/>
            <a:ext cx="103060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Urgent lookup</a:t>
            </a:r>
          </a:p>
        </p:txBody>
      </p:sp>
    </p:spTree>
    <p:extLst>
      <p:ext uri="{BB962C8B-B14F-4D97-AF65-F5344CB8AC3E}">
        <p14:creationId xmlns:p14="http://schemas.microsoft.com/office/powerpoint/2010/main" val="17116323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81559-68E0-464A-A2CD-0C5164A1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58A5E-95F3-4C60-8E41-7859FDA5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B6100-910C-4EB2-86D7-F94DB68A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04900"/>
            <a:ext cx="4457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ADC26-3368-4E9F-8DCF-054B74CE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Booking and payment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347EB-ED36-453D-A6CF-4A71556A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A66FD-AEF0-429E-9212-142917A9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AFAD3-7EF7-4ACE-A736-832D89A4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Booking: the API records a user, advocate and requested date.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Order: create and save a Razorpay order.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Checkout: the browser opens the payment interface.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Verification: check the signature and update the record.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Unpaid option: demo confirmation keeps payment pending.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D7225-9138-447F-AB2E-46C46344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A1BFA-13CC-4F03-9617-E7F03D8A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097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Select advocate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and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7ACFD-E3D2-4C50-A51A-5062BAE9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097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Create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0ADC0-5A43-4333-87D2-F9151857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0E5C5-143C-403C-BBA3-1819F8D4597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38800" y="1619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E267B-CD1B-4032-9A60-5AD04DD6F8C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53275" y="1619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60E80-7071-4330-827A-FD2D4A27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765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Create order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on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50515-C078-4448-B201-E6423129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Razorpay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FE84E-68E5-459F-8BD1-430B903F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765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Payment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25055-91DC-4D42-B0DA-CA9A3AF10807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153275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32883-6676-4506-900B-1BB73C6E55F1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63880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3D233-1CE4-4E3D-A8B7-3B6535F6B622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972425" y="18288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D051D-489D-4C0C-87EA-D2DA65A7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433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Signature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01CD3-D1FA-48D9-A339-887D288A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Save payment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and booking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DEF45-294B-430F-8755-44EAD2FC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433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User sees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42CEB-3564-4ABE-ACF3-34F65565A364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638800" y="3752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B1113-55CE-4C9B-8960-4E7B7EA2E85B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153275" y="37528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391C1-72DA-4959-99FB-C17164F8EBFE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4995863" y="28956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5EE95-0CB6-47C3-94D8-B7D968D4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223" y="1152525"/>
            <a:ext cx="173545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Consultation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480BA-5D83-4EE6-B790-B92C5006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2219325"/>
            <a:ext cx="124206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Payment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E887A-437E-422F-9E86-6A3A0751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20" y="3286125"/>
            <a:ext cx="124206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Status update</a:t>
            </a:r>
          </a:p>
        </p:txBody>
      </p:sp>
    </p:spTree>
    <p:extLst>
      <p:ext uri="{BB962C8B-B14F-4D97-AF65-F5344CB8AC3E}">
        <p14:creationId xmlns:p14="http://schemas.microsoft.com/office/powerpoint/2010/main" val="1216574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F24A3-ECB7-4619-BAD7-160EEB7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38525"/>
            <a:ext cx="43910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0B9AE-6C9A-4A1D-A5D4-BD10649D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66950"/>
            <a:ext cx="43910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73017-C9C0-45EC-B49F-1C84861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95375"/>
            <a:ext cx="43910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6668">
            <a:solidFill>
              <a:srgbClr val="C8C88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FE0D5-8EB6-40D2-9B33-3DAB9EE1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Web interface and case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49901-9885-4781-96EE-E34CEEF2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3859F-F152-4D4C-A305-5FB890CB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DE9EE-9E6E-46A9-ADFF-6B2E9757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36004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Chat: voice or typed messages retain recent case context.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Analysis: display the category, urgency, summary and actions.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Advocate panel: show profiles returned by matching.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Booking view: collect details and report confirmation or payment errors.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25CCC-D2CE-4285-9CDB-71C0DFE8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962025"/>
            <a:ext cx="46863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FD7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2E641-5FCB-4758-8860-FDA170F1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38275"/>
            <a:ext cx="1885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Voice / text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DCFC3-7B5F-456C-9B15-39C89A46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38275"/>
            <a:ext cx="1885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Follow-up chat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94B08-7D39-4461-9BAC-7A0E3F65E71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296025" y="1643063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F1C95-E57D-4C54-9823-062D315F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7175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Messages and classification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Selected advocate / booking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1C79A-E0F7-4DE1-9045-215CEEA4DC4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353050" y="1847850"/>
            <a:ext cx="1095375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D8F3A-2D3D-4E11-B135-707E75A4FE17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6448425" y="1847850"/>
            <a:ext cx="110490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2BB1A-B0BF-462D-B18E-0B834FA4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38575"/>
            <a:ext cx="12668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Summary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+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3F625-0258-4093-80EA-1AF1E298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38575"/>
            <a:ext cx="12668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Advocate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profiles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B909C-34DD-4B2C-8546-9ABA61C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1257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6668">
            <a:solidFill>
              <a:srgbClr val="AA9BEC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Booking</a:t>
            </a:r>
          </a:p>
          <a:p xmlns:a="http://schemas.openxmlformats.org/drawingml/2006/main">
            <a:pPr algn="ctr">
              <a:defRPr sz="1125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92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5F14F-CA0D-4893-8BF6-E43EE2521EE8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5053013" y="2990850"/>
            <a:ext cx="1395413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294FC-E74B-43BE-B4F2-541AAB885C31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448425" y="2990850"/>
            <a:ext cx="23813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61CE0-C030-4CB2-8F36-5207F2CBDE2D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448425" y="2990850"/>
            <a:ext cx="1438275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969DA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1E695-3A09-4C76-8659-A1605481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673" y="1143000"/>
            <a:ext cx="138303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1. React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6AE29-BE50-4C3C-9CBB-5B1C6ADD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2314575"/>
            <a:ext cx="1524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2. Shared case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A4B01-E603-4465-960A-5EF6D08A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86150"/>
            <a:ext cx="11715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92F"/>
                </a:solidFill>
                <a:latin typeface="Arial"/>
                <a:ea typeface="Arial"/>
                <a:cs typeface="Arial"/>
              </a:rPr>
              <a:t>3. Result views</a:t>
            </a:r>
          </a:p>
        </p:txBody>
      </p:sp>
    </p:spTree>
    <p:extLst>
      <p:ext uri="{BB962C8B-B14F-4D97-AF65-F5344CB8AC3E}">
        <p14:creationId xmlns:p14="http://schemas.microsoft.com/office/powerpoint/2010/main" val="2979867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07DD2-3DE3-45C6-8E2D-FC62B7AE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Current scope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93FD7-87DE-4AB0-8F37-7792BD00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AE4E3-DE67-48AE-9DD6-98319345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FADD4-4867-4F7D-A2A5-5920E79F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47750"/>
            <a:ext cx="84582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Current code: Hindi/English voice input, contextual triage, matching, booking records and payment integration.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target: all 22 scheduled languages plus English, with recognition and playback tested separately.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Matching gap: language preference and location need explicit filtering and validation.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Operational gap: advocate verification, accepted slots and reliable urgent response need a defined workflow.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800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Production gap: authentication, consent, retention controls and payment reconciliation need implementation.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614CB-0122-4528-B484-E68B5145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Live reliability and user outcomes still need evidence.</a:t>
            </a:r>
          </a:p>
        </p:txBody>
      </p:sp>
    </p:spTree>
    <p:extLst>
      <p:ext uri="{BB962C8B-B14F-4D97-AF65-F5344CB8AC3E}">
        <p14:creationId xmlns:p14="http://schemas.microsoft.com/office/powerpoint/2010/main" val="7977803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F70A9-7C64-4E6E-966D-CAF9E607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73CE6-837D-40C4-94DA-7458A3D4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87E4A-CA66-486D-8691-CA2B3CBB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F0D96-3A7B-4AE3-9145-639B4F8E3004}"/>
              </a:ext>
            </a:extLst>
          </p:cNvPr>
          <p:cNvGraphicFramePr/>
          <p:nvPr/>
        </p:nvGraphicFramePr>
        <p:xfrm>
          <a:off xmlns:a="http://schemas.openxmlformats.org/drawingml/2006/main" x="342900" y="1028700"/>
          <a:ext xmlns:a="http://schemas.openxmlformats.org/drawingml/2006/main" cx="8458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628900"/>
                <a:gridCol w="4114800"/>
              </a:tblGrid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Subsystem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React 18 + Vite 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Voice input, chat, results and booking views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API server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Node.js + Express 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Routes, input handling and provider calls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MongoDB + Mongoose 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Profiles, users, bookings and payment IDs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Voice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Browser Web Speech APIs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Speech recognition and spoken responses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AI service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Gateway / Gemini adapter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Issue classification and follow-up guidance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Razorpay SDK + Checkout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Order creation and signature verification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22672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Data import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Cheerio + import scripts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Profile normalization and MongoDB upserts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7102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39813-8827-4352-B98F-5DF9EC4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V.E.T.S justification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A170C-9C8D-4641-A43A-6EE56EAB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5C3EF-22FD-49BB-AAEE-851BA77B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A3ABC-58B0-4AA4-B174-800EA1D7B806}"/>
              </a:ext>
            </a:extLst>
          </p:cNvPr>
          <p:cNvGraphicFramePr/>
          <p:nvPr/>
        </p:nvGraphicFramePr>
        <p:xfrm>
          <a:off xmlns:a="http://schemas.openxmlformats.org/drawingml/2006/main" x="342900" y="1028700"/>
          <a:ext xmlns:a="http://schemas.openxmlformats.org/drawingml/2006/main" cx="8458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95475"/>
                <a:gridCol w="6562725"/>
              </a:tblGrid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Criterion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Project justification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V: Viability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The main prototype code paths exist. Provider configuration and integration testing remain.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E: Engineering depth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The project integrates speech, contextual triage, matching and verified payment callbacks.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T: Trend alignment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Conversational intake and speech services support the design. Broader language coverage needs testing.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S: Social impact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Expected benefit: clearer guidance and easier advocate discovery. User trials must verify comprehension and completion.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7522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09966-0C24-4E17-9191-43B3338C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Expected outcomes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82765-FCB4-4901-B12B-4CADFEC7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ACF7C-2BBE-4CFB-9DFA-99E26EB0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799CA-34EF-4563-8D62-808C855B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38225"/>
            <a:ext cx="8458200" cy="332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Demonstrable prototype: complete the spoken-input, analysis, matching and booking journey.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Language evaluation: check transcript quality and response comprehension.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Triage evaluation: compare labels with advocate-reviewed cases.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Matching evaluation: check expertise, availability and language fit.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Reliability evaluation: exercise model failure, microphone denial and interrupted checkout.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User evaluation: measure task completion and comprehension.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B2A6A-F9BB-4669-93E8-74AD2C3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9102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These are proposed evaluation measures. The project materials provide no measured results.</a:t>
            </a:r>
          </a:p>
        </p:txBody>
      </p:sp>
    </p:spTree>
    <p:extLst>
      <p:ext uri="{BB962C8B-B14F-4D97-AF65-F5344CB8AC3E}">
        <p14:creationId xmlns:p14="http://schemas.microsoft.com/office/powerpoint/2010/main" val="3827481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14D66-31F2-48C2-805C-8D1F02B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"/>
            <a:ext cx="845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Proposed implementation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66316-93EE-4C6E-B1D4-61B902A4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8675"/>
            <a:ext cx="8458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E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4A4A1-4231-4E09-93FC-50F1DB0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01A17-F425-40D3-BB29-EBC3D661AB6C}"/>
              </a:ext>
            </a:extLst>
          </p:cNvPr>
          <p:cNvGraphicFramePr/>
          <p:nvPr/>
        </p:nvGraphicFramePr>
        <p:xfrm>
          <a:off xmlns:a="http://schemas.openxmlformats.org/drawingml/2006/main" x="342900" y="1028700"/>
          <a:ext xmlns:a="http://schemas.openxmlformats.org/drawingml/2006/main" cx="84582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"/>
                <a:gridCol w="952500"/>
                <a:gridCol w="6448425"/>
              </a:tblGrid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Weeks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969DA"/>
                          </a:solidFill>
                          <a:latin typeface="Arial"/>
                          <a:ea typeface="Arial"/>
                          <a:cs typeface="Arial"/>
                        </a:rPr>
                        <a:t>Activity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T w="6668">
                      <a:solidFill>
                        <a:srgbClr val="CFD7E2"/>
                      </a:solidFill>
                      <a:prstDash val="solid"/>
                    </a:lnT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1–3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Confirm requirements, user flows, data model and evaluation cases.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4–7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Stabilize Hindi/English input, contextual triage and failure handling.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8–11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Validate matching, booking and payment flows with test services.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12–14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Add access controls and consent. Pilot additional languages.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CFD7E2"/>
                      </a:solidFill>
                      <a:prstDash val="solid"/>
                    </a:lnL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15–16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292F"/>
                          </a:solidFill>
                          <a:latin typeface="Arial"/>
                          <a:ea typeface="Arial"/>
                          <a:cs typeface="Arial"/>
                        </a:rPr>
                        <a:t>Run user trials, record results and prepare the final demonstration.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CFD7E2"/>
                      </a:solidFill>
                      <a:prstDash val="solid"/>
                    </a:lnR>
                    <a:lnB w="6668">
                      <a:solidFill>
                        <a:srgbClr val="CFD7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9ED87-B44D-41E2-874A-5D95D7B5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86250"/>
            <a:ext cx="8458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B76"/>
                </a:solidFill>
                <a:latin typeface="Arial"/>
                <a:ea typeface="Arial"/>
                <a:cs typeface="Arial"/>
              </a:rPr>
              <a:t>Planning assumption: a 16-week semester. This schedule describes remaining validation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2531851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D2767-A482-4B93-8093-8B9FD3BA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3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0969D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969DA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8715D-028F-4E60-81B8-94FE87DF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00300"/>
            <a:ext cx="7239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Vakil Setu connects spoken intake with guidance and advocate discovery.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current implementation focuses on Hindi and English.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React, Express and MongoDB support analysis, matching and booking.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The diagrams show architecture and each module’s workflow.</a:t>
            </a:r>
          </a:p>
          <a:p xmlns:a="http://schemas.openxmlformats.org/drawingml/2006/main">
            <a:pPr marL="177800" indent="-127000" algn="l">
              <a:spcAft>
                <a:spcPts val="1200"/>
              </a:spcAft>
              <a:buChar char="•"/>
              <a:defRPr sz="1725" b="0">
                <a:solidFill>
                  <a:srgbClr val="24292F"/>
                </a:solidFill>
                <a:latin typeface="Arial"/>
                <a:ea typeface="Arial"/>
                <a:cs typeface="Arial"/>
              </a:defRPr>
            </a:pPr>
            <a:r>
              <a:t>Broader language support and consultation reliability need validation.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5FE0E-FA5C-4051-AB21-62442E56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0816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2026-10-13T13:33:19.6670000Z</dcterms:created>
  <dcterms:modified xsi:type="dcterms:W3CDTF">2026-10-13T13:33:19.6670000Z</dcterms:modified>
</coreProperties>
</file>