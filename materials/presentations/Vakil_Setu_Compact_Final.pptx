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235e290a394e1f" /><Relationship Type="http://schemas.openxmlformats.org/officeDocument/2006/relationships/extended-properties" Target="/docProps/app.xml" Id="R6ca3d24417cc4a23" /><Relationship Type="http://schemas.openxmlformats.org/officeDocument/2006/relationships/officeDocument" Target="/ppt/presentation.xml" Id="R3a4f5a7e89514b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78b37eac254360"/>
  </p:sldMasterIdLst>
  <p:notesMasterIdLst>
    <p:notesMasterId xmlns:r="http://schemas.openxmlformats.org/officeDocument/2006/relationships" r:id="R46e18ad517d74969"/>
  </p:notesMasterIdLst>
  <p:sldIdLst>
    <p:sldId xmlns:r="http://schemas.openxmlformats.org/officeDocument/2006/relationships" id="256" r:id="Ra030650f518747dd"/>
    <p:sldId xmlns:r="http://schemas.openxmlformats.org/officeDocument/2006/relationships" id="257" r:id="R9ecc814b77b9478a"/>
    <p:sldId xmlns:r="http://schemas.openxmlformats.org/officeDocument/2006/relationships" id="258" r:id="Rf2876ec4d3bf4cec"/>
    <p:sldId xmlns:r="http://schemas.openxmlformats.org/officeDocument/2006/relationships" id="259" r:id="R4cfe8b65de824834"/>
    <p:sldId xmlns:r="http://schemas.openxmlformats.org/officeDocument/2006/relationships" id="260" r:id="R24d96cc10a214732"/>
    <p:sldId xmlns:r="http://schemas.openxmlformats.org/officeDocument/2006/relationships" id="261" r:id="R186ea243b93643f0"/>
    <p:sldId xmlns:r="http://schemas.openxmlformats.org/officeDocument/2006/relationships" id="262" r:id="Re645aa8c0a6345c9"/>
    <p:sldId xmlns:r="http://schemas.openxmlformats.org/officeDocument/2006/relationships" id="263" r:id="Rfa5330c392d94da5"/>
    <p:sldId xmlns:r="http://schemas.openxmlformats.org/officeDocument/2006/relationships" id="264" r:id="R76eb2c2d18004717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0acc06babc49f3" /><Relationship Type="http://schemas.openxmlformats.org/officeDocument/2006/relationships/slideMaster" Target="/ppt/slideMasters/slideMaster1.xml" Id="R0e78b37eac254360" /><Relationship Type="http://schemas.openxmlformats.org/officeDocument/2006/relationships/notesMaster" Target="/ppt/notesMasters/notesMaster1.xml" Id="R46e18ad517d74969" /><Relationship Type="http://schemas.openxmlformats.org/officeDocument/2006/relationships/presProps" Target="/ppt/presProps.xml" Id="R4e3f03b3de104bb3" /><Relationship Type="http://schemas.openxmlformats.org/officeDocument/2006/relationships/tableStyles" Target="/ppt/tableStyles.xml" Id="R5e9cf5f0cf50482a" /><Relationship Type="http://schemas.openxmlformats.org/officeDocument/2006/relationships/slide" Target="/ppt/slides/slide1.xml" Id="Ra030650f518747dd" /><Relationship Type="http://schemas.openxmlformats.org/officeDocument/2006/relationships/slide" Target="/ppt/slides/slide2.xml" Id="R9ecc814b77b9478a" /><Relationship Type="http://schemas.openxmlformats.org/officeDocument/2006/relationships/slide" Target="/ppt/slides/slide3.xml" Id="Rf2876ec4d3bf4cec" /><Relationship Type="http://schemas.openxmlformats.org/officeDocument/2006/relationships/slide" Target="/ppt/slides/slide4.xml" Id="R4cfe8b65de824834" /><Relationship Type="http://schemas.openxmlformats.org/officeDocument/2006/relationships/slide" Target="/ppt/slides/slide5.xml" Id="R24d96cc10a214732" /><Relationship Type="http://schemas.openxmlformats.org/officeDocument/2006/relationships/slide" Target="/ppt/slides/slide6.xml" Id="R186ea243b93643f0" /><Relationship Type="http://schemas.openxmlformats.org/officeDocument/2006/relationships/slide" Target="/ppt/slides/slide7.xml" Id="Re645aa8c0a6345c9" /><Relationship Type="http://schemas.openxmlformats.org/officeDocument/2006/relationships/slide" Target="/ppt/slides/slide8.xml" Id="Rfa5330c392d94da5" /><Relationship Type="http://schemas.openxmlformats.org/officeDocument/2006/relationships/slide" Target="/ppt/slides/slide9.xml" Id="R76eb2c2d180047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48126896a644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b86638515c4095" /><Relationship Type="http://schemas.openxmlformats.org/officeDocument/2006/relationships/notesMaster" Target="/ppt/notesMasters/notesMaster1.xml" Id="Rfc36a195353348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952aaf0e47451b" /><Relationship Type="http://schemas.openxmlformats.org/officeDocument/2006/relationships/notesMaster" Target="/ppt/notesMasters/notesMaster1.xml" Id="Rbbc778cdd9f24f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856408797d4d51" /><Relationship Type="http://schemas.openxmlformats.org/officeDocument/2006/relationships/notesMaster" Target="/ppt/notesMasters/notesMaster1.xml" Id="Re7087f8dac2f4a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130f044a6543f6" /><Relationship Type="http://schemas.openxmlformats.org/officeDocument/2006/relationships/notesMaster" Target="/ppt/notesMasters/notesMaster1.xml" Id="R800b9bbef90b45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24f7e77fb04990" /><Relationship Type="http://schemas.openxmlformats.org/officeDocument/2006/relationships/notesMaster" Target="/ppt/notesMasters/notesMaster1.xml" Id="R2b384feb3e324d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fce7bb0d934712" /><Relationship Type="http://schemas.openxmlformats.org/officeDocument/2006/relationships/notesMaster" Target="/ppt/notesMasters/notesMaster1.xml" Id="R5d3b36d013994b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682200288847e0" /><Relationship Type="http://schemas.openxmlformats.org/officeDocument/2006/relationships/notesMaster" Target="/ppt/notesMasters/notesMaster1.xml" Id="R2aff7afba75142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0f8d329ebe641ff" /><Relationship Type="http://schemas.openxmlformats.org/officeDocument/2006/relationships/notesMaster" Target="/ppt/notesMasters/notesMaster1.xml" Id="Rd4682c7b348a43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bbd6e0a57964b7a" /><Relationship Type="http://schemas.openxmlformats.org/officeDocument/2006/relationships/notesMaster" Target="/ppt/notesMasters/notesMaster1.xml" Id="Re2e2315456724a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names and roll numbers retained from the previous Vakil Setu faculty presentation. Institutional logo supplied in the reference PDF.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C:/Users/DELL/Vakil-Setu/.codex-deck/final.mjs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framing is a design hypothesis. The materials provide no population-level survey or measured market size.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C:/Users/DELL/Vakil-Setu/SRS.md</a:t>
            </a:r>
          </a:p>
          <a:p xmlns:a="http://schemas.openxmlformats.org/drawingml/2006/main">
            <a:r>
              <a:t>C:/Users/DELL/Vakil-Setu/README.md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product provides general orientation. A qualified advocate handles case-specific advice. Voice depends on browser and provider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C:/Users/DELL/Vakil-Setu/frontend/src/components/VoiceRecorder.jsx</a:t>
            </a:r>
          </a:p>
          <a:p xmlns:a="http://schemas.openxmlformats.org/drawingml/2006/main">
            <a:r>
              <a:t>C:/Users/DELL/Vakil-Setu/frontend/src/hooks/useLegalChat.js</a:t>
            </a:r>
          </a:p>
          <a:p xmlns:a="http://schemas.openxmlformats.org/drawingml/2006/main">
            <a:r>
              <a:t>C:/Users/DELL/Vakil-Setu/backend/src/services/aiService.js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of current source code. No authentication layer, OCR service or Whisper endpoint is represented as implemented. Arrows show backend communication with the database and providers.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C:/Users/DELL/Vakil-Setu/backend/src/server.js</a:t>
            </a:r>
          </a:p>
          <a:p xmlns:a="http://schemas.openxmlformats.org/drawingml/2006/main">
            <a:r>
              <a:t>C:/Users/DELL/Vakil-Setu/backend/src/services/aiService.js</a:t>
            </a:r>
          </a:p>
          <a:p xmlns:a="http://schemas.openxmlformats.org/drawingml/2006/main">
            <a:r>
              <a:t>C:/Users/DELL/Vakil-Setu/backend/src/services/paymentService.js</a:t>
            </a:r>
          </a:p>
          <a:p xmlns:a="http://schemas.openxmlformats.org/drawingml/2006/main">
            <a:r>
              <a:t>C:/Users/DELL/Vakil-Setu/frontend/src/utils/webSpeech.js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frontend uses the combined triage endpoint, which classifies and queries advocate records in one round trip. Fallback logic belongs to the backend AI adapter, not the external provider.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C:/Users/DELL/Vakil-Setu/frontend/src/hooks/useLegalChat.js</a:t>
            </a:r>
          </a:p>
          <a:p xmlns:a="http://schemas.openxmlformats.org/drawingml/2006/main">
            <a:r>
              <a:t>C:/Users/DELL/Vakil-Setu/backend/src/controllers/aiController.js</a:t>
            </a:r>
          </a:p>
          <a:p xmlns:a="http://schemas.openxmlformats.org/drawingml/2006/main">
            <a:r>
              <a:t>C:/Users/DELL/Vakil-Setu/backend/src/services/aiService.js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Payment integration exists in code, but this deck does not claim a validated transaction or production readiness. Add order binding, server-controlled pricing, restricted bypass, ownership checks and reconciliation before launch.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C:/Users/DELL/Vakil-Setu/backend/src/controllers/advocateController.js</a:t>
            </a:r>
          </a:p>
          <a:p xmlns:a="http://schemas.openxmlformats.org/drawingml/2006/main">
            <a:r>
              <a:t>C:/Users/DELL/Vakil-Setu/backend/src/controllers/emergencyController.js</a:t>
            </a:r>
          </a:p>
          <a:p xmlns:a="http://schemas.openxmlformats.org/drawingml/2006/main">
            <a:r>
              <a:t>C:/Users/DELL/Vakil-Setu/backend/src/controllers/bookingController.js</a:t>
            </a:r>
          </a:p>
          <a:p xmlns:a="http://schemas.openxmlformats.org/drawingml/2006/main">
            <a:r>
              <a:t>C:/Users/DELL/Vakil-Setu/backend/src/controllers/paymentController.js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Versions follow dependency declarations. These are not claims about latest releases. The current server does not register the Whisper route mentioned in an older README.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C:/Users/DELL/Vakil-Setu/frontend/package.json</a:t>
            </a:r>
          </a:p>
          <a:p xmlns:a="http://schemas.openxmlformats.org/drawingml/2006/main">
            <a:r>
              <a:t>C:/Users/DELL/Vakil-Setu/backend/package.json</a:t>
            </a:r>
          </a:p>
          <a:p xmlns:a="http://schemas.openxmlformats.org/drawingml/2006/main">
            <a:r>
              <a:t>C:/Users/DELL/Vakil-Setu/backend/src/server.js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scope is based on code inspection. No measured accuracy, latency, live adoption or impact is claimed. Four domain slugs appear in the classification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C:/Users/DELL/Vakil-Setu/backend/src/services/aiService.js</a:t>
            </a:r>
          </a:p>
          <a:p xmlns:a="http://schemas.openxmlformats.org/drawingml/2006/main">
            <a:r>
              <a:t>C:/Users/DELL/Vakil-Setu/backend/src/server.js</a:t>
            </a:r>
          </a:p>
          <a:p xmlns:a="http://schemas.openxmlformats.org/drawingml/2006/main">
            <a:r>
              <a:t>C:/Users/DELL/Vakil-Setu/SRS.md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Roadmap describes targets rather than completed milestones. General guidance supports preparation for professional consultation. Expected benefits require user trials.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C:/Users/DELL/Vakil-Setu/SRS.md</a:t>
            </a:r>
          </a:p>
          <a:p xmlns:a="http://schemas.openxmlformats.org/drawingml/2006/main">
            <a:r>
              <a:t>C:/Users/DELL/Vakil-Setu/.codex-deck/reference-build/build.mjs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c0940fad4a43a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286bd846b94c8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19dc4e26b141b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9832e4dce446c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10925b07a7472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910516876f41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20B2CD3-B7AE-486E-8F06-DE7A278239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1943100"/>
            <a:ext cx="731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EA84CD3-5AF2-48D2-8824-4A91BB5A92D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828925"/>
            <a:ext cx="640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E66CB88-5FA2-48D1-B1BB-1398E39986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143125"/>
            <a:ext cx="731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33CAA43-7E97-4571-B561-D993778638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D29FA4E-0C52-49DA-B38C-5D90CB9066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81153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C75BB03-13B1-4E4D-A560-9DC2A8AFA6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654D2D4-BC06-44E1-B066-0800B808B1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FEA54B3-CA94-4635-9655-81FB7FC7D8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577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3A546B-EA93-43B5-BA46-CB519CA008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044CF18-FD78-4E46-A371-515243140E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920263ba8c49b5" /><Relationship Type="http://schemas.openxmlformats.org/officeDocument/2006/relationships/slideLayout" Target="/ppt/slideLayouts/slideLayout1.xml" Id="Rb50320e0f49d4a52" /><Relationship Type="http://schemas.openxmlformats.org/officeDocument/2006/relationships/slideLayout" Target="/ppt/slideLayouts/slideLayout2.xml" Id="R5b7f175e584d41a9" /><Relationship Type="http://schemas.openxmlformats.org/officeDocument/2006/relationships/slideLayout" Target="/ppt/slideLayouts/slideLayout3.xml" Id="R9a43e8c227c746a3" /><Relationship Type="http://schemas.openxmlformats.org/officeDocument/2006/relationships/slideLayout" Target="/ppt/slideLayouts/slideLayout4.xml" Id="R24a1763cdb9d4c25" /><Relationship Type="http://schemas.openxmlformats.org/officeDocument/2006/relationships/slideLayout" Target="/ppt/slideLayouts/slideLayout5.xml" Id="Rf48843ecb931415a" /><Relationship Type="http://schemas.openxmlformats.org/officeDocument/2006/relationships/slideLayout" Target="/ppt/slideLayouts/slideLayout6.xml" Id="R5180ca4ae4e445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0320e0f49d4a52"/>
    <p:sldLayoutId xmlns:r="http://schemas.openxmlformats.org/officeDocument/2006/relationships" id="2147483650" r:id="R5b7f175e584d41a9"/>
    <p:sldLayoutId xmlns:r="http://schemas.openxmlformats.org/officeDocument/2006/relationships" id="2147483651" r:id="R9a43e8c227c746a3"/>
    <p:sldLayoutId xmlns:r="http://schemas.openxmlformats.org/officeDocument/2006/relationships" id="2147483652" r:id="R24a1763cdb9d4c25"/>
    <p:sldLayoutId xmlns:r="http://schemas.openxmlformats.org/officeDocument/2006/relationships" id="2147483653" r:id="Rf48843ecb931415a"/>
    <p:sldLayoutId xmlns:r="http://schemas.openxmlformats.org/officeDocument/2006/relationships" id="2147483654" r:id="R5180ca4ae4e445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e776348e794358" /><Relationship Type="http://schemas.openxmlformats.org/officeDocument/2006/relationships/image" Target="/ppt/media/image.png" Id="Rd8f5a718a0ad417f" /><Relationship Type="http://schemas.openxmlformats.org/officeDocument/2006/relationships/notesSlide" Target="/ppt/notesSlides/notesSlide1.xml" Id="R4e8b4a22e99f45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7f0baa0b6f4e71" /><Relationship Type="http://schemas.openxmlformats.org/officeDocument/2006/relationships/notesSlide" Target="/ppt/notesSlides/notesSlide2.xml" Id="R5e8d012e119343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3dae5e11314cda" /><Relationship Type="http://schemas.openxmlformats.org/officeDocument/2006/relationships/notesSlide" Target="/ppt/notesSlides/notesSlide3.xml" Id="Reda72ee286c74c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2a8e3e8b634836" /><Relationship Type="http://schemas.openxmlformats.org/officeDocument/2006/relationships/notesSlide" Target="/ppt/notesSlides/notesSlide4.xml" Id="R3bbd68dc596541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28c6317b7440d3" /><Relationship Type="http://schemas.openxmlformats.org/officeDocument/2006/relationships/notesSlide" Target="/ppt/notesSlides/notesSlide5.xml" Id="R76ce93cdf3b445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e4ceef3b814f91" /><Relationship Type="http://schemas.openxmlformats.org/officeDocument/2006/relationships/notesSlide" Target="/ppt/notesSlides/notesSlide6.xml" Id="R34994a4bb8a54f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f874c45f5f4653" /><Relationship Type="http://schemas.openxmlformats.org/officeDocument/2006/relationships/notesSlide" Target="/ppt/notesSlides/notesSlide7.xml" Id="R4003d43ef25349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aed5c09d48452c" /><Relationship Type="http://schemas.openxmlformats.org/officeDocument/2006/relationships/notesSlide" Target="/ppt/notesSlides/notesSlide8.xml" Id="R20f2ca07624b4e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bee9d5e2834a4a" /><Relationship Type="http://schemas.openxmlformats.org/officeDocument/2006/relationships/notesSlide" Target="/ppt/notesSlides/notesSlide9.xml" Id="R4de52bd19774411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DEA2DB-F73E-4FDD-8950-0D5F23E5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5275"/>
            <a:ext cx="819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46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46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VAKIL SETU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52AB74-768E-4F1C-A7A0-6E5D7B7D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28725"/>
            <a:ext cx="8001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2325" b="1">
                <a:solidFill>
                  <a:srgbClr val="0751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0751A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751AA"/>
                </a:solidFill>
                <a:latin typeface="Arial"/>
                <a:ea typeface="Arial"/>
                <a:cs typeface="Arial"/>
              </a:rPr>
              <a:t>Multilingual voice-based legal assistance</a:t>
            </a:r>
          </a:p>
          <a:p xmlns:a="http://schemas.openxmlformats.org/drawingml/2006/main">
            <a:pPr algn="ctr">
              <a:defRPr sz="2325" b="1">
                <a:solidFill>
                  <a:srgbClr val="0751A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751AA"/>
                </a:solidFill>
                <a:latin typeface="Arial"/>
                <a:ea typeface="Arial"/>
                <a:cs typeface="Arial"/>
              </a:rPr>
              <a:t>and advocate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EBD3A8-F603-43AE-8DCB-6A0CCB7E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7429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Presented by: Raghav Nargotra (2023A1R033)</a:t>
            </a:r>
          </a:p>
          <a:p xmlns:a="http://schemas.openxmlformats.org/drawingml/2006/main">
            <a:pPr algn="ctr"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Sidarth Gupta (2023A1R038)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519678-A27F-413E-81D9-DA053D3748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f5a718a0ad417f"/>
          <a:stretch xmlns:a="http://schemas.openxmlformats.org/drawingml/2006/main"/>
        </p:blipFill>
        <p:spPr>
          <a:xfrm xmlns:a="http://schemas.openxmlformats.org/drawingml/2006/main">
            <a:off x="3752850" y="3725676"/>
            <a:ext cx="1638300" cy="57822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1C46E0-51B0-4D38-BD15-3C5F7216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9580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62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26B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B76"/>
                </a:solidFill>
                <a:latin typeface="Arial"/>
                <a:ea typeface="Arial"/>
                <a:cs typeface="Arial"/>
              </a:rPr>
              <a:t>Model Institute of Engineering and Technology (Autonomous), Jammu · 2026</a:t>
            </a:r>
          </a:p>
        </p:txBody>
      </p:sp>
    </p:spTree>
    <p:extLst>
      <p:ext uri="{BB962C8B-B14F-4D97-AF65-F5344CB8AC3E}">
        <p14:creationId xmlns:p14="http://schemas.microsoft.com/office/powerpoint/2010/main" val="20469754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5B4D07-763E-4F09-B5DF-9A9D4B13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Problem and target users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FA4C36-6856-41AD-AA53-FA13B9E1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101DA9-CE8B-4D55-BD41-656A3006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CA499D-C672-4156-9C04-1A1F3919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38225"/>
            <a:ext cx="845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People can describe a dispute without knowing its legal category, the relevant advocate or the next step.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C8CEE8-C40B-4E08-AAFC-951566BD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809750"/>
            <a:ext cx="8458200" cy="2009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Language barrier: formal terminology and long text forms can make initial intake difficult.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Unclear preparation: users may not know which facts and documents matter.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Fragmented access: guidance, advocate discovery and booking require separate steps.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6239C3-7F2A-479B-96ED-1B5F77D8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905250"/>
            <a:ext cx="8458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Target users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BD4E5B-EDC8-4049-A00C-1A240525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295775"/>
            <a:ext cx="8191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People seeking initial legal orientation, especially Hindi/English speakers who prefer voice input, and advocates receiving consultation requests.</a:t>
            </a:r>
          </a:p>
        </p:txBody>
      </p:sp>
    </p:spTree>
    <p:extLst>
      <p:ext uri="{BB962C8B-B14F-4D97-AF65-F5344CB8AC3E}">
        <p14:creationId xmlns:p14="http://schemas.microsoft.com/office/powerpoint/2010/main" val="18667137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6BC041-8C48-4F43-8122-68C62C95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Solution and core features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D2E3FD-4A1D-44A5-BF68-2EF95CE4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157857-D83B-4009-84ED-4F0920AA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9E9DC1-052C-4E93-BE54-C45D75B5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14425"/>
            <a:ext cx="19621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Describe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7E524-55C8-49B5-B311-02F6532D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809750"/>
            <a:ext cx="1962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Speak or type in Hindi or English. Review the transcript.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ED211E-F149-431F-BA29-F6D4076A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1114425"/>
            <a:ext cx="19621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Understand</a:t>
            </a:r>
          </a:p>
        </p:txBody>
      </p: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44B89C-A8EA-4B21-BF3E-9BE731474A9F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305050" y="1366838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24E9F7-3336-4D27-9067-C121CA5E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1809750"/>
            <a:ext cx="1962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Receive category, urgency, summary and next actions.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F50798-3784-461F-8BBE-1CFB5504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114425"/>
            <a:ext cx="19621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Find an advocate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921243-DB78-4DAC-954F-FFEA4F86D6F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467225" y="1366838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F39B5C-2BC1-47E9-B83E-1FC6C696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09750"/>
            <a:ext cx="1962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Review available profiles in the relevant practice area.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C3AF20-DE7E-4E81-A35D-91430D61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1114425"/>
            <a:ext cx="19621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Book</a:t>
            </a:r>
          </a:p>
        </p:txBody>
      </p: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69758E-E0BF-442E-A97E-FFC85B1BB964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629400" y="1366838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D540D5-3092-46D3-80EC-639CF5E6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1809750"/>
            <a:ext cx="1962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Create a consultation request and open payment checkout.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44D75B-F7AB-411C-BC0B-F1D96ED5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086100"/>
            <a:ext cx="8458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Conversation and accessibility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B522A7-673B-492C-8C1A-CCD3E7C8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524250"/>
            <a:ext cx="8458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Follow-up messages use recent conversation context. Browser speech synthesis can read the response aloud.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Current explicit language modes cover Hindi and English. Broader language support remains a development target.</a:t>
            </a:r>
          </a:p>
        </p:txBody>
      </p:sp>
    </p:spTree>
    <p:extLst>
      <p:ext uri="{BB962C8B-B14F-4D97-AF65-F5344CB8AC3E}">
        <p14:creationId xmlns:p14="http://schemas.microsoft.com/office/powerpoint/2010/main" val="19036259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B25E46-4FBD-495A-AD32-C2FAA788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76600"/>
            <a:ext cx="845820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6668">
            <a:solidFill>
              <a:srgbClr val="C8C88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52E1D1-3021-4D1C-A6BE-E8383A74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114550"/>
            <a:ext cx="845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6668">
            <a:solidFill>
              <a:srgbClr val="C8C88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B18D2B-ED42-4A86-BE38-594567BF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19175"/>
            <a:ext cx="84582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6668">
            <a:solidFill>
              <a:srgbClr val="C8C88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A012DD-517F-4DBE-A07E-B38CD509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227CE-6017-4F93-873B-6BEEAE27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28CCEA-186C-4364-A76E-FF9BE644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9083F0-D3EB-42E9-96CE-25A7DDCC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247775"/>
            <a:ext cx="36290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React + Vite frontend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Voice input, chat, analysis and booking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33EFCD-B184-4B6F-8B2B-A0A2A982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362200"/>
            <a:ext cx="36290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Node.js + Express API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Triage, matching, bookings and payments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01B167-13AC-43DC-9244-7928BDCF9D8A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4938713" y="1704975"/>
            <a:ext cx="0" cy="6572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C24CA3-09B9-49F3-8108-443B8719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847850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2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26B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B76"/>
                </a:solidFill>
                <a:latin typeface="Arial"/>
                <a:ea typeface="Arial"/>
                <a:cs typeface="Arial"/>
              </a:rPr>
              <a:t>JSON API requests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AF4138-DBAD-4F8A-AEBF-E1FCF7D8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81400"/>
            <a:ext cx="2476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MongoDB + Mongoose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Users, advocates, bookings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AEFA9C-4179-482D-8F65-15CE6BE8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81400"/>
            <a:ext cx="2476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AI gateway / Gemini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Model classification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C3A63F-C9A8-4DEC-90C1-D40160D5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581400"/>
            <a:ext cx="2476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Razorpay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Orders + payment verification</a:t>
            </a:r>
          </a:p>
        </p:txBody>
      </p: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CB3BC9-D452-4FEC-9AD1-B253ED797BE9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1762125" y="2828925"/>
            <a:ext cx="3176588" cy="7524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5C4256-E843-4F8B-974E-D704ED5372BF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4572000" y="2828925"/>
            <a:ext cx="366713" cy="7524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2959F1-1B8E-4CAE-8F54-9A23479F6766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4938713" y="2828925"/>
            <a:ext cx="2443163" cy="7524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161AA6-B69D-4983-BD6C-5BEAB72A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391025"/>
            <a:ext cx="819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26B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B76"/>
                </a:solidFill>
                <a:latin typeface="Arial"/>
                <a:ea typeface="Arial"/>
                <a:cs typeface="Arial"/>
              </a:rPr>
              <a:t>Browser Web Speech handles recognition/playback. The backend holds keys and handles AI fallback.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CCFA89-E55D-4B2D-8AB4-A35038FC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809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CLIENT LAYER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7C0AE4-E90D-4ACD-AFF0-D8AF28CA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62175"/>
            <a:ext cx="1809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APPLICATION LAYER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361565-B7E5-4CA2-8CAD-8708D682F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24225"/>
            <a:ext cx="1809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DATA AND SERVICES</a:t>
            </a:r>
          </a:p>
        </p:txBody>
      </p:sp>
    </p:spTree>
    <p:extLst>
      <p:ext uri="{BB962C8B-B14F-4D97-AF65-F5344CB8AC3E}">
        <p14:creationId xmlns:p14="http://schemas.microsoft.com/office/powerpoint/2010/main" val="17264381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5EA1A0-C7B5-4F34-B2CF-8E5EFC29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Analysis and matching 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EBED89-54AB-4C71-88ED-17D37CBF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8FB10F-4009-4976-AF74-C1EDDA32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77A34-58FF-441F-BD1D-9A7B853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56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Browser client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7A5934-32C6-458B-9C23-C22BF4F4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38275"/>
            <a:ext cx="6668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F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512050-B503-402D-BF7C-31C746D8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057275"/>
            <a:ext cx="156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Express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03B39D-B245-4FD2-BC98-20C15070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438275"/>
            <a:ext cx="6668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F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CB47FD-7260-403B-AE6B-93D3391E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057275"/>
            <a:ext cx="156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AI provider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DDA2D5-717E-45F3-8289-D1AEF443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438275"/>
            <a:ext cx="6668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F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A38806-0A6C-41FD-8D14-DD8C49C9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057275"/>
            <a:ext cx="156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MongoDB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80BF1C-F44C-4B3C-8D9F-68F3271E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438275"/>
            <a:ext cx="6668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F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1AF170-C2C3-4DCE-8FF8-EFCC0C0C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19275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DABC11-4E26-45A6-8C5F-E0F67411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19275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6B713F-882E-40D6-9CCB-C4ACFE302E17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1242060" y="1821180"/>
            <a:ext cx="222504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E1D2F7-93C0-42BE-8267-F415EB56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00200"/>
            <a:ext cx="2114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1  POST /api/ai/triage: text + history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556340-B93A-4C27-AD30-995437B4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19325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506417-F632-4D32-A3C0-2C6E1A6F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219325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8A271C-DB68-4509-A52F-A168559640F4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470910" y="2221230"/>
            <a:ext cx="222504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87B881-6B8D-45FF-859E-C44267BC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00250"/>
            <a:ext cx="2114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2  Request issue classification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B710E6-6CEA-4EC1-86CB-5C92D42E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619375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0338D3-46D0-4206-A761-197DE8EE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19375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1A092F-59D1-4966-A706-51280C7AB126}"/>
              </a:ext>
            </a:extLst>
          </p:cNvPr>
          <p:cNvCxnSpPr>
            <a:stCxn xmlns:a="http://schemas.openxmlformats.org/drawingml/2006/main" id="20" idx="1"/>
            <a:endCxn xmlns:a="http://schemas.openxmlformats.org/drawingml/2006/main" id="21" idx="3"/>
          </p:cNvCxnSpPr>
          <p:nvPr/>
        </p:nvCxnSpPr>
        <p:spPr>
          <a:xfrm xmlns:a="http://schemas.openxmlformats.org/drawingml/2006/main" flipH="1">
            <a:off x="3470910" y="2621280"/>
            <a:ext cx="222504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4485ED-0F10-449E-BE3C-2F551C40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00300"/>
            <a:ext cx="2114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3  Model response or provider error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3C306A-7BF5-4ABE-9909-F490C417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19425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D2D902-8245-4F98-AAE2-ADEE549B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19425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CFD42B-E894-4CC1-B060-B904702FA03F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3470910" y="3021330"/>
            <a:ext cx="445389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A7BD58-3FDF-44B6-AE79-A2186244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00350"/>
            <a:ext cx="43434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4  Query expertise + availability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6B1315-CF18-4166-8126-558058B8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19475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91B90C-BD1E-45D4-8CE9-96751472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19475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BC0C3B-52B3-4301-ACE6-45032B1EB273}"/>
              </a:ext>
            </a:extLst>
          </p:cNvPr>
          <p:cNvCxnSpPr>
            <a:stCxn xmlns:a="http://schemas.openxmlformats.org/drawingml/2006/main" id="28" idx="1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H="1">
            <a:off x="3470910" y="3421380"/>
            <a:ext cx="445389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17FEA9-076D-424A-9F74-E9C93866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00400"/>
            <a:ext cx="43434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5  Up to five profiles ranked by rating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5807CE-F950-41BB-994E-4C4A5D39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819525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4E1629-6B6A-47C3-8134-508CAD21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19525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B9B5AB-1939-4848-A4B9-03EFBDA7448B}"/>
              </a:ext>
            </a:extLst>
          </p:cNvPr>
          <p:cNvCxnSpPr>
            <a:stCxn xmlns:a="http://schemas.openxmlformats.org/drawingml/2006/main" id="32" idx="1"/>
            <a:endCxn xmlns:a="http://schemas.openxmlformats.org/drawingml/2006/main" id="33" idx="3"/>
          </p:cNvCxnSpPr>
          <p:nvPr/>
        </p:nvCxnSpPr>
        <p:spPr>
          <a:xfrm xmlns:a="http://schemas.openxmlformats.org/drawingml/2006/main" flipH="1">
            <a:off x="1242060" y="3821430"/>
            <a:ext cx="222504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CB6883-FFBF-4544-A775-8A9C6DA9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00450"/>
            <a:ext cx="2114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6  Return classification + advocates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8C5E63-2D75-4A4E-B635-7A772744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305300"/>
            <a:ext cx="8458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The user reviews the transcript before submission. The backend applies fallback on AI failure. Results include guidance and advocate profiles.</a:t>
            </a:r>
          </a:p>
        </p:txBody>
      </p:sp>
    </p:spTree>
    <p:extLst>
      <p:ext uri="{BB962C8B-B14F-4D97-AF65-F5344CB8AC3E}">
        <p14:creationId xmlns:p14="http://schemas.microsoft.com/office/powerpoint/2010/main" val="17086975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D242EA-CB5A-43CA-90C6-75C777B3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Advocate matching and booking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B86180-37DB-409E-9CD3-AADB6862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A8C2EC-F644-4454-B377-1C721EE8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83A9F1-B552-4FED-8F81-63A91E24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76325"/>
            <a:ext cx="3924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Advocate matching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886DC0-39AC-4FD3-8FBA-D3C7A9EE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543050"/>
            <a:ext cx="3924300" cy="2257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Filter profiles by classified expertise and availability.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Sort by rating and return up to five profiles.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Urgent lookup returns one available profile by rating across domains.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AE6C57-AF54-4E3C-A690-90681288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076325"/>
            <a:ext cx="40862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Booking and payment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3D69AC-1CA5-4E49-BA23-EC19E8CD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543050"/>
            <a:ext cx="4086225" cy="2257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Store the user, selected advocate and requested date.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Create a Razorpay order and open browser checkout.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Verify the signature and update booking/payment status.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0943E7-8B7E-4C87-BF30-B5313F76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943350"/>
            <a:ext cx="845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Current limits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59AA51-67AA-4D20-9C5C-90412750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352925"/>
            <a:ext cx="8458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Language filtering and accepted time slots need development. Urgent lookup does not guarantee response. Demo confirmation can leave payment pending.</a:t>
            </a:r>
          </a:p>
        </p:txBody>
      </p:sp>
    </p:spTree>
    <p:extLst>
      <p:ext uri="{BB962C8B-B14F-4D97-AF65-F5344CB8AC3E}">
        <p14:creationId xmlns:p14="http://schemas.microsoft.com/office/powerpoint/2010/main" val="17669995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674593-C0C9-462F-ABED-C514FD0B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Technology stack and responsibilities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9C72F4-0100-441E-BA5B-2F0C859E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28D8D0-7166-462D-957B-5553B8E8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2479AD-972E-4407-A72C-B3D5A259FCA0}"/>
              </a:ext>
            </a:extLst>
          </p:cNvPr>
          <p:cNvGraphicFramePr/>
          <p:nvPr/>
        </p:nvGraphicFramePr>
        <p:xfrm>
          <a:off xmlns:a="http://schemas.openxmlformats.org/drawingml/2006/main" x="342900" y="1038225"/>
          <a:ext xmlns:a="http://schemas.openxmlformats.org/drawingml/2006/main" cx="84582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90675"/>
                <a:gridCol w="2762250"/>
                <a:gridCol w="4105275"/>
              </a:tblGrid>
              <a:tr h="458561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969DA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T w="6668">
                      <a:solidFill>
                        <a:srgbClr val="CFD7E2"/>
                      </a:solidFill>
                      <a:prstDash val="solid"/>
                    </a:lnT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969DA"/>
                          </a:solidFill>
                          <a:latin typeface="Arial"/>
                          <a:ea typeface="Arial"/>
                          <a:cs typeface="Arial"/>
                        </a:rPr>
                        <a:t>Technology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T w="6668">
                      <a:solidFill>
                        <a:srgbClr val="CFD7E2"/>
                      </a:solidFill>
                      <a:prstDash val="solid"/>
                    </a:lnT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969DA"/>
                          </a:solidFill>
                          <a:latin typeface="Arial"/>
                          <a:ea typeface="Arial"/>
                          <a:cs typeface="Arial"/>
                        </a:rPr>
                        <a:t>Responsibility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T w="6668">
                      <a:solidFill>
                        <a:srgbClr val="CFD7E2"/>
                      </a:solidFill>
                      <a:prstDash val="solid"/>
                    </a:lnT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Frontend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React 18 + Vite 5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Input, chat, results and booking views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Backend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Node.js + Express 4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API routing and workflow coordination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Database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MongoDB + Mongoose 8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Profiles, users, bookings and payment IDs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Speech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Browser Web Speech APIs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Recognition and spoken responses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AI adapter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Gateway / Gemini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Contextual triage and basic fallback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Payments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Razorpay SDK + Checkout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Order creation and signature checks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D5EF70-214D-4CB8-9ADC-4E468897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438650"/>
            <a:ext cx="845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2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26B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6B76"/>
                </a:solidFill>
                <a:latin typeface="Arial"/>
                <a:ea typeface="Arial"/>
                <a:cs typeface="Arial"/>
              </a:rPr>
              <a:t>The integration work connects speech, AI output, advocate records and transaction status in one user journey.</a:t>
            </a:r>
          </a:p>
        </p:txBody>
      </p:sp>
    </p:spTree>
    <p:extLst>
      <p:ext uri="{BB962C8B-B14F-4D97-AF65-F5344CB8AC3E}">
        <p14:creationId xmlns:p14="http://schemas.microsoft.com/office/powerpoint/2010/main" val="7739715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0FD67A-E2AD-42C6-8814-E5285B8B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Current scope and validation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0217D0-DB38-4CAA-ACAC-F5813DBB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3B6128-38AA-4BB5-B4B6-220AFC19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54BF52-F0F1-44F7-BF53-DC4A26DA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47750"/>
            <a:ext cx="3981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Implemented in the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74D991-9464-4C0B-9CA8-040F7208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524000"/>
            <a:ext cx="39814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Hindi/English voice and typed input with spoken playback.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Contextual triage in four domains: criminal, civil, family and property.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Advocate matching, booking records and payment integration.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6B9B7E-8EEE-4061-BDB7-D0D5940B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047750"/>
            <a:ext cx="4067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Evidence still required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30D55B-20A3-47C0-8573-D3211B4B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524000"/>
            <a:ext cx="4067175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Advocate-reviewed cases for domain and urgency evaluation.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Language tests for transcript quality and response comprehension.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End-to-end booking and failure tests, including interrupted checkout.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5EF16E-90D0-4EF7-924D-F7149291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048125"/>
            <a:ext cx="845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Security and operations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668282-346E-463D-98A0-390988C3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429125"/>
            <a:ext cx="8458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Authentication, consent, profile verification, accepted slots and payment reconciliation remain launch requirements.</a:t>
            </a:r>
          </a:p>
        </p:txBody>
      </p:sp>
    </p:spTree>
    <p:extLst>
      <p:ext uri="{BB962C8B-B14F-4D97-AF65-F5344CB8AC3E}">
        <p14:creationId xmlns:p14="http://schemas.microsoft.com/office/powerpoint/2010/main" val="21355336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1261B7-52BC-4F76-A8A2-E7B4D23D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Roadmap and expected benefits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E58F89-D9A8-452D-826A-1684FCD5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47A33E-21B9-4E22-A797-F96C9526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B7DC5F-41EC-41A8-B7B9-D92C6C21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76325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966A47-49CB-4F73-A9F4-8A826C89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0763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Stabilize the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291972-9BD8-4CE0-A9D1-A36FBE44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076325"/>
            <a:ext cx="5029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Test Hindi/English speech, model failure and the complete consultation journey.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0228DC-DBF7-4C46-8375-9C2AD0C5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819275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EE3AFD-59B4-447D-BA50-3ADC2404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192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Validate real use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68BBB9-A6C7-4B93-A42C-75B98128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819275"/>
            <a:ext cx="5029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Review cases with advocates and measure user comprehension and task completion.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B8C477-9D31-4BF2-93E7-E38BC922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562225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2EE6E5-6200-4D96-9D84-319E7929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622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Strengthen operations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5D8AB5-54D6-4BB6-92EB-215A7B22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62225"/>
            <a:ext cx="5029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Add verified profiles, consent, secure access and reliable booking/payment status.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9B4006-6572-4A95-AC00-0F6D162C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305175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CA6035-32DC-4B25-B0EF-9367FA7E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051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Expand languages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BB6CBF-EDF9-4651-A064-52CFE113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05175"/>
            <a:ext cx="5029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Target 22 scheduled languages plus English. Validate each language before rollout.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53416D-BCB3-487A-8FD9-CDB33D8F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343400"/>
            <a:ext cx="8458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Expected benefit: clearer initial guidance and easier advocate discovery. Faculty and advocate feedback will guide the next development stage.</a:t>
            </a:r>
          </a:p>
        </p:txBody>
      </p:sp>
    </p:spTree>
    <p:extLst>
      <p:ext uri="{BB962C8B-B14F-4D97-AF65-F5344CB8AC3E}">
        <p14:creationId xmlns:p14="http://schemas.microsoft.com/office/powerpoint/2010/main" val="21163556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2026-10-14T04:47:02.7960000Z</dcterms:created>
  <dcterms:modified xsi:type="dcterms:W3CDTF">2026-10-14T04:47:02.7970000Z</dcterms:modified>
</coreProperties>
</file>