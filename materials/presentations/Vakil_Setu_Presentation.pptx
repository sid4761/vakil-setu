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ACADEMIC CAPSTONE PROJECT PRESENTATION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VAKIL SETU (वकील सेतु)</a:t>
            </a:r>
          </a:p>
          <a:p>
            <a:pPr>
              <a:spcBef>
                <a:spcPts val="400"/>
              </a:spcBef>
              <a:defRPr sz="1800">
                <a:solidFill>
                  <a:srgbClr val="CBD5E1"/>
                </a:solidFill>
              </a:defRPr>
            </a:pPr>
            <a:r>
              <a:t>Voice-First Bilingual Legal Triage &amp; Advocate Discovery Platform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Bridging the First-Mile Justice Divide with In-Browser Voice Processing, AI Legal Triage under Indian Law, and Secure Consultation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512064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rPr dirty="0"/>
              <a:t>PRESENTED BY </a:t>
            </a:r>
            <a:r>
              <a:rPr lang="en-IN" dirty="0"/>
              <a:t>: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92240" y="3474720"/>
            <a:ext cx="475488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566160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rPr dirty="0"/>
              <a:t>SUPERVISION &amp; INSTITUTION</a:t>
            </a:r>
            <a:r>
              <a:rPr lang="en-IN"/>
              <a:t> :</a:t>
            </a:r>
            <a:endParaRPr lang="en-IN" dirty="0"/>
          </a:p>
          <a:p>
            <a:pPr>
              <a:defRPr sz="1100" b="1">
                <a:solidFill>
                  <a:srgbClr val="F59E0B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PROBLEM STATEMENT &amp; CONTEXT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The First-Mile Crisis in Access to Legal Justice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Over 50 Million cases are pending in Indian courts. Yet for the average citizen facing a legal dispute, the biggest hurdle is not inside the courtroom—it is knowing where, when, and how to start.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251460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Domain &amp; Urgency Ambiguity</a:t>
            </a:r>
          </a:p>
          <a:p>
            <a:pPr>
              <a:spcBef>
                <a:spcPts val="200"/>
              </a:spcBef>
              <a:defRPr sz="850" b="1">
                <a:solidFill>
                  <a:srgbClr val="0C447C"/>
                </a:solidFill>
              </a:defRPr>
            </a:pPr>
            <a:r>
              <a:t>THE FIRST-MILE CONFUSION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Citizens cannot identify whether their crisis falls under Criminal, Civil, Family, or Property law. Inability to gauge statutory urgency (bail windows, notice response limits) leads to critical procedural lapses.</a:t>
            </a:r>
          </a:p>
          <a:p>
            <a:pPr>
              <a:spcBef>
                <a:spcPts val="1000"/>
              </a:spcBef>
              <a:defRPr sz="900" b="1">
                <a:solidFill>
                  <a:srgbClr val="B91C1C"/>
                </a:solidFill>
              </a:defRPr>
            </a:pPr>
            <a:r>
              <a:t>Impact: Missed deadlines, escalated penalties, loss of legal remedies.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2057400"/>
            <a:ext cx="251460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9312" y="224028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Linguistic &amp; Literacy Barrier</a:t>
            </a:r>
          </a:p>
          <a:p>
            <a:pPr>
              <a:spcBef>
                <a:spcPts val="200"/>
              </a:spcBef>
              <a:defRPr sz="850" b="1">
                <a:solidFill>
                  <a:srgbClr val="0C447C"/>
                </a:solidFill>
              </a:defRPr>
            </a:pPr>
            <a:r>
              <a:t>THE JARGON EXCLUSION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90%+ of existing legal resources and portals are English-heavy and dense with statutory jargon (IPC/BNS, CrPC, CPC). Semi-urban and rural litigants comfortable in Hindi or spoken dialects are completely shut out.</a:t>
            </a:r>
          </a:p>
          <a:p>
            <a:pPr>
              <a:spcBef>
                <a:spcPts val="1000"/>
              </a:spcBef>
              <a:defRPr sz="900" b="1">
                <a:solidFill>
                  <a:srgbClr val="B91C1C"/>
                </a:solidFill>
              </a:defRPr>
            </a:pPr>
            <a:r>
              <a:t>Impact: Severe cognitive overload, helplessness, dependency on touts.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057400"/>
            <a:ext cx="251460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224028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Trust Deficit &amp; Opaque Discovery</a:t>
            </a:r>
          </a:p>
          <a:p>
            <a:pPr>
              <a:spcBef>
                <a:spcPts val="200"/>
              </a:spcBef>
              <a:defRPr sz="850" b="1">
                <a:solidFill>
                  <a:srgbClr val="0C447C"/>
                </a:solidFill>
              </a:defRPr>
            </a:pPr>
            <a:r>
              <a:t>THE UNREGULATED INTERMEDIARY TRAP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Finding an advocate who genuinely specializes in the relevant domain is a gamble. Citizens rely on unverified referrals, face arbitrary consultation pricing, and risk exploitation by middlemen.</a:t>
            </a:r>
          </a:p>
          <a:p>
            <a:pPr>
              <a:spcBef>
                <a:spcPts val="1000"/>
              </a:spcBef>
              <a:defRPr sz="900" b="1">
                <a:solidFill>
                  <a:srgbClr val="B91C1C"/>
                </a:solidFill>
              </a:defRPr>
            </a:pPr>
            <a:r>
              <a:t>Impact: Exorbitant initial costs, mismatched legal representation.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2057400"/>
            <a:ext cx="251460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89136" y="224028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Lack of Accessibility &amp; Triage Tools</a:t>
            </a:r>
          </a:p>
          <a:p>
            <a:pPr>
              <a:spcBef>
                <a:spcPts val="200"/>
              </a:spcBef>
              <a:defRPr sz="850" b="1">
                <a:solidFill>
                  <a:srgbClr val="0C447C"/>
                </a:solidFill>
              </a:defRPr>
            </a:pPr>
            <a:r>
              <a:t>TYPING VS. SPEAKING GAP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Traditional portals assume high-speed typing and structured query formulation. Under stressful situations (police harassment, evictions, domestic abuse), typing a structured complaint is unrealistic.</a:t>
            </a:r>
          </a:p>
          <a:p>
            <a:pPr>
              <a:spcBef>
                <a:spcPts val="1000"/>
              </a:spcBef>
              <a:defRPr sz="900" b="1">
                <a:solidFill>
                  <a:srgbClr val="B91C1C"/>
                </a:solidFill>
              </a:defRPr>
            </a:pPr>
            <a:r>
              <a:t>Impact: Inaction during early-stage dispute resolution when settlement is easiest.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PROPOSED SOLUTION &amp; VALUE PROPOSITION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Vakil Setu: An End-to-End Voice-First Legal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 complete, closed-loop legal triage system that transforms unstructured spoken Hindi/English narratives into structured legal intelligence, expert advocate matching, and immediate appointment booking.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1071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10712" cy="5029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VOICE-FIRST INTAKE &amp;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Hands-Free Voice Recognition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Native Web Speech API allows users to speak their dispute in Hindi, English, or mixed vernacular speech directly via the browser without typing.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AI-Driven Legal Domain Triage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Intelligent LLM engine classifies narratives under Indian law into Criminal, Civil, Family, or Property law with 90%+ categorization precision.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Statutory Urgency Estimation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Estimates severity across Low, Medium, High, and Emergency levels to prevent expired limitation windows and procedural defaults.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Devanagari / English TTS Audio Summary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Converts legal triage summaries back into spoken audio for semi-literate users, explaining their rights without intimidating jargon.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41071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920240"/>
            <a:ext cx="341071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965960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ADVOCATE MATCHING &amp;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1460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Specialization-Driven Matching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Matches litigants only with verified advocates practicing in the identified domain, eliminating irrelevant referrals.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Transparent Professional Profiles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Litigants inspect verified experience (years), bar practice credentials, spoken languages, and real user ratings.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Autonomous Directory Crawling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Built-in web scraping engine (Cheerio) aggregates and standardizes public advocate profiles across legal registries into a unified database.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Emergency Priority Escalation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High-stakes crises (arrest threats, domestic danger) trigger 1-tap priority advocate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341071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10144" y="1920240"/>
            <a:ext cx="3410712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7304" y="1965960"/>
            <a:ext cx="31363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TRANSACTION RAIL &amp;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51460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Integrated Consultation Booking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Direct scheduling workflow linking the citizen's case context with the advocate's consultation calendar.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Cryptographic Razorpay Escrow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End-to-end payment creation and verification using HMAC SHA-256 signatures, ensuring transparent, fixed consultation fees.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Context-Aware Legal Follow-Up Chat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Multi-turn assistant maintains dialogue state, allowing users to ask follow-up questions about required documents, notices, and fees.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Zero-Barrier Guest Access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Session-based local caching allows citizens to receive emergency guidance immediately without tedious registration walls.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SYSTEM DESIGN &amp;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System Architecture &amp; High-Level Technical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5912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1005840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1. CLIENT &amp; PRESENTATION LAYER (Vite + React 18 SPA)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1874519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02152" y="1664208"/>
            <a:ext cx="172821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Voice Input &amp; STT Engine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Browser Web Speech API (hi-IN / en-IN) with interim live streaming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68111" y="1645920"/>
            <a:ext cx="1874519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41263" y="1664208"/>
            <a:ext cx="172821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Interactive Case Hero &amp; Triage UI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Visual domain badges, urgency gauges, and action item 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7222" y="1645920"/>
            <a:ext cx="1874519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0374" y="1664208"/>
            <a:ext cx="172821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Bilingual Speech Synthesis (TTS)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Native window.speechSynthesis reading legal actions aloud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6333" y="1645920"/>
            <a:ext cx="1874519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9485" y="1664208"/>
            <a:ext cx="172821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Session State &amp; Local Cache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React AppContext with resilient LocalStorage state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10725912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2560320" cy="9144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2. API GATEWAY &amp; APPLICATION SERVER (Node.js + Express REST API)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83464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2" y="285292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/api/ai (Triage &amp; Classify)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Orchestrates LLM prompts &amp; multi-turn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1" y="283464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41263" y="285292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/api/advocates (Directory &amp; Match)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Matches domain, rating, and availability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2" y="283464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0374" y="285292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/api/bookings (Appointment Lifecycle)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Creates guest records &amp; consultation slots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6333" y="283464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9485" y="285292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/api/payments (Razorpay Gateway)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Issues order IDs &amp; verifies HMAC SHA-256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725912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2560320" cy="105156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93192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3. AI &amp; INTELLIGENCE ORCHESTRATION LAYER (Dual-Engine Failover)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931920"/>
            <a:ext cx="187451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02152" y="3950208"/>
            <a:ext cx="172821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Primary: Gemini 2.0 / LLM Gateway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Temperature 0.35, structured JSON schema, prompt engineering tailored to Indian statutes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1" y="3931920"/>
            <a:ext cx="187451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41263" y="3950208"/>
            <a:ext cx="172821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Language Detection &amp; Normalizer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Detects Devanagari / Roman-Hindi tokens to enforce native language UI responses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222" y="3931920"/>
            <a:ext cx="187451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0374" y="3950208"/>
            <a:ext cx="172821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Deterministic Rule-Based Failover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Regex heuristics engine guarantees 100% triage uptime during network / API outages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6333" y="3931920"/>
            <a:ext cx="1874519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9485" y="3950208"/>
            <a:ext cx="172821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Multi-Turn Context Tracker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Injects prior 10 dialogue turns to support follow-up legal queries without losing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74920"/>
            <a:ext cx="10725912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5074920"/>
            <a:ext cx="2560320" cy="9144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166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4. DATA PERSISTENCE &amp; INGESTION LAYER (MongoDB Atlas + Scraper)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16636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02152" y="518464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Advocate Collection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Indexed by expertise, rating, experience, and availability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68111" y="516636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41263" y="518464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Booking &amp; Payment Ledger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Tracks consultation time, payment status, and order IDs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07222" y="516636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0374" y="518464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Cheerio Scraper Pipeline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Crawls public legal directories (LawRato, etc.), normalizes &amp; upserts lawyers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46333" y="5166360"/>
            <a:ext cx="1874519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19485" y="5184648"/>
            <a:ext cx="17282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User / Guest Identity Store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Frictionless guest record provisioning with phone &amp; language tags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C447C"/>
                </a:solidFill>
              </a:defRPr>
            </a:pPr>
            <a:r>
              <a:t>Data Flow: HTTPS REST (JSON Payload)  •  Web Speech API (Browser Native STT/TTS)  •  Mongoose ODM (MongoDB Atlas)  •  Razorpay Webhook (HMAC SHA-256 Signature Verification)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TECHNICAL APPROACH &amp; DEEP DIVE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Core Technical Modules &amp; Implementation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447C"/>
                </a:solidFill>
              </a:defRPr>
            </a:pPr>
            <a:r>
              <a:t>VOICE PROCESSING PIPELINE</a:t>
            </a:r>
          </a:p>
          <a:p>
            <a:pPr>
              <a:spcBef>
                <a:spcPts val="100"/>
              </a:spcBef>
              <a:defRPr sz="850" b="1">
                <a:solidFill>
                  <a:srgbClr val="D97706"/>
                </a:solidFill>
              </a:defRPr>
            </a:pPr>
            <a:r>
              <a:t>IN-BROWSER LOW LATENCY SPEECH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Zero Server Audio Cost: Utilizes browser's native Web Speech Recognition API (`webkitSpeechRecognition`), processing audio locally on the device with zero cloud STT API expense.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Bilingual Locale Tagging: Dynamically injects `hi-IN` or `en-IN` BCP-47 language codes based on user preference or automated character-set inference.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Real-Time Interim Streaming: Displays intermediate transcripts character-by-character, allowing immediate user correction before submission.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Hands-Free Speech Synthesis: Executes `window.speechSynthesis` with Indian accent locales to speak key analysis points back to the citizen.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447C"/>
                </a:solidFill>
              </a:defRPr>
            </a:pPr>
            <a:r>
              <a:t>DUAL-ENGINE LEGAL TRIAGE</a:t>
            </a:r>
          </a:p>
          <a:p>
            <a:pPr>
              <a:spcBef>
                <a:spcPts val="100"/>
              </a:spcBef>
              <a:defRPr sz="850" b="1">
                <a:solidFill>
                  <a:srgbClr val="D97706"/>
                </a:solidFill>
              </a:defRPr>
            </a:pPr>
            <a:r>
              <a:t>RESILIENT AI ORCHESTRATION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Strict Schema Enforcement: Constrains LLM output into a strict JSON contract (`domain`, `urgency`, `summary`, `actions`), eliminating hallucinated UI payloads.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Indian Jurisprudence Context: Prompt engineering tuned specifically for Indian legal principles (IPC/BNS criminal thresholds, CPC property disputes, family courts).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Multi-Turn Context Window: Maintains a sliding window of the last 10 conversational turns so users can ask contextual follow-ups without re-stating their case.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Deterministic Rule-Based Failover: If the LLM endpoint suffers 429 rate-limiting or 503 gateway timeouts, regex pattern-matching automatically returns vetted legal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447C"/>
                </a:solidFill>
              </a:defRPr>
            </a:pPr>
            <a:r>
              <a:t>SCRAPING &amp; DIRECTORY INGESTION</a:t>
            </a:r>
          </a:p>
          <a:p>
            <a:pPr>
              <a:spcBef>
                <a:spcPts val="100"/>
              </a:spcBef>
              <a:defRPr sz="850" b="1">
                <a:solidFill>
                  <a:srgbClr val="D97706"/>
                </a:solidFill>
              </a:defRPr>
            </a:pPr>
            <a:r>
              <a:t>AUTOMATED KNOWLEDGE ACQUISITION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Cheerio DOM &amp; LD+JSON Crawler: Scrapes legal aggregators (LawRato) using multi-pattern heuristics to extract names, bar experience, ratings, and specialties.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Profile Enrichment &amp; Deduplication: Visits linked individual lawyer profiles to enrich secondary practice fields; deduplicates by slug and standardized full name.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Automated Domain Normalization: Maps arbitrary practice descriptions into 4 canonical legal categories (Criminal, Civil, Family, Property) using keyword taxonomy.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MongoDB Upsert Pipeline: Persists verified advocates into MongoDB with atomic upsert operations, preventing redundant record creation.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447C"/>
                </a:solidFill>
              </a:defRPr>
            </a:pPr>
            <a:r>
              <a:t>TRANSACTION &amp; SECURITY LIFECYCLE</a:t>
            </a:r>
          </a:p>
          <a:p>
            <a:pPr>
              <a:spcBef>
                <a:spcPts val="100"/>
              </a:spcBef>
              <a:defRPr sz="850" b="1">
                <a:solidFill>
                  <a:srgbClr val="D97706"/>
                </a:solidFill>
              </a:defRPr>
            </a:pPr>
            <a:r>
              <a:t>END-TO-END INTEGRITY RAIL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Cryptographic Payment Escrow: Integrates Razorpay Orders API with server-side validation; authenticates consultation transactions with HMAC SHA-256 hashes.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Consultation Slot State Machine: Implements booking status transitions (`pending` -&gt; `confirmed` / `failed`) linked to verified payment IDs.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Session &amp; Privacy Safeguards: User case narratives and consultation history are cached in client-side LocalStorage, avoiding unencrypted storage of sensitive litigation facts.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Emergency Prioritization Router: Autonomous emergency router queries top-rated active advocates with availability=true for critical legal 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FEASIBILITY &amp; VIABILITY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Multidimensional Feasibility &amp; Viability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84048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Client-Side Speech API: Eliminates high-cost cloud audio processing servers; Web Speech API is natively supported in 80%+ modern browsers (Chrome, Edge, Safari).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Asynchronous Node.js Pipeline: Non-blocking event loop handles high-concurrency consultation and triage requests with negligible CPU overhead.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Flexible Document Model: MongoDB handles unstructured lawyer bios, case notes, and dynamic multilingual triage schemas without schema migration bottlenecks.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Zero-Dependency AI Fallback: System continues providing immediate legal guidance even under complete cloud LLM API outage.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8404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ECONOMIC VIABILITY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Minimal Infrastructure Cost: Serverless/lightweight backend running on standard cloud compute; zero per-second audio streaming server costs.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Scalable Unit Economics: API token costs are capped by strict token budgets (max 4096 tokens, temperature 0.35) and client-side conversation caching.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Sustainable Monetization: Platform sustains via nominal convenience fee per confirmed consultation booking (e.g., 5-10%) and premium lawyer profile verification badges.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High Return on Investment: Addresses a massive addressable legal market of 1.4B citizens with practically zero physical branch footprint.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1208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LEGAL &amp; REGULATORY 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53712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Advocates Act 1961 Compliance: Platform acts strictly as an informational triage bridge, not a legal practitioner; clearly marked non-legal advice disclaimers protect against ethics violations.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Bar Council Advertising Norms: Advocate listings are neutral, objective, and directory-based without hyperbolic promotional guarantees, complying with Rule 36 of BCI rules.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Citizen Data Confidentiality: Case summaries are client-cached; sensitive litigation secrets are not permanently logged or sold to third-party ad networks.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Verified Payment Rails: Razorpay integration ensures tax-compliant digital invoices and audit trails for all client-lawyer fee collections.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4114800"/>
            <a:ext cx="5212080" cy="384048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OPERATIONAL &amp; MARKET VIABILITY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53712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Massive Unserved Market: Over 70% of Indian litigants reside in Tier-2, Tier-3, and rural areas where English-only portals fail completely.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Automated Advocate Supply: Scraping pipeline continuously discovers and indexes practicing advocates without requiring manual data entry teams.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Frictionless Onboarding: Guest-checkout allows immediate booking during high-stress crises without forcing account creation or password fatigue.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• Court Decongestion Alignment: Directly complements Govt. of India's Tele-Law and NALSA access-to-justice missions by filtering trivial disputes 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IMPACTS &amp; ECOSYSTEM BENEFITS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Multi-Stakeholder Impacts &amp; Measurable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071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10712" cy="5486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36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FOR CITIZENS &amp; LITIGANTS</a:t>
            </a:r>
          </a:p>
          <a:p>
            <a:pPr>
              <a:defRPr sz="750" b="1">
                <a:solidFill>
                  <a:srgbClr val="F1F5F9"/>
                </a:solidFill>
              </a:defRPr>
            </a:pPr>
            <a:r>
              <a:t>EMPOWERMENT &amp; INCLUSION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0449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80% Reduction in First-Mile Friction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Instant clarity on case domain, urgency, and required paperwork eliminates weeks of confusion and anxiety.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Voice-First Linguistic Freedom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Citizens comfortably narrate problems in Hindi or colloquial speech without needing English typing proficiency.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Elimination of Middleman Exploitation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Direct access to verified advocates with transparent consultation pricing ends tout commissions.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Emergency Safety Net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Instant priority escalation for victims facing imminent arrest, violence, or unlawful eviction.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1071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70832" y="1645920"/>
            <a:ext cx="3410712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691640"/>
            <a:ext cx="3136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FOR ADVOCATES &amp; LEGAL PRACTITIONERS</a:t>
            </a:r>
          </a:p>
          <a:p>
            <a:pPr>
              <a:defRPr sz="750" b="1">
                <a:solidFill>
                  <a:srgbClr val="F1F5F9"/>
                </a:solidFill>
              </a:defRPr>
            </a:pPr>
            <a:r>
              <a:t>PRACTICE EFFICIENCY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30449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Pre-Qualified, Domain-Specific Inquiries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Advocates only receive inquiries matching their specific practice areas (e.g. Criminal vs. Property), ending wasted exploratory calls.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Automated Digital Practice Presence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Legitimate advocates gain digital visibility and client discovery without violating Bar Council advertising restrictions.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Guaranteed Consultation Fee Escrow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Digital booking eliminates unpaid consultations and payment disputes through upfront Razorpay escrow.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Structured Client Briefs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Advocates receive a pre-synthesized AI case summary and timeline before the consultation starts.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1071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10144" y="1645920"/>
            <a:ext cx="3410712" cy="5486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47304" y="1691640"/>
            <a:ext cx="3136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FOR THE JUDICIAL ECOSYSTEM &amp; NATION</a:t>
            </a:r>
          </a:p>
          <a:p>
            <a:pPr>
              <a:defRPr sz="750" b="1">
                <a:solidFill>
                  <a:srgbClr val="F1F5F9"/>
                </a:solidFill>
              </a:defRPr>
            </a:pPr>
            <a:r>
              <a:t>DECONGESTION &amp; PUBLIC 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331720"/>
            <a:ext cx="30449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Reduction in Frivolous Litigation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Early triage informs citizens when their dispute is non-cognizable or better resolved via mediation, saving court resources.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Awareness of Free Legal Aid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Directs underprivileged citizens to legal remedies and rights under Indian statutory frameworks.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Support for Digital India &amp; e-Courts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Acts as the citizen-facing bridge into India's evolving digital justice infrastructure (e-Courts, Tele-Law).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✔ Democratization of Legal Intelligence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Transforms legal knowledge from a privileged luxury into an accessible, everyday public utility.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ROADMAP &amp; REFERENCES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Future Engineering Roadmap &amp; Academic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447C"/>
                </a:solidFill>
              </a:defRPr>
            </a:pPr>
            <a:r>
              <a:t>STRATEGIC FUTURE ROADMAP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• Phase 1: Multi-Regional Indic Voice Expansion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Extend beyond Hindi/English into 8 regional Indian languages (Bengali, Marathi, Tamil, Telugu, Punjabi, Gujarati) via Whisper fine-tuned on Indic dialects.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• Phase 2: Legal Document OCR &amp; Clause Analyzer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Enable citizens to upload FIR copies, property lease agreements, and legal notices; extract critical deadlines, liabilities, and contradictory clauses automatically.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• Phase 3: e-Courts CNR &amp; Live Case Tracking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Integrate directly with Indian e-Courts API to allow litigants to track pending hearing dates, court causes, and daily interim orders via case number (CNR).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• Phase 4: WebRTC In-Browser Encrypted Video Consult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Introduce built-in, peer-to-peer encrypted video consultations and document screen-sharing between advocates and clients directly inside the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ACADEMIC, LEGAL &amp; TECHNICAL REFERENCES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[Law Commission of India (Report No. 245 &amp; 272)]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Recommendations on access to justice, court arrears, and institutional legal aid deployment.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[Advocates Act, 1961 &amp; Bar Council of India (BCI) Rules]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Standards of Professional Conduct and Etiquette (Rule 36 regarding legal directories and dignified publication).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[Ministry of Law and Justice, Govt. of India (2023)]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Tele-Law Programme: Reaching the Unreached through mainstreaming legal aid across Gram Panchayats.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[Google DeepMind &amp; Gemini 2.0 Technical Reports (2024)]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Capabilities in structured multilingual extraction, low-resource NLP, and latency-optimized reasoning.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[W3C Web Speech API Specification (Community Group)]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Standards for in-browser speech recognition (`webkitSpeechRecognition`) and speech synthesis interfaces.</a:t>
            </a:r>
          </a:p>
          <a:p>
            <a:pPr>
              <a:spcBef>
                <a:spcPts val="600"/>
              </a:spcBef>
              <a:defRPr sz="900" b="1">
                <a:solidFill>
                  <a:srgbClr val="0F172A"/>
                </a:solidFill>
              </a:defRPr>
            </a:pPr>
            <a:r>
              <a:t>[Razorpay Developer Platform &amp; RBI Digital Payments Guidelines]</a:t>
            </a:r>
          </a:p>
          <a:p>
            <a:pPr>
              <a:spcBef>
                <a:spcPts val="100"/>
              </a:spcBef>
              <a:defRPr sz="800">
                <a:solidFill>
                  <a:srgbClr val="334155"/>
                </a:solidFill>
              </a:defRPr>
            </a:pPr>
            <a:r>
              <a:t>Cryptographic HMAC SHA-256 signature verification standards and tokenization for online escrow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2442</Words>
  <Application>Microsoft Office PowerPoint</Application>
  <PresentationFormat>Widescreen</PresentationFormat>
  <Paragraphs>202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Gupta</cp:lastModifiedBy>
  <cp:revision>2</cp:revision>
  <dcterms:created xsi:type="dcterms:W3CDTF">2013-01-27T09:14:16Z</dcterms:created>
  <dcterms:modified xsi:type="dcterms:W3CDTF">2026-10-05T09:06:40Z</dcterms:modified>
  <cp:category/>
</cp:coreProperties>
</file>