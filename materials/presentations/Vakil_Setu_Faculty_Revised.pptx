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623a11ecd04283" /><Relationship Type="http://schemas.openxmlformats.org/officeDocument/2006/relationships/extended-properties" Target="/docProps/app.xml" Id="R9bfaaca393654c82" /><Relationship Type="http://schemas.openxmlformats.org/officeDocument/2006/relationships/officeDocument" Target="/ppt/presentation.xml" Id="R6f399f4ab2f44099" /></Relationships>
</file>

<file path=ppt/presentation.xml><?xml version="1.0" encoding="utf-8"?>
<p:presentation xmlns:p="http://schemas.openxmlformats.org/presentationml/2006/main">
  <p:sldMasterIdLst>
    <p:sldMasterId xmlns:r="http://schemas.openxmlformats.org/officeDocument/2006/relationships" id="2147483648" r:id="R0ddbf1e78be640c9"/>
  </p:sldMasterIdLst>
  <p:notesMasterIdLst>
    <p:notesMasterId xmlns:r="http://schemas.openxmlformats.org/officeDocument/2006/relationships" r:id="R94153e98382a4ca7"/>
  </p:notesMasterIdLst>
  <p:sldIdLst>
    <p:sldId xmlns:r="http://schemas.openxmlformats.org/officeDocument/2006/relationships" id="256" r:id="R5ce9e6c986654847"/>
    <p:sldId xmlns:r="http://schemas.openxmlformats.org/officeDocument/2006/relationships" id="257" r:id="R24900f36802e490f"/>
    <p:sldId xmlns:r="http://schemas.openxmlformats.org/officeDocument/2006/relationships" id="258" r:id="R7dc484565e444dec"/>
    <p:sldId xmlns:r="http://schemas.openxmlformats.org/officeDocument/2006/relationships" id="259" r:id="R51e5c324e8504ed0"/>
    <p:sldId xmlns:r="http://schemas.openxmlformats.org/officeDocument/2006/relationships" id="260" r:id="Rb79736328be040ba"/>
    <p:sldId xmlns:r="http://schemas.openxmlformats.org/officeDocument/2006/relationships" id="261" r:id="Re694745ff7a24fbe"/>
    <p:sldId xmlns:r="http://schemas.openxmlformats.org/officeDocument/2006/relationships" id="262" r:id="R6140808a8dbf40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8d5ecbb0514a65" /><Relationship Type="http://schemas.openxmlformats.org/officeDocument/2006/relationships/slideMaster" Target="/ppt/slideMasters/slideMaster1.xml" Id="R0ddbf1e78be640c9" /><Relationship Type="http://schemas.openxmlformats.org/officeDocument/2006/relationships/notesMaster" Target="/ppt/notesMasters/notesMaster1.xml" Id="R94153e98382a4ca7" /><Relationship Type="http://schemas.openxmlformats.org/officeDocument/2006/relationships/presProps" Target="/ppt/presProps.xml" Id="R2eac4b2bb1064e26" /><Relationship Type="http://schemas.openxmlformats.org/officeDocument/2006/relationships/tableStyles" Target="/ppt/tableStyles.xml" Id="R6952b648daa64ccb" /><Relationship Type="http://schemas.openxmlformats.org/officeDocument/2006/relationships/slide" Target="/ppt/slides/slide1.xml" Id="R5ce9e6c986654847" /><Relationship Type="http://schemas.openxmlformats.org/officeDocument/2006/relationships/slide" Target="/ppt/slides/slide2.xml" Id="R24900f36802e490f" /><Relationship Type="http://schemas.openxmlformats.org/officeDocument/2006/relationships/slide" Target="/ppt/slides/slide3.xml" Id="R7dc484565e444dec" /><Relationship Type="http://schemas.openxmlformats.org/officeDocument/2006/relationships/slide" Target="/ppt/slides/slide4.xml" Id="R51e5c324e8504ed0" /><Relationship Type="http://schemas.openxmlformats.org/officeDocument/2006/relationships/slide" Target="/ppt/slides/slide5.xml" Id="Rb79736328be040ba" /><Relationship Type="http://schemas.openxmlformats.org/officeDocument/2006/relationships/slide" Target="/ppt/slides/slide6.xml" Id="Re694745ff7a24fbe" /><Relationship Type="http://schemas.openxmlformats.org/officeDocument/2006/relationships/slide" Target="/ppt/slides/slide7.xml" Id="R6140808a8dbf40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dd43d0ffbf43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fef84bd9c84ccf" /><Relationship Type="http://schemas.openxmlformats.org/officeDocument/2006/relationships/notesMaster" Target="/ppt/notesMasters/notesMaster1.xml" Id="R096a22323c8442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3a2399eb1a424e" /><Relationship Type="http://schemas.openxmlformats.org/officeDocument/2006/relationships/notesMaster" Target="/ppt/notesMasters/notesMaster1.xml" Id="R5edd109f36d941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0b0aea90ac4015" /><Relationship Type="http://schemas.openxmlformats.org/officeDocument/2006/relationships/notesMaster" Target="/ppt/notesMasters/notesMaster1.xml" Id="R2a974af898ec4b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6b366638c449a3" /><Relationship Type="http://schemas.openxmlformats.org/officeDocument/2006/relationships/notesMaster" Target="/ppt/notesMasters/notesMaster1.xml" Id="R649b4ba24cb24d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6e02d333a74c6f" /><Relationship Type="http://schemas.openxmlformats.org/officeDocument/2006/relationships/notesMaster" Target="/ppt/notesMasters/notesMaster1.xml" Id="R24a822125bc94f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b2aa806e2a46bf" /><Relationship Type="http://schemas.openxmlformats.org/officeDocument/2006/relationships/notesMaster" Target="/ppt/notesMasters/notesMaster1.xml" Id="R1c29b66ca91a49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1ea544a59d4973" /><Relationship Type="http://schemas.openxmlformats.org/officeDocument/2006/relationships/notesMaster" Target="/ppt/notesMasters/notesMaster1.xml" Id="Rc0a83df2cc7043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these as the user problems the project addresses. No numerical prevalence or survey finding is claimed. The product aims to help with initial orientation and discovery, while professional consultation handles case-specific advice.</a:t>
            </a:r>
          </a:p>
          <a:p xmlns:a="http://schemas.openxmlformats.org/drawingml/2006/main">
            <a:r>
              <a:t/>
            </a:r>
          </a:p>
          <a:p xmlns:a="http://schemas.openxmlformats.org/drawingml/2006/main">
            <a:r>
              <a:t>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solution as the planned complete experience. Hindi belongs to the set of 22 scheduled languages. Retaining English makes 23 language choices in total. Support includes speech recognition, understandable responses, spoken output and interface localization. The information provided is preliminary, with case-specific advice handled by an advocate.</a:t>
            </a:r>
          </a:p>
          <a:p xmlns:a="http://schemas.openxmlformats.org/drawingml/2006/main">
            <a:r>
              <a:t/>
            </a:r>
          </a:p>
          <a:p xmlns:a="http://schemas.openxmlformats.org/drawingml/2006/main">
            <a:r>
              <a:t>Sources: https://www.mha.gov.in/sites/default/files/Eighth_Schedule.pdf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system as a target architecture. The browser captures user input and displays returned responses. The Express server calls AI and language providers, performs matching, manages records and coordinates payments. MongoDB does not call providers directly. Authentication, consent records and reliable payment status handling are part of the proposed implementation. Provider choices remain subject to evaluation. The response node represents presentation of returned results, not a second independent application.</a:t>
            </a:r>
          </a:p>
          <a:p xmlns:a="http://schemas.openxmlformats.org/drawingml/2006/main">
            <a:r>
              <a:t/>
            </a:r>
          </a:p>
          <a:p xmlns:a="http://schemas.openxmlformats.org/drawingml/2006/main">
            <a:r>
              <a:t>Sources: Proposed architecture informed by project technical materials</a:t>
            </a:r>
          </a:p>
          <a:p xmlns:a="http://schemas.openxmlformats.org/drawingml/2006/main">
            <a:r>
              <a:t>https://bhashini.gov.in/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 converts speech to text. TTS generates spoken output. Compare direct multilingual analysis with translation-based processing for each language. Validation checks structure and preservation of facts, but it cannot guarantee legal correctness. Include qualified review and uncertainty handling. Use the same scenario across languages to compare results. No model accuracy or response-time result is claimed.</a:t>
            </a:r>
          </a:p>
          <a:p xmlns:a="http://schemas.openxmlformats.org/drawingml/2006/main">
            <a:r>
              <a:t/>
            </a:r>
          </a:p>
          <a:p xmlns:a="http://schemas.openxmlformats.org/drawingml/2006/main">
            <a:r>
              <a:t>Sources: https://bhashini.gov.in/</a:t>
            </a:r>
          </a:p>
          <a:p xmlns:a="http://schemas.openxmlformats.org/drawingml/2006/main">
            <a:r>
              <a:t>Proposed processing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feasibility relies on mature application technologies, but language quality and live service availability still require testing. BHASHINI is one candidate ecosystem to evaluate, not a guaranteed fit for all modalities. Measure cost per completed case from audio duration, API usage, model tokens, hosting allocation and retries. Payment and consultation costs are separate. No profit margin, budget, timeline or benchmark is supplied. Agree acceptance thresholds with faculty and reviewers before evaluation. Test provider outages, noisy audio, mixed-language input and payment failures.</a:t>
            </a:r>
          </a:p>
          <a:p xmlns:a="http://schemas.openxmlformats.org/drawingml/2006/main">
            <a:r>
              <a:t/>
            </a:r>
          </a:p>
          <a:p xmlns:a="http://schemas.openxmlformats.org/drawingml/2006/main">
            <a:r>
              <a:t>Sources: https://bhashini.gov.in/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beneficiaries include people seeking initial legal orientation, users more comfortable speaking than typing and advocates receiving consultation requests. Evaluate benefits through task completion, comprehension checks, matching relevance and successful bookings. Do not claim reduced court backlog, faster judgments or measured social impact without evidence.</a:t>
            </a:r>
          </a:p>
          <a:p xmlns:a="http://schemas.openxmlformats.org/drawingml/2006/main">
            <a:r>
              <a:t/>
            </a:r>
          </a:p>
          <a:p xmlns:a="http://schemas.openxmlformats.org/drawingml/2006/main">
            <a:r>
              <a:t>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official language list supports the scope statement. BHASHINI is a candidate service ecosystem. The framework links are implementation documentation, not evidence of tested project performance. The supplied NaN.pdf informs the visual theme only. No affiliation or claims from that document are transferred.</a:t>
            </a:r>
          </a:p>
          <a:p xmlns:a="http://schemas.openxmlformats.org/drawingml/2006/main">
            <a:r>
              <a:t/>
            </a:r>
          </a:p>
          <a:p xmlns:a="http://schemas.openxmlformats.org/drawingml/2006/main">
            <a:r>
              <a:t>Sources: https://www.mha.gov.in/sites/default/files/Eighth_Schedule.pdf</a:t>
            </a:r>
          </a:p>
          <a:p xmlns:a="http://schemas.openxmlformats.org/drawingml/2006/main">
            <a:r>
              <a:t>https://bhashini.gov.in/</a:t>
            </a:r>
          </a:p>
          <a:p xmlns:a="http://schemas.openxmlformats.org/drawingml/2006/main">
            <a:r>
              <a:t>https://react.dev/</a:t>
            </a:r>
          </a:p>
          <a:p xmlns:a="http://schemas.openxmlformats.org/drawingml/2006/main">
            <a:r>
              <a:t>https://expressjs.com/</a:t>
            </a:r>
          </a:p>
          <a:p xmlns:a="http://schemas.openxmlformats.org/drawingml/2006/main">
            <a:r>
              <a:t>https://www.mongodb.com/docs/</a:t>
            </a:r>
          </a:p>
          <a:p xmlns:a="http://schemas.openxmlformats.org/drawingml/2006/main">
            <a:r>
              <a:t>https://razorpay.com/docs/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3ec7303eb9405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f58784aca94f44" /><Relationship Type="http://schemas.openxmlformats.org/officeDocument/2006/relationships/slideLayout" Target="/ppt/slideLayouts/slideLayout1.xml" Id="R571bb76b9b2440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1bb76b9b2440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11702fc9e04df2" /><Relationship Type="http://schemas.openxmlformats.org/officeDocument/2006/relationships/notesSlide" Target="/ppt/notesSlides/notesSlide1.xml" Id="R75efda6fbcba4b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b68ec9d2784418" /><Relationship Type="http://schemas.openxmlformats.org/officeDocument/2006/relationships/notesSlide" Target="/ppt/notesSlides/notesSlide2.xml" Id="Rac206fc5f8b34b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8963e33e134360" /><Relationship Type="http://schemas.openxmlformats.org/officeDocument/2006/relationships/notesSlide" Target="/ppt/notesSlides/notesSlide3.xml" Id="Rba3b45d9209c4d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94ea0ec14c4a5a" /><Relationship Type="http://schemas.openxmlformats.org/officeDocument/2006/relationships/notesSlide" Target="/ppt/notesSlides/notesSlide4.xml" Id="R52e6adba23944d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4c7449d73604a7b" /><Relationship Type="http://schemas.openxmlformats.org/officeDocument/2006/relationships/notesSlide" Target="/ppt/notesSlides/notesSlide5.xml" Id="R4173b009afdc4c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d34e0098d245f5" /><Relationship Type="http://schemas.openxmlformats.org/officeDocument/2006/relationships/notesSlide" Target="/ppt/notesSlides/notesSlide6.xml" Id="Rab4befa7496d4c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ed8ba85e9c45f9" /><Relationship Type="http://schemas.openxmlformats.org/officeDocument/2006/relationships/notesSlide" Target="/ppt/notesSlides/notesSlide7.xml" Id="R77155c5fbcc9448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F0035CE-7688-4948-99AC-25D59E6B4063}"/>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5EB92F23-E334-4D6C-B99A-E25F2FBB9519}"/>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PROBLEM STATEMENT</a:t>
            </a:r>
          </a:p>
        </p:txBody>
      </p:sp>
      <p:sp>
        <p:nvSpPr>
          <p:cNvPr id="3" name="">
            <a:extLst xmlns:a="http://schemas.openxmlformats.org/drawingml/2006/main">
              <a:ext uri="{FF2B5EF4-FFF2-40B4-BE49-F238E27FC236}">
                <a16:creationId xmlns:a16="http://schemas.microsoft.com/office/drawing/2014/main" id="{1CDEC736-767C-4FA4-A9E5-B4BC49E82ED7}"/>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Accessible first-step legal assistance across Indian languages</a:t>
            </a:r>
          </a:p>
        </p:txBody>
      </p:sp>
      <p:sp>
        <p:nvSpPr>
          <p:cNvPr id="4" name="">
            <a:extLst xmlns:a="http://schemas.openxmlformats.org/drawingml/2006/main">
              <a:ext uri="{FF2B5EF4-FFF2-40B4-BE49-F238E27FC236}">
                <a16:creationId xmlns:a16="http://schemas.microsoft.com/office/drawing/2014/main" id="{B115A2D1-38E2-45E4-8EE1-13D731075294}"/>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0B8916-9D92-4B75-86FF-EE0795D011CE}"/>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Faculty project review</a:t>
            </a:r>
          </a:p>
        </p:txBody>
      </p:sp>
      <p:sp>
        <p:nvSpPr>
          <p:cNvPr id="6" name="">
            <a:extLst xmlns:a="http://schemas.openxmlformats.org/drawingml/2006/main">
              <a:ext uri="{FF2B5EF4-FFF2-40B4-BE49-F238E27FC236}">
                <a16:creationId xmlns:a16="http://schemas.microsoft.com/office/drawing/2014/main" id="{427F596E-1220-4D49-A9AC-EA1F5C1B75B4}"/>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B308EDAC-EA12-436B-9A77-5A795B208066}"/>
              </a:ext>
            </a:extLst>
          </p:cNvPr>
          <p:cNvSpPr>
            <a:spLocks xmlns:a="http://schemas.openxmlformats.org/drawingml/2006/main" noGrp="1"/>
          </p:cNvSpPr>
          <p:nvPr/>
        </p:nvSpPr>
        <p:spPr>
          <a:xfrm xmlns:a="http://schemas.openxmlformats.org/drawingml/2006/main">
            <a:off x="485775" y="1838325"/>
            <a:ext cx="112109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Arial"/>
                <a:ea typeface="Arial"/>
                <a:cs typeface="Arial"/>
              </a:defRPr>
            </a:pPr>
            <a:r>
              <a:rPr sz="2625" b="1">
                <a:solidFill>
                  <a:srgbClr val="203F91"/>
                </a:solidFill>
                <a:latin typeface="Arial"/>
                <a:ea typeface="Arial"/>
                <a:cs typeface="Arial"/>
              </a:rPr>
              <a:t>How can a person explain a legal problem,</a:t>
            </a:r>
          </a:p>
          <a:p xmlns:a="http://schemas.openxmlformats.org/drawingml/2006/main">
            <a:pPr algn="l">
              <a:defRPr sz="2625" b="1">
                <a:solidFill>
                  <a:srgbClr val="203F91"/>
                </a:solidFill>
                <a:latin typeface="Arial"/>
                <a:ea typeface="Arial"/>
                <a:cs typeface="Arial"/>
              </a:defRPr>
            </a:pPr>
            <a:r>
              <a:rPr sz="2625" b="1">
                <a:solidFill>
                  <a:srgbClr val="203F91"/>
                </a:solidFill>
                <a:latin typeface="Arial"/>
                <a:ea typeface="Arial"/>
                <a:cs typeface="Arial"/>
              </a:rPr>
              <a:t>understand the next step and reach an advocate</a:t>
            </a:r>
          </a:p>
          <a:p xmlns:a="http://schemas.openxmlformats.org/drawingml/2006/main">
            <a:pPr algn="l">
              <a:defRPr sz="2625" b="1">
                <a:solidFill>
                  <a:srgbClr val="203F91"/>
                </a:solidFill>
                <a:latin typeface="Arial"/>
                <a:ea typeface="Arial"/>
                <a:cs typeface="Arial"/>
              </a:defRPr>
            </a:pPr>
            <a:r>
              <a:rPr sz="2625" b="1">
                <a:solidFill>
                  <a:srgbClr val="203F91"/>
                </a:solidFill>
                <a:latin typeface="Arial"/>
                <a:ea typeface="Arial"/>
                <a:cs typeface="Arial"/>
              </a:rPr>
              <a:t>in a language they are comfortable using?</a:t>
            </a:r>
          </a:p>
        </p:txBody>
      </p:sp>
      <p:sp>
        <p:nvSpPr>
          <p:cNvPr id="8" name="">
            <a:extLst xmlns:a="http://schemas.openxmlformats.org/drawingml/2006/main">
              <a:ext uri="{FF2B5EF4-FFF2-40B4-BE49-F238E27FC236}">
                <a16:creationId xmlns:a16="http://schemas.microsoft.com/office/drawing/2014/main" id="{05E92189-FE2F-4B89-9900-8B45A7E08F3E}"/>
              </a:ext>
            </a:extLst>
          </p:cNvPr>
          <p:cNvSpPr>
            <a:spLocks xmlns:a="http://schemas.openxmlformats.org/drawingml/2006/main" noGrp="1"/>
          </p:cNvSpPr>
          <p:nvPr/>
        </p:nvSpPr>
        <p:spPr>
          <a:xfrm xmlns:a="http://schemas.openxmlformats.org/drawingml/2006/main">
            <a:off x="457200" y="3762375"/>
            <a:ext cx="347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LANGUAGE BARRIER</a:t>
            </a:r>
          </a:p>
        </p:txBody>
      </p:sp>
      <p:sp>
        <p:nvSpPr>
          <p:cNvPr id="9" name="">
            <a:extLst xmlns:a="http://schemas.openxmlformats.org/drawingml/2006/main">
              <a:ext uri="{FF2B5EF4-FFF2-40B4-BE49-F238E27FC236}">
                <a16:creationId xmlns:a16="http://schemas.microsoft.com/office/drawing/2014/main" id="{4715EE86-2CD4-4029-9E62-C148C7E57310}"/>
              </a:ext>
            </a:extLst>
          </p:cNvPr>
          <p:cNvSpPr>
            <a:spLocks xmlns:a="http://schemas.openxmlformats.org/drawingml/2006/main" noGrp="1"/>
          </p:cNvSpPr>
          <p:nvPr/>
        </p:nvSpPr>
        <p:spPr>
          <a:xfrm xmlns:a="http://schemas.openxmlformats.org/drawingml/2006/main">
            <a:off x="457200" y="4105275"/>
            <a:ext cx="34766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C926239-B332-4184-802F-C7B6805D755A}"/>
              </a:ext>
            </a:extLst>
          </p:cNvPr>
          <p:cNvSpPr>
            <a:spLocks xmlns:a="http://schemas.openxmlformats.org/drawingml/2006/main" noGrp="1"/>
          </p:cNvSpPr>
          <p:nvPr/>
        </p:nvSpPr>
        <p:spPr>
          <a:xfrm xmlns:a="http://schemas.openxmlformats.org/drawingml/2006/main">
            <a:off x="4333875" y="3762375"/>
            <a:ext cx="347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LEGAL COMPLEXITY</a:t>
            </a:r>
          </a:p>
        </p:txBody>
      </p:sp>
      <p:sp>
        <p:nvSpPr>
          <p:cNvPr id="11" name="">
            <a:extLst xmlns:a="http://schemas.openxmlformats.org/drawingml/2006/main">
              <a:ext uri="{FF2B5EF4-FFF2-40B4-BE49-F238E27FC236}">
                <a16:creationId xmlns:a16="http://schemas.microsoft.com/office/drawing/2014/main" id="{DC9EF6F1-D86E-4119-8217-1FAAF00CD95B}"/>
              </a:ext>
            </a:extLst>
          </p:cNvPr>
          <p:cNvSpPr>
            <a:spLocks xmlns:a="http://schemas.openxmlformats.org/drawingml/2006/main" noGrp="1"/>
          </p:cNvSpPr>
          <p:nvPr/>
        </p:nvSpPr>
        <p:spPr>
          <a:xfrm xmlns:a="http://schemas.openxmlformats.org/drawingml/2006/main">
            <a:off x="4333875" y="4105275"/>
            <a:ext cx="34766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F9D0035-1703-4D8C-AE7F-BF5AE766D5A0}"/>
              </a:ext>
            </a:extLst>
          </p:cNvPr>
          <p:cNvSpPr>
            <a:spLocks xmlns:a="http://schemas.openxmlformats.org/drawingml/2006/main" noGrp="1"/>
          </p:cNvSpPr>
          <p:nvPr/>
        </p:nvSpPr>
        <p:spPr>
          <a:xfrm xmlns:a="http://schemas.openxmlformats.org/drawingml/2006/main">
            <a:off x="8210550" y="3762375"/>
            <a:ext cx="35147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ADVOCATE DISCOVERY</a:t>
            </a:r>
          </a:p>
        </p:txBody>
      </p:sp>
      <p:sp>
        <p:nvSpPr>
          <p:cNvPr id="13" name="">
            <a:extLst xmlns:a="http://schemas.openxmlformats.org/drawingml/2006/main">
              <a:ext uri="{FF2B5EF4-FFF2-40B4-BE49-F238E27FC236}">
                <a16:creationId xmlns:a16="http://schemas.microsoft.com/office/drawing/2014/main" id="{A34EBEC7-62D8-4AC3-A009-E5EFC8877512}"/>
              </a:ext>
            </a:extLst>
          </p:cNvPr>
          <p:cNvSpPr>
            <a:spLocks xmlns:a="http://schemas.openxmlformats.org/drawingml/2006/main" noGrp="1"/>
          </p:cNvSpPr>
          <p:nvPr/>
        </p:nvSpPr>
        <p:spPr>
          <a:xfrm xmlns:a="http://schemas.openxmlformats.org/drawingml/2006/main">
            <a:off x="8210550" y="4105275"/>
            <a:ext cx="35147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45689DA-B5F1-492E-B539-2B92EA304546}"/>
              </a:ext>
            </a:extLst>
          </p:cNvPr>
          <p:cNvSpPr>
            <a:spLocks xmlns:a="http://schemas.openxmlformats.org/drawingml/2006/main" noGrp="1"/>
          </p:cNvSpPr>
          <p:nvPr/>
        </p:nvSpPr>
        <p:spPr>
          <a:xfrm xmlns:a="http://schemas.openxmlformats.org/drawingml/2006/main">
            <a:off x="476250" y="4324350"/>
            <a:ext cx="34385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72237"/>
                </a:solidFill>
                <a:latin typeface="Arial"/>
                <a:ea typeface="Arial"/>
                <a:cs typeface="Arial"/>
              </a:defRPr>
            </a:pPr>
            <a:r>
              <a:rPr sz="1875" b="0">
                <a:solidFill>
                  <a:srgbClr val="172237"/>
                </a:solidFill>
                <a:latin typeface="Arial"/>
                <a:ea typeface="Arial"/>
                <a:cs typeface="Arial"/>
              </a:rPr>
              <a:t>People may struggle to describe facts through an unfamiliar language or interface.</a:t>
            </a:r>
          </a:p>
        </p:txBody>
      </p:sp>
      <p:sp>
        <p:nvSpPr>
          <p:cNvPr id="15" name="">
            <a:extLst xmlns:a="http://schemas.openxmlformats.org/drawingml/2006/main">
              <a:ext uri="{FF2B5EF4-FFF2-40B4-BE49-F238E27FC236}">
                <a16:creationId xmlns:a16="http://schemas.microsoft.com/office/drawing/2014/main" id="{3A67AEDA-E088-488A-82A6-A2BCB40854DE}"/>
              </a:ext>
            </a:extLst>
          </p:cNvPr>
          <p:cNvSpPr>
            <a:spLocks xmlns:a="http://schemas.openxmlformats.org/drawingml/2006/main" noGrp="1"/>
          </p:cNvSpPr>
          <p:nvPr/>
        </p:nvSpPr>
        <p:spPr>
          <a:xfrm xmlns:a="http://schemas.openxmlformats.org/drawingml/2006/main">
            <a:off x="4352925" y="4324350"/>
            <a:ext cx="34385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72237"/>
                </a:solidFill>
                <a:latin typeface="Arial"/>
                <a:ea typeface="Arial"/>
                <a:cs typeface="Arial"/>
              </a:defRPr>
            </a:pPr>
            <a:r>
              <a:rPr sz="1875" b="0">
                <a:solidFill>
                  <a:srgbClr val="172237"/>
                </a:solidFill>
                <a:latin typeface="Arial"/>
                <a:ea typeface="Arial"/>
                <a:cs typeface="Arial"/>
              </a:rPr>
              <a:t>Users may not know the issue category, urgency or information they should prepare.</a:t>
            </a:r>
          </a:p>
        </p:txBody>
      </p:sp>
      <p:sp>
        <p:nvSpPr>
          <p:cNvPr id="16" name="">
            <a:extLst xmlns:a="http://schemas.openxmlformats.org/drawingml/2006/main">
              <a:ext uri="{FF2B5EF4-FFF2-40B4-BE49-F238E27FC236}">
                <a16:creationId xmlns:a16="http://schemas.microsoft.com/office/drawing/2014/main" id="{908AAF1F-968C-4970-9E5E-428B39070440}"/>
              </a:ext>
            </a:extLst>
          </p:cNvPr>
          <p:cNvSpPr>
            <a:spLocks xmlns:a="http://schemas.openxmlformats.org/drawingml/2006/main" noGrp="1"/>
          </p:cNvSpPr>
          <p:nvPr/>
        </p:nvSpPr>
        <p:spPr>
          <a:xfrm xmlns:a="http://schemas.openxmlformats.org/drawingml/2006/main">
            <a:off x="8229600" y="4324350"/>
            <a:ext cx="345757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72237"/>
                </a:solidFill>
                <a:latin typeface="Arial"/>
                <a:ea typeface="Arial"/>
                <a:cs typeface="Arial"/>
              </a:defRPr>
            </a:pPr>
            <a:r>
              <a:rPr sz="1875" b="0">
                <a:solidFill>
                  <a:srgbClr val="172237"/>
                </a:solidFill>
                <a:latin typeface="Arial"/>
                <a:ea typeface="Arial"/>
                <a:cs typeface="Arial"/>
              </a:rPr>
              <a:t>Finding relevant expertise and a shared language adds another step before consultation.</a:t>
            </a:r>
          </a:p>
        </p:txBody>
      </p:sp>
      <p:sp>
        <p:nvSpPr>
          <p:cNvPr id="17" name="">
            <a:extLst xmlns:a="http://schemas.openxmlformats.org/drawingml/2006/main">
              <a:ext uri="{FF2B5EF4-FFF2-40B4-BE49-F238E27FC236}">
                <a16:creationId xmlns:a16="http://schemas.microsoft.com/office/drawing/2014/main" id="{53DCA831-4C7A-449A-B492-D5B219F4E4FA}"/>
              </a:ext>
            </a:extLst>
          </p:cNvPr>
          <p:cNvSpPr>
            <a:spLocks xmlns:a="http://schemas.openxmlformats.org/drawingml/2006/main" noGrp="1"/>
          </p:cNvSpPr>
          <p:nvPr/>
        </p:nvSpPr>
        <p:spPr>
          <a:xfrm xmlns:a="http://schemas.openxmlformats.org/drawingml/2006/main">
            <a:off x="466725" y="5848350"/>
            <a:ext cx="11258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D77A00"/>
                </a:solidFill>
                <a:latin typeface="Arial"/>
                <a:ea typeface="Arial"/>
                <a:cs typeface="Arial"/>
              </a:defRPr>
            </a:pPr>
            <a:r>
              <a:rPr sz="1725" b="1">
                <a:solidFill>
                  <a:srgbClr val="D77A00"/>
                </a:solidFill>
                <a:latin typeface="Arial"/>
                <a:ea typeface="Arial"/>
                <a:cs typeface="Arial"/>
              </a:rPr>
              <a:t>Project objective: a multilingual voice interface that connects initial guidance with advocate access.</a:t>
            </a:r>
          </a:p>
        </p:txBody>
      </p:sp>
    </p:spTree>
    <p:extLst>
      <p:ext uri="{BB962C8B-B14F-4D97-AF65-F5344CB8AC3E}">
        <p14:creationId xmlns:p14="http://schemas.microsoft.com/office/powerpoint/2010/main" val="15672981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5D7E2A1-62E1-4404-A252-764EA8F584E3}"/>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9DB11EFC-4868-4D31-97C8-82E3F1F06469}"/>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SOLUTION</a:t>
            </a:r>
          </a:p>
        </p:txBody>
      </p:sp>
      <p:sp>
        <p:nvSpPr>
          <p:cNvPr id="3" name="">
            <a:extLst xmlns:a="http://schemas.openxmlformats.org/drawingml/2006/main">
              <a:ext uri="{FF2B5EF4-FFF2-40B4-BE49-F238E27FC236}">
                <a16:creationId xmlns:a16="http://schemas.microsoft.com/office/drawing/2014/main" id="{EA15C336-5C61-4EEA-91AC-5BA47141CE26}"/>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Vakil Setu: voice-based legal assistance and advocate access</a:t>
            </a:r>
          </a:p>
        </p:txBody>
      </p:sp>
      <p:sp>
        <p:nvSpPr>
          <p:cNvPr id="4" name="">
            <a:extLst xmlns:a="http://schemas.openxmlformats.org/drawingml/2006/main">
              <a:ext uri="{FF2B5EF4-FFF2-40B4-BE49-F238E27FC236}">
                <a16:creationId xmlns:a16="http://schemas.microsoft.com/office/drawing/2014/main" id="{53BDC43F-30B6-453E-8BD8-B22CBE28057F}"/>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FB0FFF-0E8D-47E2-A6EF-E4107554790D}"/>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Faculty project review</a:t>
            </a:r>
          </a:p>
        </p:txBody>
      </p:sp>
      <p:sp>
        <p:nvSpPr>
          <p:cNvPr id="6" name="">
            <a:extLst xmlns:a="http://schemas.openxmlformats.org/drawingml/2006/main">
              <a:ext uri="{FF2B5EF4-FFF2-40B4-BE49-F238E27FC236}">
                <a16:creationId xmlns:a16="http://schemas.microsoft.com/office/drawing/2014/main" id="{5A7025CA-C25F-4B84-855E-AC57F599BE7F}"/>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AA8A31DA-B8AC-46BC-9BA6-1B0CCFC5B550}"/>
              </a:ext>
            </a:extLst>
          </p:cNvPr>
          <p:cNvSpPr>
            <a:spLocks xmlns:a="http://schemas.openxmlformats.org/drawingml/2006/main" noGrp="1"/>
          </p:cNvSpPr>
          <p:nvPr/>
        </p:nvSpPr>
        <p:spPr>
          <a:xfrm xmlns:a="http://schemas.openxmlformats.org/drawingml/2006/main">
            <a:off x="457200" y="2028825"/>
            <a:ext cx="2400300" cy="15144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8" name="">
            <a:extLst xmlns:a="http://schemas.openxmlformats.org/drawingml/2006/main">
              <a:ext uri="{FF2B5EF4-FFF2-40B4-BE49-F238E27FC236}">
                <a16:creationId xmlns:a16="http://schemas.microsoft.com/office/drawing/2014/main" id="{C8F17798-BF9F-4384-B351-9ECAAC7D6860}"/>
              </a:ext>
            </a:extLst>
          </p:cNvPr>
          <p:cNvSpPr>
            <a:spLocks xmlns:a="http://schemas.openxmlformats.org/drawingml/2006/main" noGrp="1"/>
          </p:cNvSpPr>
          <p:nvPr/>
        </p:nvSpPr>
        <p:spPr>
          <a:xfrm xmlns:a="http://schemas.openxmlformats.org/drawingml/2006/main">
            <a:off x="590550" y="214312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Describe</a:t>
            </a:r>
          </a:p>
        </p:txBody>
      </p:sp>
      <p:sp>
        <p:nvSpPr>
          <p:cNvPr id="9" name="">
            <a:extLst xmlns:a="http://schemas.openxmlformats.org/drawingml/2006/main">
              <a:ext uri="{FF2B5EF4-FFF2-40B4-BE49-F238E27FC236}">
                <a16:creationId xmlns:a16="http://schemas.microsoft.com/office/drawing/2014/main" id="{2D595015-6629-45EC-8F39-2CDF65249398}"/>
              </a:ext>
            </a:extLst>
          </p:cNvPr>
          <p:cNvSpPr>
            <a:spLocks xmlns:a="http://schemas.openxmlformats.org/drawingml/2006/main" noGrp="1"/>
          </p:cNvSpPr>
          <p:nvPr/>
        </p:nvSpPr>
        <p:spPr>
          <a:xfrm xmlns:a="http://schemas.openxmlformats.org/drawingml/2006/main">
            <a:off x="590550" y="2514600"/>
            <a:ext cx="213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Speak or type the problem in a preferred language</a:t>
            </a:r>
          </a:p>
        </p:txBody>
      </p:sp>
      <p:sp>
        <p:nvSpPr>
          <p:cNvPr id="10" name="">
            <a:extLst xmlns:a="http://schemas.openxmlformats.org/drawingml/2006/main">
              <a:ext uri="{FF2B5EF4-FFF2-40B4-BE49-F238E27FC236}">
                <a16:creationId xmlns:a16="http://schemas.microsoft.com/office/drawing/2014/main" id="{C879D6D8-037E-467E-BAFE-AE666EC3452E}"/>
              </a:ext>
            </a:extLst>
          </p:cNvPr>
          <p:cNvSpPr>
            <a:spLocks xmlns:a="http://schemas.openxmlformats.org/drawingml/2006/main" noGrp="1"/>
          </p:cNvSpPr>
          <p:nvPr/>
        </p:nvSpPr>
        <p:spPr>
          <a:xfrm xmlns:a="http://schemas.openxmlformats.org/drawingml/2006/main">
            <a:off x="3419475" y="2028825"/>
            <a:ext cx="2400300" cy="15144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1" name="">
            <a:extLst xmlns:a="http://schemas.openxmlformats.org/drawingml/2006/main">
              <a:ext uri="{FF2B5EF4-FFF2-40B4-BE49-F238E27FC236}">
                <a16:creationId xmlns:a16="http://schemas.microsoft.com/office/drawing/2014/main" id="{C47C0A91-257E-4B6A-9E31-0F5A41380963}"/>
              </a:ext>
            </a:extLst>
          </p:cNvPr>
          <p:cNvSpPr>
            <a:spLocks xmlns:a="http://schemas.openxmlformats.org/drawingml/2006/main" noGrp="1"/>
          </p:cNvSpPr>
          <p:nvPr/>
        </p:nvSpPr>
        <p:spPr>
          <a:xfrm xmlns:a="http://schemas.openxmlformats.org/drawingml/2006/main">
            <a:off x="3552825" y="214312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Understand</a:t>
            </a:r>
          </a:p>
        </p:txBody>
      </p:sp>
      <p:sp>
        <p:nvSpPr>
          <p:cNvPr id="12" name="">
            <a:extLst xmlns:a="http://schemas.openxmlformats.org/drawingml/2006/main">
              <a:ext uri="{FF2B5EF4-FFF2-40B4-BE49-F238E27FC236}">
                <a16:creationId xmlns:a16="http://schemas.microsoft.com/office/drawing/2014/main" id="{F16C542F-B2BA-4FFE-8190-3163DD47D1AC}"/>
              </a:ext>
            </a:extLst>
          </p:cNvPr>
          <p:cNvSpPr>
            <a:spLocks xmlns:a="http://schemas.openxmlformats.org/drawingml/2006/main" noGrp="1"/>
          </p:cNvSpPr>
          <p:nvPr/>
        </p:nvSpPr>
        <p:spPr>
          <a:xfrm xmlns:a="http://schemas.openxmlformats.org/drawingml/2006/main">
            <a:off x="3552825" y="2514600"/>
            <a:ext cx="213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Receive a short explanation, category and urgency</a:t>
            </a:r>
          </a:p>
        </p:txBody>
      </p:sp>
      <p:sp>
        <p:nvSpPr>
          <p:cNvPr id="13" name="">
            <a:extLst xmlns:a="http://schemas.openxmlformats.org/drawingml/2006/main">
              <a:ext uri="{FF2B5EF4-FFF2-40B4-BE49-F238E27FC236}">
                <a16:creationId xmlns:a16="http://schemas.microsoft.com/office/drawing/2014/main" id="{FB172281-872F-444B-8108-BBDA65DB8B19}"/>
              </a:ext>
            </a:extLst>
          </p:cNvPr>
          <p:cNvSpPr>
            <a:spLocks xmlns:a="http://schemas.openxmlformats.org/drawingml/2006/main" noGrp="1"/>
          </p:cNvSpPr>
          <p:nvPr/>
        </p:nvSpPr>
        <p:spPr>
          <a:xfrm xmlns:a="http://schemas.openxmlformats.org/drawingml/2006/main">
            <a:off x="6381750" y="2028825"/>
            <a:ext cx="2400300" cy="15144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4" name="">
            <a:extLst xmlns:a="http://schemas.openxmlformats.org/drawingml/2006/main">
              <a:ext uri="{FF2B5EF4-FFF2-40B4-BE49-F238E27FC236}">
                <a16:creationId xmlns:a16="http://schemas.microsoft.com/office/drawing/2014/main" id="{BC002314-7888-42F7-AA91-C58D976671F6}"/>
              </a:ext>
            </a:extLst>
          </p:cNvPr>
          <p:cNvSpPr>
            <a:spLocks xmlns:a="http://schemas.openxmlformats.org/drawingml/2006/main" noGrp="1"/>
          </p:cNvSpPr>
          <p:nvPr/>
        </p:nvSpPr>
        <p:spPr>
          <a:xfrm xmlns:a="http://schemas.openxmlformats.org/drawingml/2006/main">
            <a:off x="6515100" y="214312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Find an advocate</a:t>
            </a:r>
          </a:p>
        </p:txBody>
      </p:sp>
      <p:sp>
        <p:nvSpPr>
          <p:cNvPr id="15" name="">
            <a:extLst xmlns:a="http://schemas.openxmlformats.org/drawingml/2006/main">
              <a:ext uri="{FF2B5EF4-FFF2-40B4-BE49-F238E27FC236}">
                <a16:creationId xmlns:a16="http://schemas.microsoft.com/office/drawing/2014/main" id="{D9FF21AB-2254-4C60-957A-688098B31CB6}"/>
              </a:ext>
            </a:extLst>
          </p:cNvPr>
          <p:cNvSpPr>
            <a:spLocks xmlns:a="http://schemas.openxmlformats.org/drawingml/2006/main" noGrp="1"/>
          </p:cNvSpPr>
          <p:nvPr/>
        </p:nvSpPr>
        <p:spPr>
          <a:xfrm xmlns:a="http://schemas.openxmlformats.org/drawingml/2006/main">
            <a:off x="6515100" y="2514600"/>
            <a:ext cx="213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Match relevant expertise and language preference</a:t>
            </a:r>
          </a:p>
        </p:txBody>
      </p:sp>
      <p:sp>
        <p:nvSpPr>
          <p:cNvPr id="16" name="">
            <a:extLst xmlns:a="http://schemas.openxmlformats.org/drawingml/2006/main">
              <a:ext uri="{FF2B5EF4-FFF2-40B4-BE49-F238E27FC236}">
                <a16:creationId xmlns:a16="http://schemas.microsoft.com/office/drawing/2014/main" id="{34ED01F6-8301-474D-87B8-8906B3AAC205}"/>
              </a:ext>
            </a:extLst>
          </p:cNvPr>
          <p:cNvSpPr>
            <a:spLocks xmlns:a="http://schemas.openxmlformats.org/drawingml/2006/main" noGrp="1"/>
          </p:cNvSpPr>
          <p:nvPr/>
        </p:nvSpPr>
        <p:spPr>
          <a:xfrm xmlns:a="http://schemas.openxmlformats.org/drawingml/2006/main">
            <a:off x="9344025" y="2028825"/>
            <a:ext cx="2390775" cy="15144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7" name="">
            <a:extLst xmlns:a="http://schemas.openxmlformats.org/drawingml/2006/main">
              <a:ext uri="{FF2B5EF4-FFF2-40B4-BE49-F238E27FC236}">
                <a16:creationId xmlns:a16="http://schemas.microsoft.com/office/drawing/2014/main" id="{16AC764C-1F30-43AD-A436-519C0CEE8B30}"/>
              </a:ext>
            </a:extLst>
          </p:cNvPr>
          <p:cNvSpPr>
            <a:spLocks xmlns:a="http://schemas.openxmlformats.org/drawingml/2006/main" noGrp="1"/>
          </p:cNvSpPr>
          <p:nvPr/>
        </p:nvSpPr>
        <p:spPr>
          <a:xfrm xmlns:a="http://schemas.openxmlformats.org/drawingml/2006/main">
            <a:off x="9477375" y="2143125"/>
            <a:ext cx="2124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Book</a:t>
            </a:r>
          </a:p>
        </p:txBody>
      </p:sp>
      <p:sp>
        <p:nvSpPr>
          <p:cNvPr id="18" name="">
            <a:extLst xmlns:a="http://schemas.openxmlformats.org/drawingml/2006/main">
              <a:ext uri="{FF2B5EF4-FFF2-40B4-BE49-F238E27FC236}">
                <a16:creationId xmlns:a16="http://schemas.microsoft.com/office/drawing/2014/main" id="{F570E197-E3BC-440C-B175-FF7E637DCB54}"/>
              </a:ext>
            </a:extLst>
          </p:cNvPr>
          <p:cNvSpPr>
            <a:spLocks xmlns:a="http://schemas.openxmlformats.org/drawingml/2006/main" noGrp="1"/>
          </p:cNvSpPr>
          <p:nvPr/>
        </p:nvSpPr>
        <p:spPr>
          <a:xfrm xmlns:a="http://schemas.openxmlformats.org/drawingml/2006/main">
            <a:off x="9477375" y="2514600"/>
            <a:ext cx="21240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Request a consultation and complete payment</a:t>
            </a:r>
          </a:p>
        </p:txBody>
      </p:sp>
      <p:cxnSp>
        <p:nvCxnSpPr>
          <p:cNvPr id="47" name=""/>
          <p:cNvCxnSpPr>
            <a:stCxn xmlns:a="http://schemas.openxmlformats.org/drawingml/2006/main" id="7" idx="3"/>
            <a:endCxn xmlns:a="http://schemas.openxmlformats.org/drawingml/2006/main" id="10" idx="1"/>
          </p:cNvCxnSpPr>
          <p:nvPr/>
        </p:nvCxnSpPr>
        <p:spPr>
          <a:xfrm xmlns:a="http://schemas.openxmlformats.org/drawingml/2006/main">
            <a:off x="2857500" y="2786063"/>
            <a:ext cx="56197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48" name=""/>
          <p:cNvCxnSpPr>
            <a:stCxn xmlns:a="http://schemas.openxmlformats.org/drawingml/2006/main" id="10" idx="3"/>
            <a:endCxn xmlns:a="http://schemas.openxmlformats.org/drawingml/2006/main" id="13" idx="1"/>
          </p:cNvCxnSpPr>
          <p:nvPr/>
        </p:nvCxnSpPr>
        <p:spPr>
          <a:xfrm xmlns:a="http://schemas.openxmlformats.org/drawingml/2006/main">
            <a:off x="5819775" y="2786063"/>
            <a:ext cx="56197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49" name=""/>
          <p:cNvCxnSpPr>
            <a:stCxn xmlns:a="http://schemas.openxmlformats.org/drawingml/2006/main" id="13" idx="3"/>
            <a:endCxn xmlns:a="http://schemas.openxmlformats.org/drawingml/2006/main" id="16" idx="1"/>
          </p:cNvCxnSpPr>
          <p:nvPr/>
        </p:nvCxnSpPr>
        <p:spPr>
          <a:xfrm xmlns:a="http://schemas.openxmlformats.org/drawingml/2006/main">
            <a:off x="8782050" y="2786063"/>
            <a:ext cx="561975" cy="0"/>
          </a:xfrm>
          <a:prstGeom xmlns:a="http://schemas.openxmlformats.org/drawingml/2006/main" prst="straightConnector1">
            <a:avLst/>
          </a:prstGeom>
          <a:ln xmlns:a="http://schemas.openxmlformats.org/drawingml/2006/main" w="22860">
            <a:solidFill>
              <a:srgbClr val="203F91"/>
            </a:solidFill>
            <a:tailEnd type="triangle" w="med" len="med"/>
          </a:ln>
        </p:spPr>
      </p:cxnSp>
      <p:sp>
        <p:nvSpPr>
          <p:cNvPr id="22" name="">
            <a:extLst xmlns:a="http://schemas.openxmlformats.org/drawingml/2006/main">
              <a:ext uri="{FF2B5EF4-FFF2-40B4-BE49-F238E27FC236}">
                <a16:creationId xmlns:a16="http://schemas.microsoft.com/office/drawing/2014/main" id="{5AB53EEF-BCB7-42F2-9482-691171A2FA35}"/>
              </a:ext>
            </a:extLst>
          </p:cNvPr>
          <p:cNvSpPr>
            <a:spLocks xmlns:a="http://schemas.openxmlformats.org/drawingml/2006/main" noGrp="1"/>
          </p:cNvSpPr>
          <p:nvPr/>
        </p:nvSpPr>
        <p:spPr>
          <a:xfrm xmlns:a="http://schemas.openxmlformats.org/drawingml/2006/main">
            <a:off x="457200" y="4162425"/>
            <a:ext cx="53244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LANGUAGE SCOPE</a:t>
            </a:r>
          </a:p>
        </p:txBody>
      </p:sp>
      <p:sp>
        <p:nvSpPr>
          <p:cNvPr id="23" name="">
            <a:extLst xmlns:a="http://schemas.openxmlformats.org/drawingml/2006/main">
              <a:ext uri="{FF2B5EF4-FFF2-40B4-BE49-F238E27FC236}">
                <a16:creationId xmlns:a16="http://schemas.microsoft.com/office/drawing/2014/main" id="{837D0A87-095B-4FFE-819E-1654495E3643}"/>
              </a:ext>
            </a:extLst>
          </p:cNvPr>
          <p:cNvSpPr>
            <a:spLocks xmlns:a="http://schemas.openxmlformats.org/drawingml/2006/main" noGrp="1"/>
          </p:cNvSpPr>
          <p:nvPr/>
        </p:nvSpPr>
        <p:spPr>
          <a:xfrm xmlns:a="http://schemas.openxmlformats.org/drawingml/2006/main">
            <a:off x="457200" y="4505325"/>
            <a:ext cx="532447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13FDE7E-5315-4595-BA89-05CAB60AF384}"/>
              </a:ext>
            </a:extLst>
          </p:cNvPr>
          <p:cNvSpPr>
            <a:spLocks xmlns:a="http://schemas.openxmlformats.org/drawingml/2006/main" noGrp="1"/>
          </p:cNvSpPr>
          <p:nvPr/>
        </p:nvSpPr>
        <p:spPr>
          <a:xfrm xmlns:a="http://schemas.openxmlformats.org/drawingml/2006/main">
            <a:off x="6362700" y="4162425"/>
            <a:ext cx="5362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USER EXPERIENCE</a:t>
            </a:r>
          </a:p>
        </p:txBody>
      </p:sp>
      <p:sp>
        <p:nvSpPr>
          <p:cNvPr id="25" name="">
            <a:extLst xmlns:a="http://schemas.openxmlformats.org/drawingml/2006/main">
              <a:ext uri="{FF2B5EF4-FFF2-40B4-BE49-F238E27FC236}">
                <a16:creationId xmlns:a16="http://schemas.microsoft.com/office/drawing/2014/main" id="{C773F82B-1F15-4448-BFCC-16AABF355359}"/>
              </a:ext>
            </a:extLst>
          </p:cNvPr>
          <p:cNvSpPr>
            <a:spLocks xmlns:a="http://schemas.openxmlformats.org/drawingml/2006/main" noGrp="1"/>
          </p:cNvSpPr>
          <p:nvPr/>
        </p:nvSpPr>
        <p:spPr>
          <a:xfrm xmlns:a="http://schemas.openxmlformats.org/drawingml/2006/main">
            <a:off x="6362700" y="4505325"/>
            <a:ext cx="536257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C701D41-59CD-4310-A733-6E3F5BF75154}"/>
              </a:ext>
            </a:extLst>
          </p:cNvPr>
          <p:cNvSpPr>
            <a:spLocks xmlns:a="http://schemas.openxmlformats.org/drawingml/2006/main" noGrp="1"/>
          </p:cNvSpPr>
          <p:nvPr/>
        </p:nvSpPr>
        <p:spPr>
          <a:xfrm xmlns:a="http://schemas.openxmlformats.org/drawingml/2006/main">
            <a:off x="485775" y="4667250"/>
            <a:ext cx="5257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203F91"/>
                </a:solidFill>
                <a:latin typeface="Arial"/>
                <a:ea typeface="Arial"/>
                <a:cs typeface="Arial"/>
              </a:defRPr>
            </a:pPr>
            <a:r>
              <a:rPr sz="2850" b="1">
                <a:solidFill>
                  <a:srgbClr val="203F91"/>
                </a:solidFill>
                <a:latin typeface="Arial"/>
                <a:ea typeface="Arial"/>
                <a:cs typeface="Arial"/>
              </a:rPr>
              <a:t>22 scheduled languages</a:t>
            </a:r>
          </a:p>
          <a:p xmlns:a="http://schemas.openxmlformats.org/drawingml/2006/main">
            <a:pPr algn="l">
              <a:defRPr sz="2850" b="1">
                <a:solidFill>
                  <a:srgbClr val="203F91"/>
                </a:solidFill>
                <a:latin typeface="Arial"/>
                <a:ea typeface="Arial"/>
                <a:cs typeface="Arial"/>
              </a:defRPr>
            </a:pPr>
            <a:r>
              <a:rPr sz="2850" b="1">
                <a:solidFill>
                  <a:srgbClr val="203F91"/>
                </a:solidFill>
                <a:latin typeface="Arial"/>
                <a:ea typeface="Arial"/>
                <a:cs typeface="Arial"/>
              </a:rPr>
              <a:t>+ English</a:t>
            </a:r>
          </a:p>
        </p:txBody>
      </p:sp>
      <p:sp>
        <p:nvSpPr>
          <p:cNvPr id="27" name="">
            <a:extLst xmlns:a="http://schemas.openxmlformats.org/drawingml/2006/main">
              <a:ext uri="{FF2B5EF4-FFF2-40B4-BE49-F238E27FC236}">
                <a16:creationId xmlns:a16="http://schemas.microsoft.com/office/drawing/2014/main" id="{2AD837FB-0071-4012-8B34-C9BA1E040678}"/>
              </a:ext>
            </a:extLst>
          </p:cNvPr>
          <p:cNvSpPr>
            <a:spLocks xmlns:a="http://schemas.openxmlformats.org/drawingml/2006/main" noGrp="1"/>
          </p:cNvSpPr>
          <p:nvPr/>
        </p:nvSpPr>
        <p:spPr>
          <a:xfrm xmlns:a="http://schemas.openxmlformats.org/drawingml/2006/main">
            <a:off x="6381750" y="4676775"/>
            <a:ext cx="52863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Confirm the transcript before analysis</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Read or listen to the explanation</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Continue with contextual follow-up questions</a:t>
            </a:r>
          </a:p>
        </p:txBody>
      </p:sp>
      <p:sp>
        <p:nvSpPr>
          <p:cNvPr id="28" name="">
            <a:extLst xmlns:a="http://schemas.openxmlformats.org/drawingml/2006/main">
              <a:ext uri="{FF2B5EF4-FFF2-40B4-BE49-F238E27FC236}">
                <a16:creationId xmlns:a16="http://schemas.microsoft.com/office/drawing/2014/main" id="{336DE95F-25B5-441A-9DD9-94510AAF28DA}"/>
              </a:ext>
            </a:extLst>
          </p:cNvPr>
          <p:cNvSpPr>
            <a:spLocks xmlns:a="http://schemas.openxmlformats.org/drawingml/2006/main" noGrp="1"/>
          </p:cNvSpPr>
          <p:nvPr/>
        </p:nvSpPr>
        <p:spPr>
          <a:xfrm xmlns:a="http://schemas.openxmlformats.org/drawingml/2006/main">
            <a:off x="476250" y="5953125"/>
            <a:ext cx="11229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D77A00"/>
                </a:solidFill>
                <a:latin typeface="Arial"/>
                <a:ea typeface="Arial"/>
                <a:cs typeface="Arial"/>
              </a:defRPr>
            </a:pPr>
            <a:r>
              <a:rPr sz="1500" b="1">
                <a:solidFill>
                  <a:srgbClr val="D77A00"/>
                </a:solidFill>
                <a:latin typeface="Arial"/>
                <a:ea typeface="Arial"/>
                <a:cs typeface="Arial"/>
              </a:rPr>
              <a:t>Target scope. Language coverage requires validation across recognition, response and playback.</a:t>
            </a:r>
          </a:p>
        </p:txBody>
      </p:sp>
    </p:spTree>
    <p:extLst>
      <p:ext uri="{BB962C8B-B14F-4D97-AF65-F5344CB8AC3E}">
        <p14:creationId xmlns:p14="http://schemas.microsoft.com/office/powerpoint/2010/main" val="18188478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7C39639-0323-4B31-98BC-C63385E0BB13}"/>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5845A382-D932-4BAE-B5C7-2F11A6A83CC9}"/>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TECHNICAL APPROACH</a:t>
            </a:r>
          </a:p>
        </p:txBody>
      </p:sp>
      <p:sp>
        <p:nvSpPr>
          <p:cNvPr id="3" name="">
            <a:extLst xmlns:a="http://schemas.openxmlformats.org/drawingml/2006/main">
              <a:ext uri="{FF2B5EF4-FFF2-40B4-BE49-F238E27FC236}">
                <a16:creationId xmlns:a16="http://schemas.microsoft.com/office/drawing/2014/main" id="{E8834A03-B58A-4B16-BBED-A5F6438DBA3B}"/>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Target system architecture and service responsibilities</a:t>
            </a:r>
          </a:p>
        </p:txBody>
      </p:sp>
      <p:sp>
        <p:nvSpPr>
          <p:cNvPr id="4" name="">
            <a:extLst xmlns:a="http://schemas.openxmlformats.org/drawingml/2006/main">
              <a:ext uri="{FF2B5EF4-FFF2-40B4-BE49-F238E27FC236}">
                <a16:creationId xmlns:a16="http://schemas.microsoft.com/office/drawing/2014/main" id="{15277E5D-B982-43D4-8271-5CCBECB5A51C}"/>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1872DC8-E302-444C-B671-E77F2DF99B3A}"/>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Proposed system architecture</a:t>
            </a:r>
          </a:p>
        </p:txBody>
      </p:sp>
      <p:sp>
        <p:nvSpPr>
          <p:cNvPr id="6" name="">
            <a:extLst xmlns:a="http://schemas.openxmlformats.org/drawingml/2006/main">
              <a:ext uri="{FF2B5EF4-FFF2-40B4-BE49-F238E27FC236}">
                <a16:creationId xmlns:a16="http://schemas.microsoft.com/office/drawing/2014/main" id="{4D4FA092-8F55-4738-AE67-DECD3DE43B6E}"/>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9952922C-444C-44E8-834A-EDA51F5D406F}"/>
              </a:ext>
            </a:extLst>
          </p:cNvPr>
          <p:cNvSpPr>
            <a:spLocks xmlns:a="http://schemas.openxmlformats.org/drawingml/2006/main" noGrp="1"/>
          </p:cNvSpPr>
          <p:nvPr/>
        </p:nvSpPr>
        <p:spPr>
          <a:xfrm xmlns:a="http://schemas.openxmlformats.org/drawingml/2006/main">
            <a:off x="457200" y="1790700"/>
            <a:ext cx="2743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CLIENT</a:t>
            </a:r>
          </a:p>
        </p:txBody>
      </p:sp>
      <p:sp>
        <p:nvSpPr>
          <p:cNvPr id="8" name="">
            <a:extLst xmlns:a="http://schemas.openxmlformats.org/drawingml/2006/main">
              <a:ext uri="{FF2B5EF4-FFF2-40B4-BE49-F238E27FC236}">
                <a16:creationId xmlns:a16="http://schemas.microsoft.com/office/drawing/2014/main" id="{C358332F-9571-44D6-B588-D15B35C3C373}"/>
              </a:ext>
            </a:extLst>
          </p:cNvPr>
          <p:cNvSpPr>
            <a:spLocks xmlns:a="http://schemas.openxmlformats.org/drawingml/2006/main" noGrp="1"/>
          </p:cNvSpPr>
          <p:nvPr/>
        </p:nvSpPr>
        <p:spPr>
          <a:xfrm xmlns:a="http://schemas.openxmlformats.org/drawingml/2006/main">
            <a:off x="457200" y="2133600"/>
            <a:ext cx="2743200"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7C0A34B-1D03-4707-87D2-26631DD808C4}"/>
              </a:ext>
            </a:extLst>
          </p:cNvPr>
          <p:cNvSpPr>
            <a:spLocks xmlns:a="http://schemas.openxmlformats.org/drawingml/2006/main" noGrp="1"/>
          </p:cNvSpPr>
          <p:nvPr/>
        </p:nvSpPr>
        <p:spPr>
          <a:xfrm xmlns:a="http://schemas.openxmlformats.org/drawingml/2006/main">
            <a:off x="4010025" y="1790700"/>
            <a:ext cx="3762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APPLICATION LAYER</a:t>
            </a:r>
          </a:p>
        </p:txBody>
      </p:sp>
      <p:sp>
        <p:nvSpPr>
          <p:cNvPr id="10" name="">
            <a:extLst xmlns:a="http://schemas.openxmlformats.org/drawingml/2006/main">
              <a:ext uri="{FF2B5EF4-FFF2-40B4-BE49-F238E27FC236}">
                <a16:creationId xmlns:a16="http://schemas.microsoft.com/office/drawing/2014/main" id="{633BC95E-A40C-4463-AB60-A6EF3E6FFEF0}"/>
              </a:ext>
            </a:extLst>
          </p:cNvPr>
          <p:cNvSpPr>
            <a:spLocks xmlns:a="http://schemas.openxmlformats.org/drawingml/2006/main" noGrp="1"/>
          </p:cNvSpPr>
          <p:nvPr/>
        </p:nvSpPr>
        <p:spPr>
          <a:xfrm xmlns:a="http://schemas.openxmlformats.org/drawingml/2006/main">
            <a:off x="4010025" y="2133600"/>
            <a:ext cx="376237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3F8850E-7DB6-43BE-B25C-5E5B08418258}"/>
              </a:ext>
            </a:extLst>
          </p:cNvPr>
          <p:cNvSpPr>
            <a:spLocks xmlns:a="http://schemas.openxmlformats.org/drawingml/2006/main" noGrp="1"/>
          </p:cNvSpPr>
          <p:nvPr/>
        </p:nvSpPr>
        <p:spPr>
          <a:xfrm xmlns:a="http://schemas.openxmlformats.org/drawingml/2006/main">
            <a:off x="8562975" y="1790700"/>
            <a:ext cx="3171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SERVICE INTEGRATIONS</a:t>
            </a:r>
          </a:p>
        </p:txBody>
      </p:sp>
      <p:sp>
        <p:nvSpPr>
          <p:cNvPr id="12" name="">
            <a:extLst xmlns:a="http://schemas.openxmlformats.org/drawingml/2006/main">
              <a:ext uri="{FF2B5EF4-FFF2-40B4-BE49-F238E27FC236}">
                <a16:creationId xmlns:a16="http://schemas.microsoft.com/office/drawing/2014/main" id="{E7F4D55D-B3C9-4B80-929B-D1E8ED7DE5E3}"/>
              </a:ext>
            </a:extLst>
          </p:cNvPr>
          <p:cNvSpPr>
            <a:spLocks xmlns:a="http://schemas.openxmlformats.org/drawingml/2006/main" noGrp="1"/>
          </p:cNvSpPr>
          <p:nvPr/>
        </p:nvSpPr>
        <p:spPr>
          <a:xfrm xmlns:a="http://schemas.openxmlformats.org/drawingml/2006/main">
            <a:off x="8562975" y="2133600"/>
            <a:ext cx="317182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1142265-B51C-4341-BDA0-1DCCCA2F25AB}"/>
              </a:ext>
            </a:extLst>
          </p:cNvPr>
          <p:cNvSpPr>
            <a:spLocks xmlns:a="http://schemas.openxmlformats.org/drawingml/2006/main" noGrp="1"/>
          </p:cNvSpPr>
          <p:nvPr/>
        </p:nvSpPr>
        <p:spPr>
          <a:xfrm xmlns:a="http://schemas.openxmlformats.org/drawingml/2006/main">
            <a:off x="457200" y="2381250"/>
            <a:ext cx="2743200" cy="125730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4" name="">
            <a:extLst xmlns:a="http://schemas.openxmlformats.org/drawingml/2006/main">
              <a:ext uri="{FF2B5EF4-FFF2-40B4-BE49-F238E27FC236}">
                <a16:creationId xmlns:a16="http://schemas.microsoft.com/office/drawing/2014/main" id="{B494BB73-556A-4AAE-B9D8-143A90FE5F89}"/>
              </a:ext>
            </a:extLst>
          </p:cNvPr>
          <p:cNvSpPr>
            <a:spLocks xmlns:a="http://schemas.openxmlformats.org/drawingml/2006/main" noGrp="1"/>
          </p:cNvSpPr>
          <p:nvPr/>
        </p:nvSpPr>
        <p:spPr>
          <a:xfrm xmlns:a="http://schemas.openxmlformats.org/drawingml/2006/main">
            <a:off x="590550" y="24955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React + Vite</a:t>
            </a:r>
          </a:p>
        </p:txBody>
      </p:sp>
      <p:sp>
        <p:nvSpPr>
          <p:cNvPr id="15" name="">
            <a:extLst xmlns:a="http://schemas.openxmlformats.org/drawingml/2006/main">
              <a:ext uri="{FF2B5EF4-FFF2-40B4-BE49-F238E27FC236}">
                <a16:creationId xmlns:a16="http://schemas.microsoft.com/office/drawing/2014/main" id="{A7B203FC-48DD-49B2-8A3C-BC469ED6656E}"/>
              </a:ext>
            </a:extLst>
          </p:cNvPr>
          <p:cNvSpPr>
            <a:spLocks xmlns:a="http://schemas.openxmlformats.org/drawingml/2006/main" noGrp="1"/>
          </p:cNvSpPr>
          <p:nvPr/>
        </p:nvSpPr>
        <p:spPr>
          <a:xfrm xmlns:a="http://schemas.openxmlformats.org/drawingml/2006/main">
            <a:off x="590550" y="286702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Language selection, voice input, chat and booking</a:t>
            </a:r>
          </a:p>
        </p:txBody>
      </p:sp>
      <p:sp>
        <p:nvSpPr>
          <p:cNvPr id="16" name="">
            <a:extLst xmlns:a="http://schemas.openxmlformats.org/drawingml/2006/main">
              <a:ext uri="{FF2B5EF4-FFF2-40B4-BE49-F238E27FC236}">
                <a16:creationId xmlns:a16="http://schemas.microsoft.com/office/drawing/2014/main" id="{45CF0856-074B-40F5-93F9-03C8903A6E75}"/>
              </a:ext>
            </a:extLst>
          </p:cNvPr>
          <p:cNvSpPr>
            <a:spLocks xmlns:a="http://schemas.openxmlformats.org/drawingml/2006/main" noGrp="1"/>
          </p:cNvSpPr>
          <p:nvPr/>
        </p:nvSpPr>
        <p:spPr>
          <a:xfrm xmlns:a="http://schemas.openxmlformats.org/drawingml/2006/main">
            <a:off x="457200" y="4381500"/>
            <a:ext cx="2743200" cy="131445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7" name="">
            <a:extLst xmlns:a="http://schemas.openxmlformats.org/drawingml/2006/main">
              <a:ext uri="{FF2B5EF4-FFF2-40B4-BE49-F238E27FC236}">
                <a16:creationId xmlns:a16="http://schemas.microsoft.com/office/drawing/2014/main" id="{1B2DD42D-74B7-4230-9F1C-2416F8AF0031}"/>
              </a:ext>
            </a:extLst>
          </p:cNvPr>
          <p:cNvSpPr>
            <a:spLocks xmlns:a="http://schemas.openxmlformats.org/drawingml/2006/main" noGrp="1"/>
          </p:cNvSpPr>
          <p:nvPr/>
        </p:nvSpPr>
        <p:spPr>
          <a:xfrm xmlns:a="http://schemas.openxmlformats.org/drawingml/2006/main">
            <a:off x="590550" y="44958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User response</a:t>
            </a:r>
          </a:p>
        </p:txBody>
      </p:sp>
      <p:sp>
        <p:nvSpPr>
          <p:cNvPr id="18" name="">
            <a:extLst xmlns:a="http://schemas.openxmlformats.org/drawingml/2006/main">
              <a:ext uri="{FF2B5EF4-FFF2-40B4-BE49-F238E27FC236}">
                <a16:creationId xmlns:a16="http://schemas.microsoft.com/office/drawing/2014/main" id="{CD363AA4-7804-4D84-B7D7-507789651787}"/>
              </a:ext>
            </a:extLst>
          </p:cNvPr>
          <p:cNvSpPr>
            <a:spLocks xmlns:a="http://schemas.openxmlformats.org/drawingml/2006/main" noGrp="1"/>
          </p:cNvSpPr>
          <p:nvPr/>
        </p:nvSpPr>
        <p:spPr>
          <a:xfrm xmlns:a="http://schemas.openxmlformats.org/drawingml/2006/main">
            <a:off x="590550" y="4867275"/>
            <a:ext cx="2476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Localized text, speech playback and booking status</a:t>
            </a:r>
          </a:p>
        </p:txBody>
      </p:sp>
      <p:sp>
        <p:nvSpPr>
          <p:cNvPr id="19" name="">
            <a:extLst xmlns:a="http://schemas.openxmlformats.org/drawingml/2006/main">
              <a:ext uri="{FF2B5EF4-FFF2-40B4-BE49-F238E27FC236}">
                <a16:creationId xmlns:a16="http://schemas.microsoft.com/office/drawing/2014/main" id="{E061CD2C-4625-44AE-9AA9-FF2665346828}"/>
              </a:ext>
            </a:extLst>
          </p:cNvPr>
          <p:cNvSpPr>
            <a:spLocks xmlns:a="http://schemas.openxmlformats.org/drawingml/2006/main" noGrp="1"/>
          </p:cNvSpPr>
          <p:nvPr/>
        </p:nvSpPr>
        <p:spPr>
          <a:xfrm xmlns:a="http://schemas.openxmlformats.org/drawingml/2006/main">
            <a:off x="4010025" y="2381250"/>
            <a:ext cx="3762375" cy="125730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0" name="">
            <a:extLst xmlns:a="http://schemas.openxmlformats.org/drawingml/2006/main">
              <a:ext uri="{FF2B5EF4-FFF2-40B4-BE49-F238E27FC236}">
                <a16:creationId xmlns:a16="http://schemas.microsoft.com/office/drawing/2014/main" id="{695D2CC4-B22D-4B4B-BA9E-91DDB4F8A881}"/>
              </a:ext>
            </a:extLst>
          </p:cNvPr>
          <p:cNvSpPr>
            <a:spLocks xmlns:a="http://schemas.openxmlformats.org/drawingml/2006/main" noGrp="1"/>
          </p:cNvSpPr>
          <p:nvPr/>
        </p:nvSpPr>
        <p:spPr>
          <a:xfrm xmlns:a="http://schemas.openxmlformats.org/drawingml/2006/main">
            <a:off x="4143375" y="2495550"/>
            <a:ext cx="3495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Node.js + Express</a:t>
            </a:r>
          </a:p>
        </p:txBody>
      </p:sp>
      <p:sp>
        <p:nvSpPr>
          <p:cNvPr id="21" name="">
            <a:extLst xmlns:a="http://schemas.openxmlformats.org/drawingml/2006/main">
              <a:ext uri="{FF2B5EF4-FFF2-40B4-BE49-F238E27FC236}">
                <a16:creationId xmlns:a16="http://schemas.microsoft.com/office/drawing/2014/main" id="{138050AF-00AC-4D3F-A412-B283B5C81A2C}"/>
              </a:ext>
            </a:extLst>
          </p:cNvPr>
          <p:cNvSpPr>
            <a:spLocks xmlns:a="http://schemas.openxmlformats.org/drawingml/2006/main" noGrp="1"/>
          </p:cNvSpPr>
          <p:nvPr/>
        </p:nvSpPr>
        <p:spPr>
          <a:xfrm xmlns:a="http://schemas.openxmlformats.org/drawingml/2006/main">
            <a:off x="4143375" y="2867025"/>
            <a:ext cx="34956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Authentication, request routing, validation and matching</a:t>
            </a:r>
          </a:p>
        </p:txBody>
      </p:sp>
      <p:sp>
        <p:nvSpPr>
          <p:cNvPr id="22" name="">
            <a:extLst xmlns:a="http://schemas.openxmlformats.org/drawingml/2006/main">
              <a:ext uri="{FF2B5EF4-FFF2-40B4-BE49-F238E27FC236}">
                <a16:creationId xmlns:a16="http://schemas.microsoft.com/office/drawing/2014/main" id="{A0BEB9A7-8439-48B6-9863-B4F56F3605C1}"/>
              </a:ext>
            </a:extLst>
          </p:cNvPr>
          <p:cNvSpPr>
            <a:spLocks xmlns:a="http://schemas.openxmlformats.org/drawingml/2006/main" noGrp="1"/>
          </p:cNvSpPr>
          <p:nvPr/>
        </p:nvSpPr>
        <p:spPr>
          <a:xfrm xmlns:a="http://schemas.openxmlformats.org/drawingml/2006/main">
            <a:off x="4010025" y="4381500"/>
            <a:ext cx="3762375" cy="131445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3" name="">
            <a:extLst xmlns:a="http://schemas.openxmlformats.org/drawingml/2006/main">
              <a:ext uri="{FF2B5EF4-FFF2-40B4-BE49-F238E27FC236}">
                <a16:creationId xmlns:a16="http://schemas.microsoft.com/office/drawing/2014/main" id="{DF94A2C3-1057-4925-85F9-E61E97C36241}"/>
              </a:ext>
            </a:extLst>
          </p:cNvPr>
          <p:cNvSpPr>
            <a:spLocks xmlns:a="http://schemas.openxmlformats.org/drawingml/2006/main" noGrp="1"/>
          </p:cNvSpPr>
          <p:nvPr/>
        </p:nvSpPr>
        <p:spPr>
          <a:xfrm xmlns:a="http://schemas.openxmlformats.org/drawingml/2006/main">
            <a:off x="4143375" y="4495800"/>
            <a:ext cx="3495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MongoDB</a:t>
            </a:r>
          </a:p>
        </p:txBody>
      </p:sp>
      <p:sp>
        <p:nvSpPr>
          <p:cNvPr id="24" name="">
            <a:extLst xmlns:a="http://schemas.openxmlformats.org/drawingml/2006/main">
              <a:ext uri="{FF2B5EF4-FFF2-40B4-BE49-F238E27FC236}">
                <a16:creationId xmlns:a16="http://schemas.microsoft.com/office/drawing/2014/main" id="{DE5F96C9-F737-4C8A-A127-FE48488EC1B3}"/>
              </a:ext>
            </a:extLst>
          </p:cNvPr>
          <p:cNvSpPr>
            <a:spLocks xmlns:a="http://schemas.openxmlformats.org/drawingml/2006/main" noGrp="1"/>
          </p:cNvSpPr>
          <p:nvPr/>
        </p:nvSpPr>
        <p:spPr>
          <a:xfrm xmlns:a="http://schemas.openxmlformats.org/drawingml/2006/main">
            <a:off x="4143375" y="4867275"/>
            <a:ext cx="34956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Users, advocates, case consent, bookings and payment IDs</a:t>
            </a:r>
          </a:p>
        </p:txBody>
      </p:sp>
      <p:sp>
        <p:nvSpPr>
          <p:cNvPr id="25" name="">
            <a:extLst xmlns:a="http://schemas.openxmlformats.org/drawingml/2006/main">
              <a:ext uri="{FF2B5EF4-FFF2-40B4-BE49-F238E27FC236}">
                <a16:creationId xmlns:a16="http://schemas.microsoft.com/office/drawing/2014/main" id="{D2734F0D-C800-4101-A166-C4E195B82FB8}"/>
              </a:ext>
            </a:extLst>
          </p:cNvPr>
          <p:cNvSpPr>
            <a:spLocks xmlns:a="http://schemas.openxmlformats.org/drawingml/2006/main" noGrp="1"/>
          </p:cNvSpPr>
          <p:nvPr/>
        </p:nvSpPr>
        <p:spPr>
          <a:xfrm xmlns:a="http://schemas.openxmlformats.org/drawingml/2006/main">
            <a:off x="8562975" y="2381250"/>
            <a:ext cx="3171825" cy="125730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6" name="">
            <a:extLst xmlns:a="http://schemas.openxmlformats.org/drawingml/2006/main">
              <a:ext uri="{FF2B5EF4-FFF2-40B4-BE49-F238E27FC236}">
                <a16:creationId xmlns:a16="http://schemas.microsoft.com/office/drawing/2014/main" id="{3AAED343-7C58-414A-A0CD-4DB2D97C3B33}"/>
              </a:ext>
            </a:extLst>
          </p:cNvPr>
          <p:cNvSpPr>
            <a:spLocks xmlns:a="http://schemas.openxmlformats.org/drawingml/2006/main" noGrp="1"/>
          </p:cNvSpPr>
          <p:nvPr/>
        </p:nvSpPr>
        <p:spPr>
          <a:xfrm xmlns:a="http://schemas.openxmlformats.org/drawingml/2006/main">
            <a:off x="8696325" y="2495550"/>
            <a:ext cx="2905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Language + AI</a:t>
            </a:r>
          </a:p>
        </p:txBody>
      </p:sp>
      <p:sp>
        <p:nvSpPr>
          <p:cNvPr id="27" name="">
            <a:extLst xmlns:a="http://schemas.openxmlformats.org/drawingml/2006/main">
              <a:ext uri="{FF2B5EF4-FFF2-40B4-BE49-F238E27FC236}">
                <a16:creationId xmlns:a16="http://schemas.microsoft.com/office/drawing/2014/main" id="{809C9D92-1BB6-4151-8797-43F94589E82E}"/>
              </a:ext>
            </a:extLst>
          </p:cNvPr>
          <p:cNvSpPr>
            <a:spLocks xmlns:a="http://schemas.openxmlformats.org/drawingml/2006/main" noGrp="1"/>
          </p:cNvSpPr>
          <p:nvPr/>
        </p:nvSpPr>
        <p:spPr>
          <a:xfrm xmlns:a="http://schemas.openxmlformats.org/drawingml/2006/main">
            <a:off x="8696325" y="2867025"/>
            <a:ext cx="2905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Speech recognition, translation, legal triage and speech output</a:t>
            </a:r>
          </a:p>
        </p:txBody>
      </p:sp>
      <p:sp>
        <p:nvSpPr>
          <p:cNvPr id="28" name="">
            <a:extLst xmlns:a="http://schemas.openxmlformats.org/drawingml/2006/main">
              <a:ext uri="{FF2B5EF4-FFF2-40B4-BE49-F238E27FC236}">
                <a16:creationId xmlns:a16="http://schemas.microsoft.com/office/drawing/2014/main" id="{07132E3B-E6DD-414D-8E2F-C0CA94440C2C}"/>
              </a:ext>
            </a:extLst>
          </p:cNvPr>
          <p:cNvSpPr>
            <a:spLocks xmlns:a="http://schemas.openxmlformats.org/drawingml/2006/main" noGrp="1"/>
          </p:cNvSpPr>
          <p:nvPr/>
        </p:nvSpPr>
        <p:spPr>
          <a:xfrm xmlns:a="http://schemas.openxmlformats.org/drawingml/2006/main">
            <a:off x="8562975" y="4381500"/>
            <a:ext cx="3171825" cy="1314450"/>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29" name="">
            <a:extLst xmlns:a="http://schemas.openxmlformats.org/drawingml/2006/main">
              <a:ext uri="{FF2B5EF4-FFF2-40B4-BE49-F238E27FC236}">
                <a16:creationId xmlns:a16="http://schemas.microsoft.com/office/drawing/2014/main" id="{DB02906C-8040-4252-9A8E-0180A7E6E6CE}"/>
              </a:ext>
            </a:extLst>
          </p:cNvPr>
          <p:cNvSpPr>
            <a:spLocks xmlns:a="http://schemas.openxmlformats.org/drawingml/2006/main" noGrp="1"/>
          </p:cNvSpPr>
          <p:nvPr/>
        </p:nvSpPr>
        <p:spPr>
          <a:xfrm xmlns:a="http://schemas.openxmlformats.org/drawingml/2006/main">
            <a:off x="8696325" y="4495800"/>
            <a:ext cx="2905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Razorpay</a:t>
            </a:r>
          </a:p>
        </p:txBody>
      </p:sp>
      <p:sp>
        <p:nvSpPr>
          <p:cNvPr id="30" name="">
            <a:extLst xmlns:a="http://schemas.openxmlformats.org/drawingml/2006/main">
              <a:ext uri="{FF2B5EF4-FFF2-40B4-BE49-F238E27FC236}">
                <a16:creationId xmlns:a16="http://schemas.microsoft.com/office/drawing/2014/main" id="{F4CF4EFC-EC17-4882-AF85-4580A7ADA436}"/>
              </a:ext>
            </a:extLst>
          </p:cNvPr>
          <p:cNvSpPr>
            <a:spLocks xmlns:a="http://schemas.openxmlformats.org/drawingml/2006/main" noGrp="1"/>
          </p:cNvSpPr>
          <p:nvPr/>
        </p:nvSpPr>
        <p:spPr>
          <a:xfrm xmlns:a="http://schemas.openxmlformats.org/drawingml/2006/main">
            <a:off x="8696325" y="4867275"/>
            <a:ext cx="29051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Payment order, checkout verification and status events</a:t>
            </a:r>
          </a:p>
        </p:txBody>
      </p:sp>
      <p:cxnSp>
        <p:nvCxnSpPr>
          <p:cNvPr id="67" name=""/>
          <p:cNvCxnSpPr>
            <a:stCxn xmlns:a="http://schemas.openxmlformats.org/drawingml/2006/main" id="13" idx="3"/>
            <a:endCxn xmlns:a="http://schemas.openxmlformats.org/drawingml/2006/main" id="19" idx="1"/>
          </p:cNvCxnSpPr>
          <p:nvPr/>
        </p:nvCxnSpPr>
        <p:spPr>
          <a:xfrm xmlns:a="http://schemas.openxmlformats.org/drawingml/2006/main">
            <a:off x="3200400" y="3009900"/>
            <a:ext cx="80962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68" name=""/>
          <p:cNvCxnSpPr>
            <a:stCxn xmlns:a="http://schemas.openxmlformats.org/drawingml/2006/main" id="19" idx="3"/>
            <a:endCxn xmlns:a="http://schemas.openxmlformats.org/drawingml/2006/main" id="25" idx="1"/>
          </p:cNvCxnSpPr>
          <p:nvPr/>
        </p:nvCxnSpPr>
        <p:spPr>
          <a:xfrm xmlns:a="http://schemas.openxmlformats.org/drawingml/2006/main">
            <a:off x="7772400" y="3009900"/>
            <a:ext cx="79057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69" name=""/>
          <p:cNvCxnSpPr>
            <a:stCxn xmlns:a="http://schemas.openxmlformats.org/drawingml/2006/main" id="19" idx="2"/>
            <a:endCxn xmlns:a="http://schemas.openxmlformats.org/drawingml/2006/main" id="22" idx="0"/>
          </p:cNvCxnSpPr>
          <p:nvPr/>
        </p:nvCxnSpPr>
        <p:spPr>
          <a:xfrm xmlns:a="http://schemas.openxmlformats.org/drawingml/2006/main">
            <a:off x="5891213" y="3638550"/>
            <a:ext cx="0" cy="74295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70" name=""/>
          <p:cNvCxnSpPr>
            <a:stCxn xmlns:a="http://schemas.openxmlformats.org/drawingml/2006/main" id="13" idx="2"/>
            <a:endCxn xmlns:a="http://schemas.openxmlformats.org/drawingml/2006/main" id="16" idx="0"/>
          </p:cNvCxnSpPr>
          <p:nvPr/>
        </p:nvCxnSpPr>
        <p:spPr>
          <a:xfrm xmlns:a="http://schemas.openxmlformats.org/drawingml/2006/main">
            <a:off x="1828800" y="3638550"/>
            <a:ext cx="0" cy="74295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71" name=""/>
          <p:cNvCxnSpPr>
            <a:stCxn xmlns:a="http://schemas.openxmlformats.org/drawingml/2006/main" id="19" idx="3"/>
            <a:endCxn xmlns:a="http://schemas.openxmlformats.org/drawingml/2006/main" id="28" idx="1"/>
          </p:cNvCxnSpPr>
          <p:nvPr/>
        </p:nvCxnSpPr>
        <p:spPr>
          <a:xfrm xmlns:a="http://schemas.openxmlformats.org/drawingml/2006/main">
            <a:off x="7772400" y="3009900"/>
            <a:ext cx="790575" cy="2028825"/>
          </a:xfrm>
          <a:prstGeom xmlns:a="http://schemas.openxmlformats.org/drawingml/2006/main" prst="bentConnector3">
            <a:avLst>
              <a:gd name="adj1" fmla="val 50000"/>
            </a:avLst>
          </a:prstGeom>
          <a:ln xmlns:a="http://schemas.openxmlformats.org/drawingml/2006/main" w="22860">
            <a:solidFill>
              <a:srgbClr val="203F91"/>
            </a:solidFill>
            <a:tailEnd type="triangle" w="med" len="med"/>
          </a:ln>
        </p:spPr>
      </p:cxnSp>
      <p:sp>
        <p:nvSpPr>
          <p:cNvPr id="36" name="">
            <a:extLst xmlns:a="http://schemas.openxmlformats.org/drawingml/2006/main">
              <a:ext uri="{FF2B5EF4-FFF2-40B4-BE49-F238E27FC236}">
                <a16:creationId xmlns:a16="http://schemas.microsoft.com/office/drawing/2014/main" id="{8E4B66E5-4571-44C7-BAC0-D340B9A1B291}"/>
              </a:ext>
            </a:extLst>
          </p:cNvPr>
          <p:cNvSpPr>
            <a:spLocks xmlns:a="http://schemas.openxmlformats.org/drawingml/2006/main" noGrp="1"/>
          </p:cNvSpPr>
          <p:nvPr/>
        </p:nvSpPr>
        <p:spPr>
          <a:xfrm xmlns:a="http://schemas.openxmlformats.org/drawingml/2006/main">
            <a:off x="466725" y="5991225"/>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3647A"/>
                </a:solidFill>
                <a:latin typeface="Arial"/>
                <a:ea typeface="Arial"/>
                <a:cs typeface="Arial"/>
              </a:defRPr>
            </a:pPr>
            <a:r>
              <a:rPr sz="1575" b="0">
                <a:solidFill>
                  <a:srgbClr val="53647A"/>
                </a:solidFill>
                <a:latin typeface="Arial"/>
                <a:ea typeface="Arial"/>
                <a:cs typeface="Arial"/>
              </a:rPr>
              <a:t>Server-side provider adapters keep credentials private and allow services to change.</a:t>
            </a:r>
          </a:p>
        </p:txBody>
      </p:sp>
    </p:spTree>
    <p:extLst>
      <p:ext uri="{BB962C8B-B14F-4D97-AF65-F5344CB8AC3E}">
        <p14:creationId xmlns:p14="http://schemas.microsoft.com/office/powerpoint/2010/main" val="21393396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C27900A9-C161-41C5-B175-396A2BDC86EF}"/>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A506CD77-02E1-482F-9374-349FEC0DA898}"/>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TECHNICAL APPROACH</a:t>
            </a:r>
          </a:p>
        </p:txBody>
      </p:sp>
      <p:sp>
        <p:nvSpPr>
          <p:cNvPr id="3" name="">
            <a:extLst xmlns:a="http://schemas.openxmlformats.org/drawingml/2006/main">
              <a:ext uri="{FF2B5EF4-FFF2-40B4-BE49-F238E27FC236}">
                <a16:creationId xmlns:a16="http://schemas.microsoft.com/office/drawing/2014/main" id="{1292348B-841B-43F7-8927-39D4BAF53C48}"/>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Multilingual processing and legal triage flow</a:t>
            </a:r>
          </a:p>
        </p:txBody>
      </p:sp>
      <p:sp>
        <p:nvSpPr>
          <p:cNvPr id="4" name="">
            <a:extLst xmlns:a="http://schemas.openxmlformats.org/drawingml/2006/main">
              <a:ext uri="{FF2B5EF4-FFF2-40B4-BE49-F238E27FC236}">
                <a16:creationId xmlns:a16="http://schemas.microsoft.com/office/drawing/2014/main" id="{33DB2FE0-44FB-4277-AE4E-E24A7B15E712}"/>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A14F87B-D866-48B9-ADCF-4E8801C5443F}"/>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Proposed processing pipeline</a:t>
            </a:r>
          </a:p>
        </p:txBody>
      </p:sp>
      <p:sp>
        <p:nvSpPr>
          <p:cNvPr id="6" name="">
            <a:extLst xmlns:a="http://schemas.openxmlformats.org/drawingml/2006/main">
              <a:ext uri="{FF2B5EF4-FFF2-40B4-BE49-F238E27FC236}">
                <a16:creationId xmlns:a16="http://schemas.microsoft.com/office/drawing/2014/main" id="{039A100B-4689-43AB-A6D9-CA96660B9D59}"/>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D0713404-CC10-46A9-8047-87AC807AA578}"/>
              </a:ext>
            </a:extLst>
          </p:cNvPr>
          <p:cNvSpPr>
            <a:spLocks xmlns:a="http://schemas.openxmlformats.org/drawingml/2006/main" noGrp="1"/>
          </p:cNvSpPr>
          <p:nvPr/>
        </p:nvSpPr>
        <p:spPr>
          <a:xfrm xmlns:a="http://schemas.openxmlformats.org/drawingml/2006/main">
            <a:off x="457200" y="2085975"/>
            <a:ext cx="2400300" cy="13239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8" name="">
            <a:extLst xmlns:a="http://schemas.openxmlformats.org/drawingml/2006/main">
              <a:ext uri="{FF2B5EF4-FFF2-40B4-BE49-F238E27FC236}">
                <a16:creationId xmlns:a16="http://schemas.microsoft.com/office/drawing/2014/main" id="{F9F14CD8-914B-4860-968E-DA9EE8A553DD}"/>
              </a:ext>
            </a:extLst>
          </p:cNvPr>
          <p:cNvSpPr>
            <a:spLocks xmlns:a="http://schemas.openxmlformats.org/drawingml/2006/main" noGrp="1"/>
          </p:cNvSpPr>
          <p:nvPr/>
        </p:nvSpPr>
        <p:spPr>
          <a:xfrm xmlns:a="http://schemas.openxmlformats.org/drawingml/2006/main">
            <a:off x="590550" y="220027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01  Input</a:t>
            </a:r>
          </a:p>
        </p:txBody>
      </p:sp>
      <p:sp>
        <p:nvSpPr>
          <p:cNvPr id="9" name="">
            <a:extLst xmlns:a="http://schemas.openxmlformats.org/drawingml/2006/main">
              <a:ext uri="{FF2B5EF4-FFF2-40B4-BE49-F238E27FC236}">
                <a16:creationId xmlns:a16="http://schemas.microsoft.com/office/drawing/2014/main" id="{C7C365C1-E7B3-41D5-9271-0FBED97D9700}"/>
              </a:ext>
            </a:extLst>
          </p:cNvPr>
          <p:cNvSpPr>
            <a:spLocks xmlns:a="http://schemas.openxmlformats.org/drawingml/2006/main" noGrp="1"/>
          </p:cNvSpPr>
          <p:nvPr/>
        </p:nvSpPr>
        <p:spPr>
          <a:xfrm xmlns:a="http://schemas.openxmlformats.org/drawingml/2006/main">
            <a:off x="590550" y="257175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Select language and capture voice or text</a:t>
            </a:r>
          </a:p>
        </p:txBody>
      </p:sp>
      <p:sp>
        <p:nvSpPr>
          <p:cNvPr id="10" name="">
            <a:extLst xmlns:a="http://schemas.openxmlformats.org/drawingml/2006/main">
              <a:ext uri="{FF2B5EF4-FFF2-40B4-BE49-F238E27FC236}">
                <a16:creationId xmlns:a16="http://schemas.microsoft.com/office/drawing/2014/main" id="{FCD3F167-C526-4B90-B31C-7854DD8D7884}"/>
              </a:ext>
            </a:extLst>
          </p:cNvPr>
          <p:cNvSpPr>
            <a:spLocks xmlns:a="http://schemas.openxmlformats.org/drawingml/2006/main" noGrp="1"/>
          </p:cNvSpPr>
          <p:nvPr/>
        </p:nvSpPr>
        <p:spPr>
          <a:xfrm xmlns:a="http://schemas.openxmlformats.org/drawingml/2006/main">
            <a:off x="3419475" y="2085975"/>
            <a:ext cx="2400300" cy="13239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1" name="">
            <a:extLst xmlns:a="http://schemas.openxmlformats.org/drawingml/2006/main">
              <a:ext uri="{FF2B5EF4-FFF2-40B4-BE49-F238E27FC236}">
                <a16:creationId xmlns:a16="http://schemas.microsoft.com/office/drawing/2014/main" id="{2B3E25C9-C19E-49F9-95FE-C7D421713B60}"/>
              </a:ext>
            </a:extLst>
          </p:cNvPr>
          <p:cNvSpPr>
            <a:spLocks xmlns:a="http://schemas.openxmlformats.org/drawingml/2006/main" noGrp="1"/>
          </p:cNvSpPr>
          <p:nvPr/>
        </p:nvSpPr>
        <p:spPr>
          <a:xfrm xmlns:a="http://schemas.openxmlformats.org/drawingml/2006/main">
            <a:off x="3552825" y="220027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02  Transcript</a:t>
            </a:r>
          </a:p>
        </p:txBody>
      </p:sp>
      <p:sp>
        <p:nvSpPr>
          <p:cNvPr id="12" name="">
            <a:extLst xmlns:a="http://schemas.openxmlformats.org/drawingml/2006/main">
              <a:ext uri="{FF2B5EF4-FFF2-40B4-BE49-F238E27FC236}">
                <a16:creationId xmlns:a16="http://schemas.microsoft.com/office/drawing/2014/main" id="{2836B3B0-7EB9-4729-AFA1-1C8C7FE4D114}"/>
              </a:ext>
            </a:extLst>
          </p:cNvPr>
          <p:cNvSpPr>
            <a:spLocks xmlns:a="http://schemas.openxmlformats.org/drawingml/2006/main" noGrp="1"/>
          </p:cNvSpPr>
          <p:nvPr/>
        </p:nvSpPr>
        <p:spPr>
          <a:xfrm xmlns:a="http://schemas.openxmlformats.org/drawingml/2006/main">
            <a:off x="3552825" y="257175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Recognize speech and let the user correct facts</a:t>
            </a:r>
          </a:p>
        </p:txBody>
      </p:sp>
      <p:sp>
        <p:nvSpPr>
          <p:cNvPr id="13" name="">
            <a:extLst xmlns:a="http://schemas.openxmlformats.org/drawingml/2006/main">
              <a:ext uri="{FF2B5EF4-FFF2-40B4-BE49-F238E27FC236}">
                <a16:creationId xmlns:a16="http://schemas.microsoft.com/office/drawing/2014/main" id="{B4FE0CFE-3072-4FFF-9B35-E6E3640590F8}"/>
              </a:ext>
            </a:extLst>
          </p:cNvPr>
          <p:cNvSpPr>
            <a:spLocks xmlns:a="http://schemas.openxmlformats.org/drawingml/2006/main" noGrp="1"/>
          </p:cNvSpPr>
          <p:nvPr/>
        </p:nvSpPr>
        <p:spPr>
          <a:xfrm xmlns:a="http://schemas.openxmlformats.org/drawingml/2006/main">
            <a:off x="6381750" y="2085975"/>
            <a:ext cx="2400300" cy="13239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4" name="">
            <a:extLst xmlns:a="http://schemas.openxmlformats.org/drawingml/2006/main">
              <a:ext uri="{FF2B5EF4-FFF2-40B4-BE49-F238E27FC236}">
                <a16:creationId xmlns:a16="http://schemas.microsoft.com/office/drawing/2014/main" id="{FF2007F9-6B23-43E4-B4A4-AD8B604F698B}"/>
              </a:ext>
            </a:extLst>
          </p:cNvPr>
          <p:cNvSpPr>
            <a:spLocks xmlns:a="http://schemas.openxmlformats.org/drawingml/2006/main" noGrp="1"/>
          </p:cNvSpPr>
          <p:nvPr/>
        </p:nvSpPr>
        <p:spPr>
          <a:xfrm xmlns:a="http://schemas.openxmlformats.org/drawingml/2006/main">
            <a:off x="6515100" y="220027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03  Language</a:t>
            </a:r>
          </a:p>
        </p:txBody>
      </p:sp>
      <p:sp>
        <p:nvSpPr>
          <p:cNvPr id="15" name="">
            <a:extLst xmlns:a="http://schemas.openxmlformats.org/drawingml/2006/main">
              <a:ext uri="{FF2B5EF4-FFF2-40B4-BE49-F238E27FC236}">
                <a16:creationId xmlns:a16="http://schemas.microsoft.com/office/drawing/2014/main" id="{38A4668B-909E-47C9-8E94-ED4C7DD0418F}"/>
              </a:ext>
            </a:extLst>
          </p:cNvPr>
          <p:cNvSpPr>
            <a:spLocks xmlns:a="http://schemas.openxmlformats.org/drawingml/2006/main" noGrp="1"/>
          </p:cNvSpPr>
          <p:nvPr/>
        </p:nvSpPr>
        <p:spPr>
          <a:xfrm xmlns:a="http://schemas.openxmlformats.org/drawingml/2006/main">
            <a:off x="6515100" y="257175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Normalize text; translate only where needed</a:t>
            </a:r>
          </a:p>
        </p:txBody>
      </p:sp>
      <p:sp>
        <p:nvSpPr>
          <p:cNvPr id="16" name="">
            <a:extLst xmlns:a="http://schemas.openxmlformats.org/drawingml/2006/main">
              <a:ext uri="{FF2B5EF4-FFF2-40B4-BE49-F238E27FC236}">
                <a16:creationId xmlns:a16="http://schemas.microsoft.com/office/drawing/2014/main" id="{82C54E50-02E6-41AA-A349-D5CF45DBD7F8}"/>
              </a:ext>
            </a:extLst>
          </p:cNvPr>
          <p:cNvSpPr>
            <a:spLocks xmlns:a="http://schemas.openxmlformats.org/drawingml/2006/main" noGrp="1"/>
          </p:cNvSpPr>
          <p:nvPr/>
        </p:nvSpPr>
        <p:spPr>
          <a:xfrm xmlns:a="http://schemas.openxmlformats.org/drawingml/2006/main">
            <a:off x="9344025" y="2085975"/>
            <a:ext cx="2390775" cy="1323975"/>
          </a:xfrm>
          <a:prstGeom xmlns:a="http://schemas.openxmlformats.org/drawingml/2006/main" prst="rect">
            <a:avLst/>
          </a:prstGeom>
          <a:solidFill xmlns:a="http://schemas.openxmlformats.org/drawingml/2006/main">
            <a:srgbClr val="EEF5FB"/>
          </a:solidFill>
          <a:ln xmlns:a="http://schemas.openxmlformats.org/drawingml/2006/main" w="14288">
            <a:solidFill>
              <a:srgbClr val="203F91"/>
            </a:solidFill>
          </a:ln>
        </p:spPr>
      </p:sp>
      <p:sp>
        <p:nvSpPr>
          <p:cNvPr id="17" name="">
            <a:extLst xmlns:a="http://schemas.openxmlformats.org/drawingml/2006/main">
              <a:ext uri="{FF2B5EF4-FFF2-40B4-BE49-F238E27FC236}">
                <a16:creationId xmlns:a16="http://schemas.microsoft.com/office/drawing/2014/main" id="{A43FDF0D-75F7-4ED2-81E3-064BFDB68CF3}"/>
              </a:ext>
            </a:extLst>
          </p:cNvPr>
          <p:cNvSpPr>
            <a:spLocks xmlns:a="http://schemas.openxmlformats.org/drawingml/2006/main" noGrp="1"/>
          </p:cNvSpPr>
          <p:nvPr/>
        </p:nvSpPr>
        <p:spPr>
          <a:xfrm xmlns:a="http://schemas.openxmlformats.org/drawingml/2006/main">
            <a:off x="9477375" y="2200275"/>
            <a:ext cx="2124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203F91"/>
                </a:solidFill>
                <a:latin typeface="Arial"/>
                <a:ea typeface="Arial"/>
                <a:cs typeface="Arial"/>
              </a:defRPr>
            </a:pPr>
            <a:r>
              <a:rPr sz="1725" b="1">
                <a:solidFill>
                  <a:srgbClr val="203F91"/>
                </a:solidFill>
                <a:latin typeface="Arial"/>
                <a:ea typeface="Arial"/>
                <a:cs typeface="Arial"/>
              </a:rPr>
              <a:t>04  Analysis</a:t>
            </a:r>
          </a:p>
        </p:txBody>
      </p:sp>
      <p:sp>
        <p:nvSpPr>
          <p:cNvPr id="18" name="">
            <a:extLst xmlns:a="http://schemas.openxmlformats.org/drawingml/2006/main">
              <a:ext uri="{FF2B5EF4-FFF2-40B4-BE49-F238E27FC236}">
                <a16:creationId xmlns:a16="http://schemas.microsoft.com/office/drawing/2014/main" id="{EF26C39F-A670-4063-BBE3-2C9F99914840}"/>
              </a:ext>
            </a:extLst>
          </p:cNvPr>
          <p:cNvSpPr>
            <a:spLocks xmlns:a="http://schemas.openxmlformats.org/drawingml/2006/main" noGrp="1"/>
          </p:cNvSpPr>
          <p:nvPr/>
        </p:nvSpPr>
        <p:spPr>
          <a:xfrm xmlns:a="http://schemas.openxmlformats.org/drawingml/2006/main">
            <a:off x="9477375" y="2571750"/>
            <a:ext cx="2124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Return category, urgency and suggested actions</a:t>
            </a:r>
          </a:p>
        </p:txBody>
      </p:sp>
      <p:cxnSp>
        <p:nvCxnSpPr>
          <p:cNvPr id="57" name=""/>
          <p:cNvCxnSpPr>
            <a:stCxn xmlns:a="http://schemas.openxmlformats.org/drawingml/2006/main" id="7" idx="3"/>
            <a:endCxn xmlns:a="http://schemas.openxmlformats.org/drawingml/2006/main" id="10" idx="1"/>
          </p:cNvCxnSpPr>
          <p:nvPr/>
        </p:nvCxnSpPr>
        <p:spPr>
          <a:xfrm xmlns:a="http://schemas.openxmlformats.org/drawingml/2006/main">
            <a:off x="2857500" y="2747963"/>
            <a:ext cx="56197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58" name=""/>
          <p:cNvCxnSpPr>
            <a:stCxn xmlns:a="http://schemas.openxmlformats.org/drawingml/2006/main" id="10" idx="3"/>
            <a:endCxn xmlns:a="http://schemas.openxmlformats.org/drawingml/2006/main" id="13" idx="1"/>
          </p:cNvCxnSpPr>
          <p:nvPr/>
        </p:nvCxnSpPr>
        <p:spPr>
          <a:xfrm xmlns:a="http://schemas.openxmlformats.org/drawingml/2006/main">
            <a:off x="5819775" y="2747963"/>
            <a:ext cx="56197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59" name=""/>
          <p:cNvCxnSpPr>
            <a:stCxn xmlns:a="http://schemas.openxmlformats.org/drawingml/2006/main" id="13" idx="3"/>
            <a:endCxn xmlns:a="http://schemas.openxmlformats.org/drawingml/2006/main" id="16" idx="1"/>
          </p:cNvCxnSpPr>
          <p:nvPr/>
        </p:nvCxnSpPr>
        <p:spPr>
          <a:xfrm xmlns:a="http://schemas.openxmlformats.org/drawingml/2006/main">
            <a:off x="8782050" y="2747963"/>
            <a:ext cx="561975" cy="0"/>
          </a:xfrm>
          <a:prstGeom xmlns:a="http://schemas.openxmlformats.org/drawingml/2006/main" prst="straightConnector1">
            <a:avLst/>
          </a:prstGeom>
          <a:ln xmlns:a="http://schemas.openxmlformats.org/drawingml/2006/main" w="22860">
            <a:solidFill>
              <a:srgbClr val="203F91"/>
            </a:solidFill>
            <a:tailEnd type="triangle" w="med" len="med"/>
          </a:ln>
        </p:spPr>
      </p:cxnSp>
      <p:sp>
        <p:nvSpPr>
          <p:cNvPr id="22" name="">
            <a:extLst xmlns:a="http://schemas.openxmlformats.org/drawingml/2006/main">
              <a:ext uri="{FF2B5EF4-FFF2-40B4-BE49-F238E27FC236}">
                <a16:creationId xmlns:a16="http://schemas.microsoft.com/office/drawing/2014/main" id="{1FF4F3CC-B9D3-4D22-A792-30C58A2372E2}"/>
              </a:ext>
            </a:extLst>
          </p:cNvPr>
          <p:cNvSpPr>
            <a:spLocks xmlns:a="http://schemas.openxmlformats.org/drawingml/2006/main" noGrp="1"/>
          </p:cNvSpPr>
          <p:nvPr/>
        </p:nvSpPr>
        <p:spPr>
          <a:xfrm xmlns:a="http://schemas.openxmlformats.org/drawingml/2006/main">
            <a:off x="457200" y="4276725"/>
            <a:ext cx="2400300" cy="1390650"/>
          </a:xfrm>
          <a:prstGeom xmlns:a="http://schemas.openxmlformats.org/drawingml/2006/main" prst="rect">
            <a:avLst/>
          </a:prstGeom>
          <a:solidFill xmlns:a="http://schemas.openxmlformats.org/drawingml/2006/main">
            <a:srgbClr val="EEF5FB"/>
          </a:solidFill>
          <a:ln xmlns:a="http://schemas.openxmlformats.org/drawingml/2006/main" w="14288">
            <a:solidFill>
              <a:srgbClr val="087E65"/>
            </a:solidFill>
          </a:ln>
        </p:spPr>
      </p:sp>
      <p:sp>
        <p:nvSpPr>
          <p:cNvPr id="23" name="">
            <a:extLst xmlns:a="http://schemas.openxmlformats.org/drawingml/2006/main">
              <a:ext uri="{FF2B5EF4-FFF2-40B4-BE49-F238E27FC236}">
                <a16:creationId xmlns:a16="http://schemas.microsoft.com/office/drawing/2014/main" id="{58DB7541-A533-4759-AFE7-2151361A12A9}"/>
              </a:ext>
            </a:extLst>
          </p:cNvPr>
          <p:cNvSpPr>
            <a:spLocks xmlns:a="http://schemas.openxmlformats.org/drawingml/2006/main" noGrp="1"/>
          </p:cNvSpPr>
          <p:nvPr/>
        </p:nvSpPr>
        <p:spPr>
          <a:xfrm xmlns:a="http://schemas.openxmlformats.org/drawingml/2006/main">
            <a:off x="590550" y="439102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87E65"/>
                </a:solidFill>
                <a:latin typeface="Arial"/>
                <a:ea typeface="Arial"/>
                <a:cs typeface="Arial"/>
              </a:defRPr>
            </a:pPr>
            <a:r>
              <a:rPr sz="1725" b="1">
                <a:solidFill>
                  <a:srgbClr val="087E65"/>
                </a:solidFill>
                <a:latin typeface="Arial"/>
                <a:ea typeface="Arial"/>
                <a:cs typeface="Arial"/>
              </a:rPr>
              <a:t>08  User</a:t>
            </a:r>
          </a:p>
        </p:txBody>
      </p:sp>
      <p:sp>
        <p:nvSpPr>
          <p:cNvPr id="24" name="">
            <a:extLst xmlns:a="http://schemas.openxmlformats.org/drawingml/2006/main">
              <a:ext uri="{FF2B5EF4-FFF2-40B4-BE49-F238E27FC236}">
                <a16:creationId xmlns:a16="http://schemas.microsoft.com/office/drawing/2014/main" id="{A5B4DE2D-A01A-499B-9C93-C561FC1EDBDA}"/>
              </a:ext>
            </a:extLst>
          </p:cNvPr>
          <p:cNvSpPr>
            <a:spLocks xmlns:a="http://schemas.openxmlformats.org/drawingml/2006/main" noGrp="1"/>
          </p:cNvSpPr>
          <p:nvPr/>
        </p:nvSpPr>
        <p:spPr>
          <a:xfrm xmlns:a="http://schemas.openxmlformats.org/drawingml/2006/main">
            <a:off x="590550" y="4762500"/>
            <a:ext cx="21336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Read or listen, ask a follow-up, request a booking</a:t>
            </a:r>
          </a:p>
        </p:txBody>
      </p:sp>
      <p:sp>
        <p:nvSpPr>
          <p:cNvPr id="25" name="">
            <a:extLst xmlns:a="http://schemas.openxmlformats.org/drawingml/2006/main">
              <a:ext uri="{FF2B5EF4-FFF2-40B4-BE49-F238E27FC236}">
                <a16:creationId xmlns:a16="http://schemas.microsoft.com/office/drawing/2014/main" id="{29A5190D-8FD3-4735-83D5-01DAFFA777F1}"/>
              </a:ext>
            </a:extLst>
          </p:cNvPr>
          <p:cNvSpPr>
            <a:spLocks xmlns:a="http://schemas.openxmlformats.org/drawingml/2006/main" noGrp="1"/>
          </p:cNvSpPr>
          <p:nvPr/>
        </p:nvSpPr>
        <p:spPr>
          <a:xfrm xmlns:a="http://schemas.openxmlformats.org/drawingml/2006/main">
            <a:off x="3419475" y="4276725"/>
            <a:ext cx="2400300" cy="1390650"/>
          </a:xfrm>
          <a:prstGeom xmlns:a="http://schemas.openxmlformats.org/drawingml/2006/main" prst="rect">
            <a:avLst/>
          </a:prstGeom>
          <a:solidFill xmlns:a="http://schemas.openxmlformats.org/drawingml/2006/main">
            <a:srgbClr val="EEF5FB"/>
          </a:solidFill>
          <a:ln xmlns:a="http://schemas.openxmlformats.org/drawingml/2006/main" w="14288">
            <a:solidFill>
              <a:srgbClr val="087E65"/>
            </a:solidFill>
          </a:ln>
        </p:spPr>
      </p:sp>
      <p:sp>
        <p:nvSpPr>
          <p:cNvPr id="26" name="">
            <a:extLst xmlns:a="http://schemas.openxmlformats.org/drawingml/2006/main">
              <a:ext uri="{FF2B5EF4-FFF2-40B4-BE49-F238E27FC236}">
                <a16:creationId xmlns:a16="http://schemas.microsoft.com/office/drawing/2014/main" id="{3032E2D0-0C3B-4140-A89C-AEF9AEDBBF2A}"/>
              </a:ext>
            </a:extLst>
          </p:cNvPr>
          <p:cNvSpPr>
            <a:spLocks xmlns:a="http://schemas.openxmlformats.org/drawingml/2006/main" noGrp="1"/>
          </p:cNvSpPr>
          <p:nvPr/>
        </p:nvSpPr>
        <p:spPr>
          <a:xfrm xmlns:a="http://schemas.openxmlformats.org/drawingml/2006/main">
            <a:off x="3552825" y="439102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87E65"/>
                </a:solidFill>
                <a:latin typeface="Arial"/>
                <a:ea typeface="Arial"/>
                <a:cs typeface="Arial"/>
              </a:defRPr>
            </a:pPr>
            <a:r>
              <a:rPr sz="1725" b="1">
                <a:solidFill>
                  <a:srgbClr val="087E65"/>
                </a:solidFill>
                <a:latin typeface="Arial"/>
                <a:ea typeface="Arial"/>
                <a:cs typeface="Arial"/>
              </a:rPr>
              <a:t>07  Response</a:t>
            </a:r>
          </a:p>
        </p:txBody>
      </p:sp>
      <p:sp>
        <p:nvSpPr>
          <p:cNvPr id="27" name="">
            <a:extLst xmlns:a="http://schemas.openxmlformats.org/drawingml/2006/main">
              <a:ext uri="{FF2B5EF4-FFF2-40B4-BE49-F238E27FC236}">
                <a16:creationId xmlns:a16="http://schemas.microsoft.com/office/drawing/2014/main" id="{3EB3FBBF-DD57-4243-ACC7-A4EF2B543E93}"/>
              </a:ext>
            </a:extLst>
          </p:cNvPr>
          <p:cNvSpPr>
            <a:spLocks xmlns:a="http://schemas.openxmlformats.org/drawingml/2006/main" noGrp="1"/>
          </p:cNvSpPr>
          <p:nvPr/>
        </p:nvSpPr>
        <p:spPr>
          <a:xfrm xmlns:a="http://schemas.openxmlformats.org/drawingml/2006/main">
            <a:off x="3552825" y="4762500"/>
            <a:ext cx="21336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Localize explanation and synthesize speech</a:t>
            </a:r>
          </a:p>
        </p:txBody>
      </p:sp>
      <p:sp>
        <p:nvSpPr>
          <p:cNvPr id="28" name="">
            <a:extLst xmlns:a="http://schemas.openxmlformats.org/drawingml/2006/main">
              <a:ext uri="{FF2B5EF4-FFF2-40B4-BE49-F238E27FC236}">
                <a16:creationId xmlns:a16="http://schemas.microsoft.com/office/drawing/2014/main" id="{0D8B651F-AA2E-4AC8-901D-04730A3BC230}"/>
              </a:ext>
            </a:extLst>
          </p:cNvPr>
          <p:cNvSpPr>
            <a:spLocks xmlns:a="http://schemas.openxmlformats.org/drawingml/2006/main" noGrp="1"/>
          </p:cNvSpPr>
          <p:nvPr/>
        </p:nvSpPr>
        <p:spPr>
          <a:xfrm xmlns:a="http://schemas.openxmlformats.org/drawingml/2006/main">
            <a:off x="6381750" y="4276725"/>
            <a:ext cx="2400300" cy="1390650"/>
          </a:xfrm>
          <a:prstGeom xmlns:a="http://schemas.openxmlformats.org/drawingml/2006/main" prst="rect">
            <a:avLst/>
          </a:prstGeom>
          <a:solidFill xmlns:a="http://schemas.openxmlformats.org/drawingml/2006/main">
            <a:srgbClr val="EEF5FB"/>
          </a:solidFill>
          <a:ln xmlns:a="http://schemas.openxmlformats.org/drawingml/2006/main" w="14288">
            <a:solidFill>
              <a:srgbClr val="087E65"/>
            </a:solidFill>
          </a:ln>
        </p:spPr>
      </p:sp>
      <p:sp>
        <p:nvSpPr>
          <p:cNvPr id="29" name="">
            <a:extLst xmlns:a="http://schemas.openxmlformats.org/drawingml/2006/main">
              <a:ext uri="{FF2B5EF4-FFF2-40B4-BE49-F238E27FC236}">
                <a16:creationId xmlns:a16="http://schemas.microsoft.com/office/drawing/2014/main" id="{E07E136D-B96C-4FD9-9DC2-256BB92B265E}"/>
              </a:ext>
            </a:extLst>
          </p:cNvPr>
          <p:cNvSpPr>
            <a:spLocks xmlns:a="http://schemas.openxmlformats.org/drawingml/2006/main" noGrp="1"/>
          </p:cNvSpPr>
          <p:nvPr/>
        </p:nvSpPr>
        <p:spPr>
          <a:xfrm xmlns:a="http://schemas.openxmlformats.org/drawingml/2006/main">
            <a:off x="6515100" y="4391025"/>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087E65"/>
                </a:solidFill>
                <a:latin typeface="Arial"/>
                <a:ea typeface="Arial"/>
                <a:cs typeface="Arial"/>
              </a:defRPr>
            </a:pPr>
            <a:r>
              <a:rPr sz="1725" b="1">
                <a:solidFill>
                  <a:srgbClr val="087E65"/>
                </a:solidFill>
                <a:latin typeface="Arial"/>
                <a:ea typeface="Arial"/>
                <a:cs typeface="Arial"/>
              </a:rPr>
              <a:t>06  Match</a:t>
            </a:r>
          </a:p>
        </p:txBody>
      </p:sp>
      <p:sp>
        <p:nvSpPr>
          <p:cNvPr id="30" name="">
            <a:extLst xmlns:a="http://schemas.openxmlformats.org/drawingml/2006/main">
              <a:ext uri="{FF2B5EF4-FFF2-40B4-BE49-F238E27FC236}">
                <a16:creationId xmlns:a16="http://schemas.microsoft.com/office/drawing/2014/main" id="{B9E54D60-487B-410A-848D-D57C02542CA6}"/>
              </a:ext>
            </a:extLst>
          </p:cNvPr>
          <p:cNvSpPr>
            <a:spLocks xmlns:a="http://schemas.openxmlformats.org/drawingml/2006/main" noGrp="1"/>
          </p:cNvSpPr>
          <p:nvPr/>
        </p:nvSpPr>
        <p:spPr>
          <a:xfrm xmlns:a="http://schemas.openxmlformats.org/drawingml/2006/main">
            <a:off x="6515100" y="4762500"/>
            <a:ext cx="21336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Filter expertise, language preference and availability</a:t>
            </a:r>
          </a:p>
        </p:txBody>
      </p:sp>
      <p:sp>
        <p:nvSpPr>
          <p:cNvPr id="31" name="">
            <a:extLst xmlns:a="http://schemas.openxmlformats.org/drawingml/2006/main">
              <a:ext uri="{FF2B5EF4-FFF2-40B4-BE49-F238E27FC236}">
                <a16:creationId xmlns:a16="http://schemas.microsoft.com/office/drawing/2014/main" id="{EF6C4706-BA4B-417F-9116-1A3BD73C5F43}"/>
              </a:ext>
            </a:extLst>
          </p:cNvPr>
          <p:cNvSpPr>
            <a:spLocks xmlns:a="http://schemas.openxmlformats.org/drawingml/2006/main" noGrp="1"/>
          </p:cNvSpPr>
          <p:nvPr/>
        </p:nvSpPr>
        <p:spPr>
          <a:xfrm xmlns:a="http://schemas.openxmlformats.org/drawingml/2006/main">
            <a:off x="9344025" y="4276725"/>
            <a:ext cx="2390775" cy="1390650"/>
          </a:xfrm>
          <a:prstGeom xmlns:a="http://schemas.openxmlformats.org/drawingml/2006/main" prst="rect">
            <a:avLst/>
          </a:prstGeom>
          <a:solidFill xmlns:a="http://schemas.openxmlformats.org/drawingml/2006/main">
            <a:srgbClr val="EEF5FB"/>
          </a:solidFill>
          <a:ln xmlns:a="http://schemas.openxmlformats.org/drawingml/2006/main" w="14288">
            <a:solidFill>
              <a:srgbClr val="D77A00"/>
            </a:solidFill>
          </a:ln>
        </p:spPr>
      </p:sp>
      <p:sp>
        <p:nvSpPr>
          <p:cNvPr id="32" name="">
            <a:extLst xmlns:a="http://schemas.openxmlformats.org/drawingml/2006/main">
              <a:ext uri="{FF2B5EF4-FFF2-40B4-BE49-F238E27FC236}">
                <a16:creationId xmlns:a16="http://schemas.microsoft.com/office/drawing/2014/main" id="{11AE84EE-8520-455A-8E00-CD0304404936}"/>
              </a:ext>
            </a:extLst>
          </p:cNvPr>
          <p:cNvSpPr>
            <a:spLocks xmlns:a="http://schemas.openxmlformats.org/drawingml/2006/main" noGrp="1"/>
          </p:cNvSpPr>
          <p:nvPr/>
        </p:nvSpPr>
        <p:spPr>
          <a:xfrm xmlns:a="http://schemas.openxmlformats.org/drawingml/2006/main">
            <a:off x="9477375" y="4391025"/>
            <a:ext cx="2124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D77A00"/>
                </a:solidFill>
                <a:latin typeface="Arial"/>
                <a:ea typeface="Arial"/>
                <a:cs typeface="Arial"/>
              </a:defRPr>
            </a:pPr>
            <a:r>
              <a:rPr sz="1725" b="1">
                <a:solidFill>
                  <a:srgbClr val="D77A00"/>
                </a:solidFill>
                <a:latin typeface="Arial"/>
                <a:ea typeface="Arial"/>
                <a:cs typeface="Arial"/>
              </a:rPr>
              <a:t>05  Validate</a:t>
            </a:r>
          </a:p>
        </p:txBody>
      </p:sp>
      <p:sp>
        <p:nvSpPr>
          <p:cNvPr id="33" name="">
            <a:extLst xmlns:a="http://schemas.openxmlformats.org/drawingml/2006/main">
              <a:ext uri="{FF2B5EF4-FFF2-40B4-BE49-F238E27FC236}">
                <a16:creationId xmlns:a16="http://schemas.microsoft.com/office/drawing/2014/main" id="{14BBF9AE-5AE6-42BF-926D-AD6EBF823440}"/>
              </a:ext>
            </a:extLst>
          </p:cNvPr>
          <p:cNvSpPr>
            <a:spLocks xmlns:a="http://schemas.openxmlformats.org/drawingml/2006/main" noGrp="1"/>
          </p:cNvSpPr>
          <p:nvPr/>
        </p:nvSpPr>
        <p:spPr>
          <a:xfrm xmlns:a="http://schemas.openxmlformats.org/drawingml/2006/main">
            <a:off x="9477375" y="4762500"/>
            <a:ext cx="21240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72237"/>
                </a:solidFill>
                <a:latin typeface="Arial"/>
                <a:ea typeface="Arial"/>
                <a:cs typeface="Arial"/>
              </a:defRPr>
            </a:pPr>
            <a:r>
              <a:rPr sz="1500" b="0">
                <a:solidFill>
                  <a:srgbClr val="172237"/>
                </a:solidFill>
                <a:latin typeface="Arial"/>
                <a:ea typeface="Arial"/>
                <a:cs typeface="Arial"/>
              </a:rPr>
              <a:t>Check response structure and preserve critical facts</a:t>
            </a:r>
          </a:p>
        </p:txBody>
      </p:sp>
      <p:cxnSp>
        <p:nvCxnSpPr>
          <p:cNvPr id="72" name=""/>
          <p:cNvCxnSpPr>
            <a:stCxn xmlns:a="http://schemas.openxmlformats.org/drawingml/2006/main" id="16" idx="2"/>
            <a:endCxn xmlns:a="http://schemas.openxmlformats.org/drawingml/2006/main" id="31" idx="0"/>
          </p:cNvCxnSpPr>
          <p:nvPr/>
        </p:nvCxnSpPr>
        <p:spPr>
          <a:xfrm xmlns:a="http://schemas.openxmlformats.org/drawingml/2006/main">
            <a:off x="10539413" y="3409950"/>
            <a:ext cx="0" cy="866775"/>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73" name=""/>
          <p:cNvCxnSpPr>
            <a:stCxn xmlns:a="http://schemas.openxmlformats.org/drawingml/2006/main" id="31" idx="1"/>
            <a:endCxn xmlns:a="http://schemas.openxmlformats.org/drawingml/2006/main" id="28" idx="3"/>
          </p:cNvCxnSpPr>
          <p:nvPr/>
        </p:nvCxnSpPr>
        <p:spPr>
          <a:xfrm xmlns:a="http://schemas.openxmlformats.org/drawingml/2006/main" flipH="1">
            <a:off x="8782050" y="4972050"/>
            <a:ext cx="561975" cy="0"/>
          </a:xfrm>
          <a:prstGeom xmlns:a="http://schemas.openxmlformats.org/drawingml/2006/main" prst="straightConnector1">
            <a:avLst/>
          </a:prstGeom>
          <a:ln xmlns:a="http://schemas.openxmlformats.org/drawingml/2006/main" w="22860">
            <a:solidFill>
              <a:srgbClr val="203F91"/>
            </a:solidFill>
            <a:tailEnd type="triangle" w="med" len="med"/>
          </a:ln>
        </p:spPr>
      </p:cxnSp>
      <p:cxnSp>
        <p:nvCxnSpPr>
          <p:cNvPr id="74" name=""/>
          <p:cNvCxnSpPr>
            <a:stCxn xmlns:a="http://schemas.openxmlformats.org/drawingml/2006/main" id="28" idx="1"/>
            <a:endCxn xmlns:a="http://schemas.openxmlformats.org/drawingml/2006/main" id="25" idx="3"/>
          </p:cNvCxnSpPr>
          <p:nvPr/>
        </p:nvCxnSpPr>
        <p:spPr>
          <a:xfrm xmlns:a="http://schemas.openxmlformats.org/drawingml/2006/main" flipH="1">
            <a:off x="5819775" y="4972050"/>
            <a:ext cx="561975" cy="0"/>
          </a:xfrm>
          <a:prstGeom xmlns:a="http://schemas.openxmlformats.org/drawingml/2006/main" prst="straightConnector1">
            <a:avLst/>
          </a:prstGeom>
          <a:ln xmlns:a="http://schemas.openxmlformats.org/drawingml/2006/main" w="22860">
            <a:solidFill>
              <a:srgbClr val="087E65"/>
            </a:solidFill>
            <a:tailEnd type="triangle" w="med" len="med"/>
          </a:ln>
        </p:spPr>
      </p:cxnSp>
      <p:cxnSp>
        <p:nvCxnSpPr>
          <p:cNvPr id="75" name=""/>
          <p:cNvCxnSpPr>
            <a:stCxn xmlns:a="http://schemas.openxmlformats.org/drawingml/2006/main" id="25" idx="1"/>
            <a:endCxn xmlns:a="http://schemas.openxmlformats.org/drawingml/2006/main" id="22" idx="3"/>
          </p:cNvCxnSpPr>
          <p:nvPr/>
        </p:nvCxnSpPr>
        <p:spPr>
          <a:xfrm xmlns:a="http://schemas.openxmlformats.org/drawingml/2006/main" flipH="1">
            <a:off x="2857500" y="4972050"/>
            <a:ext cx="561975" cy="0"/>
          </a:xfrm>
          <a:prstGeom xmlns:a="http://schemas.openxmlformats.org/drawingml/2006/main" prst="straightConnector1">
            <a:avLst/>
          </a:prstGeom>
          <a:ln xmlns:a="http://schemas.openxmlformats.org/drawingml/2006/main" w="22860">
            <a:solidFill>
              <a:srgbClr val="087E65"/>
            </a:solidFill>
            <a:tailEnd type="triangle" w="med" len="med"/>
          </a:ln>
        </p:spPr>
      </p:cxnSp>
      <p:sp>
        <p:nvSpPr>
          <p:cNvPr id="38" name="">
            <a:extLst xmlns:a="http://schemas.openxmlformats.org/drawingml/2006/main">
              <a:ext uri="{FF2B5EF4-FFF2-40B4-BE49-F238E27FC236}">
                <a16:creationId xmlns:a16="http://schemas.microsoft.com/office/drawing/2014/main" id="{F195621F-C229-48C4-B8F5-2F28C8FCA1D1}"/>
              </a:ext>
            </a:extLst>
          </p:cNvPr>
          <p:cNvSpPr>
            <a:spLocks xmlns:a="http://schemas.openxmlformats.org/drawingml/2006/main" noGrp="1"/>
          </p:cNvSpPr>
          <p:nvPr/>
        </p:nvSpPr>
        <p:spPr>
          <a:xfrm xmlns:a="http://schemas.openxmlformats.org/drawingml/2006/main">
            <a:off x="466725" y="5972175"/>
            <a:ext cx="11258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3647A"/>
                </a:solidFill>
                <a:latin typeface="Arial"/>
                <a:ea typeface="Arial"/>
                <a:cs typeface="Arial"/>
              </a:defRPr>
            </a:pPr>
            <a:r>
              <a:rPr sz="1575" b="0">
                <a:solidFill>
                  <a:srgbClr val="53647A"/>
                </a:solidFill>
                <a:latin typeface="Arial"/>
                <a:ea typeface="Arial"/>
                <a:cs typeface="Arial"/>
              </a:rPr>
              <a:t>Critical facts: names, dates and amounts. Unsupported language modes need a clear fallback.</a:t>
            </a:r>
          </a:p>
        </p:txBody>
      </p:sp>
    </p:spTree>
    <p:extLst>
      <p:ext uri="{BB962C8B-B14F-4D97-AF65-F5344CB8AC3E}">
        <p14:creationId xmlns:p14="http://schemas.microsoft.com/office/powerpoint/2010/main" val="16027969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2B9DF55-DFE7-428C-A84D-8806B50EA6C9}"/>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D9DBF5F0-56F3-4370-A6BB-B0CC7AC889E9}"/>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FEASIBILITY AND VIABILITY ANALYSIS</a:t>
            </a:r>
          </a:p>
        </p:txBody>
      </p:sp>
      <p:sp>
        <p:nvSpPr>
          <p:cNvPr id="3" name="">
            <a:extLst xmlns:a="http://schemas.openxmlformats.org/drawingml/2006/main">
              <a:ext uri="{FF2B5EF4-FFF2-40B4-BE49-F238E27FC236}">
                <a16:creationId xmlns:a16="http://schemas.microsoft.com/office/drawing/2014/main" id="{59069B14-E3B0-4CB7-8026-45A14CF80698}"/>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Implementation choices, operating costs and validation gates</a:t>
            </a:r>
          </a:p>
        </p:txBody>
      </p:sp>
      <p:sp>
        <p:nvSpPr>
          <p:cNvPr id="4" name="">
            <a:extLst xmlns:a="http://schemas.openxmlformats.org/drawingml/2006/main">
              <a:ext uri="{FF2B5EF4-FFF2-40B4-BE49-F238E27FC236}">
                <a16:creationId xmlns:a16="http://schemas.microsoft.com/office/drawing/2014/main" id="{AF9AED27-E3DC-4904-B4FE-5508031760DF}"/>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2BDB21-3437-4D09-8912-4400D3CBC5B2}"/>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Faculty project review</a:t>
            </a:r>
          </a:p>
        </p:txBody>
      </p:sp>
      <p:sp>
        <p:nvSpPr>
          <p:cNvPr id="6" name="">
            <a:extLst xmlns:a="http://schemas.openxmlformats.org/drawingml/2006/main">
              <a:ext uri="{FF2B5EF4-FFF2-40B4-BE49-F238E27FC236}">
                <a16:creationId xmlns:a16="http://schemas.microsoft.com/office/drawing/2014/main" id="{418CFB95-A438-481F-9BA2-3602E3129000}"/>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E3C39175-E7C8-4B58-AA80-9E459E61405B}"/>
              </a:ext>
            </a:extLst>
          </p:cNvPr>
          <p:cNvSpPr>
            <a:spLocks xmlns:a="http://schemas.openxmlformats.org/drawingml/2006/main" noGrp="1"/>
          </p:cNvSpPr>
          <p:nvPr/>
        </p:nvSpPr>
        <p:spPr>
          <a:xfrm xmlns:a="http://schemas.openxmlformats.org/drawingml/2006/main">
            <a:off x="457200" y="1800225"/>
            <a:ext cx="53244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TECHNICAL FEASIBILITY</a:t>
            </a:r>
          </a:p>
        </p:txBody>
      </p:sp>
      <p:sp>
        <p:nvSpPr>
          <p:cNvPr id="8" name="">
            <a:extLst xmlns:a="http://schemas.openxmlformats.org/drawingml/2006/main">
              <a:ext uri="{FF2B5EF4-FFF2-40B4-BE49-F238E27FC236}">
                <a16:creationId xmlns:a16="http://schemas.microsoft.com/office/drawing/2014/main" id="{FFC74D16-DE04-4736-86FB-2CFCD553B0B8}"/>
              </a:ext>
            </a:extLst>
          </p:cNvPr>
          <p:cNvSpPr>
            <a:spLocks xmlns:a="http://schemas.openxmlformats.org/drawingml/2006/main" noGrp="1"/>
          </p:cNvSpPr>
          <p:nvPr/>
        </p:nvSpPr>
        <p:spPr>
          <a:xfrm xmlns:a="http://schemas.openxmlformats.org/drawingml/2006/main">
            <a:off x="457200" y="2143125"/>
            <a:ext cx="532447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E8340E3-F236-4D2E-9160-E2201903A12D}"/>
              </a:ext>
            </a:extLst>
          </p:cNvPr>
          <p:cNvSpPr>
            <a:spLocks xmlns:a="http://schemas.openxmlformats.org/drawingml/2006/main" noGrp="1"/>
          </p:cNvSpPr>
          <p:nvPr/>
        </p:nvSpPr>
        <p:spPr>
          <a:xfrm xmlns:a="http://schemas.openxmlformats.org/drawingml/2006/main">
            <a:off x="6381750" y="1800225"/>
            <a:ext cx="53435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D77A00"/>
                </a:solidFill>
                <a:latin typeface="Arial"/>
                <a:ea typeface="Arial"/>
                <a:cs typeface="Arial"/>
              </a:defRPr>
            </a:pPr>
            <a:r>
              <a:rPr sz="1650" b="1">
                <a:solidFill>
                  <a:srgbClr val="D77A00"/>
                </a:solidFill>
                <a:latin typeface="Arial"/>
                <a:ea typeface="Arial"/>
                <a:cs typeface="Arial"/>
              </a:rPr>
              <a:t>OPERATIONAL VIABILITY</a:t>
            </a:r>
          </a:p>
        </p:txBody>
      </p:sp>
      <p:sp>
        <p:nvSpPr>
          <p:cNvPr id="10" name="">
            <a:extLst xmlns:a="http://schemas.openxmlformats.org/drawingml/2006/main">
              <a:ext uri="{FF2B5EF4-FFF2-40B4-BE49-F238E27FC236}">
                <a16:creationId xmlns:a16="http://schemas.microsoft.com/office/drawing/2014/main" id="{C255D599-373C-44FB-B11D-34C7E4F97693}"/>
              </a:ext>
            </a:extLst>
          </p:cNvPr>
          <p:cNvSpPr>
            <a:spLocks xmlns:a="http://schemas.openxmlformats.org/drawingml/2006/main" noGrp="1"/>
          </p:cNvSpPr>
          <p:nvPr/>
        </p:nvSpPr>
        <p:spPr>
          <a:xfrm xmlns:a="http://schemas.openxmlformats.org/drawingml/2006/main">
            <a:off x="6381750" y="2143125"/>
            <a:ext cx="5343525" cy="19050"/>
          </a:xfrm>
          <a:prstGeom xmlns:a="http://schemas.openxmlformats.org/drawingml/2006/main" prst="rect">
            <a:avLst/>
          </a:prstGeom>
          <a:solidFill xmlns:a="http://schemas.openxmlformats.org/drawingml/2006/main">
            <a:srgbClr val="D77A0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910778E-4650-4C3B-B85C-169D5BBB5484}"/>
              </a:ext>
            </a:extLst>
          </p:cNvPr>
          <p:cNvSpPr>
            <a:spLocks xmlns:a="http://schemas.openxmlformats.org/drawingml/2006/main" noGrp="1"/>
          </p:cNvSpPr>
          <p:nvPr/>
        </p:nvSpPr>
        <p:spPr>
          <a:xfrm xmlns:a="http://schemas.openxmlformats.org/drawingml/2006/main">
            <a:off x="476250" y="2324100"/>
            <a:ext cx="5238750" cy="2581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Standard web stack</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React, Express and MongoDB</a:t>
            </a:r>
          </a:p>
          <a:p xmlns:a="http://schemas.openxmlformats.org/drawingml/2006/main">
            <a:r>
              <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Service-based language processing</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Evaluate providers per language and script</a:t>
            </a:r>
          </a:p>
          <a:p xmlns:a="http://schemas.openxmlformats.org/drawingml/2006/main">
            <a:r>
              <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Staged implementation</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Pilot languages before broader expansion</a:t>
            </a:r>
          </a:p>
        </p:txBody>
      </p:sp>
      <p:sp>
        <p:nvSpPr>
          <p:cNvPr id="12" name="">
            <a:extLst xmlns:a="http://schemas.openxmlformats.org/drawingml/2006/main">
              <a:ext uri="{FF2B5EF4-FFF2-40B4-BE49-F238E27FC236}">
                <a16:creationId xmlns:a16="http://schemas.microsoft.com/office/drawing/2014/main" id="{1D6BD655-FC7F-4B55-9187-B35A6C9D7C65}"/>
              </a:ext>
            </a:extLst>
          </p:cNvPr>
          <p:cNvSpPr>
            <a:spLocks xmlns:a="http://schemas.openxmlformats.org/drawingml/2006/main" noGrp="1"/>
          </p:cNvSpPr>
          <p:nvPr/>
        </p:nvSpPr>
        <p:spPr>
          <a:xfrm xmlns:a="http://schemas.openxmlformats.org/drawingml/2006/main">
            <a:off x="6400800" y="2324100"/>
            <a:ext cx="5238750" cy="2581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Measure cost per completed interaction</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Speech + model + translation + hosting</a:t>
            </a:r>
          </a:p>
          <a:p xmlns:a="http://schemas.openxmlformats.org/drawingml/2006/main">
            <a:r>
              <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Verify consultation fulfilment</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Advocate onboarding and real availability</a:t>
            </a:r>
          </a:p>
          <a:p xmlns:a="http://schemas.openxmlformats.org/drawingml/2006/main">
            <a:r>
              <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Protect sensitive information</a:t>
            </a:r>
          </a:p>
          <a:p xmlns:a="http://schemas.openxmlformats.org/drawingml/2006/main">
            <a:pPr algn="l">
              <a:defRPr sz="1800" b="0">
                <a:solidFill>
                  <a:srgbClr val="172237"/>
                </a:solidFill>
                <a:latin typeface="Arial"/>
                <a:ea typeface="Arial"/>
                <a:cs typeface="Arial"/>
              </a:defRPr>
            </a:pPr>
            <a:r>
              <a:rPr sz="1800" b="0">
                <a:solidFill>
                  <a:srgbClr val="172237"/>
                </a:solidFill>
                <a:latin typeface="Arial"/>
                <a:ea typeface="Arial"/>
                <a:cs typeface="Arial"/>
              </a:rPr>
              <a:t>Access controls, consent and retention</a:t>
            </a:r>
          </a:p>
        </p:txBody>
      </p:sp>
      <p:sp>
        <p:nvSpPr>
          <p:cNvPr id="13" name="">
            <a:extLst xmlns:a="http://schemas.openxmlformats.org/drawingml/2006/main">
              <a:ext uri="{FF2B5EF4-FFF2-40B4-BE49-F238E27FC236}">
                <a16:creationId xmlns:a16="http://schemas.microsoft.com/office/drawing/2014/main" id="{4E2C96E5-9005-47EC-9162-3EB150D7B4D4}"/>
              </a:ext>
            </a:extLst>
          </p:cNvPr>
          <p:cNvSpPr>
            <a:spLocks xmlns:a="http://schemas.openxmlformats.org/drawingml/2006/main" noGrp="1"/>
          </p:cNvSpPr>
          <p:nvPr/>
        </p:nvSpPr>
        <p:spPr>
          <a:xfrm xmlns:a="http://schemas.openxmlformats.org/drawingml/2006/main">
            <a:off x="457200" y="5191125"/>
            <a:ext cx="112680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VALIDATION GATES</a:t>
            </a:r>
          </a:p>
        </p:txBody>
      </p:sp>
      <p:sp>
        <p:nvSpPr>
          <p:cNvPr id="14" name="">
            <a:extLst xmlns:a="http://schemas.openxmlformats.org/drawingml/2006/main">
              <a:ext uri="{FF2B5EF4-FFF2-40B4-BE49-F238E27FC236}">
                <a16:creationId xmlns:a16="http://schemas.microsoft.com/office/drawing/2014/main" id="{67FE6B57-7363-4A14-B4FD-14B74EA22881}"/>
              </a:ext>
            </a:extLst>
          </p:cNvPr>
          <p:cNvSpPr>
            <a:spLocks xmlns:a="http://schemas.openxmlformats.org/drawingml/2006/main" noGrp="1"/>
          </p:cNvSpPr>
          <p:nvPr/>
        </p:nvSpPr>
        <p:spPr>
          <a:xfrm xmlns:a="http://schemas.openxmlformats.org/drawingml/2006/main">
            <a:off x="457200" y="5534025"/>
            <a:ext cx="1126807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530668E-AD27-47F2-B875-E9CB3CA1C8FD}"/>
              </a:ext>
            </a:extLst>
          </p:cNvPr>
          <p:cNvSpPr>
            <a:spLocks xmlns:a="http://schemas.openxmlformats.org/drawingml/2006/main" noGrp="1"/>
          </p:cNvSpPr>
          <p:nvPr/>
        </p:nvSpPr>
        <p:spPr>
          <a:xfrm xmlns:a="http://schemas.openxmlformats.org/drawingml/2006/main">
            <a:off x="476250" y="5648325"/>
            <a:ext cx="3552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Speech errors and fact preservation</a:t>
            </a:r>
          </a:p>
        </p:txBody>
      </p:sp>
      <p:sp>
        <p:nvSpPr>
          <p:cNvPr id="16" name="">
            <a:extLst xmlns:a="http://schemas.openxmlformats.org/drawingml/2006/main">
              <a:ext uri="{FF2B5EF4-FFF2-40B4-BE49-F238E27FC236}">
                <a16:creationId xmlns:a16="http://schemas.microsoft.com/office/drawing/2014/main" id="{9C1E4E37-B1EB-423B-B998-55939FF93092}"/>
              </a:ext>
            </a:extLst>
          </p:cNvPr>
          <p:cNvSpPr>
            <a:spLocks xmlns:a="http://schemas.openxmlformats.org/drawingml/2006/main" noGrp="1"/>
          </p:cNvSpPr>
          <p:nvPr/>
        </p:nvSpPr>
        <p:spPr>
          <a:xfrm xmlns:a="http://schemas.openxmlformats.org/drawingml/2006/main">
            <a:off x="4333875" y="5648325"/>
            <a:ext cx="3552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Legal review and response latency</a:t>
            </a:r>
          </a:p>
        </p:txBody>
      </p:sp>
      <p:sp>
        <p:nvSpPr>
          <p:cNvPr id="17" name="">
            <a:extLst xmlns:a="http://schemas.openxmlformats.org/drawingml/2006/main">
              <a:ext uri="{FF2B5EF4-FFF2-40B4-BE49-F238E27FC236}">
                <a16:creationId xmlns:a16="http://schemas.microsoft.com/office/drawing/2014/main" id="{30FE88B0-7064-4CE2-BE41-2ECAAB2E3BC4}"/>
              </a:ext>
            </a:extLst>
          </p:cNvPr>
          <p:cNvSpPr>
            <a:spLocks xmlns:a="http://schemas.openxmlformats.org/drawingml/2006/main" noGrp="1"/>
          </p:cNvSpPr>
          <p:nvPr/>
        </p:nvSpPr>
        <p:spPr>
          <a:xfrm xmlns:a="http://schemas.openxmlformats.org/drawingml/2006/main">
            <a:off x="8191500" y="5648325"/>
            <a:ext cx="35147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Booking reliability and service cost</a:t>
            </a:r>
          </a:p>
        </p:txBody>
      </p:sp>
    </p:spTree>
    <p:extLst>
      <p:ext uri="{BB962C8B-B14F-4D97-AF65-F5344CB8AC3E}">
        <p14:creationId xmlns:p14="http://schemas.microsoft.com/office/powerpoint/2010/main" val="11596336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71BE949-D0C6-4FEA-A2F7-5D8BCE99AAD9}"/>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37C3D3E2-C6F2-4F8E-8C7D-E5F1B808BCBA}"/>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IMPACTS AND BENEFITS</a:t>
            </a:r>
          </a:p>
        </p:txBody>
      </p:sp>
      <p:sp>
        <p:nvSpPr>
          <p:cNvPr id="3" name="">
            <a:extLst xmlns:a="http://schemas.openxmlformats.org/drawingml/2006/main">
              <a:ext uri="{FF2B5EF4-FFF2-40B4-BE49-F238E27FC236}">
                <a16:creationId xmlns:a16="http://schemas.microsoft.com/office/drawing/2014/main" id="{C217A1A9-9834-4FB0-B4FA-B1A092468F91}"/>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Expected outcomes to evaluate through user trials</a:t>
            </a:r>
          </a:p>
        </p:txBody>
      </p:sp>
      <p:sp>
        <p:nvSpPr>
          <p:cNvPr id="4" name="">
            <a:extLst xmlns:a="http://schemas.openxmlformats.org/drawingml/2006/main">
              <a:ext uri="{FF2B5EF4-FFF2-40B4-BE49-F238E27FC236}">
                <a16:creationId xmlns:a16="http://schemas.microsoft.com/office/drawing/2014/main" id="{7DBE98E1-9470-417B-B61B-2B97B10F747E}"/>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57E0263-62E4-4A65-BDE7-A059D135542E}"/>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Expected benefits, subject to validation</a:t>
            </a:r>
          </a:p>
        </p:txBody>
      </p:sp>
      <p:sp>
        <p:nvSpPr>
          <p:cNvPr id="6" name="">
            <a:extLst xmlns:a="http://schemas.openxmlformats.org/drawingml/2006/main">
              <a:ext uri="{FF2B5EF4-FFF2-40B4-BE49-F238E27FC236}">
                <a16:creationId xmlns:a16="http://schemas.microsoft.com/office/drawing/2014/main" id="{58F2B163-D0D8-4B0B-B0C3-4C54287A52F1}"/>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F824F459-ED22-4082-9216-CCFA09B322FD}"/>
              </a:ext>
            </a:extLst>
          </p:cNvPr>
          <p:cNvSpPr>
            <a:spLocks xmlns:a="http://schemas.openxmlformats.org/drawingml/2006/main" noGrp="1"/>
          </p:cNvSpPr>
          <p:nvPr/>
        </p:nvSpPr>
        <p:spPr>
          <a:xfrm xmlns:a="http://schemas.openxmlformats.org/drawingml/2006/main">
            <a:off x="381000" y="2038350"/>
            <a:ext cx="83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203F91"/>
                </a:solidFill>
                <a:latin typeface="Georgia"/>
                <a:ea typeface="Georgia"/>
                <a:cs typeface="Georgia"/>
              </a:defRPr>
            </a:pPr>
            <a:r>
              <a:rPr sz="2700" b="1">
                <a:solidFill>
                  <a:srgbClr val="203F91"/>
                </a:solidFill>
                <a:latin typeface="Georgia"/>
                <a:ea typeface="Georgia"/>
                <a:cs typeface="Georgia"/>
              </a:rPr>
              <a:t>01</a:t>
            </a:r>
          </a:p>
        </p:txBody>
      </p:sp>
      <p:sp>
        <p:nvSpPr>
          <p:cNvPr id="8" name="">
            <a:extLst xmlns:a="http://schemas.openxmlformats.org/drawingml/2006/main">
              <a:ext uri="{FF2B5EF4-FFF2-40B4-BE49-F238E27FC236}">
                <a16:creationId xmlns:a16="http://schemas.microsoft.com/office/drawing/2014/main" id="{A52590BF-2321-4730-B85C-EAC7B9A63860}"/>
              </a:ext>
            </a:extLst>
          </p:cNvPr>
          <p:cNvSpPr>
            <a:spLocks xmlns:a="http://schemas.openxmlformats.org/drawingml/2006/main" noGrp="1"/>
          </p:cNvSpPr>
          <p:nvPr/>
        </p:nvSpPr>
        <p:spPr>
          <a:xfrm xmlns:a="http://schemas.openxmlformats.org/drawingml/2006/main">
            <a:off x="1238250" y="20383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Language accessibility</a:t>
            </a:r>
          </a:p>
        </p:txBody>
      </p:sp>
      <p:sp>
        <p:nvSpPr>
          <p:cNvPr id="9" name="">
            <a:extLst xmlns:a="http://schemas.openxmlformats.org/drawingml/2006/main">
              <a:ext uri="{FF2B5EF4-FFF2-40B4-BE49-F238E27FC236}">
                <a16:creationId xmlns:a16="http://schemas.microsoft.com/office/drawing/2014/main" id="{8DF75026-B563-4918-A56E-956CD712A901}"/>
              </a:ext>
            </a:extLst>
          </p:cNvPr>
          <p:cNvSpPr>
            <a:spLocks xmlns:a="http://schemas.openxmlformats.org/drawingml/2006/main" noGrp="1"/>
          </p:cNvSpPr>
          <p:nvPr/>
        </p:nvSpPr>
        <p:spPr>
          <a:xfrm xmlns:a="http://schemas.openxmlformats.org/drawingml/2006/main">
            <a:off x="4714875" y="2038350"/>
            <a:ext cx="693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Users can describe their issue and receive explanations in a familiar language.</a:t>
            </a:r>
          </a:p>
        </p:txBody>
      </p:sp>
      <p:sp>
        <p:nvSpPr>
          <p:cNvPr id="10" name="">
            <a:extLst xmlns:a="http://schemas.openxmlformats.org/drawingml/2006/main">
              <a:ext uri="{FF2B5EF4-FFF2-40B4-BE49-F238E27FC236}">
                <a16:creationId xmlns:a16="http://schemas.microsoft.com/office/drawing/2014/main" id="{045A1EDD-26D6-4C34-BE4D-824CC7DEE536}"/>
              </a:ext>
            </a:extLst>
          </p:cNvPr>
          <p:cNvSpPr>
            <a:spLocks xmlns:a="http://schemas.openxmlformats.org/drawingml/2006/main" noGrp="1"/>
          </p:cNvSpPr>
          <p:nvPr/>
        </p:nvSpPr>
        <p:spPr>
          <a:xfrm xmlns:a="http://schemas.openxmlformats.org/drawingml/2006/main">
            <a:off x="1238250" y="2762250"/>
            <a:ext cx="10401300" cy="19050"/>
          </a:xfrm>
          <a:prstGeom xmlns:a="http://schemas.openxmlformats.org/drawingml/2006/main" prst="rect">
            <a:avLst/>
          </a:prstGeom>
          <a:solidFill xmlns:a="http://schemas.openxmlformats.org/drawingml/2006/main">
            <a:srgbClr val="BDCDD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2A59640-2434-4626-97BB-4A0FD23508BA}"/>
              </a:ext>
            </a:extLst>
          </p:cNvPr>
          <p:cNvSpPr>
            <a:spLocks xmlns:a="http://schemas.openxmlformats.org/drawingml/2006/main" noGrp="1"/>
          </p:cNvSpPr>
          <p:nvPr/>
        </p:nvSpPr>
        <p:spPr>
          <a:xfrm xmlns:a="http://schemas.openxmlformats.org/drawingml/2006/main">
            <a:off x="381000" y="3048000"/>
            <a:ext cx="83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073B9"/>
                </a:solidFill>
                <a:latin typeface="Georgia"/>
                <a:ea typeface="Georgia"/>
                <a:cs typeface="Georgia"/>
              </a:defRPr>
            </a:pPr>
            <a:r>
              <a:rPr sz="2700" b="1">
                <a:solidFill>
                  <a:srgbClr val="0073B9"/>
                </a:solidFill>
                <a:latin typeface="Georgia"/>
                <a:ea typeface="Georgia"/>
                <a:cs typeface="Georgia"/>
              </a:rPr>
              <a:t>02</a:t>
            </a:r>
          </a:p>
        </p:txBody>
      </p:sp>
      <p:sp>
        <p:nvSpPr>
          <p:cNvPr id="12" name="">
            <a:extLst xmlns:a="http://schemas.openxmlformats.org/drawingml/2006/main">
              <a:ext uri="{FF2B5EF4-FFF2-40B4-BE49-F238E27FC236}">
                <a16:creationId xmlns:a16="http://schemas.microsoft.com/office/drawing/2014/main" id="{B5C7ED7E-78A4-473F-A248-E9B0104D6577}"/>
              </a:ext>
            </a:extLst>
          </p:cNvPr>
          <p:cNvSpPr>
            <a:spLocks xmlns:a="http://schemas.openxmlformats.org/drawingml/2006/main" noGrp="1"/>
          </p:cNvSpPr>
          <p:nvPr/>
        </p:nvSpPr>
        <p:spPr>
          <a:xfrm xmlns:a="http://schemas.openxmlformats.org/drawingml/2006/main">
            <a:off x="1238250" y="30480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0073B9"/>
                </a:solidFill>
                <a:latin typeface="Arial"/>
                <a:ea typeface="Arial"/>
                <a:cs typeface="Arial"/>
              </a:defRPr>
            </a:pPr>
            <a:r>
              <a:rPr sz="1800" b="1">
                <a:solidFill>
                  <a:srgbClr val="0073B9"/>
                </a:solidFill>
                <a:latin typeface="Arial"/>
                <a:ea typeface="Arial"/>
                <a:cs typeface="Arial"/>
              </a:rPr>
              <a:t>Clearer initial guidance</a:t>
            </a:r>
          </a:p>
        </p:txBody>
      </p:sp>
      <p:sp>
        <p:nvSpPr>
          <p:cNvPr id="13" name="">
            <a:extLst xmlns:a="http://schemas.openxmlformats.org/drawingml/2006/main">
              <a:ext uri="{FF2B5EF4-FFF2-40B4-BE49-F238E27FC236}">
                <a16:creationId xmlns:a16="http://schemas.microsoft.com/office/drawing/2014/main" id="{52EA3442-0769-4F00-8870-58B44C0CAC4D}"/>
              </a:ext>
            </a:extLst>
          </p:cNvPr>
          <p:cNvSpPr>
            <a:spLocks xmlns:a="http://schemas.openxmlformats.org/drawingml/2006/main" noGrp="1"/>
          </p:cNvSpPr>
          <p:nvPr/>
        </p:nvSpPr>
        <p:spPr>
          <a:xfrm xmlns:a="http://schemas.openxmlformats.org/drawingml/2006/main">
            <a:off x="4714875" y="3048000"/>
            <a:ext cx="693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A short summary and relevant next steps can help users prepare for consultation.</a:t>
            </a:r>
          </a:p>
        </p:txBody>
      </p:sp>
      <p:sp>
        <p:nvSpPr>
          <p:cNvPr id="14" name="">
            <a:extLst xmlns:a="http://schemas.openxmlformats.org/drawingml/2006/main">
              <a:ext uri="{FF2B5EF4-FFF2-40B4-BE49-F238E27FC236}">
                <a16:creationId xmlns:a16="http://schemas.microsoft.com/office/drawing/2014/main" id="{B8E499BC-7372-424E-B1C7-C9DE34B713B6}"/>
              </a:ext>
            </a:extLst>
          </p:cNvPr>
          <p:cNvSpPr>
            <a:spLocks xmlns:a="http://schemas.openxmlformats.org/drawingml/2006/main" noGrp="1"/>
          </p:cNvSpPr>
          <p:nvPr/>
        </p:nvSpPr>
        <p:spPr>
          <a:xfrm xmlns:a="http://schemas.openxmlformats.org/drawingml/2006/main">
            <a:off x="1238250" y="3771900"/>
            <a:ext cx="10401300" cy="19050"/>
          </a:xfrm>
          <a:prstGeom xmlns:a="http://schemas.openxmlformats.org/drawingml/2006/main" prst="rect">
            <a:avLst/>
          </a:prstGeom>
          <a:solidFill xmlns:a="http://schemas.openxmlformats.org/drawingml/2006/main">
            <a:srgbClr val="BDCDD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0254C84-0513-46D3-AD21-7E8C4F68F285}"/>
              </a:ext>
            </a:extLst>
          </p:cNvPr>
          <p:cNvSpPr>
            <a:spLocks xmlns:a="http://schemas.openxmlformats.org/drawingml/2006/main" noGrp="1"/>
          </p:cNvSpPr>
          <p:nvPr/>
        </p:nvSpPr>
        <p:spPr>
          <a:xfrm xmlns:a="http://schemas.openxmlformats.org/drawingml/2006/main">
            <a:off x="381000" y="4057650"/>
            <a:ext cx="83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87E65"/>
                </a:solidFill>
                <a:latin typeface="Georgia"/>
                <a:ea typeface="Georgia"/>
                <a:cs typeface="Georgia"/>
              </a:defRPr>
            </a:pPr>
            <a:r>
              <a:rPr sz="2700" b="1">
                <a:solidFill>
                  <a:srgbClr val="087E65"/>
                </a:solidFill>
                <a:latin typeface="Georgia"/>
                <a:ea typeface="Georgia"/>
                <a:cs typeface="Georgia"/>
              </a:rPr>
              <a:t>03</a:t>
            </a:r>
          </a:p>
        </p:txBody>
      </p:sp>
      <p:sp>
        <p:nvSpPr>
          <p:cNvPr id="16" name="">
            <a:extLst xmlns:a="http://schemas.openxmlformats.org/drawingml/2006/main">
              <a:ext uri="{FF2B5EF4-FFF2-40B4-BE49-F238E27FC236}">
                <a16:creationId xmlns:a16="http://schemas.microsoft.com/office/drawing/2014/main" id="{CBEF6EB6-9DEB-4625-9233-7BFB03F718D6}"/>
              </a:ext>
            </a:extLst>
          </p:cNvPr>
          <p:cNvSpPr>
            <a:spLocks xmlns:a="http://schemas.openxmlformats.org/drawingml/2006/main" noGrp="1"/>
          </p:cNvSpPr>
          <p:nvPr/>
        </p:nvSpPr>
        <p:spPr>
          <a:xfrm xmlns:a="http://schemas.openxmlformats.org/drawingml/2006/main">
            <a:off x="1238250" y="40576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087E65"/>
                </a:solidFill>
                <a:latin typeface="Arial"/>
                <a:ea typeface="Arial"/>
                <a:cs typeface="Arial"/>
              </a:defRPr>
            </a:pPr>
            <a:r>
              <a:rPr sz="1800" b="1">
                <a:solidFill>
                  <a:srgbClr val="087E65"/>
                </a:solidFill>
                <a:latin typeface="Arial"/>
                <a:ea typeface="Arial"/>
                <a:cs typeface="Arial"/>
              </a:rPr>
              <a:t>Relevant advocate access</a:t>
            </a:r>
          </a:p>
        </p:txBody>
      </p:sp>
      <p:sp>
        <p:nvSpPr>
          <p:cNvPr id="17" name="">
            <a:extLst xmlns:a="http://schemas.openxmlformats.org/drawingml/2006/main">
              <a:ext uri="{FF2B5EF4-FFF2-40B4-BE49-F238E27FC236}">
                <a16:creationId xmlns:a16="http://schemas.microsoft.com/office/drawing/2014/main" id="{23927361-4E5B-46B5-B1A7-1D0861D59BD8}"/>
              </a:ext>
            </a:extLst>
          </p:cNvPr>
          <p:cNvSpPr>
            <a:spLocks xmlns:a="http://schemas.openxmlformats.org/drawingml/2006/main" noGrp="1"/>
          </p:cNvSpPr>
          <p:nvPr/>
        </p:nvSpPr>
        <p:spPr>
          <a:xfrm xmlns:a="http://schemas.openxmlformats.org/drawingml/2006/main">
            <a:off x="4714875" y="4057650"/>
            <a:ext cx="693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Expertise and language preference guide discovery and consultation requests.</a:t>
            </a:r>
          </a:p>
        </p:txBody>
      </p:sp>
      <p:sp>
        <p:nvSpPr>
          <p:cNvPr id="18" name="">
            <a:extLst xmlns:a="http://schemas.openxmlformats.org/drawingml/2006/main">
              <a:ext uri="{FF2B5EF4-FFF2-40B4-BE49-F238E27FC236}">
                <a16:creationId xmlns:a16="http://schemas.microsoft.com/office/drawing/2014/main" id="{36B416B2-4389-4B32-A47A-9746C3CCAEB3}"/>
              </a:ext>
            </a:extLst>
          </p:cNvPr>
          <p:cNvSpPr>
            <a:spLocks xmlns:a="http://schemas.openxmlformats.org/drawingml/2006/main" noGrp="1"/>
          </p:cNvSpPr>
          <p:nvPr/>
        </p:nvSpPr>
        <p:spPr>
          <a:xfrm xmlns:a="http://schemas.openxmlformats.org/drawingml/2006/main">
            <a:off x="1238250" y="4781550"/>
            <a:ext cx="10401300" cy="19050"/>
          </a:xfrm>
          <a:prstGeom xmlns:a="http://schemas.openxmlformats.org/drawingml/2006/main" prst="rect">
            <a:avLst/>
          </a:prstGeom>
          <a:solidFill xmlns:a="http://schemas.openxmlformats.org/drawingml/2006/main">
            <a:srgbClr val="BDCDD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693AB7E-268F-4452-ABDF-DC023F8F8BDF}"/>
              </a:ext>
            </a:extLst>
          </p:cNvPr>
          <p:cNvSpPr>
            <a:spLocks xmlns:a="http://schemas.openxmlformats.org/drawingml/2006/main" noGrp="1"/>
          </p:cNvSpPr>
          <p:nvPr/>
        </p:nvSpPr>
        <p:spPr>
          <a:xfrm xmlns:a="http://schemas.openxmlformats.org/drawingml/2006/main">
            <a:off x="381000" y="5067300"/>
            <a:ext cx="83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D77A00"/>
                </a:solidFill>
                <a:latin typeface="Georgia"/>
                <a:ea typeface="Georgia"/>
                <a:cs typeface="Georgia"/>
              </a:defRPr>
            </a:pPr>
            <a:r>
              <a:rPr sz="2700" b="1">
                <a:solidFill>
                  <a:srgbClr val="D77A00"/>
                </a:solidFill>
                <a:latin typeface="Georgia"/>
                <a:ea typeface="Georgia"/>
                <a:cs typeface="Georgia"/>
              </a:rPr>
              <a:t>04</a:t>
            </a:r>
          </a:p>
        </p:txBody>
      </p:sp>
      <p:sp>
        <p:nvSpPr>
          <p:cNvPr id="20" name="">
            <a:extLst xmlns:a="http://schemas.openxmlformats.org/drawingml/2006/main">
              <a:ext uri="{FF2B5EF4-FFF2-40B4-BE49-F238E27FC236}">
                <a16:creationId xmlns:a16="http://schemas.microsoft.com/office/drawing/2014/main" id="{58D773AC-AB5B-4494-9E0F-7D6B7EC2EB5D}"/>
              </a:ext>
            </a:extLst>
          </p:cNvPr>
          <p:cNvSpPr>
            <a:spLocks xmlns:a="http://schemas.openxmlformats.org/drawingml/2006/main" noGrp="1"/>
          </p:cNvSpPr>
          <p:nvPr/>
        </p:nvSpPr>
        <p:spPr>
          <a:xfrm xmlns:a="http://schemas.openxmlformats.org/drawingml/2006/main">
            <a:off x="1238250" y="50673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D77A00"/>
                </a:solidFill>
                <a:latin typeface="Arial"/>
                <a:ea typeface="Arial"/>
                <a:cs typeface="Arial"/>
              </a:defRPr>
            </a:pPr>
            <a:r>
              <a:rPr sz="1800" b="1">
                <a:solidFill>
                  <a:srgbClr val="D77A00"/>
                </a:solidFill>
                <a:latin typeface="Arial"/>
                <a:ea typeface="Arial"/>
                <a:cs typeface="Arial"/>
              </a:rPr>
              <a:t>Structured case intake</a:t>
            </a:r>
          </a:p>
        </p:txBody>
      </p:sp>
      <p:sp>
        <p:nvSpPr>
          <p:cNvPr id="21" name="">
            <a:extLst xmlns:a="http://schemas.openxmlformats.org/drawingml/2006/main">
              <a:ext uri="{FF2B5EF4-FFF2-40B4-BE49-F238E27FC236}">
                <a16:creationId xmlns:a16="http://schemas.microsoft.com/office/drawing/2014/main" id="{1FA2E757-769F-4FA7-BCCC-4F7C05FE03E3}"/>
              </a:ext>
            </a:extLst>
          </p:cNvPr>
          <p:cNvSpPr>
            <a:spLocks xmlns:a="http://schemas.openxmlformats.org/drawingml/2006/main" noGrp="1"/>
          </p:cNvSpPr>
          <p:nvPr/>
        </p:nvSpPr>
        <p:spPr>
          <a:xfrm xmlns:a="http://schemas.openxmlformats.org/drawingml/2006/main">
            <a:off x="4714875" y="5067300"/>
            <a:ext cx="6934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Confirmed facts and a concise issue summary can support the first discussion.</a:t>
            </a:r>
          </a:p>
        </p:txBody>
      </p:sp>
      <p:sp>
        <p:nvSpPr>
          <p:cNvPr id="22" name="">
            <a:extLst xmlns:a="http://schemas.openxmlformats.org/drawingml/2006/main">
              <a:ext uri="{FF2B5EF4-FFF2-40B4-BE49-F238E27FC236}">
                <a16:creationId xmlns:a16="http://schemas.microsoft.com/office/drawing/2014/main" id="{23A1E626-1DC8-434F-B2D6-CEB42EF5377D}"/>
              </a:ext>
            </a:extLst>
          </p:cNvPr>
          <p:cNvSpPr>
            <a:spLocks xmlns:a="http://schemas.openxmlformats.org/drawingml/2006/main" noGrp="1"/>
          </p:cNvSpPr>
          <p:nvPr/>
        </p:nvSpPr>
        <p:spPr>
          <a:xfrm xmlns:a="http://schemas.openxmlformats.org/drawingml/2006/main">
            <a:off x="1238250" y="5791200"/>
            <a:ext cx="10401300" cy="19050"/>
          </a:xfrm>
          <a:prstGeom xmlns:a="http://schemas.openxmlformats.org/drawingml/2006/main" prst="rect">
            <a:avLst/>
          </a:prstGeom>
          <a:solidFill xmlns:a="http://schemas.openxmlformats.org/drawingml/2006/main">
            <a:srgbClr val="BDCDDF"/>
          </a:solidFill>
          <a:ln xmlns:a="http://schemas.openxmlformats.org/drawingml/2006/main" w="0">
            <a:noFill/>
          </a:ln>
        </p:spPr>
      </p:sp>
    </p:spTree>
    <p:extLst>
      <p:ext uri="{BB962C8B-B14F-4D97-AF65-F5344CB8AC3E}">
        <p14:creationId xmlns:p14="http://schemas.microsoft.com/office/powerpoint/2010/main" val="19627015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9870FD7-505C-4492-907C-CFE4B47D5DC1}"/>
              </a:ext>
            </a:extLst>
          </p:cNvPr>
          <p:cNvSpPr>
            <a:spLocks xmlns:a="http://schemas.openxmlformats.org/drawingml/2006/main" noGrp="1"/>
          </p:cNvSpPr>
          <p:nvPr/>
        </p:nvSpPr>
        <p:spPr>
          <a:xfrm xmlns:a="http://schemas.openxmlformats.org/drawingml/2006/main">
            <a:off x="400050" y="20002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03F91"/>
                </a:solidFill>
                <a:latin typeface="Arial"/>
                <a:ea typeface="Arial"/>
                <a:cs typeface="Arial"/>
              </a:defRPr>
            </a:pPr>
            <a:r>
              <a:rPr sz="1275" b="1">
                <a:solidFill>
                  <a:srgbClr val="203F91"/>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22B7C185-757A-4B8C-A093-147F246261C9}"/>
              </a:ext>
            </a:extLst>
          </p:cNvPr>
          <p:cNvSpPr>
            <a:spLocks xmlns:a="http://schemas.openxmlformats.org/drawingml/2006/main" noGrp="1"/>
          </p:cNvSpPr>
          <p:nvPr/>
        </p:nvSpPr>
        <p:spPr>
          <a:xfrm xmlns:a="http://schemas.openxmlformats.org/drawingml/2006/main">
            <a:off x="400050" y="609600"/>
            <a:ext cx="11391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203F91"/>
                </a:solidFill>
                <a:latin typeface="Georgia"/>
                <a:ea typeface="Georgia"/>
                <a:cs typeface="Georgia"/>
              </a:defRPr>
            </a:pPr>
            <a:r>
              <a:rPr sz="2625" b="1">
                <a:solidFill>
                  <a:srgbClr val="203F91"/>
                </a:solidFill>
                <a:latin typeface="Georgia"/>
                <a:ea typeface="Georgia"/>
                <a:cs typeface="Georgia"/>
              </a:rPr>
              <a:t>REFERENCES</a:t>
            </a:r>
          </a:p>
        </p:txBody>
      </p:sp>
      <p:sp>
        <p:nvSpPr>
          <p:cNvPr id="3" name="">
            <a:extLst xmlns:a="http://schemas.openxmlformats.org/drawingml/2006/main">
              <a:ext uri="{FF2B5EF4-FFF2-40B4-BE49-F238E27FC236}">
                <a16:creationId xmlns:a16="http://schemas.microsoft.com/office/drawing/2014/main" id="{6765BBA3-3F8E-49BE-B72E-E22F78A5287B}"/>
              </a:ext>
            </a:extLst>
          </p:cNvPr>
          <p:cNvSpPr>
            <a:spLocks xmlns:a="http://schemas.openxmlformats.org/drawingml/2006/main" noGrp="1"/>
          </p:cNvSpPr>
          <p:nvPr/>
        </p:nvSpPr>
        <p:spPr>
          <a:xfrm xmlns:a="http://schemas.openxmlformats.org/drawingml/2006/main">
            <a:off x="419100" y="1181100"/>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47A"/>
                </a:solidFill>
                <a:latin typeface="Arial"/>
                <a:ea typeface="Arial"/>
                <a:cs typeface="Arial"/>
              </a:defRPr>
            </a:pPr>
            <a:r>
              <a:rPr sz="1500" b="0">
                <a:solidFill>
                  <a:srgbClr val="53647A"/>
                </a:solidFill>
                <a:latin typeface="Arial"/>
                <a:ea typeface="Arial"/>
                <a:cs typeface="Arial"/>
              </a:rPr>
              <a:t>Official sources and technical documentation</a:t>
            </a:r>
          </a:p>
        </p:txBody>
      </p:sp>
      <p:sp>
        <p:nvSpPr>
          <p:cNvPr id="4" name="">
            <a:extLst xmlns:a="http://schemas.openxmlformats.org/drawingml/2006/main">
              <a:ext uri="{FF2B5EF4-FFF2-40B4-BE49-F238E27FC236}">
                <a16:creationId xmlns:a16="http://schemas.microsoft.com/office/drawing/2014/main" id="{24B6C81F-0452-4AE0-A7FB-A9B32CD87869}"/>
              </a:ext>
            </a:extLst>
          </p:cNvPr>
          <p:cNvSpPr>
            <a:spLocks xmlns:a="http://schemas.openxmlformats.org/drawingml/2006/main" noGrp="1"/>
          </p:cNvSpPr>
          <p:nvPr/>
        </p:nvSpPr>
        <p:spPr>
          <a:xfrm xmlns:a="http://schemas.openxmlformats.org/drawingml/2006/main">
            <a:off x="0" y="6486525"/>
            <a:ext cx="12192000" cy="371475"/>
          </a:xfrm>
          <a:prstGeom xmlns:a="http://schemas.openxmlformats.org/drawingml/2006/main" prst="rect">
            <a:avLst/>
          </a:prstGeom>
          <a:solidFill xmlns:a="http://schemas.openxmlformats.org/drawingml/2006/main">
            <a:srgbClr val="0073B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495E70E-31A4-49FD-829A-19DA87C6A253}"/>
              </a:ext>
            </a:extLst>
          </p:cNvPr>
          <p:cNvSpPr>
            <a:spLocks xmlns:a="http://schemas.openxmlformats.org/drawingml/2006/main" noGrp="1"/>
          </p:cNvSpPr>
          <p:nvPr/>
        </p:nvSpPr>
        <p:spPr>
          <a:xfrm xmlns:a="http://schemas.openxmlformats.org/drawingml/2006/main">
            <a:off x="419100" y="654367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Faculty project review</a:t>
            </a:r>
          </a:p>
        </p:txBody>
      </p:sp>
      <p:sp>
        <p:nvSpPr>
          <p:cNvPr id="6" name="">
            <a:extLst xmlns:a="http://schemas.openxmlformats.org/drawingml/2006/main">
              <a:ext uri="{FF2B5EF4-FFF2-40B4-BE49-F238E27FC236}">
                <a16:creationId xmlns:a16="http://schemas.microsoft.com/office/drawing/2014/main" id="{821AEE0C-1262-4331-8EB7-360DFFB5AEFE}"/>
              </a:ext>
            </a:extLst>
          </p:cNvPr>
          <p:cNvSpPr>
            <a:spLocks xmlns:a="http://schemas.openxmlformats.org/drawingml/2006/main" noGrp="1"/>
          </p:cNvSpPr>
          <p:nvPr/>
        </p:nvSpPr>
        <p:spPr>
          <a:xfrm xmlns:a="http://schemas.openxmlformats.org/drawingml/2006/main">
            <a:off x="11306175" y="654367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FFFFFF"/>
                </a:solidFill>
                <a:latin typeface="Arial"/>
                <a:ea typeface="Arial"/>
                <a:cs typeface="Arial"/>
              </a:defRPr>
            </a:pPr>
            <a:r>
              <a:rPr sz="1050" b="1">
                <a:solidFill>
                  <a:srgbClr val="FFFFFF"/>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E048BA74-8BD6-4147-BC67-7497C68E1CA3}"/>
              </a:ext>
            </a:extLst>
          </p:cNvPr>
          <p:cNvSpPr>
            <a:spLocks xmlns:a="http://schemas.openxmlformats.org/drawingml/2006/main" noGrp="1"/>
          </p:cNvSpPr>
          <p:nvPr/>
        </p:nvSpPr>
        <p:spPr>
          <a:xfrm xmlns:a="http://schemas.openxmlformats.org/drawingml/2006/main">
            <a:off x="457200" y="1809750"/>
            <a:ext cx="112680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LANGUAGE SCOPE AND SERVICES</a:t>
            </a:r>
          </a:p>
        </p:txBody>
      </p:sp>
      <p:sp>
        <p:nvSpPr>
          <p:cNvPr id="8" name="">
            <a:extLst xmlns:a="http://schemas.openxmlformats.org/drawingml/2006/main">
              <a:ext uri="{FF2B5EF4-FFF2-40B4-BE49-F238E27FC236}">
                <a16:creationId xmlns:a16="http://schemas.microsoft.com/office/drawing/2014/main" id="{A4491F68-8373-461F-8B18-ADF28AA84D27}"/>
              </a:ext>
            </a:extLst>
          </p:cNvPr>
          <p:cNvSpPr>
            <a:spLocks xmlns:a="http://schemas.openxmlformats.org/drawingml/2006/main" noGrp="1"/>
          </p:cNvSpPr>
          <p:nvPr/>
        </p:nvSpPr>
        <p:spPr>
          <a:xfrm xmlns:a="http://schemas.openxmlformats.org/drawingml/2006/main">
            <a:off x="457200" y="2152650"/>
            <a:ext cx="1126807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441D541-2959-48F3-AC9D-9AC83B300B23}"/>
              </a:ext>
            </a:extLst>
          </p:cNvPr>
          <p:cNvSpPr>
            <a:spLocks xmlns:a="http://schemas.openxmlformats.org/drawingml/2006/main" noGrp="1"/>
          </p:cNvSpPr>
          <p:nvPr/>
        </p:nvSpPr>
        <p:spPr>
          <a:xfrm xmlns:a="http://schemas.openxmlformats.org/drawingml/2006/main">
            <a:off x="476250" y="2371725"/>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203F91"/>
                </a:solidFill>
                <a:latin typeface="Arial"/>
                <a:ea typeface="Arial"/>
                <a:cs typeface="Arial"/>
              </a:defRPr>
            </a:pPr>
            <a:r>
              <a:rPr sz="1875" b="1">
                <a:solidFill>
                  <a:srgbClr val="203F91"/>
                </a:solidFill>
                <a:latin typeface="Arial"/>
                <a:ea typeface="Arial"/>
                <a:cs typeface="Arial"/>
              </a:rPr>
              <a:t>1  Ministry of Home Affairs: Eighth Schedule language list</a:t>
            </a:r>
          </a:p>
        </p:txBody>
      </p:sp>
      <p:sp>
        <p:nvSpPr>
          <p:cNvPr id="10" name="">
            <a:extLst xmlns:a="http://schemas.openxmlformats.org/drawingml/2006/main">
              <a:ext uri="{FF2B5EF4-FFF2-40B4-BE49-F238E27FC236}">
                <a16:creationId xmlns:a16="http://schemas.microsoft.com/office/drawing/2014/main" id="{144CC991-E795-4C2E-AA7A-8911EA82FB05}"/>
              </a:ext>
            </a:extLst>
          </p:cNvPr>
          <p:cNvSpPr>
            <a:spLocks xmlns:a="http://schemas.openxmlformats.org/drawingml/2006/main" noGrp="1"/>
          </p:cNvSpPr>
          <p:nvPr/>
        </p:nvSpPr>
        <p:spPr>
          <a:xfrm xmlns:a="http://schemas.openxmlformats.org/drawingml/2006/main">
            <a:off x="742950" y="27622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https://www.mha.gov.in/sites/default/files/Eighth_Schedule.pdf</a:t>
            </a:r>
          </a:p>
        </p:txBody>
      </p:sp>
      <p:sp>
        <p:nvSpPr>
          <p:cNvPr id="11" name="">
            <a:extLst xmlns:a="http://schemas.openxmlformats.org/drawingml/2006/main">
              <a:ext uri="{FF2B5EF4-FFF2-40B4-BE49-F238E27FC236}">
                <a16:creationId xmlns:a16="http://schemas.microsoft.com/office/drawing/2014/main" id="{EEA352DF-5D77-4A58-AD11-441C0B9BA963}"/>
              </a:ext>
            </a:extLst>
          </p:cNvPr>
          <p:cNvSpPr>
            <a:spLocks xmlns:a="http://schemas.openxmlformats.org/drawingml/2006/main" noGrp="1"/>
          </p:cNvSpPr>
          <p:nvPr/>
        </p:nvSpPr>
        <p:spPr>
          <a:xfrm xmlns:a="http://schemas.openxmlformats.org/drawingml/2006/main">
            <a:off x="476250" y="3295650"/>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203F91"/>
                </a:solidFill>
                <a:latin typeface="Arial"/>
                <a:ea typeface="Arial"/>
                <a:cs typeface="Arial"/>
              </a:defRPr>
            </a:pPr>
            <a:r>
              <a:rPr sz="1875" b="1">
                <a:solidFill>
                  <a:srgbClr val="203F91"/>
                </a:solidFill>
                <a:latin typeface="Arial"/>
                <a:ea typeface="Arial"/>
                <a:cs typeface="Arial"/>
              </a:rPr>
              <a:t>2  BHASHINI: language technology services and ecosystem</a:t>
            </a:r>
          </a:p>
        </p:txBody>
      </p:sp>
      <p:sp>
        <p:nvSpPr>
          <p:cNvPr id="12" name="">
            <a:extLst xmlns:a="http://schemas.openxmlformats.org/drawingml/2006/main">
              <a:ext uri="{FF2B5EF4-FFF2-40B4-BE49-F238E27FC236}">
                <a16:creationId xmlns:a16="http://schemas.microsoft.com/office/drawing/2014/main" id="{34136A23-16E8-4E6C-BA45-42AFC52CA15A}"/>
              </a:ext>
            </a:extLst>
          </p:cNvPr>
          <p:cNvSpPr>
            <a:spLocks xmlns:a="http://schemas.openxmlformats.org/drawingml/2006/main" noGrp="1"/>
          </p:cNvSpPr>
          <p:nvPr/>
        </p:nvSpPr>
        <p:spPr>
          <a:xfrm xmlns:a="http://schemas.openxmlformats.org/drawingml/2006/main">
            <a:off x="742950" y="36861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72237"/>
                </a:solidFill>
                <a:latin typeface="Arial"/>
                <a:ea typeface="Arial"/>
                <a:cs typeface="Arial"/>
              </a:defRPr>
            </a:pPr>
            <a:r>
              <a:rPr sz="1650" b="0">
                <a:solidFill>
                  <a:srgbClr val="172237"/>
                </a:solidFill>
                <a:latin typeface="Arial"/>
                <a:ea typeface="Arial"/>
                <a:cs typeface="Arial"/>
              </a:rPr>
              <a:t>https://bhashini.gov.in/</a:t>
            </a:r>
          </a:p>
        </p:txBody>
      </p:sp>
      <p:sp>
        <p:nvSpPr>
          <p:cNvPr id="13" name="">
            <a:extLst xmlns:a="http://schemas.openxmlformats.org/drawingml/2006/main">
              <a:ext uri="{FF2B5EF4-FFF2-40B4-BE49-F238E27FC236}">
                <a16:creationId xmlns:a16="http://schemas.microsoft.com/office/drawing/2014/main" id="{B2134FA0-8001-422E-95DA-CB0141EEB680}"/>
              </a:ext>
            </a:extLst>
          </p:cNvPr>
          <p:cNvSpPr>
            <a:spLocks xmlns:a="http://schemas.openxmlformats.org/drawingml/2006/main" noGrp="1"/>
          </p:cNvSpPr>
          <p:nvPr/>
        </p:nvSpPr>
        <p:spPr>
          <a:xfrm xmlns:a="http://schemas.openxmlformats.org/drawingml/2006/main">
            <a:off x="457200" y="4286250"/>
            <a:ext cx="112680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03F91"/>
                </a:solidFill>
                <a:latin typeface="Arial"/>
                <a:ea typeface="Arial"/>
                <a:cs typeface="Arial"/>
              </a:defRPr>
            </a:pPr>
            <a:r>
              <a:rPr sz="1650" b="1">
                <a:solidFill>
                  <a:srgbClr val="203F91"/>
                </a:solidFill>
                <a:latin typeface="Arial"/>
                <a:ea typeface="Arial"/>
                <a:cs typeface="Arial"/>
              </a:rPr>
              <a:t>IMPLEMENTATION DOCUMENTATION</a:t>
            </a:r>
          </a:p>
        </p:txBody>
      </p:sp>
      <p:sp>
        <p:nvSpPr>
          <p:cNvPr id="14" name="">
            <a:extLst xmlns:a="http://schemas.openxmlformats.org/drawingml/2006/main">
              <a:ext uri="{FF2B5EF4-FFF2-40B4-BE49-F238E27FC236}">
                <a16:creationId xmlns:a16="http://schemas.microsoft.com/office/drawing/2014/main" id="{85EA31BD-F871-4272-B548-238B0E8813BE}"/>
              </a:ext>
            </a:extLst>
          </p:cNvPr>
          <p:cNvSpPr>
            <a:spLocks xmlns:a="http://schemas.openxmlformats.org/drawingml/2006/main" noGrp="1"/>
          </p:cNvSpPr>
          <p:nvPr/>
        </p:nvSpPr>
        <p:spPr>
          <a:xfrm xmlns:a="http://schemas.openxmlformats.org/drawingml/2006/main">
            <a:off x="457200" y="4629150"/>
            <a:ext cx="11268075" cy="19050"/>
          </a:xfrm>
          <a:prstGeom xmlns:a="http://schemas.openxmlformats.org/drawingml/2006/main" prst="rect">
            <a:avLst/>
          </a:prstGeom>
          <a:solidFill xmlns:a="http://schemas.openxmlformats.org/drawingml/2006/main">
            <a:srgbClr val="203F9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A9CBF7E-A598-4937-B22C-6D9A2E216DCC}"/>
              </a:ext>
            </a:extLst>
          </p:cNvPr>
          <p:cNvSpPr>
            <a:spLocks xmlns:a="http://schemas.openxmlformats.org/drawingml/2006/main" noGrp="1"/>
          </p:cNvSpPr>
          <p:nvPr/>
        </p:nvSpPr>
        <p:spPr>
          <a:xfrm xmlns:a="http://schemas.openxmlformats.org/drawingml/2006/main">
            <a:off x="476250" y="485775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React</a:t>
            </a:r>
          </a:p>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react.dev</a:t>
            </a:r>
          </a:p>
        </p:txBody>
      </p:sp>
      <p:sp>
        <p:nvSpPr>
          <p:cNvPr id="16" name="">
            <a:extLst xmlns:a="http://schemas.openxmlformats.org/drawingml/2006/main">
              <a:ext uri="{FF2B5EF4-FFF2-40B4-BE49-F238E27FC236}">
                <a16:creationId xmlns:a16="http://schemas.microsoft.com/office/drawing/2014/main" id="{2994EC96-A352-4500-B364-21E8E12D867B}"/>
              </a:ext>
            </a:extLst>
          </p:cNvPr>
          <p:cNvSpPr>
            <a:spLocks xmlns:a="http://schemas.openxmlformats.org/drawingml/2006/main" noGrp="1"/>
          </p:cNvSpPr>
          <p:nvPr/>
        </p:nvSpPr>
        <p:spPr>
          <a:xfrm xmlns:a="http://schemas.openxmlformats.org/drawingml/2006/main">
            <a:off x="3371850" y="485775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Express</a:t>
            </a:r>
          </a:p>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expressjs.com</a:t>
            </a:r>
          </a:p>
        </p:txBody>
      </p:sp>
      <p:sp>
        <p:nvSpPr>
          <p:cNvPr id="17" name="">
            <a:extLst xmlns:a="http://schemas.openxmlformats.org/drawingml/2006/main">
              <a:ext uri="{FF2B5EF4-FFF2-40B4-BE49-F238E27FC236}">
                <a16:creationId xmlns:a16="http://schemas.microsoft.com/office/drawing/2014/main" id="{4F4F01E9-0747-4970-AF65-4A1ABC979711}"/>
              </a:ext>
            </a:extLst>
          </p:cNvPr>
          <p:cNvSpPr>
            <a:spLocks xmlns:a="http://schemas.openxmlformats.org/drawingml/2006/main" noGrp="1"/>
          </p:cNvSpPr>
          <p:nvPr/>
        </p:nvSpPr>
        <p:spPr>
          <a:xfrm xmlns:a="http://schemas.openxmlformats.org/drawingml/2006/main">
            <a:off x="6267450" y="4857750"/>
            <a:ext cx="247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MongoDB</a:t>
            </a:r>
          </a:p>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mongodb.com/docs</a:t>
            </a:r>
          </a:p>
        </p:txBody>
      </p:sp>
      <p:sp>
        <p:nvSpPr>
          <p:cNvPr id="18" name="">
            <a:extLst xmlns:a="http://schemas.openxmlformats.org/drawingml/2006/main">
              <a:ext uri="{FF2B5EF4-FFF2-40B4-BE49-F238E27FC236}">
                <a16:creationId xmlns:a16="http://schemas.microsoft.com/office/drawing/2014/main" id="{25E5AFB8-74CC-4BE3-8C00-86006B6E281E}"/>
              </a:ext>
            </a:extLst>
          </p:cNvPr>
          <p:cNvSpPr>
            <a:spLocks xmlns:a="http://schemas.openxmlformats.org/drawingml/2006/main" noGrp="1"/>
          </p:cNvSpPr>
          <p:nvPr/>
        </p:nvSpPr>
        <p:spPr>
          <a:xfrm xmlns:a="http://schemas.openxmlformats.org/drawingml/2006/main">
            <a:off x="9258300" y="4857750"/>
            <a:ext cx="247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Razorpay</a:t>
            </a:r>
          </a:p>
          <a:p xmlns:a="http://schemas.openxmlformats.org/drawingml/2006/main">
            <a:pPr algn="l">
              <a:defRPr sz="1800" b="1">
                <a:solidFill>
                  <a:srgbClr val="203F91"/>
                </a:solidFill>
                <a:latin typeface="Arial"/>
                <a:ea typeface="Arial"/>
                <a:cs typeface="Arial"/>
              </a:defRPr>
            </a:pPr>
            <a:r>
              <a:rPr sz="1800" b="1">
                <a:solidFill>
                  <a:srgbClr val="203F91"/>
                </a:solidFill>
                <a:latin typeface="Arial"/>
                <a:ea typeface="Arial"/>
                <a:cs typeface="Arial"/>
              </a:rPr>
              <a:t>razorpay.com/docs</a:t>
            </a:r>
          </a:p>
        </p:txBody>
      </p:sp>
      <p:sp>
        <p:nvSpPr>
          <p:cNvPr id="19" name="">
            <a:extLst xmlns:a="http://schemas.openxmlformats.org/drawingml/2006/main">
              <a:ext uri="{FF2B5EF4-FFF2-40B4-BE49-F238E27FC236}">
                <a16:creationId xmlns:a16="http://schemas.microsoft.com/office/drawing/2014/main" id="{5231FBA9-01FE-4635-88D2-7B643B26A799}"/>
              </a:ext>
            </a:extLst>
          </p:cNvPr>
          <p:cNvSpPr>
            <a:spLocks xmlns:a="http://schemas.openxmlformats.org/drawingml/2006/main" noGrp="1"/>
          </p:cNvSpPr>
          <p:nvPr/>
        </p:nvSpPr>
        <p:spPr>
          <a:xfrm xmlns:a="http://schemas.openxmlformats.org/drawingml/2006/main">
            <a:off x="466725" y="5934075"/>
            <a:ext cx="11249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3647A"/>
                </a:solidFill>
                <a:latin typeface="Arial"/>
                <a:ea typeface="Arial"/>
                <a:cs typeface="Arial"/>
              </a:defRPr>
            </a:pPr>
            <a:r>
              <a:rPr sz="1575" b="0">
                <a:solidFill>
                  <a:srgbClr val="53647A"/>
                </a:solidFill>
                <a:latin typeface="Arial"/>
                <a:ea typeface="Arial"/>
                <a:cs typeface="Arial"/>
              </a:rPr>
              <a:t>Provider selection and language coverage require testing against the project requirements.</a:t>
            </a:r>
          </a:p>
        </p:txBody>
      </p:sp>
    </p:spTree>
    <p:extLst>
      <p:ext uri="{BB962C8B-B14F-4D97-AF65-F5344CB8AC3E}">
        <p14:creationId xmlns:p14="http://schemas.microsoft.com/office/powerpoint/2010/main" val="8491305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2026-10-09T06:52:14.2020000Z</dcterms:created>
  <dcterms:modified xsi:type="dcterms:W3CDTF">2026-10-09T06:52:14.2020000Z</dcterms:modified>
</coreProperties>
</file>