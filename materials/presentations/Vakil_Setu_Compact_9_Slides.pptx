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0a8d4cc1904dd2" /><Relationship Type="http://schemas.openxmlformats.org/officeDocument/2006/relationships/extended-properties" Target="/docProps/app.xml" Id="Rfac6fe2f74ef475b" /><Relationship Type="http://schemas.openxmlformats.org/officeDocument/2006/relationships/officeDocument" Target="/ppt/presentation.xml" Id="Rcf3f9db7106c44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5ec4838a2f42a1"/>
  </p:sldMasterIdLst>
  <p:notesMasterIdLst>
    <p:notesMasterId xmlns:r="http://schemas.openxmlformats.org/officeDocument/2006/relationships" r:id="R634585c81e1b400d"/>
  </p:notesMasterIdLst>
  <p:sldIdLst>
    <p:sldId xmlns:r="http://schemas.openxmlformats.org/officeDocument/2006/relationships" id="256" r:id="R9635f39797a94e2b"/>
    <p:sldId xmlns:r="http://schemas.openxmlformats.org/officeDocument/2006/relationships" id="257" r:id="R2a60502fc78b4ae6"/>
    <p:sldId xmlns:r="http://schemas.openxmlformats.org/officeDocument/2006/relationships" id="258" r:id="R10585c7fb3634edc"/>
    <p:sldId xmlns:r="http://schemas.openxmlformats.org/officeDocument/2006/relationships" id="259" r:id="Rc660dccfb0934d97"/>
    <p:sldId xmlns:r="http://schemas.openxmlformats.org/officeDocument/2006/relationships" id="260" r:id="Re51b51fce46948b5"/>
    <p:sldId xmlns:r="http://schemas.openxmlformats.org/officeDocument/2006/relationships" id="261" r:id="Re9971a1803614f9d"/>
    <p:sldId xmlns:r="http://schemas.openxmlformats.org/officeDocument/2006/relationships" id="262" r:id="R3d049d73fb464e6c"/>
    <p:sldId xmlns:r="http://schemas.openxmlformats.org/officeDocument/2006/relationships" id="263" r:id="R7f410cdb12744831"/>
    <p:sldId xmlns:r="http://schemas.openxmlformats.org/officeDocument/2006/relationships" id="264" r:id="R086d66448bd64320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a32a9a9696482e" /><Relationship Type="http://schemas.openxmlformats.org/officeDocument/2006/relationships/slideMaster" Target="/ppt/slideMasters/slideMaster1.xml" Id="R2e5ec4838a2f42a1" /><Relationship Type="http://schemas.openxmlformats.org/officeDocument/2006/relationships/notesMaster" Target="/ppt/notesMasters/notesMaster1.xml" Id="R634585c81e1b400d" /><Relationship Type="http://schemas.openxmlformats.org/officeDocument/2006/relationships/presProps" Target="/ppt/presProps.xml" Id="R1b4df58590c3477d" /><Relationship Type="http://schemas.openxmlformats.org/officeDocument/2006/relationships/tableStyles" Target="/ppt/tableStyles.xml" Id="R72fa49245f794b14" /><Relationship Type="http://schemas.openxmlformats.org/officeDocument/2006/relationships/slide" Target="/ppt/slides/slide1.xml" Id="R9635f39797a94e2b" /><Relationship Type="http://schemas.openxmlformats.org/officeDocument/2006/relationships/slide" Target="/ppt/slides/slide2.xml" Id="R2a60502fc78b4ae6" /><Relationship Type="http://schemas.openxmlformats.org/officeDocument/2006/relationships/slide" Target="/ppt/slides/slide3.xml" Id="R10585c7fb3634edc" /><Relationship Type="http://schemas.openxmlformats.org/officeDocument/2006/relationships/slide" Target="/ppt/slides/slide4.xml" Id="Rc660dccfb0934d97" /><Relationship Type="http://schemas.openxmlformats.org/officeDocument/2006/relationships/slide" Target="/ppt/slides/slide5.xml" Id="Re51b51fce46948b5" /><Relationship Type="http://schemas.openxmlformats.org/officeDocument/2006/relationships/slide" Target="/ppt/slides/slide6.xml" Id="Re9971a1803614f9d" /><Relationship Type="http://schemas.openxmlformats.org/officeDocument/2006/relationships/slide" Target="/ppt/slides/slide7.xml" Id="R3d049d73fb464e6c" /><Relationship Type="http://schemas.openxmlformats.org/officeDocument/2006/relationships/slide" Target="/ppt/slides/slide8.xml" Id="R7f410cdb12744831" /><Relationship Type="http://schemas.openxmlformats.org/officeDocument/2006/relationships/slide" Target="/ppt/slides/slide9.xml" Id="R086d66448bd643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d178b7feb548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72dc26d8f44e8e" /><Relationship Type="http://schemas.openxmlformats.org/officeDocument/2006/relationships/notesMaster" Target="/ppt/notesMasters/notesMaster1.xml" Id="Rdd88d6d8a38841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5d6168cf5943f7" /><Relationship Type="http://schemas.openxmlformats.org/officeDocument/2006/relationships/notesMaster" Target="/ppt/notesMasters/notesMaster1.xml" Id="R8bc1763a67d14a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24db0aa80a4b0c" /><Relationship Type="http://schemas.openxmlformats.org/officeDocument/2006/relationships/notesMaster" Target="/ppt/notesMasters/notesMaster1.xml" Id="R9b56a1edffc949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96602ce6954aa5" /><Relationship Type="http://schemas.openxmlformats.org/officeDocument/2006/relationships/notesMaster" Target="/ppt/notesMasters/notesMaster1.xml" Id="Ra16a4bdb135242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06f90aaded473d" /><Relationship Type="http://schemas.openxmlformats.org/officeDocument/2006/relationships/notesMaster" Target="/ppt/notesMasters/notesMaster1.xml" Id="R46ec5ab13fb24b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68bc151dac4ea5" /><Relationship Type="http://schemas.openxmlformats.org/officeDocument/2006/relationships/notesMaster" Target="/ppt/notesMasters/notesMaster1.xml" Id="R58cd61849c5144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77e2ed9a334999" /><Relationship Type="http://schemas.openxmlformats.org/officeDocument/2006/relationships/notesMaster" Target="/ppt/notesMasters/notesMaster1.xml" Id="Ree6312b533cf46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4a14b9f88246ca" /><Relationship Type="http://schemas.openxmlformats.org/officeDocument/2006/relationships/notesMaster" Target="/ppt/notesMasters/notesMaster1.xml" Id="R6764afeea93247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f9aaf782bb4d24" /><Relationship Type="http://schemas.openxmlformats.org/officeDocument/2006/relationships/notesMaster" Target="/ppt/notesMasters/notesMaster1.xml" Id="R125b1351253646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names and roll numbers retained from the previous Vakil Setu faculty presentation. Institutional logo supplied in the reference 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C:/Users/DELL/Vakil-Setu/.codex-deck/final.mjs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is a design hypothesis. The materials provide no population-level survey or measured market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C:/Users/DELL/Vakil-Setu/SRS.md</a:t>
            </a:r>
          </a:p>
          <a:p xmlns:a="http://schemas.openxmlformats.org/drawingml/2006/main">
            <a:r>
              <a:t>C:/Users/DELL/Vakil-Setu/README.md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provides general orientation. A qualified advocate handles case-specific advice. Voice depends on browser and provider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C:/Users/DELL/Vakil-Setu/frontend/src/components/VoiceRecorder.jsx</a:t>
            </a:r>
          </a:p>
          <a:p xmlns:a="http://schemas.openxmlformats.org/drawingml/2006/main">
            <a:r>
              <a:t>C:/Users/DELL/Vakil-Setu/frontend/src/hooks/useLegalChat.js</a:t>
            </a:r>
          </a:p>
          <a:p xmlns:a="http://schemas.openxmlformats.org/drawingml/2006/main">
            <a:r>
              <a:t>C:/Users/DELL/Vakil-Setu/backend/src/services/aiService.js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of current source code. No authentication layer, OCR service or Whisper endpoint is represented as implemented. Arrows show backend communication with the database and providers.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C:/Users/DELL/Vakil-Setu/backend/src/services/aiService.js</a:t>
            </a:r>
          </a:p>
          <a:p xmlns:a="http://schemas.openxmlformats.org/drawingml/2006/main">
            <a:r>
              <a:t>C:/Users/DELL/Vakil-Setu/backend/src/services/paymentService.js</a:t>
            </a:r>
          </a:p>
          <a:p xmlns:a="http://schemas.openxmlformats.org/drawingml/2006/main">
            <a:r>
              <a:t>C:/Users/DELL/Vakil-Setu/frontend/src/utils/webSpeech.js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frontend uses the combined triage endpoint, which classifies and queries advocate records in one round trip. Fallback logic belongs to the backend AI adapter, not the external provider.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C:/Users/DELL/Vakil-Setu/frontend/src/hooks/useLegalChat.js</a:t>
            </a:r>
          </a:p>
          <a:p xmlns:a="http://schemas.openxmlformats.org/drawingml/2006/main">
            <a:r>
              <a:t>C:/Users/DELL/Vakil-Setu/backend/src/controllers/aiController.js</a:t>
            </a:r>
          </a:p>
          <a:p xmlns:a="http://schemas.openxmlformats.org/drawingml/2006/main">
            <a:r>
              <a:t>C:/Users/DELL/Vakil-Setu/backend/src/services/aiService.js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Payment integration exists in code, but this deck does not claim a validated transaction or production readiness. Add order binding, server-controlled pricing, restricted bypass, ownership checks and reconciliation before launch.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C:/Users/DELL/Vakil-Setu/backend/src/controllers/advocateController.js</a:t>
            </a:r>
          </a:p>
          <a:p xmlns:a="http://schemas.openxmlformats.org/drawingml/2006/main">
            <a:r>
              <a:t>C:/Users/DELL/Vakil-Setu/backend/src/controllers/emergencyController.js</a:t>
            </a:r>
          </a:p>
          <a:p xmlns:a="http://schemas.openxmlformats.org/drawingml/2006/main">
            <a:r>
              <a:t>C:/Users/DELL/Vakil-Setu/backend/src/controllers/bookingController.js</a:t>
            </a:r>
          </a:p>
          <a:p xmlns:a="http://schemas.openxmlformats.org/drawingml/2006/main">
            <a:r>
              <a:t>C:/Users/DELL/Vakil-Setu/backend/src/controllers/paymentController.js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Versions follow dependency declarations. These are not claims about latest releases. The current server does not register the Whisper route mentioned in an older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C:/Users/DELL/Vakil-Setu/frontend/package.json</a:t>
            </a:r>
          </a:p>
          <a:p xmlns:a="http://schemas.openxmlformats.org/drawingml/2006/main">
            <a:r>
              <a:t>C:/Users/DELL/Vakil-Setu/backend/package.json</a:t>
            </a:r>
          </a:p>
          <a:p xmlns:a="http://schemas.openxmlformats.org/drawingml/2006/main">
            <a:r>
              <a:t>C:/Users/DELL/Vakil-Setu/backend/src/server.js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scope is based on code inspection. No measured accuracy, latency, live adoption or impact is claimed. Four domain slugs appear in the classification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C:/Users/DELL/Vakil-Setu/backend/src/services/aiService.js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describes targets rather than completed milestones. General guidance supports preparation for professional consultation. Expected benefits require user trials.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C:/Users/DELL/Vakil-Setu/SRS.md</a:t>
            </a:r>
          </a:p>
          <a:p xmlns:a="http://schemas.openxmlformats.org/drawingml/2006/main">
            <a:r>
              <a:t>C:/Users/DELL/Vakil-Setu/.codex-deck/reference-build/build.mjs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f2ac0043849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89e2eaea242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59210e69247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b25e9717244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0d394117143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5278521c34f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B049C4-4696-4234-BA57-DF6B2BA3D2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0DA380-232A-4932-A48E-59125DEDE8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108464-8951-4454-A40D-26CA70EF29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FE4C49-39F7-4887-9CA5-1EE46DB2D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53C0E6-4370-461F-BF5C-6A5CC8EDAC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7EAC60-B0E7-4671-9CD4-6011965353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9192AF-3B70-4FC1-A5CB-A07E21CDF6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C04281-1E5C-4E11-9E1E-399B705AA2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D51210-8831-4CCD-9C08-58A6DF028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3E547F-D15E-420B-982E-F915C6E5DD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97a479f72c459b" /><Relationship Type="http://schemas.openxmlformats.org/officeDocument/2006/relationships/slideLayout" Target="/ppt/slideLayouts/slideLayout1.xml" Id="R310f0ea3d72343ed" /><Relationship Type="http://schemas.openxmlformats.org/officeDocument/2006/relationships/slideLayout" Target="/ppt/slideLayouts/slideLayout2.xml" Id="Rb010b7c2768b45a4" /><Relationship Type="http://schemas.openxmlformats.org/officeDocument/2006/relationships/slideLayout" Target="/ppt/slideLayouts/slideLayout3.xml" Id="R3cd96fc8aeb74403" /><Relationship Type="http://schemas.openxmlformats.org/officeDocument/2006/relationships/slideLayout" Target="/ppt/slideLayouts/slideLayout4.xml" Id="Rf1d1cf96bfc44422" /><Relationship Type="http://schemas.openxmlformats.org/officeDocument/2006/relationships/slideLayout" Target="/ppt/slideLayouts/slideLayout5.xml" Id="Rd8ef305b95de47c0" /><Relationship Type="http://schemas.openxmlformats.org/officeDocument/2006/relationships/slideLayout" Target="/ppt/slideLayouts/slideLayout6.xml" Id="Rcb2b88d22aec44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0f0ea3d72343ed"/>
    <p:sldLayoutId xmlns:r="http://schemas.openxmlformats.org/officeDocument/2006/relationships" id="2147483650" r:id="Rb010b7c2768b45a4"/>
    <p:sldLayoutId xmlns:r="http://schemas.openxmlformats.org/officeDocument/2006/relationships" id="2147483651" r:id="R3cd96fc8aeb74403"/>
    <p:sldLayoutId xmlns:r="http://schemas.openxmlformats.org/officeDocument/2006/relationships" id="2147483652" r:id="Rf1d1cf96bfc44422"/>
    <p:sldLayoutId xmlns:r="http://schemas.openxmlformats.org/officeDocument/2006/relationships" id="2147483653" r:id="Rd8ef305b95de47c0"/>
    <p:sldLayoutId xmlns:r="http://schemas.openxmlformats.org/officeDocument/2006/relationships" id="2147483654" r:id="Rcb2b88d22aec44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96e5586db4726" /><Relationship Type="http://schemas.openxmlformats.org/officeDocument/2006/relationships/image" Target="/ppt/media/image.png" Id="Rf7eed9eb72a843e2" /><Relationship Type="http://schemas.openxmlformats.org/officeDocument/2006/relationships/notesSlide" Target="/ppt/notesSlides/notesSlide1.xml" Id="R999c1c8a02a942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33335a062043ce" /><Relationship Type="http://schemas.openxmlformats.org/officeDocument/2006/relationships/notesSlide" Target="/ppt/notesSlides/notesSlide2.xml" Id="R3dc85269dd3b4f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4799b41f04839" /><Relationship Type="http://schemas.openxmlformats.org/officeDocument/2006/relationships/notesSlide" Target="/ppt/notesSlides/notesSlide3.xml" Id="R94fa05b5f0cf4f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a9c54c79a84292" /><Relationship Type="http://schemas.openxmlformats.org/officeDocument/2006/relationships/notesSlide" Target="/ppt/notesSlides/notesSlide4.xml" Id="Rf7728a1fe82448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0a663a49fd4906" /><Relationship Type="http://schemas.openxmlformats.org/officeDocument/2006/relationships/notesSlide" Target="/ppt/notesSlides/notesSlide5.xml" Id="Ra0515270c16547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35349f1c34efb" /><Relationship Type="http://schemas.openxmlformats.org/officeDocument/2006/relationships/notesSlide" Target="/ppt/notesSlides/notesSlide6.xml" Id="R3ea258ff477e4f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fb261f7ee24839" /><Relationship Type="http://schemas.openxmlformats.org/officeDocument/2006/relationships/notesSlide" Target="/ppt/notesSlides/notesSlide7.xml" Id="Ra61daba5461242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bf4dfcf1c463c" /><Relationship Type="http://schemas.openxmlformats.org/officeDocument/2006/relationships/notesSlide" Target="/ppt/notesSlides/notesSlide8.xml" Id="Rc03e3395c55240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461bdc594449d1" /><Relationship Type="http://schemas.openxmlformats.org/officeDocument/2006/relationships/notesSlide" Target="/ppt/notesSlides/notesSlide9.xml" Id="R5aaaa8f07b544d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81F58-1DD2-4B9D-8D39-1072465C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6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VAKIL SETU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C7838-91F9-47FD-8E1A-1C517561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51AA"/>
                </a:solidFill>
                <a:latin typeface="Arial"/>
                <a:ea typeface="Arial"/>
                <a:cs typeface="Arial"/>
              </a:rPr>
              <a:t>Multilingual voice-based legal assistance</a:t>
            </a:r>
          </a:p>
          <a:p xmlns:a="http://schemas.openxmlformats.org/drawingml/2006/main">
            <a: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51AA"/>
                </a:solidFill>
                <a:latin typeface="Arial"/>
                <a:ea typeface="Arial"/>
                <a:cs typeface="Arial"/>
              </a:rPr>
              <a:t>and advocate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D21AE-A28D-4022-98DC-253E39F4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742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Presented by: Raghav Nargotra (2023A1R033)</a:t>
            </a:r>
          </a:p>
          <a:p xmlns:a="http://schemas.openxmlformats.org/drawingml/2006/main">
            <a: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Sidarth Gupta (2023A1R038)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DFE00-34E5-4F2E-A76A-FB5748D945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ed9eb72a843e2"/>
          <a:stretch xmlns:a="http://schemas.openxmlformats.org/drawingml/2006/main"/>
        </p:blipFill>
        <p:spPr>
          <a:xfrm xmlns:a="http://schemas.openxmlformats.org/drawingml/2006/main">
            <a:off x="3752850" y="3725676"/>
            <a:ext cx="1638300" cy="57822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11916-FD10-4854-B08A-5EAB1294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95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Model Institute of Engineering and Technology (Autonomous), Jammu · 2026</a:t>
            </a:r>
          </a:p>
        </p:txBody>
      </p:sp>
    </p:spTree>
    <p:extLst>
      <p:ext uri="{BB962C8B-B14F-4D97-AF65-F5344CB8AC3E}">
        <p14:creationId xmlns:p14="http://schemas.microsoft.com/office/powerpoint/2010/main" val="676412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909E1-1CC8-4979-BF6D-FAAFF343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Problem and target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7A7D2-88DB-4C3B-A551-A8C5F80B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1A59A-DE60-443E-AA79-6BC152A5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CC81D-804C-44D3-A081-B29D339A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845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People can describe a dispute without knowing its legal category, the relevant advocate or the next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3ED47-38B7-424B-AC4D-BE95B5B0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09750"/>
            <a:ext cx="845820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 barrier: formal terminology and long text forms can make initial intake difficult.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Unclear preparation: users may not know which facts and documents matter.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Fragmented access: guidance, advocate discovery and booking require separate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DEEEE-7EDA-431D-AD31-126A7EC5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05250"/>
            <a:ext cx="845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Target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EB73E-AA8F-4704-A5EE-268ED7AF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95775"/>
            <a:ext cx="8191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People seeking initial legal orientation, especially Hindi/English speakers who prefer voice input, and advocates receiving consultation requests.</a:t>
            </a:r>
          </a:p>
        </p:txBody>
      </p:sp>
    </p:spTree>
    <p:extLst>
      <p:ext uri="{BB962C8B-B14F-4D97-AF65-F5344CB8AC3E}">
        <p14:creationId xmlns:p14="http://schemas.microsoft.com/office/powerpoint/2010/main" val="17696467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5B104-0D3F-4899-B8D9-470132E0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Solution and core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8D8CF-1953-46E3-9867-022C20FA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17385-107D-440F-88F4-1C043482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BE6D8-F15D-4385-935F-D0A0B74A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14425"/>
            <a:ext cx="1962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Describe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5943D-D0DC-4CF2-9DAB-37F93AAC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097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Speak or type in Hindi or English. Review the transcript.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5ED00-5092-48C4-8FEC-FF34EC19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114425"/>
            <a:ext cx="1962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51C13-18F2-4008-B005-F2E2F4087B0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05050" y="1366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50BAA-BE70-434D-B517-8A71EE17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97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Receive category, urgency, summary and next 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C6489-D206-4948-B999-635FA72A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14425"/>
            <a:ext cx="1962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Find an advocate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C42E7-5A11-4184-AD8F-4D5A9544A2D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467225" y="1366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6A0BD-825C-4983-9A78-9A905BAF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Review available profiles in the relevant practice area.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4D95D-6767-42F7-9E5A-F14FCCE8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114425"/>
            <a:ext cx="1962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Book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144D9-1BC3-4A04-A994-3E47595F91D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629400" y="1366838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F5787-4E57-48D0-B3A6-B231E544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8097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Create a consultation request and open payment checkout.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19E3A-08C5-475F-9BB4-0622ABB4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086100"/>
            <a:ext cx="8458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Conversation and accessibility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2529A-2D5D-40B8-BA57-76A7FF13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24250"/>
            <a:ext cx="8458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Follow-up messages use recent conversation context. Browser speech synthesis can read the response aloud.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Current explicit language modes cover Hindi and English. Broader language support remains a development target.</a:t>
            </a:r>
          </a:p>
        </p:txBody>
      </p:sp>
    </p:spTree>
    <p:extLst>
      <p:ext uri="{BB962C8B-B14F-4D97-AF65-F5344CB8AC3E}">
        <p14:creationId xmlns:p14="http://schemas.microsoft.com/office/powerpoint/2010/main" val="13637302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A5AEF-CA2D-4081-A7D1-59DC5E11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76600"/>
            <a:ext cx="84582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DC59C-D17C-4669-85A5-20C2BA60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14550"/>
            <a:ext cx="845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50BD6-0E66-403D-A562-E23E74C4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19175"/>
            <a:ext cx="8458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3CC60-CA35-47FC-B554-FE176A16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6DFBD-1947-4764-A5F7-4A0A060C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45CB7-D415-4ADB-819E-E7B13170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A27AC-EF3E-4ABB-88E5-DC26A549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247775"/>
            <a:ext cx="3629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React + Vite frontend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Voice input, chat, analysis and booking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C84A4-2E40-4CA2-889F-EB18C77E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62200"/>
            <a:ext cx="36290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Node.js + Express API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Triage, matching, bookings and payments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80713-9478-405A-B680-673AB3C32C1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938713" y="1704975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500C2-C242-4F3D-8FAD-71C6FD61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4785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JSON requests and responses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FE710-FD76-417F-9DEA-708401F2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8140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MongoDB + Mongoose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Users, advocates, bookings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077F8-574E-4A3D-AA83-E6C2C24F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AI gateway / Gemini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Classification +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CFF14-BF09-4BA1-B517-B29DC30D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8140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Razorpay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Orders + payment verification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08791-0C18-41EC-B3D0-CE7473AB45B2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1762125" y="2828925"/>
            <a:ext cx="3176588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1E314-81DF-4C85-B6BE-6C4980EE8C37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4572000" y="2828925"/>
            <a:ext cx="366713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513D9-09F1-43D4-B47E-2DD4A902D128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4938713" y="2828925"/>
            <a:ext cx="2443163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7E62A-3F4C-4D2A-8D3A-9757CA31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9102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Speech recognition and playback run through browser Web Speech APIs. Provider keys stay on the server.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33935-ABD0-4EAA-8CF4-1E59EB8C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2571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CLIENT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EC8D9-851B-424F-887F-A2250B19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62175"/>
            <a:ext cx="2571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APPLICATION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10CBB-C55A-42D8-88EF-5FC8BFAF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2571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DATA AND PROVIDER LAYER</a:t>
            </a:r>
          </a:p>
        </p:txBody>
      </p:sp>
    </p:spTree>
    <p:extLst>
      <p:ext uri="{BB962C8B-B14F-4D97-AF65-F5344CB8AC3E}">
        <p14:creationId xmlns:p14="http://schemas.microsoft.com/office/powerpoint/2010/main" val="2650410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75975E-A992-476F-8B51-5C907A8E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Analysis and matching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4174A-2B69-4A3C-8ECD-BC01520F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22A7F-C537-451E-997C-2AEB820D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0881B-936F-408F-8089-11B711EE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Browser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7676B-1206-4779-9154-7BD04169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38275"/>
            <a:ext cx="6668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B00B1-84E1-4C86-88A1-EAAE842A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05727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B254D-4B15-465A-BF02-271D5344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38275"/>
            <a:ext cx="6668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9AC6E-5C05-40D5-81E6-652266A6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05727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AI 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F0253-8447-49E7-A18A-D884EC4A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38275"/>
            <a:ext cx="6668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6580C-EF85-4E1A-8D83-D0D3EB73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057275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7D89C-35D9-4FDE-A0B4-59A0D1E4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38275"/>
            <a:ext cx="6668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7D5A1-0042-4D86-8019-7F52D010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192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03E4A-23CC-4371-8C41-60CFDB4C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88548-DCBD-4148-82FC-1E3BE480D1C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242060" y="1821180"/>
            <a:ext cx="22250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35E77-CFB8-4C24-8651-E363C343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002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  POST /api/ai/triage: text +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0991A-8F72-46AE-92A3-4466892C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193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C7135-8126-4546-9A73-A0AE6D38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193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31E7A-F79A-43E4-B7B1-F006CE5ED29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70910" y="2221230"/>
            <a:ext cx="22250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45F67-8A39-43CC-BD21-7E561A35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  Classify domain, urgency and 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AEAD8-85A1-44F2-BD3C-151635E6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193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45AFC-245E-4FBB-BEAC-B5D37720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193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BE77F-975E-434B-A7D5-43B4AC74A8D3}"/>
              </a:ext>
            </a:extLst>
          </p:cNvPr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3470910" y="2621280"/>
            <a:ext cx="22250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1F0117-A633-414D-803E-B8392F66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  Structured result or local fallback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D17FA7-AF90-4553-B22E-B6B88E62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194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12D95-7E35-4793-B0A7-A4DF017C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194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F15267-3594-4934-B322-27377FC5592B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470910" y="3021330"/>
            <a:ext cx="445389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0290F7-5E6B-4198-8C19-7EB15E01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4343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4  Query expertise + availability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CAFFC3-92CB-43A3-A399-47CDBC34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194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1C2E4D-5454-4597-A26E-C8001A31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194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8D233-D1AD-45DB-8C7A-55D0D277C3C7}"/>
              </a:ext>
            </a:extLst>
          </p:cNvPr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3470910" y="3421380"/>
            <a:ext cx="445389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7912F2-0375-459C-8AD6-3E200F71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4343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5  Up to five profiles ranked by rating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3C2337-39E2-4F9C-BB08-4790FEBC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195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F254AF-121C-4879-AB32-47669CC7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95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640A20-A7B3-4EFF-BCE9-E760045220FC}"/>
              </a:ext>
            </a:extLst>
          </p:cNvPr>
          <p:cNvCxnSpPr>
            <a:stCxn xmlns:a="http://schemas.openxmlformats.org/drawingml/2006/main" id="32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1242060" y="3821430"/>
            <a:ext cx="22250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74DF15-4D15-42D5-97F1-2F4ED26E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6  Return classification + advocates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84BEA6-60D8-4D8B-B6B3-D6C72150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05300"/>
            <a:ext cx="8458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Before submission: the user reviews the transcript. After the response: the interface displays guidance and profiles, with optional spoken playback.</a:t>
            </a:r>
          </a:p>
        </p:txBody>
      </p:sp>
    </p:spTree>
    <p:extLst>
      <p:ext uri="{BB962C8B-B14F-4D97-AF65-F5344CB8AC3E}">
        <p14:creationId xmlns:p14="http://schemas.microsoft.com/office/powerpoint/2010/main" val="14359070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27B25-8ECF-41B3-9532-45B0EEBB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Advocate access and consultation booking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55ED0-D2A6-4D98-9DD6-E587750B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948D9-01B1-438A-89B9-4CD71A2D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88453-4555-4E03-BE6A-43EF161A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76325"/>
            <a:ext cx="3924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Advocate matching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26A5C-A60A-42E9-A8A8-F8199FEC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43050"/>
            <a:ext cx="392430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Filter profiles by classified expertise and availability.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Sort by rating and return up to five profiles.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Urgent lookup returns one available profile by rating across domains.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A85C7-B5EA-4D02-902D-D2495908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076325"/>
            <a:ext cx="4086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Booking and payment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D4B08-1540-45A8-A16E-706ADB22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43050"/>
            <a:ext cx="4086225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Store the user, selected advocate and requested date.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Create a Razorpay order and open browser checkout.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Verify the signature and update booking/payment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1DC27-C72D-444A-BB8C-193CB38D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43350"/>
            <a:ext cx="845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Current limits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03569-AC79-4FC5-AEA2-327E6A3D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52925"/>
            <a:ext cx="845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Language filtering and accepted time slots need development. Urgent lookup does not guarantee response. Demo confirmation can leave payment pending.</a:t>
            </a:r>
          </a:p>
        </p:txBody>
      </p:sp>
    </p:spTree>
    <p:extLst>
      <p:ext uri="{BB962C8B-B14F-4D97-AF65-F5344CB8AC3E}">
        <p14:creationId xmlns:p14="http://schemas.microsoft.com/office/powerpoint/2010/main" val="4386873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2C097-621A-42AF-95E7-2E03331D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Technology stack and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48683-A6AC-4B29-9230-3470E312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B93F6-37BC-4FE4-8306-C3A75814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E6FBE-2618-4CE9-90DB-D000B59F965B}"/>
              </a:ext>
            </a:extLst>
          </p:cNvPr>
          <p:cNvGraphicFramePr/>
          <p:nvPr/>
        </p:nvGraphicFramePr>
        <p:xfrm>
          <a:off xmlns:a="http://schemas.openxmlformats.org/drawingml/2006/main" x="342900" y="1038225"/>
          <a:ext xmlns:a="http://schemas.openxmlformats.org/drawingml/2006/main" cx="84582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0675"/>
                <a:gridCol w="2762250"/>
                <a:gridCol w="4105275"/>
              </a:tblGrid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React 18 + Vite 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Input, chat, results and booking views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Node.js + Express 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API routing and workflow coordination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Database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MongoDB + Mongoose 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Profiles, users, bookings and payment IDs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Speech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Browser Web Speech APIs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Recognition and spoken responses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AI adapter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Gateway / Gemini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Contextual triage and basic fallback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Payments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Razorpay SDK + Checkout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Order creation and signature checks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B16AE-9AE0-418A-93EF-AAE52E31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38650"/>
            <a:ext cx="845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The integration work connects speech, AI output, advocate records and transaction status in one user journey.</a:t>
            </a:r>
          </a:p>
        </p:txBody>
      </p:sp>
    </p:spTree>
    <p:extLst>
      <p:ext uri="{BB962C8B-B14F-4D97-AF65-F5344CB8AC3E}">
        <p14:creationId xmlns:p14="http://schemas.microsoft.com/office/powerpoint/2010/main" val="15048064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EC023-1B22-496B-8832-41026A53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Current scope and validation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9903A-26F9-4A42-99A5-C6EE594F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20DD0-84A5-498C-8A3B-CA8019BB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7FC59-30EF-484E-A363-956E38B8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398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Implemented in the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C91DE-7B58-41AB-841C-3018B845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24000"/>
            <a:ext cx="39814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Hindi/English voice and typed input with spoken playback.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Contextual triage in four domains: criminal, civil, family and property.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Advocate matching, booking records and payment integration.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5B628-3A6A-4254-B5DA-105D82AF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047750"/>
            <a:ext cx="4067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Evidence still required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2A8A6-C3A5-41B1-AE6A-08012702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524000"/>
            <a:ext cx="4067175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Advocate-reviewed cases for domain and urgency evaluation.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 tests for transcript quality and response comprehension.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End-to-end booking and failure tests, including interrupted checkout.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30BAD-E245-4A58-9259-A7050D8B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48125"/>
            <a:ext cx="845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Security and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58562-1B47-407A-BE18-620CF4B7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29125"/>
            <a:ext cx="8458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Authentication, consent, profile verification, accepted slots and payment reconciliation remain launch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5858742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28AA6-991D-4951-B3D5-66E79C59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Roadmap and expected benefits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4A128-0D99-47E6-BB2B-5815C081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EB05B-EF64-4F96-91FF-F6B2A292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D1507-B7EF-4946-A31B-78435F42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763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F4AED-504D-491A-B933-F604BB93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763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Stabilize the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D0D73-1FE7-4765-9ED5-112EA02A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076325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Test Hindi/English speech, model failure and the complete consultation journey.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B3B8E-6AE5-45F1-B494-34A8E612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1927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27FCE-7628-467B-9983-264E4ECC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192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Validate real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AE39E-8D17-4A18-88F7-50E7382F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19275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Review cases with advocates and measure user comprehension and task completion.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DC852-0184-4A33-9A32-96587855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5622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741E9-8751-49D9-AA5A-185342BC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Strengthen 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9C6D8-5313-4121-9DA2-1C4A6CF2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62225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Add verified profiles, consent, secure access and reliable booking/payment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57364-016E-4D51-B16C-E67DF68D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30517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CF87C-4609-4D0C-A624-BDE209BC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051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Expand languages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24D63-96CF-4268-A2BF-B968BC8F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05175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Target 22 scheduled languages plus English. Validate each language before rollout.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B30AC-5180-4466-9650-E9078D27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43400"/>
            <a:ext cx="8458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Expected benefit: clearer initial guidance and easier advocate discovery. Faculty and advocate feedback will guide the next development stage.</a:t>
            </a:r>
          </a:p>
        </p:txBody>
      </p:sp>
    </p:spTree>
    <p:extLst>
      <p:ext uri="{BB962C8B-B14F-4D97-AF65-F5344CB8AC3E}">
        <p14:creationId xmlns:p14="http://schemas.microsoft.com/office/powerpoint/2010/main" val="13103763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2026-10-14T04:46:20.0140000Z</dcterms:created>
  <dcterms:modified xsi:type="dcterms:W3CDTF">2026-10-14T04:46:20.0140000Z</dcterms:modified>
</coreProperties>
</file>