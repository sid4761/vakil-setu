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26a690a12d4ee3" /><Relationship Type="http://schemas.openxmlformats.org/officeDocument/2006/relationships/extended-properties" Target="/docProps/app.xml" Id="R34eb91e09b674287" /><Relationship Type="http://schemas.openxmlformats.org/officeDocument/2006/relationships/officeDocument" Target="/ppt/presentation.xml" Id="R77cad1f80da54ac4" /></Relationships>
</file>

<file path=ppt/presentation.xml><?xml version="1.0" encoding="utf-8"?>
<p:presentation xmlns:p="http://schemas.openxmlformats.org/presentationml/2006/main">
  <p:sldMasterIdLst>
    <p:sldMasterId xmlns:r="http://schemas.openxmlformats.org/officeDocument/2006/relationships" id="2147483648" r:id="Rb096bead95bd4946"/>
  </p:sldMasterIdLst>
  <p:notesMasterIdLst>
    <p:notesMasterId xmlns:r="http://schemas.openxmlformats.org/officeDocument/2006/relationships" r:id="Re4f831a358db4290"/>
  </p:notesMasterIdLst>
  <p:sldIdLst>
    <p:sldId xmlns:r="http://schemas.openxmlformats.org/officeDocument/2006/relationships" id="256" r:id="Re5d57a68329a4589"/>
    <p:sldId xmlns:r="http://schemas.openxmlformats.org/officeDocument/2006/relationships" id="257" r:id="R95274ef32d21430c"/>
    <p:sldId xmlns:r="http://schemas.openxmlformats.org/officeDocument/2006/relationships" id="258" r:id="Rc22ca7f5e5934c47"/>
    <p:sldId xmlns:r="http://schemas.openxmlformats.org/officeDocument/2006/relationships" id="259" r:id="R0a3aad5b218143ea"/>
    <p:sldId xmlns:r="http://schemas.openxmlformats.org/officeDocument/2006/relationships" id="260" r:id="Re642902b7b2147ef"/>
    <p:sldId xmlns:r="http://schemas.openxmlformats.org/officeDocument/2006/relationships" id="261" r:id="R2f7ae5b9630242d9"/>
    <p:sldId xmlns:r="http://schemas.openxmlformats.org/officeDocument/2006/relationships" id="262" r:id="R16ab5339253f41aa"/>
    <p:sldId xmlns:r="http://schemas.openxmlformats.org/officeDocument/2006/relationships" id="263" r:id="R150ec3adaae94278"/>
    <p:sldId xmlns:r="http://schemas.openxmlformats.org/officeDocument/2006/relationships" id="264" r:id="R6f739235b95146fc"/>
    <p:sldId xmlns:r="http://schemas.openxmlformats.org/officeDocument/2006/relationships" id="265" r:id="R5376f7c607924e9d"/>
    <p:sldId xmlns:r="http://schemas.openxmlformats.org/officeDocument/2006/relationships" id="266" r:id="R449af23e33e948db"/>
    <p:sldId xmlns:r="http://schemas.openxmlformats.org/officeDocument/2006/relationships" id="267" r:id="Rf8099207711f41fb"/>
    <p:sldId xmlns:r="http://schemas.openxmlformats.org/officeDocument/2006/relationships" id="268" r:id="Rc2a96bf998aa4586"/>
    <p:sldId xmlns:r="http://schemas.openxmlformats.org/officeDocument/2006/relationships" id="269" r:id="Rd7a34e18f84042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3aa0ab68374861" /><Relationship Type="http://schemas.openxmlformats.org/officeDocument/2006/relationships/slideMaster" Target="/ppt/slideMasters/slideMaster1.xml" Id="Rb096bead95bd4946" /><Relationship Type="http://schemas.openxmlformats.org/officeDocument/2006/relationships/notesMaster" Target="/ppt/notesMasters/notesMaster1.xml" Id="Re4f831a358db4290" /><Relationship Type="http://schemas.openxmlformats.org/officeDocument/2006/relationships/presProps" Target="/ppt/presProps.xml" Id="Rda647a17eae9465b" /><Relationship Type="http://schemas.openxmlformats.org/officeDocument/2006/relationships/tableStyles" Target="/ppt/tableStyles.xml" Id="R6124ed25aefd4112" /><Relationship Type="http://schemas.openxmlformats.org/officeDocument/2006/relationships/slide" Target="/ppt/slides/slide1.xml" Id="Re5d57a68329a4589" /><Relationship Type="http://schemas.openxmlformats.org/officeDocument/2006/relationships/slide" Target="/ppt/slides/slide2.xml" Id="R95274ef32d21430c" /><Relationship Type="http://schemas.openxmlformats.org/officeDocument/2006/relationships/slide" Target="/ppt/slides/slide3.xml" Id="Rc22ca7f5e5934c47" /><Relationship Type="http://schemas.openxmlformats.org/officeDocument/2006/relationships/slide" Target="/ppt/slides/slide4.xml" Id="R0a3aad5b218143ea" /><Relationship Type="http://schemas.openxmlformats.org/officeDocument/2006/relationships/slide" Target="/ppt/slides/slide5.xml" Id="Re642902b7b2147ef" /><Relationship Type="http://schemas.openxmlformats.org/officeDocument/2006/relationships/slide" Target="/ppt/slides/slide6.xml" Id="R2f7ae5b9630242d9" /><Relationship Type="http://schemas.openxmlformats.org/officeDocument/2006/relationships/slide" Target="/ppt/slides/slide7.xml" Id="R16ab5339253f41aa" /><Relationship Type="http://schemas.openxmlformats.org/officeDocument/2006/relationships/slide" Target="/ppt/slides/slide8.xml" Id="R150ec3adaae94278" /><Relationship Type="http://schemas.openxmlformats.org/officeDocument/2006/relationships/slide" Target="/ppt/slides/slide9.xml" Id="R6f739235b95146fc" /><Relationship Type="http://schemas.openxmlformats.org/officeDocument/2006/relationships/slide" Target="/ppt/slides/slide10.xml" Id="R5376f7c607924e9d" /><Relationship Type="http://schemas.openxmlformats.org/officeDocument/2006/relationships/slide" Target="/ppt/slides/slide11.xml" Id="R449af23e33e948db" /><Relationship Type="http://schemas.openxmlformats.org/officeDocument/2006/relationships/slide" Target="/ppt/slides/slide12.xml" Id="Rf8099207711f41fb" /><Relationship Type="http://schemas.openxmlformats.org/officeDocument/2006/relationships/slide" Target="/ppt/slides/slide13.xml" Id="Rc2a96bf998aa4586" /><Relationship Type="http://schemas.openxmlformats.org/officeDocument/2006/relationships/slide" Target="/ppt/slides/slide14.xml" Id="Rd7a34e18f84042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73013f8a7547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9fdaaa3b3a4ec1" /><Relationship Type="http://schemas.openxmlformats.org/officeDocument/2006/relationships/notesMaster" Target="/ppt/notesMasters/notesMaster1.xml" Id="R8007ed247fa244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ce0ad2cfe943bb" /><Relationship Type="http://schemas.openxmlformats.org/officeDocument/2006/relationships/notesMaster" Target="/ppt/notesMasters/notesMaster1.xml" Id="R8df52e0c5550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9365ab87fc4cd3" /><Relationship Type="http://schemas.openxmlformats.org/officeDocument/2006/relationships/notesMaster" Target="/ppt/notesMasters/notesMaster1.xml" Id="R97cbd1ae21bd40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8d783dc9544e06" /><Relationship Type="http://schemas.openxmlformats.org/officeDocument/2006/relationships/notesMaster" Target="/ppt/notesMasters/notesMaster1.xml" Id="R8b852cda42bc47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f5f850d60a4f3a" /><Relationship Type="http://schemas.openxmlformats.org/officeDocument/2006/relationships/notesMaster" Target="/ppt/notesMasters/notesMaster1.xml" Id="R0ec3e269419d48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2753a0e0a141d1" /><Relationship Type="http://schemas.openxmlformats.org/officeDocument/2006/relationships/notesMaster" Target="/ppt/notesMasters/notesMaster1.xml" Id="R4cc7576977cf4e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8ec32b381148cc" /><Relationship Type="http://schemas.openxmlformats.org/officeDocument/2006/relationships/notesMaster" Target="/ppt/notesMasters/notesMaster1.xml" Id="Ra7a926ae16b34b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003fd7a4e84f19" /><Relationship Type="http://schemas.openxmlformats.org/officeDocument/2006/relationships/notesMaster" Target="/ppt/notesMasters/notesMaster1.xml" Id="Ra4e32ac0f39846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eaec6fe5d44fe3" /><Relationship Type="http://schemas.openxmlformats.org/officeDocument/2006/relationships/notesMaster" Target="/ppt/notesMasters/notesMaster1.xml" Id="R941011736d3045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c951c932dc417a" /><Relationship Type="http://schemas.openxmlformats.org/officeDocument/2006/relationships/notesMaster" Target="/ppt/notesMasters/notesMaster1.xml" Id="R90406d64d9664b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500f64fd144aa4" /><Relationship Type="http://schemas.openxmlformats.org/officeDocument/2006/relationships/notesMaster" Target="/ppt/notesMasters/notesMaster1.xml" Id="Ra5417337014e43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beda6198da459d" /><Relationship Type="http://schemas.openxmlformats.org/officeDocument/2006/relationships/notesMaster" Target="/ppt/notesMasters/notesMaster1.xml" Id="R0a0a94a279d741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3f7e34e372431f" /><Relationship Type="http://schemas.openxmlformats.org/officeDocument/2006/relationships/notesMaster" Target="/ppt/notesMasters/notesMaster1.xml" Id="R65467a44475041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36fb48985e495b" /><Relationship Type="http://schemas.openxmlformats.org/officeDocument/2006/relationships/notesMaster" Target="/ppt/notesMasters/notesMaster1.xml" Id="R02dba31fd27341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have inherited an existing prototype. This presentation explains its architecture and a proposed development programme. The confirmed extension goal is support for all 22 scheduled languages. English remains an additional supported language. No completed contributions or evaluation results are claimed.</a:t>
            </a:r>
          </a:p>
          <a:p xmlns:a="http://schemas.openxmlformats.org/drawingml/2006/main">
            <a:r>
              <a:t/>
            </a:r>
          </a:p>
          <a:p xmlns:a="http://schemas.openxmlformats.org/drawingml/2006/main">
            <a:r>
              <a:t>Sources: frontend/src/components/VoiceRecorder.jsx</a:t>
            </a:r>
          </a:p>
          <a:p xmlns:a="http://schemas.openxmlformats.org/drawingml/2006/main">
            <a:r>
              <a:t>https://www.mha.gov.in/sites/default/files/Eighth_Schedule.pdf</a:t>
            </a:r>
          </a:p>
          <a:p xmlns:a="http://schemas.openxmlformats.org/drawingml/2006/main">
            <a:r>
              <a:t>User-provided project context; NaN.pdf is a visual reference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project’s problem assumptions, not measured survey findings. Explain triage as identifying the general type and urgency of a problem. The prototype offers information and a booking workflow. It does not establish a completed consultation.</a:t>
            </a:r>
          </a:p>
          <a:p xmlns:a="http://schemas.openxmlformats.org/drawingml/2006/main">
            <a:r>
              <a:t/>
            </a:r>
          </a:p>
          <a:p xmlns:a="http://schemas.openxmlformats.org/drawingml/2006/main">
            <a:r>
              <a:t>Sources: backend/src/services/aiService.js</a:t>
            </a:r>
          </a:p>
          <a:p xmlns:a="http://schemas.openxmlformats.org/drawingml/2006/main">
            <a:r>
              <a:t>backend/src/controllers/aiController.js</a:t>
            </a:r>
          </a:p>
          <a:p xmlns:a="http://schemas.openxmlformats.org/drawingml/2006/main">
            <a:r>
              <a:t>backend/src/controllers/bookingController.js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multilingual extension is an explicit user goal. Provider abstraction, validation, language-aware matching and booking hardening are proposed supporting work, not previously completed contributions. Treat the repository documents as the intended future direction. Review and approve the precise scope with faculty.</a:t>
            </a:r>
          </a:p>
          <a:p xmlns:a="http://schemas.openxmlformats.org/drawingml/2006/main">
            <a:r>
              <a:t/>
            </a:r>
          </a:p>
          <a:p xmlns:a="http://schemas.openxmlformats.org/drawingml/2006/main">
            <a:r>
              <a:t>Sources: frontend/src/components/VoiceRecorder.jsx</a:t>
            </a:r>
          </a:p>
          <a:p xmlns:a="http://schemas.openxmlformats.org/drawingml/2006/main">
            <a:r>
              <a:t>backend/src/services/aiService.js</a:t>
            </a:r>
          </a:p>
          <a:p xmlns:a="http://schemas.openxmlformats.org/drawingml/2006/main">
            <a:r>
              <a:t>backend/src/controllers/advocateController.js</a:t>
            </a:r>
          </a:p>
          <a:p xmlns:a="http://schemas.openxmlformats.org/drawingml/2006/main">
            <a:r>
              <a:t>backend/src/controllers/bookingController.js</a:t>
            </a:r>
          </a:p>
          <a:p xmlns:a="http://schemas.openxmlformats.org/drawingml/2006/main">
            <a:r>
              <a:t>backend/src/controllers/paymentController.js</a:t>
            </a:r>
          </a:p>
          <a:p xmlns:a="http://schemas.openxmlformats.org/drawingml/2006/main">
            <a:r>
              <a:t>PITCH_REPORT.md; user clarification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hypothetical example to explain the interface, without promising a specific model answer. Follow-up messages reuse conversation context. The booking currently records a requested time without checking actual calendar slots or advocate acceptance. Payment skipping is present in the inherited implementation.</a:t>
            </a:r>
          </a:p>
          <a:p xmlns:a="http://schemas.openxmlformats.org/drawingml/2006/main">
            <a:r>
              <a:t/>
            </a:r>
          </a:p>
          <a:p xmlns:a="http://schemas.openxmlformats.org/drawingml/2006/main">
            <a:r>
              <a:t>Sources: frontend/src/components/VoiceRecorder.jsx</a:t>
            </a:r>
          </a:p>
          <a:p xmlns:a="http://schemas.openxmlformats.org/drawingml/2006/main">
            <a:r>
              <a:t>frontend/src/hooks/useLegalChat.js</a:t>
            </a:r>
          </a:p>
          <a:p xmlns:a="http://schemas.openxmlformats.org/drawingml/2006/main">
            <a:r>
              <a:t>frontend/src/pages/BookingPage.jsx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is a React client with an Express server and MongoDB. The diagram groups runtime dependencies. Speech recognition runs through the browser API. The Express payment controller reads a booking, calls Razorpay and stores the order identifier; MongoDB does not directly call Razorpay. The API also coordinates the payment flow shown in the booking slide. No Whisper route is registered in the current server.</a:t>
            </a:r>
          </a:p>
          <a:p xmlns:a="http://schemas.openxmlformats.org/drawingml/2006/main">
            <a:r>
              <a:t/>
            </a:r>
          </a:p>
          <a:p xmlns:a="http://schemas.openxmlformats.org/drawingml/2006/main">
            <a:r>
              <a:t>Sources: backend/src/server.js</a:t>
            </a:r>
          </a:p>
          <a:p xmlns:a="http://schemas.openxmlformats.org/drawingml/2006/main">
            <a:r>
              <a:t>frontend/src/components/VoiceRecorder.jsx</a:t>
            </a:r>
          </a:p>
          <a:p xmlns:a="http://schemas.openxmlformats.org/drawingml/2006/main">
            <a:r>
              <a:t>backend/src/services/aiService.js</a:t>
            </a:r>
          </a:p>
          <a:p xmlns:a="http://schemas.openxmlformats.org/drawingml/2006/main">
            <a:r>
              <a:t>backend/src/controllers/paymentController.js</a:t>
            </a:r>
          </a:p>
          <a:p xmlns:a="http://schemas.openxmlformats.org/drawingml/2006/main">
            <a:r>
              <a:t>backend/src/models/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/api/ai/triage calls classifyLegalIssue, then queries advocates. Up to ten prior messages enter the AI prompt. Matching is a database query, not an AI ranking model. The keyword fallback is partial: missing credentials and some error types still fail. The model is accessed through an external API, not trained in this repository.</a:t>
            </a:r>
          </a:p>
          <a:p xmlns:a="http://schemas.openxmlformats.org/drawingml/2006/main">
            <a:r>
              <a:t/>
            </a:r>
          </a:p>
          <a:p xmlns:a="http://schemas.openxmlformats.org/drawingml/2006/main">
            <a:r>
              <a:t>Sources: backend/src/services/aiService.js</a:t>
            </a:r>
          </a:p>
          <a:p xmlns:a="http://schemas.openxmlformats.org/drawingml/2006/main">
            <a:r>
              <a:t>backend/src/controllers/aiController.js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Orange blocks are proposed additions or changes. Blue marks the reusable legal-triage core. ASR means automatic speech recognition and TTS means text to speech. Evaluate providers per language and script, including direct multilingual processing versus translation. BHASHINI is a candidate ecosystem to evaluate, not an integrated or guaranteed provider. Do not promise speech availability for every language before testing.</a:t>
            </a:r>
          </a:p>
          <a:p xmlns:a="http://schemas.openxmlformats.org/drawingml/2006/main">
            <a:r>
              <a:t/>
            </a:r>
          </a:p>
          <a:p xmlns:a="http://schemas.openxmlformats.org/drawingml/2006/main">
            <a:r>
              <a:t>Sources: frontend/src/components/VoiceRecorder.jsx</a:t>
            </a:r>
          </a:p>
          <a:p xmlns:a="http://schemas.openxmlformats.org/drawingml/2006/main">
            <a:r>
              <a:t>backend/src/services/aiService.js</a:t>
            </a:r>
          </a:p>
          <a:p xmlns:a="http://schemas.openxmlformats.org/drawingml/2006/main">
            <a:r>
              <a:t>https://bhashini.gov.in/</a:t>
            </a:r>
          </a:p>
          <a:p xmlns:a="http://schemas.openxmlformats.org/drawingml/2006/main">
            <a:r>
              <a:t>Proposed design based on user development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Eighth Schedule lists 22 languages. English is not in that list, so retaining English while covering every scheduled language implies 23 language options in total. Names use common contemporary spellings. A scheduled language can use more than one script, and regional accents require separate testing. Do not equate a translated menu with validated end-to-end voice support.</a:t>
            </a:r>
          </a:p>
          <a:p xmlns:a="http://schemas.openxmlformats.org/drawingml/2006/main">
            <a:r>
              <a:t/>
            </a:r>
          </a:p>
          <a:p xmlns:a="http://schemas.openxmlformats.org/drawingml/2006/main">
            <a:r>
              <a:t>Sources: https://www.mha.gov.in/sites/default/files/Eighth_Schedule.pdf</a:t>
            </a:r>
          </a:p>
          <a:p xmlns:a="http://schemas.openxmlformats.org/drawingml/2006/main">
            <a:r>
              <a:t>frontend/src/components/VoiceRecorder.jsx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Arrows in the top diagram represent record relationships, not network calls. The booking holds references to one user and one advocate. Proposed hardening must verify ownership, derive the fee on the server, bind a payment to the stored order, and handle confirmation reliably. The inherited code also allows confirmation with payment pending.</a:t>
            </a:r>
          </a:p>
          <a:p xmlns:a="http://schemas.openxmlformats.org/drawingml/2006/main">
            <a:r>
              <a:t/>
            </a:r>
          </a:p>
          <a:p xmlns:a="http://schemas.openxmlformats.org/drawingml/2006/main">
            <a:r>
              <a:t>Sources: backend/src/models/User.js</a:t>
            </a:r>
          </a:p>
          <a:p xmlns:a="http://schemas.openxmlformats.org/drawingml/2006/main">
            <a:r>
              <a:t>backend/src/models/Advocate.js</a:t>
            </a:r>
          </a:p>
          <a:p xmlns:a="http://schemas.openxmlformats.org/drawingml/2006/main">
            <a:r>
              <a:t>backend/src/models/Booking.js</a:t>
            </a:r>
          </a:p>
          <a:p xmlns:a="http://schemas.openxmlformats.org/drawingml/2006/main">
            <a:r>
              <a:t>backend/src/models/Review.js</a:t>
            </a:r>
          </a:p>
          <a:p xmlns:a="http://schemas.openxmlformats.org/drawingml/2006/main">
            <a:r>
              <a:t>backend/src/controllers/paymentController.js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comes from reusable software structure, not proven language performance. Existing integrations are code present in the repository and still need live validation. The proposed language provider must be evaluated for actual availability, cost, latency and quality. Risk controls shown here are development tasks. No measured reliability or cost claim is made.</a:t>
            </a:r>
          </a:p>
          <a:p xmlns:a="http://schemas.openxmlformats.org/drawingml/2006/main">
            <a:r>
              <a:t/>
            </a:r>
          </a:p>
          <a:p xmlns:a="http://schemas.openxmlformats.org/drawingml/2006/main">
            <a:r>
              <a:t>Sources: frontend/src/components/VoiceRecorder.jsx</a:t>
            </a:r>
          </a:p>
          <a:p xmlns:a="http://schemas.openxmlformats.org/drawingml/2006/main">
            <a:r>
              <a:t>backend/src/services/aiService.js</a:t>
            </a:r>
          </a:p>
          <a:p xmlns:a="http://schemas.openxmlformats.org/drawingml/2006/main">
            <a:r>
              <a:t>backend/src/controllers/bookingController.js</a:t>
            </a:r>
          </a:p>
          <a:p xmlns:a="http://schemas.openxmlformats.org/drawingml/2006/main">
            <a:r>
              <a:t>backend/src/controllers/paymentController.js</a:t>
            </a:r>
          </a:p>
          <a:p xmlns:a="http://schemas.openxmlformats.org/drawingml/2006/main">
            <a:r>
              <a:t>https://bhashini.gov.in/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work sequence, not a claim that milestones are complete. Establish a baseline before adding languages. Select pilot languages only after checking provider support and access to reviewers. Expand based on measured quality. No duration or team capacity has been supplied, so dates are deliberately omitted.</a:t>
            </a:r>
          </a:p>
          <a:p xmlns:a="http://schemas.openxmlformats.org/drawingml/2006/main">
            <a:r>
              <a:t/>
            </a:r>
          </a:p>
          <a:p xmlns:a="http://schemas.openxmlformats.org/drawingml/2006/main">
            <a:r>
              <a:t>Sources: User goal and proposed implementation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WER means word error rate. Critical entities include names, dates and amounts, which can matter even when overall WER appears low. Report results by language, accent and test condition rather than hiding weak languages in an average. Include noisy audio, mixed-language speech and provider outages. Use legal reviewers for expected classifications. Measure both latency and cost per completed case before commercial claims.</a:t>
            </a:r>
          </a:p>
          <a:p xmlns:a="http://schemas.openxmlformats.org/drawingml/2006/main">
            <a:r>
              <a:t/>
            </a:r>
          </a:p>
          <a:p xmlns:a="http://schemas.openxmlformats.org/drawingml/2006/main">
            <a:r>
              <a:t>Sources: Proposed evaluation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benefits on this slide are expected outcomes to evaluate, not measured impact. The academic contribution is extending and validating an inherited system. Explain exactly which modules you changed after implementation. The current presentation claims no completed new development. The application provides preliminary information, and a qualified advocate handles case-specific advice.</a:t>
            </a:r>
          </a:p>
          <a:p xmlns:a="http://schemas.openxmlformats.org/drawingml/2006/main">
            <a:r>
              <a:t/>
            </a:r>
          </a:p>
          <a:p xmlns:a="http://schemas.openxmlformats.org/drawingml/2006/main">
            <a:r>
              <a:t>Sources: User project context and proposed evaluation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paths supporting the baseline are listed in notes throughout the deck. Documentation describes the target direction and should not be used as evidence of implementation. The supplied PDF informs structure and theme only; no SIH affiliation, team identity or defense-project claims are transferred. The language list is official. BHASHINI is a candidate for investigation, not a provider selection or a guarantee of support for every modality.</a:t>
            </a:r>
          </a:p>
          <a:p xmlns:a="http://schemas.openxmlformats.org/drawingml/2006/main">
            <a:r>
              <a:t/>
            </a:r>
          </a:p>
          <a:p xmlns:a="http://schemas.openxmlformats.org/drawingml/2006/main">
            <a:r>
              <a:t>Sources: https://www.mha.gov.in/sites/default/files/Eighth_Schedule.pdf</a:t>
            </a:r>
          </a:p>
          <a:p xmlns:a="http://schemas.openxmlformats.org/drawingml/2006/main">
            <a:r>
              <a:t>https://bhashini.gov.in/</a:t>
            </a:r>
          </a:p>
          <a:p xmlns:a="http://schemas.openxmlformats.org/drawingml/2006/main">
            <a:r>
              <a:t>C:/Users/DELL/Downloads/NaN.pdf</a:t>
            </a:r>
          </a:p>
          <a:p xmlns:a="http://schemas.openxmlformats.org/drawingml/2006/main">
            <a:r>
              <a:t>C:/Users/DELL/Vakil-Setu/backend/src/</a:t>
            </a:r>
          </a:p>
          <a:p xmlns:a="http://schemas.openxmlformats.org/drawingml/2006/main">
            <a:r>
              <a:t>C:/Users/DELL/Vakil-Setu/frontend/src/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ef5123c73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9ae89350784315" /><Relationship Type="http://schemas.openxmlformats.org/officeDocument/2006/relationships/slideLayout" Target="/ppt/slideLayouts/slideLayout1.xml" Id="R1c7e1ab3991c47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7e1ab3991c47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7602f3200e43a5" /><Relationship Type="http://schemas.openxmlformats.org/officeDocument/2006/relationships/notesSlide" Target="/ppt/notesSlides/notesSlide1.xml" Id="Ra78b5a8cde714f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0727da4aa44487" /><Relationship Type="http://schemas.openxmlformats.org/officeDocument/2006/relationships/notesSlide" Target="/ppt/notesSlides/notesSlide2.xml" Id="R48935bf5654c44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df3dbaa2234486" /><Relationship Type="http://schemas.openxmlformats.org/officeDocument/2006/relationships/notesSlide" Target="/ppt/notesSlides/notesSlide3.xml" Id="R219c7dcf02fa43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16fc59cab04bba" /><Relationship Type="http://schemas.openxmlformats.org/officeDocument/2006/relationships/notesSlide" Target="/ppt/notesSlides/notesSlide4.xml" Id="Rb6b8ea3c3bf943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5c2704eb5b4ee0" /><Relationship Type="http://schemas.openxmlformats.org/officeDocument/2006/relationships/notesSlide" Target="/ppt/notesSlides/notesSlide5.xml" Id="R0e505b1601d645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49667effbd4c87" /><Relationship Type="http://schemas.openxmlformats.org/officeDocument/2006/relationships/notesSlide" Target="/ppt/notesSlides/notesSlide6.xml" Id="R1b01eb8d7aa640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dcbdb24d7a46ff" /><Relationship Type="http://schemas.openxmlformats.org/officeDocument/2006/relationships/notesSlide" Target="/ppt/notesSlides/notesSlide7.xml" Id="R83837296aeb44d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78cfe2fecb4cb3" /><Relationship Type="http://schemas.openxmlformats.org/officeDocument/2006/relationships/notesSlide" Target="/ppt/notesSlides/notesSlide8.xml" Id="R9b83d6fdc40946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c5bd1577c149f3" /><Relationship Type="http://schemas.openxmlformats.org/officeDocument/2006/relationships/notesSlide" Target="/ppt/notesSlides/notesSlide9.xml" Id="R7929a6ad28b249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e3ea0745dc4393" /><Relationship Type="http://schemas.openxmlformats.org/officeDocument/2006/relationships/notesSlide" Target="/ppt/notesSlides/notesSlide10.xml" Id="Rc8c1fa127a8944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6a363f10e3456d" /><Relationship Type="http://schemas.openxmlformats.org/officeDocument/2006/relationships/notesSlide" Target="/ppt/notesSlides/notesSlide11.xml" Id="R44e7c159bec745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900cb5c0ac46ae" /><Relationship Type="http://schemas.openxmlformats.org/officeDocument/2006/relationships/notesSlide" Target="/ppt/notesSlides/notesSlide12.xml" Id="R7f25c50e163044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efa580362d409d" /><Relationship Type="http://schemas.openxmlformats.org/officeDocument/2006/relationships/notesSlide" Target="/ppt/notesSlides/notesSlide13.xml" Id="R3bf1a7ac78b94f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989a3b9a2546d4" /><Relationship Type="http://schemas.openxmlformats.org/officeDocument/2006/relationships/notesSlide" Target="/ppt/notesSlides/notesSlide14.xml" Id="R4098069b683f46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AA8FBF-1C94-4C96-BB8E-06C8558B9337}"/>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9A7AB8A5-4329-47A1-9A00-45D88C0D0275}"/>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3C0007E-8FF2-4101-83FD-2CADAE92D9DA}"/>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DD9046-EA72-4509-9F71-ABAE4819EE2B}"/>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Inherited prototype and proposed development</a:t>
            </a:r>
          </a:p>
        </p:txBody>
      </p:sp>
      <p:sp>
        <p:nvSpPr>
          <p:cNvPr id="5" name="">
            <a:extLst xmlns:a="http://schemas.openxmlformats.org/drawingml/2006/main">
              <a:ext uri="{FF2B5EF4-FFF2-40B4-BE49-F238E27FC236}">
                <a16:creationId xmlns:a16="http://schemas.microsoft.com/office/drawing/2014/main" id="{4356D487-DD79-475E-8218-38231B88A7E5}"/>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559CBCA-9430-455D-84A7-711F0A40C93A}"/>
              </a:ext>
            </a:extLst>
          </p:cNvPr>
          <p:cNvSpPr>
            <a:spLocks xmlns:a="http://schemas.openxmlformats.org/drawingml/2006/main" noGrp="1"/>
          </p:cNvSpPr>
          <p:nvPr/>
        </p:nvSpPr>
        <p:spPr>
          <a:xfrm xmlns:a="http://schemas.openxmlformats.org/drawingml/2006/main">
            <a:off x="619125" y="142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203F91"/>
                </a:solidFill>
                <a:latin typeface="Georgia"/>
                <a:ea typeface="Georgia"/>
                <a:cs typeface="Georgia"/>
              </a:defRPr>
            </a:pPr>
            <a:r>
              <a:rPr sz="5700" b="1">
                <a:solidFill>
                  <a:srgbClr val="203F91"/>
                </a:solidFill>
                <a:latin typeface="Georgia"/>
                <a:ea typeface="Georgia"/>
                <a:cs typeface="Georgia"/>
              </a:rPr>
              <a:t>VAKIL SETU</a:t>
            </a:r>
          </a:p>
        </p:txBody>
      </p:sp>
      <p:sp>
        <p:nvSpPr>
          <p:cNvPr id="7" name="">
            <a:extLst xmlns:a="http://schemas.openxmlformats.org/drawingml/2006/main">
              <a:ext uri="{FF2B5EF4-FFF2-40B4-BE49-F238E27FC236}">
                <a16:creationId xmlns:a16="http://schemas.microsoft.com/office/drawing/2014/main" id="{29A32803-7A96-4918-9CB5-9428EFC08B10}"/>
              </a:ext>
            </a:extLst>
          </p:cNvPr>
          <p:cNvSpPr>
            <a:spLocks xmlns:a="http://schemas.openxmlformats.org/drawingml/2006/main" noGrp="1"/>
          </p:cNvSpPr>
          <p:nvPr/>
        </p:nvSpPr>
        <p:spPr>
          <a:xfrm xmlns:a="http://schemas.openxmlformats.org/drawingml/2006/main">
            <a:off x="666750" y="2533650"/>
            <a:ext cx="1047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0">
                <a:solidFill>
                  <a:srgbClr val="172237"/>
                </a:solidFill>
                <a:latin typeface="Arial"/>
                <a:ea typeface="Arial"/>
                <a:cs typeface="Arial"/>
              </a:defRPr>
            </a:pPr>
            <a:r>
              <a:rPr sz="2925" b="0">
                <a:solidFill>
                  <a:srgbClr val="172237"/>
                </a:solidFill>
                <a:latin typeface="Arial"/>
                <a:ea typeface="Arial"/>
                <a:cs typeface="Arial"/>
              </a:rPr>
              <a:t>Voice-based legal assistance</a:t>
            </a:r>
          </a:p>
          <a:p xmlns:a="http://schemas.openxmlformats.org/drawingml/2006/main">
            <a:pPr algn="l">
              <a:defRPr sz="2925" b="0">
                <a:solidFill>
                  <a:srgbClr val="172237"/>
                </a:solidFill>
                <a:latin typeface="Arial"/>
                <a:ea typeface="Arial"/>
                <a:cs typeface="Arial"/>
              </a:defRPr>
            </a:pPr>
            <a:r>
              <a:rPr sz="2925" b="0">
                <a:solidFill>
                  <a:srgbClr val="172237"/>
                </a:solidFill>
                <a:latin typeface="Arial"/>
                <a:ea typeface="Arial"/>
                <a:cs typeface="Arial"/>
              </a:rPr>
              <a:t>and advocate access</a:t>
            </a:r>
          </a:p>
        </p:txBody>
      </p:sp>
      <p:sp>
        <p:nvSpPr>
          <p:cNvPr id="8" name="">
            <a:extLst xmlns:a="http://schemas.openxmlformats.org/drawingml/2006/main">
              <a:ext uri="{FF2B5EF4-FFF2-40B4-BE49-F238E27FC236}">
                <a16:creationId xmlns:a16="http://schemas.microsoft.com/office/drawing/2014/main" id="{1C9445A2-E414-41F0-8BCD-D141E06D26B7}"/>
              </a:ext>
            </a:extLst>
          </p:cNvPr>
          <p:cNvSpPr>
            <a:spLocks xmlns:a="http://schemas.openxmlformats.org/drawingml/2006/main" noGrp="1"/>
          </p:cNvSpPr>
          <p:nvPr/>
        </p:nvSpPr>
        <p:spPr>
          <a:xfrm xmlns:a="http://schemas.openxmlformats.org/drawingml/2006/main">
            <a:off x="685800" y="4038600"/>
            <a:ext cx="10744200" cy="19050"/>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1A24A4-64D8-458A-B49A-FC1450E7A349}"/>
              </a:ext>
            </a:extLst>
          </p:cNvPr>
          <p:cNvSpPr>
            <a:spLocks xmlns:a="http://schemas.openxmlformats.org/drawingml/2006/main" noGrp="1"/>
          </p:cNvSpPr>
          <p:nvPr/>
        </p:nvSpPr>
        <p:spPr>
          <a:xfrm xmlns:a="http://schemas.openxmlformats.org/drawingml/2006/main">
            <a:off x="704850" y="4391025"/>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Existing foundation</a:t>
            </a:r>
          </a:p>
        </p:txBody>
      </p:sp>
      <p:sp>
        <p:nvSpPr>
          <p:cNvPr id="10" name="">
            <a:extLst xmlns:a="http://schemas.openxmlformats.org/drawingml/2006/main">
              <a:ext uri="{FF2B5EF4-FFF2-40B4-BE49-F238E27FC236}">
                <a16:creationId xmlns:a16="http://schemas.microsoft.com/office/drawing/2014/main" id="{288EAD54-4DC2-4211-A508-63B833D45CE5}"/>
              </a:ext>
            </a:extLst>
          </p:cNvPr>
          <p:cNvSpPr>
            <a:spLocks xmlns:a="http://schemas.openxmlformats.org/drawingml/2006/main" noGrp="1"/>
          </p:cNvSpPr>
          <p:nvPr/>
        </p:nvSpPr>
        <p:spPr>
          <a:xfrm xmlns:a="http://schemas.openxmlformats.org/drawingml/2006/main">
            <a:off x="704850" y="48291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237"/>
                </a:solidFill>
                <a:latin typeface="Arial"/>
                <a:ea typeface="Arial"/>
                <a:cs typeface="Arial"/>
              </a:defRPr>
            </a:pPr>
            <a:r>
              <a:rPr sz="2025" b="0">
                <a:solidFill>
                  <a:srgbClr val="172237"/>
                </a:solidFill>
                <a:latin typeface="Arial"/>
                <a:ea typeface="Arial"/>
                <a:cs typeface="Arial"/>
              </a:rPr>
              <a:t>Hindi and English voice workflow</a:t>
            </a:r>
          </a:p>
        </p:txBody>
      </p:sp>
      <p:sp>
        <p:nvSpPr>
          <p:cNvPr id="11" name="">
            <a:extLst xmlns:a="http://schemas.openxmlformats.org/drawingml/2006/main">
              <a:ext uri="{FF2B5EF4-FFF2-40B4-BE49-F238E27FC236}">
                <a16:creationId xmlns:a16="http://schemas.microsoft.com/office/drawing/2014/main" id="{98F7DF37-75AF-4784-A3F8-FE0E8A22D360}"/>
              </a:ext>
            </a:extLst>
          </p:cNvPr>
          <p:cNvSpPr>
            <a:spLocks xmlns:a="http://schemas.openxmlformats.org/drawingml/2006/main" noGrp="1"/>
          </p:cNvSpPr>
          <p:nvPr/>
        </p:nvSpPr>
        <p:spPr>
          <a:xfrm xmlns:a="http://schemas.openxmlformats.org/drawingml/2006/main">
            <a:off x="6915150" y="439102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D77A00"/>
                </a:solidFill>
                <a:latin typeface="Arial"/>
                <a:ea typeface="Arial"/>
                <a:cs typeface="Arial"/>
              </a:defRPr>
            </a:pPr>
            <a:r>
              <a:rPr sz="1800" b="1">
                <a:solidFill>
                  <a:srgbClr val="D77A00"/>
                </a:solidFill>
                <a:latin typeface="Arial"/>
                <a:ea typeface="Arial"/>
                <a:cs typeface="Arial"/>
              </a:rPr>
              <a:t>Proposed extension</a:t>
            </a:r>
          </a:p>
        </p:txBody>
      </p:sp>
      <p:sp>
        <p:nvSpPr>
          <p:cNvPr id="12" name="">
            <a:extLst xmlns:a="http://schemas.openxmlformats.org/drawingml/2006/main">
              <a:ext uri="{FF2B5EF4-FFF2-40B4-BE49-F238E27FC236}">
                <a16:creationId xmlns:a16="http://schemas.microsoft.com/office/drawing/2014/main" id="{D5B3CA56-6699-418E-997A-432963837904}"/>
              </a:ext>
            </a:extLst>
          </p:cNvPr>
          <p:cNvSpPr>
            <a:spLocks xmlns:a="http://schemas.openxmlformats.org/drawingml/2006/main" noGrp="1"/>
          </p:cNvSpPr>
          <p:nvPr/>
        </p:nvSpPr>
        <p:spPr>
          <a:xfrm xmlns:a="http://schemas.openxmlformats.org/drawingml/2006/main">
            <a:off x="6915150" y="48291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237"/>
                </a:solidFill>
                <a:latin typeface="Arial"/>
                <a:ea typeface="Arial"/>
                <a:cs typeface="Arial"/>
              </a:defRPr>
            </a:pPr>
            <a:r>
              <a:rPr sz="2025" b="0">
                <a:solidFill>
                  <a:srgbClr val="172237"/>
                </a:solidFill>
                <a:latin typeface="Arial"/>
                <a:ea typeface="Arial"/>
                <a:cs typeface="Arial"/>
              </a:rPr>
              <a:t>22 scheduled languages</a:t>
            </a:r>
          </a:p>
          <a:p xmlns:a="http://schemas.openxmlformats.org/drawingml/2006/main">
            <a:pPr algn="l">
              <a:defRPr sz="2025" b="0">
                <a:solidFill>
                  <a:srgbClr val="172237"/>
                </a:solidFill>
                <a:latin typeface="Arial"/>
                <a:ea typeface="Arial"/>
                <a:cs typeface="Arial"/>
              </a:defRPr>
            </a:pPr>
            <a:r>
              <a:rPr sz="2025" b="0">
                <a:solidFill>
                  <a:srgbClr val="172237"/>
                </a:solidFill>
                <a:latin typeface="Arial"/>
                <a:ea typeface="Arial"/>
                <a:cs typeface="Arial"/>
              </a:rPr>
              <a:t>with English retained</a:t>
            </a:r>
          </a:p>
        </p:txBody>
      </p:sp>
    </p:spTree>
    <p:extLst>
      <p:ext uri="{BB962C8B-B14F-4D97-AF65-F5344CB8AC3E}">
        <p14:creationId xmlns:p14="http://schemas.microsoft.com/office/powerpoint/2010/main" val="7451075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1ABD91C-2B61-470B-B6FE-5BEA9539891D}"/>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0F25B4B6-E3CC-4CC0-8030-E7DB2DBE3A5F}"/>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PROBLEM AND PROPOSED SOLUTION</a:t>
            </a:r>
          </a:p>
        </p:txBody>
      </p:sp>
      <p:sp>
        <p:nvSpPr>
          <p:cNvPr id="3" name="">
            <a:extLst xmlns:a="http://schemas.openxmlformats.org/drawingml/2006/main">
              <a:ext uri="{FF2B5EF4-FFF2-40B4-BE49-F238E27FC236}">
                <a16:creationId xmlns:a16="http://schemas.microsoft.com/office/drawing/2014/main" id="{FE9FF636-ACAC-4E0B-B4EE-26A4B2E5D842}"/>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 first point of contact for people who do not know where to begin</a:t>
            </a:r>
          </a:p>
        </p:txBody>
      </p:sp>
      <p:sp>
        <p:nvSpPr>
          <p:cNvPr id="4" name="">
            <a:extLst xmlns:a="http://schemas.openxmlformats.org/drawingml/2006/main">
              <a:ext uri="{FF2B5EF4-FFF2-40B4-BE49-F238E27FC236}">
                <a16:creationId xmlns:a16="http://schemas.microsoft.com/office/drawing/2014/main" id="{D01D3247-AD48-43A2-8883-D6BE0D662518}"/>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0FFCE2-1AE8-437A-9B5A-0BE86A3EEAAE}"/>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CEFBC8A8-8026-45A2-BC7E-51FECF80E580}"/>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664A743-E0B0-412C-AC16-2C16C26016EB}"/>
              </a:ext>
            </a:extLst>
          </p:cNvPr>
          <p:cNvSpPr>
            <a:spLocks xmlns:a="http://schemas.openxmlformats.org/drawingml/2006/main" noGrp="1"/>
          </p:cNvSpPr>
          <p:nvPr/>
        </p:nvSpPr>
        <p:spPr>
          <a:xfrm xmlns:a="http://schemas.openxmlformats.org/drawingml/2006/main">
            <a:off x="457200" y="180975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USER BARRIERS</a:t>
            </a:r>
          </a:p>
        </p:txBody>
      </p:sp>
      <p:sp>
        <p:nvSpPr>
          <p:cNvPr id="8" name="">
            <a:extLst xmlns:a="http://schemas.openxmlformats.org/drawingml/2006/main">
              <a:ext uri="{FF2B5EF4-FFF2-40B4-BE49-F238E27FC236}">
                <a16:creationId xmlns:a16="http://schemas.microsoft.com/office/drawing/2014/main" id="{6CC1C0A8-A60C-4664-BBA0-A779B0800546}"/>
              </a:ext>
            </a:extLst>
          </p:cNvPr>
          <p:cNvSpPr>
            <a:spLocks xmlns:a="http://schemas.openxmlformats.org/drawingml/2006/main" noGrp="1"/>
          </p:cNvSpPr>
          <p:nvPr/>
        </p:nvSpPr>
        <p:spPr>
          <a:xfrm xmlns:a="http://schemas.openxmlformats.org/drawingml/2006/main">
            <a:off x="457200" y="2152650"/>
            <a:ext cx="34766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00EC0E-AC67-4DDB-9F5B-E0392E8FD3B2}"/>
              </a:ext>
            </a:extLst>
          </p:cNvPr>
          <p:cNvSpPr>
            <a:spLocks xmlns:a="http://schemas.openxmlformats.org/drawingml/2006/main" noGrp="1"/>
          </p:cNvSpPr>
          <p:nvPr/>
        </p:nvSpPr>
        <p:spPr>
          <a:xfrm xmlns:a="http://schemas.openxmlformats.org/drawingml/2006/main">
            <a:off x="476250" y="2371725"/>
            <a:ext cx="34290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72237"/>
                </a:solidFill>
                <a:latin typeface="Arial"/>
                <a:ea typeface="Arial"/>
                <a:cs typeface="Arial"/>
              </a:defRPr>
            </a:pPr>
            <a:r>
              <a:rPr sz="2100" b="0">
                <a:solidFill>
                  <a:srgbClr val="172237"/>
                </a:solidFill>
                <a:latin typeface="Arial"/>
                <a:ea typeface="Arial"/>
                <a:cs typeface="Arial"/>
              </a:rPr>
              <a:t>Legal terminology</a:t>
            </a:r>
          </a:p>
          <a:p xmlns:a="http://schemas.openxmlformats.org/drawingml/2006/main">
            <a:r>
              <a:t/>
            </a:r>
          </a:p>
          <a:p xmlns:a="http://schemas.openxmlformats.org/drawingml/2006/main">
            <a:pPr algn="l">
              <a:defRPr sz="2100" b="0">
                <a:solidFill>
                  <a:srgbClr val="172237"/>
                </a:solidFill>
                <a:latin typeface="Arial"/>
                <a:ea typeface="Arial"/>
                <a:cs typeface="Arial"/>
              </a:defRPr>
            </a:pPr>
            <a:r>
              <a:rPr sz="2100" b="0">
                <a:solidFill>
                  <a:srgbClr val="172237"/>
                </a:solidFill>
                <a:latin typeface="Arial"/>
                <a:ea typeface="Arial"/>
                <a:cs typeface="Arial"/>
              </a:rPr>
              <a:t>Language mismatch</a:t>
            </a:r>
          </a:p>
          <a:p xmlns:a="http://schemas.openxmlformats.org/drawingml/2006/main">
            <a:r>
              <a:t/>
            </a:r>
          </a:p>
          <a:p xmlns:a="http://schemas.openxmlformats.org/drawingml/2006/main">
            <a:pPr algn="l">
              <a:defRPr sz="2100" b="0">
                <a:solidFill>
                  <a:srgbClr val="172237"/>
                </a:solidFill>
                <a:latin typeface="Arial"/>
                <a:ea typeface="Arial"/>
                <a:cs typeface="Arial"/>
              </a:defRPr>
            </a:pPr>
            <a:r>
              <a:rPr sz="2100" b="0">
                <a:solidFill>
                  <a:srgbClr val="172237"/>
                </a:solidFill>
                <a:latin typeface="Arial"/>
                <a:ea typeface="Arial"/>
                <a:cs typeface="Arial"/>
              </a:rPr>
              <a:t>Choosing an advocate</a:t>
            </a:r>
          </a:p>
        </p:txBody>
      </p:sp>
      <p:sp>
        <p:nvSpPr>
          <p:cNvPr id="10" name="">
            <a:extLst xmlns:a="http://schemas.openxmlformats.org/drawingml/2006/main">
              <a:ext uri="{FF2B5EF4-FFF2-40B4-BE49-F238E27FC236}">
                <a16:creationId xmlns:a16="http://schemas.microsoft.com/office/drawing/2014/main" id="{23064E7D-DE46-44EF-93E0-AC6FF83577E6}"/>
              </a:ext>
            </a:extLst>
          </p:cNvPr>
          <p:cNvSpPr>
            <a:spLocks xmlns:a="http://schemas.openxmlformats.org/drawingml/2006/main" noGrp="1"/>
          </p:cNvSpPr>
          <p:nvPr/>
        </p:nvSpPr>
        <p:spPr>
          <a:xfrm xmlns:a="http://schemas.openxmlformats.org/drawingml/2006/main">
            <a:off x="4429125" y="1809750"/>
            <a:ext cx="729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VAKIL SETU WORKFLOW</a:t>
            </a:r>
          </a:p>
        </p:txBody>
      </p:sp>
      <p:sp>
        <p:nvSpPr>
          <p:cNvPr id="11" name="">
            <a:extLst xmlns:a="http://schemas.openxmlformats.org/drawingml/2006/main">
              <a:ext uri="{FF2B5EF4-FFF2-40B4-BE49-F238E27FC236}">
                <a16:creationId xmlns:a16="http://schemas.microsoft.com/office/drawing/2014/main" id="{280CE354-3B7A-4107-89C9-5CA117CBC2C2}"/>
              </a:ext>
            </a:extLst>
          </p:cNvPr>
          <p:cNvSpPr>
            <a:spLocks xmlns:a="http://schemas.openxmlformats.org/drawingml/2006/main" noGrp="1"/>
          </p:cNvSpPr>
          <p:nvPr/>
        </p:nvSpPr>
        <p:spPr>
          <a:xfrm xmlns:a="http://schemas.openxmlformats.org/drawingml/2006/main">
            <a:off x="4429125" y="2152650"/>
            <a:ext cx="72961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DB0817-FF1E-493E-9769-A1F6430F30F8}"/>
              </a:ext>
            </a:extLst>
          </p:cNvPr>
          <p:cNvSpPr>
            <a:spLocks xmlns:a="http://schemas.openxmlformats.org/drawingml/2006/main" noGrp="1"/>
          </p:cNvSpPr>
          <p:nvPr/>
        </p:nvSpPr>
        <p:spPr>
          <a:xfrm xmlns:a="http://schemas.openxmlformats.org/drawingml/2006/main">
            <a:off x="4438650" y="2390775"/>
            <a:ext cx="2133600" cy="14763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3" name="">
            <a:extLst xmlns:a="http://schemas.openxmlformats.org/drawingml/2006/main">
              <a:ext uri="{FF2B5EF4-FFF2-40B4-BE49-F238E27FC236}">
                <a16:creationId xmlns:a16="http://schemas.microsoft.com/office/drawing/2014/main" id="{6BA47964-F076-4FE5-96DD-663DDAAB523E}"/>
              </a:ext>
            </a:extLst>
          </p:cNvPr>
          <p:cNvSpPr>
            <a:spLocks xmlns:a="http://schemas.openxmlformats.org/drawingml/2006/main" noGrp="1"/>
          </p:cNvSpPr>
          <p:nvPr/>
        </p:nvSpPr>
        <p:spPr>
          <a:xfrm xmlns:a="http://schemas.openxmlformats.org/drawingml/2006/main">
            <a:off x="4572000" y="25050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Describe</a:t>
            </a:r>
          </a:p>
        </p:txBody>
      </p:sp>
      <p:sp>
        <p:nvSpPr>
          <p:cNvPr id="14" name="">
            <a:extLst xmlns:a="http://schemas.openxmlformats.org/drawingml/2006/main">
              <a:ext uri="{FF2B5EF4-FFF2-40B4-BE49-F238E27FC236}">
                <a16:creationId xmlns:a16="http://schemas.microsoft.com/office/drawing/2014/main" id="{77A6A383-C998-4A5F-8E72-273036081EF9}"/>
              </a:ext>
            </a:extLst>
          </p:cNvPr>
          <p:cNvSpPr>
            <a:spLocks xmlns:a="http://schemas.openxmlformats.org/drawingml/2006/main" noGrp="1"/>
          </p:cNvSpPr>
          <p:nvPr/>
        </p:nvSpPr>
        <p:spPr>
          <a:xfrm xmlns:a="http://schemas.openxmlformats.org/drawingml/2006/main">
            <a:off x="4572000" y="2876550"/>
            <a:ext cx="1866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Speak in a familiar language</a:t>
            </a:r>
          </a:p>
        </p:txBody>
      </p:sp>
      <p:sp>
        <p:nvSpPr>
          <p:cNvPr id="15" name="">
            <a:extLst xmlns:a="http://schemas.openxmlformats.org/drawingml/2006/main">
              <a:ext uri="{FF2B5EF4-FFF2-40B4-BE49-F238E27FC236}">
                <a16:creationId xmlns:a16="http://schemas.microsoft.com/office/drawing/2014/main" id="{F39B4745-DDF3-4087-A3B5-FDC43B7D3104}"/>
              </a:ext>
            </a:extLst>
          </p:cNvPr>
          <p:cNvSpPr>
            <a:spLocks xmlns:a="http://schemas.openxmlformats.org/drawingml/2006/main" noGrp="1"/>
          </p:cNvSpPr>
          <p:nvPr/>
        </p:nvSpPr>
        <p:spPr>
          <a:xfrm xmlns:a="http://schemas.openxmlformats.org/drawingml/2006/main">
            <a:off x="7019925" y="2390775"/>
            <a:ext cx="2133600" cy="14763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6" name="">
            <a:extLst xmlns:a="http://schemas.openxmlformats.org/drawingml/2006/main">
              <a:ext uri="{FF2B5EF4-FFF2-40B4-BE49-F238E27FC236}">
                <a16:creationId xmlns:a16="http://schemas.microsoft.com/office/drawing/2014/main" id="{E400BBC7-3FAB-4026-BA1E-AC2FCE6F65FB}"/>
              </a:ext>
            </a:extLst>
          </p:cNvPr>
          <p:cNvSpPr>
            <a:spLocks xmlns:a="http://schemas.openxmlformats.org/drawingml/2006/main" noGrp="1"/>
          </p:cNvSpPr>
          <p:nvPr/>
        </p:nvSpPr>
        <p:spPr>
          <a:xfrm xmlns:a="http://schemas.openxmlformats.org/drawingml/2006/main">
            <a:off x="7153275" y="25050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Understand</a:t>
            </a:r>
          </a:p>
        </p:txBody>
      </p:sp>
      <p:sp>
        <p:nvSpPr>
          <p:cNvPr id="17" name="">
            <a:extLst xmlns:a="http://schemas.openxmlformats.org/drawingml/2006/main">
              <a:ext uri="{FF2B5EF4-FFF2-40B4-BE49-F238E27FC236}">
                <a16:creationId xmlns:a16="http://schemas.microsoft.com/office/drawing/2014/main" id="{85CE9F6A-C7F6-4477-A0F2-959ABD12A229}"/>
              </a:ext>
            </a:extLst>
          </p:cNvPr>
          <p:cNvSpPr>
            <a:spLocks xmlns:a="http://schemas.openxmlformats.org/drawingml/2006/main" noGrp="1"/>
          </p:cNvSpPr>
          <p:nvPr/>
        </p:nvSpPr>
        <p:spPr>
          <a:xfrm xmlns:a="http://schemas.openxmlformats.org/drawingml/2006/main">
            <a:off x="7153275" y="2876550"/>
            <a:ext cx="1866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Receive a category and preliminary explanation</a:t>
            </a:r>
          </a:p>
        </p:txBody>
      </p:sp>
      <p:sp>
        <p:nvSpPr>
          <p:cNvPr id="18" name="">
            <a:extLst xmlns:a="http://schemas.openxmlformats.org/drawingml/2006/main">
              <a:ext uri="{FF2B5EF4-FFF2-40B4-BE49-F238E27FC236}">
                <a16:creationId xmlns:a16="http://schemas.microsoft.com/office/drawing/2014/main" id="{DE6DD960-4AD5-455C-937D-8B1B601194BE}"/>
              </a:ext>
            </a:extLst>
          </p:cNvPr>
          <p:cNvSpPr>
            <a:spLocks xmlns:a="http://schemas.openxmlformats.org/drawingml/2006/main" noGrp="1"/>
          </p:cNvSpPr>
          <p:nvPr/>
        </p:nvSpPr>
        <p:spPr>
          <a:xfrm xmlns:a="http://schemas.openxmlformats.org/drawingml/2006/main">
            <a:off x="9601200" y="2390775"/>
            <a:ext cx="2133600" cy="14763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9" name="">
            <a:extLst xmlns:a="http://schemas.openxmlformats.org/drawingml/2006/main">
              <a:ext uri="{FF2B5EF4-FFF2-40B4-BE49-F238E27FC236}">
                <a16:creationId xmlns:a16="http://schemas.microsoft.com/office/drawing/2014/main" id="{F79DD202-1154-49F4-9F09-453C8784B9C6}"/>
              </a:ext>
            </a:extLst>
          </p:cNvPr>
          <p:cNvSpPr>
            <a:spLocks xmlns:a="http://schemas.openxmlformats.org/drawingml/2006/main" noGrp="1"/>
          </p:cNvSpPr>
          <p:nvPr/>
        </p:nvSpPr>
        <p:spPr>
          <a:xfrm xmlns:a="http://schemas.openxmlformats.org/drawingml/2006/main">
            <a:off x="9734550" y="25050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Connect</a:t>
            </a:r>
          </a:p>
        </p:txBody>
      </p:sp>
      <p:sp>
        <p:nvSpPr>
          <p:cNvPr id="20" name="">
            <a:extLst xmlns:a="http://schemas.openxmlformats.org/drawingml/2006/main">
              <a:ext uri="{FF2B5EF4-FFF2-40B4-BE49-F238E27FC236}">
                <a16:creationId xmlns:a16="http://schemas.microsoft.com/office/drawing/2014/main" id="{AB21DE21-DB27-46C5-A919-94CA04D44ABE}"/>
              </a:ext>
            </a:extLst>
          </p:cNvPr>
          <p:cNvSpPr>
            <a:spLocks xmlns:a="http://schemas.openxmlformats.org/drawingml/2006/main" noGrp="1"/>
          </p:cNvSpPr>
          <p:nvPr/>
        </p:nvSpPr>
        <p:spPr>
          <a:xfrm xmlns:a="http://schemas.openxmlformats.org/drawingml/2006/main">
            <a:off x="9734550" y="2876550"/>
            <a:ext cx="1866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Find an advocate and request a consultation</a:t>
            </a:r>
          </a:p>
        </p:txBody>
      </p:sp>
      <p:cxnSp>
        <p:nvCxnSpPr>
          <p:cNvPr id="45" name=""/>
          <p:cNvCxnSpPr>
            <a:stCxn xmlns:a="http://schemas.openxmlformats.org/drawingml/2006/main" id="12" idx="3"/>
            <a:endCxn xmlns:a="http://schemas.openxmlformats.org/drawingml/2006/main" id="15" idx="1"/>
          </p:cNvCxnSpPr>
          <p:nvPr/>
        </p:nvCxnSpPr>
        <p:spPr>
          <a:xfrm xmlns:a="http://schemas.openxmlformats.org/drawingml/2006/main">
            <a:off x="6572250" y="3128963"/>
            <a:ext cx="4476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6" name=""/>
          <p:cNvCxnSpPr>
            <a:stCxn xmlns:a="http://schemas.openxmlformats.org/drawingml/2006/main" id="15" idx="3"/>
            <a:endCxn xmlns:a="http://schemas.openxmlformats.org/drawingml/2006/main" id="18" idx="1"/>
          </p:cNvCxnSpPr>
          <p:nvPr/>
        </p:nvCxnSpPr>
        <p:spPr>
          <a:xfrm xmlns:a="http://schemas.openxmlformats.org/drawingml/2006/main">
            <a:off x="9153525" y="3128963"/>
            <a:ext cx="44767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3" name="">
            <a:extLst xmlns:a="http://schemas.openxmlformats.org/drawingml/2006/main">
              <a:ext uri="{FF2B5EF4-FFF2-40B4-BE49-F238E27FC236}">
                <a16:creationId xmlns:a16="http://schemas.microsoft.com/office/drawing/2014/main" id="{87173E31-AAE0-48EA-8EEC-887FE64AFB05}"/>
              </a:ext>
            </a:extLst>
          </p:cNvPr>
          <p:cNvSpPr>
            <a:spLocks xmlns:a="http://schemas.openxmlformats.org/drawingml/2006/main" noGrp="1"/>
          </p:cNvSpPr>
          <p:nvPr/>
        </p:nvSpPr>
        <p:spPr>
          <a:xfrm xmlns:a="http://schemas.openxmlformats.org/drawingml/2006/main">
            <a:off x="4438650" y="4305300"/>
            <a:ext cx="7115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03F91"/>
                </a:solidFill>
                <a:latin typeface="Arial"/>
                <a:ea typeface="Arial"/>
                <a:cs typeface="Arial"/>
              </a:defRPr>
            </a:pPr>
            <a:r>
              <a:rPr sz="2100" b="1">
                <a:solidFill>
                  <a:srgbClr val="203F91"/>
                </a:solidFill>
                <a:latin typeface="Arial"/>
                <a:ea typeface="Arial"/>
                <a:cs typeface="Arial"/>
              </a:rPr>
              <a:t>A legal professional remains responsible for case-specific advice.</a:t>
            </a:r>
          </a:p>
        </p:txBody>
      </p:sp>
      <p:sp>
        <p:nvSpPr>
          <p:cNvPr id="24" name="">
            <a:extLst xmlns:a="http://schemas.openxmlformats.org/drawingml/2006/main">
              <a:ext uri="{FF2B5EF4-FFF2-40B4-BE49-F238E27FC236}">
                <a16:creationId xmlns:a16="http://schemas.microsoft.com/office/drawing/2014/main" id="{0A486840-6339-4C41-A0F0-04BBD36397ED}"/>
              </a:ext>
            </a:extLst>
          </p:cNvPr>
          <p:cNvSpPr>
            <a:spLocks xmlns:a="http://schemas.openxmlformats.org/drawingml/2006/main" noGrp="1"/>
          </p:cNvSpPr>
          <p:nvPr/>
        </p:nvSpPr>
        <p:spPr>
          <a:xfrm xmlns:a="http://schemas.openxmlformats.org/drawingml/2006/main">
            <a:off x="476250" y="5600700"/>
            <a:ext cx="1114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D77A00"/>
                </a:solidFill>
                <a:latin typeface="Arial"/>
                <a:ea typeface="Arial"/>
                <a:cs typeface="Arial"/>
              </a:defRPr>
            </a:pPr>
            <a:r>
              <a:rPr sz="1875" b="1">
                <a:solidFill>
                  <a:srgbClr val="D77A00"/>
                </a:solidFill>
                <a:latin typeface="Arial"/>
                <a:ea typeface="Arial"/>
                <a:cs typeface="Arial"/>
              </a:rPr>
              <a:t>Development focus: language access throughout the full interaction.</a:t>
            </a:r>
          </a:p>
        </p:txBody>
      </p:sp>
    </p:spTree>
    <p:extLst>
      <p:ext uri="{BB962C8B-B14F-4D97-AF65-F5344CB8AC3E}">
        <p14:creationId xmlns:p14="http://schemas.microsoft.com/office/powerpoint/2010/main" val="6244554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B84105-A74B-4A0A-A48F-D6733B4923B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9B6AB8BF-1A3A-4D97-B02E-A557AA694EF0}"/>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EXISTING BASELINE AND DEVELOPMENT SCOPE</a:t>
            </a:r>
          </a:p>
        </p:txBody>
      </p:sp>
      <p:sp>
        <p:nvSpPr>
          <p:cNvPr id="3" name="">
            <a:extLst xmlns:a="http://schemas.openxmlformats.org/drawingml/2006/main">
              <a:ext uri="{FF2B5EF4-FFF2-40B4-BE49-F238E27FC236}">
                <a16:creationId xmlns:a16="http://schemas.microsoft.com/office/drawing/2014/main" id="{B80B0C80-8208-4812-8C65-BF1EC1807ACE}"/>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Clear ownership of the inherited system and the proposed extension</a:t>
            </a:r>
          </a:p>
        </p:txBody>
      </p:sp>
      <p:sp>
        <p:nvSpPr>
          <p:cNvPr id="4" name="">
            <a:extLst xmlns:a="http://schemas.openxmlformats.org/drawingml/2006/main">
              <a:ext uri="{FF2B5EF4-FFF2-40B4-BE49-F238E27FC236}">
                <a16:creationId xmlns:a16="http://schemas.microsoft.com/office/drawing/2014/main" id="{881A0D85-11F2-4C27-9C33-1ED17DC4B4E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65B11A-74FF-47A9-A24E-B26026A2FF8C}"/>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58377375-4ED9-484E-B38A-81303057D277}"/>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03</a:t>
            </a:r>
          </a:p>
        </p:txBody>
      </p:sp>
      <p:graphicFrame>
        <p:nvGraphicFramePr>
          <p:cNvPr id="15" name=""/>
          <p:cNvGraphicFramePr/>
          <p:nvPr/>
        </p:nvGraphicFramePr>
        <p:xfrm>
          <a:off xmlns:a="http://schemas.openxmlformats.org/drawingml/2006/main" x="457200" y="1857375"/>
          <a:ext xmlns:a="http://schemas.openxmlformats.org/drawingml/2006/main" cx="11277600" cy="3667125"/>
        </p:xfrm>
        <a:graphic xmlns:a="http://schemas.openxmlformats.org/drawingml/2006/main">
          <a:graphicData uri="http://schemas.openxmlformats.org/drawingml/2006/table">
            <a:tbl>
              <a:tblPr/>
              <a:tblGrid>
                <a:gridCol w="2143125"/>
                <a:gridCol w="4114800"/>
                <a:gridCol w="5019675"/>
              </a:tblGrid>
              <a:tr h="611188">
                <a:tc>
                  <a:txBody>
                    <a:bodyPr/>
                    <a:lstStyle/>
                    <a:p>
                      <a:r>
                        <a:rPr sz="1500" b="1">
                          <a:solidFill>
                            <a:srgbClr val="FFFFFF"/>
                          </a:solidFill>
                          <a:latin typeface="Arial"/>
                          <a:ea typeface="Arial"/>
                          <a:cs typeface="Arial"/>
                        </a:rPr>
                        <a:t>Capability</a:t>
                      </a:r>
                    </a:p>
                  </a:txBody>
                  <a:tcPr marL="91440" marR="91440" marT="45720" marB="45720">
                    <a:solidFill>
                      <a:srgbClr val="203F91"/>
                    </a:solidFill>
                  </a:tcPr>
                </a:tc>
                <a:tc>
                  <a:txBody>
                    <a:bodyPr/>
                    <a:lstStyle/>
                    <a:p>
                      <a:r>
                        <a:rPr sz="1500" b="1">
                          <a:solidFill>
                            <a:srgbClr val="FFFFFF"/>
                          </a:solidFill>
                          <a:latin typeface="Arial"/>
                          <a:ea typeface="Arial"/>
                          <a:cs typeface="Arial"/>
                        </a:rPr>
                        <a:t>Inherited prototype</a:t>
                      </a:r>
                    </a:p>
                  </a:txBody>
                  <a:tcPr marL="91440" marR="91440" marT="45720" marB="45720">
                    <a:solidFill>
                      <a:srgbClr val="203F91"/>
                    </a:solidFill>
                  </a:tcPr>
                </a:tc>
                <a:tc>
                  <a:txBody>
                    <a:bodyPr/>
                    <a:lstStyle/>
                    <a:p>
                      <a:r>
                        <a:rPr sz="1500" b="1">
                          <a:solidFill>
                            <a:srgbClr val="FFFFFF"/>
                          </a:solidFill>
                          <a:latin typeface="Arial"/>
                          <a:ea typeface="Arial"/>
                          <a:cs typeface="Arial"/>
                        </a:rPr>
                        <a:t>Proposed development</a:t>
                      </a:r>
                    </a:p>
                  </a:txBody>
                  <a:tcPr marL="91440" marR="91440" marT="45720" marB="45720">
                    <a:solidFill>
                      <a:srgbClr val="203F91"/>
                    </a:solidFill>
                  </a:tcPr>
                </a:tc>
              </a:tr>
              <a:tr h="611188">
                <a:tc>
                  <a:txBody>
                    <a:bodyPr/>
                    <a:lstStyle/>
                    <a:p>
                      <a:r>
                        <a:rPr sz="1575" b="1">
                          <a:solidFill>
                            <a:srgbClr val="172237"/>
                          </a:solidFill>
                          <a:latin typeface="Arial"/>
                          <a:ea typeface="Arial"/>
                          <a:cs typeface="Arial"/>
                        </a:rPr>
                        <a:t>Language access</a:t>
                      </a:r>
                    </a:p>
                  </a:txBody>
                  <a:tcPr marL="91440" marR="91440" marT="45720" marB="45720">
                    <a:solidFill>
                      <a:srgbClr val="EEF5FB"/>
                    </a:solidFill>
                  </a:tcPr>
                </a:tc>
                <a:tc>
                  <a:txBody>
                    <a:bodyPr/>
                    <a:lstStyle/>
                    <a:p>
                      <a:r>
                        <a:rPr sz="1575" b="0">
                          <a:solidFill>
                            <a:srgbClr val="172237"/>
                          </a:solidFill>
                          <a:latin typeface="Arial"/>
                          <a:ea typeface="Arial"/>
                          <a:cs typeface="Arial"/>
                        </a:rPr>
                        <a:t>Hindi and English voice input</a:t>
                      </a:r>
                    </a:p>
                  </a:txBody>
                  <a:tcPr marL="91440" marR="91440" marT="45720" marB="45720">
                    <a:solidFill>
                      <a:srgbClr val="EEF5FB"/>
                    </a:solidFill>
                  </a:tcPr>
                </a:tc>
                <a:tc>
                  <a:txBody>
                    <a:bodyPr/>
                    <a:lstStyle/>
                    <a:p>
                      <a:r>
                        <a:rPr sz="1575" b="0">
                          <a:solidFill>
                            <a:srgbClr val="172237"/>
                          </a:solidFill>
                          <a:latin typeface="Arial"/>
                          <a:ea typeface="Arial"/>
                          <a:cs typeface="Arial"/>
                        </a:rPr>
                        <a:t>22 scheduled languages + English</a:t>
                      </a:r>
                    </a:p>
                  </a:txBody>
                  <a:tcPr marL="91440" marR="91440" marT="45720" marB="45720">
                    <a:solidFill>
                      <a:srgbClr val="EEF5FB"/>
                    </a:solidFill>
                  </a:tcPr>
                </a:tc>
              </a:tr>
              <a:tr h="611188">
                <a:tc>
                  <a:txBody>
                    <a:bodyPr/>
                    <a:lstStyle/>
                    <a:p>
                      <a:r>
                        <a:rPr sz="1575" b="1">
                          <a:solidFill>
                            <a:srgbClr val="172237"/>
                          </a:solidFill>
                          <a:latin typeface="Arial"/>
                          <a:ea typeface="Arial"/>
                          <a:cs typeface="Arial"/>
                        </a:rPr>
                        <a:t>Speech pipeline</a:t>
                      </a:r>
                    </a:p>
                  </a:txBody>
                  <a:tcPr marL="91440" marR="91440" marT="45720" marB="45720">
                    <a:solidFill>
                      <a:srgbClr val="FFFFFF"/>
                    </a:solidFill>
                  </a:tcPr>
                </a:tc>
                <a:tc>
                  <a:txBody>
                    <a:bodyPr/>
                    <a:lstStyle/>
                    <a:p>
                      <a:r>
                        <a:rPr sz="1575" b="0">
                          <a:solidFill>
                            <a:srgbClr val="172237"/>
                          </a:solidFill>
                          <a:latin typeface="Arial"/>
                          <a:ea typeface="Arial"/>
                          <a:cs typeface="Arial"/>
                        </a:rPr>
                        <a:t>Browser recognition and playback</a:t>
                      </a:r>
                    </a:p>
                  </a:txBody>
                  <a:tcPr marL="91440" marR="91440" marT="45720" marB="45720">
                    <a:solidFill>
                      <a:srgbClr val="FFFFFF"/>
                    </a:solidFill>
                  </a:tcPr>
                </a:tc>
                <a:tc>
                  <a:txBody>
                    <a:bodyPr/>
                    <a:lstStyle/>
                    <a:p>
                      <a:r>
                        <a:rPr sz="1575" b="0">
                          <a:solidFill>
                            <a:srgbClr val="172237"/>
                          </a:solidFill>
                          <a:latin typeface="Arial"/>
                          <a:ea typeface="Arial"/>
                          <a:cs typeface="Arial"/>
                        </a:rPr>
                        <a:t>Provider adapters and capability checks</a:t>
                      </a:r>
                    </a:p>
                  </a:txBody>
                  <a:tcPr marL="91440" marR="91440" marT="45720" marB="45720">
                    <a:solidFill>
                      <a:srgbClr val="FFFFFF"/>
                    </a:solidFill>
                  </a:tcPr>
                </a:tc>
              </a:tr>
              <a:tr h="611188">
                <a:tc>
                  <a:txBody>
                    <a:bodyPr/>
                    <a:lstStyle/>
                    <a:p>
                      <a:r>
                        <a:rPr sz="1575" b="1">
                          <a:solidFill>
                            <a:srgbClr val="172237"/>
                          </a:solidFill>
                          <a:latin typeface="Arial"/>
                          <a:ea typeface="Arial"/>
                          <a:cs typeface="Arial"/>
                        </a:rPr>
                        <a:t>Legal analysis</a:t>
                      </a:r>
                    </a:p>
                  </a:txBody>
                  <a:tcPr marL="91440" marR="91440" marT="45720" marB="45720">
                    <a:solidFill>
                      <a:srgbClr val="EEF5FB"/>
                    </a:solidFill>
                  </a:tcPr>
                </a:tc>
                <a:tc>
                  <a:txBody>
                    <a:bodyPr/>
                    <a:lstStyle/>
                    <a:p>
                      <a:r>
                        <a:rPr sz="1575" b="0">
                          <a:solidFill>
                            <a:srgbClr val="172237"/>
                          </a:solidFill>
                          <a:latin typeface="Arial"/>
                          <a:ea typeface="Arial"/>
                          <a:cs typeface="Arial"/>
                        </a:rPr>
                        <a:t>4 categories, urgency and actions</a:t>
                      </a:r>
                    </a:p>
                  </a:txBody>
                  <a:tcPr marL="91440" marR="91440" marT="45720" marB="45720">
                    <a:solidFill>
                      <a:srgbClr val="EEF5FB"/>
                    </a:solidFill>
                  </a:tcPr>
                </a:tc>
                <a:tc>
                  <a:txBody>
                    <a:bodyPr/>
                    <a:lstStyle/>
                    <a:p>
                      <a:r>
                        <a:rPr sz="1575" b="0">
                          <a:solidFill>
                            <a:srgbClr val="172237"/>
                          </a:solidFill>
                          <a:latin typeface="Arial"/>
                          <a:ea typeface="Arial"/>
                          <a:cs typeface="Arial"/>
                        </a:rPr>
                        <a:t>Language consistency and output validation</a:t>
                      </a:r>
                    </a:p>
                  </a:txBody>
                  <a:tcPr marL="91440" marR="91440" marT="45720" marB="45720">
                    <a:solidFill>
                      <a:srgbClr val="EEF5FB"/>
                    </a:solidFill>
                  </a:tcPr>
                </a:tc>
              </a:tr>
              <a:tr h="611188">
                <a:tc>
                  <a:txBody>
                    <a:bodyPr/>
                    <a:lstStyle/>
                    <a:p>
                      <a:r>
                        <a:rPr sz="1575" b="1">
                          <a:solidFill>
                            <a:srgbClr val="172237"/>
                          </a:solidFill>
                          <a:latin typeface="Arial"/>
                          <a:ea typeface="Arial"/>
                          <a:cs typeface="Arial"/>
                        </a:rPr>
                        <a:t>Advocate discovery</a:t>
                      </a:r>
                    </a:p>
                  </a:txBody>
                  <a:tcPr marL="91440" marR="91440" marT="45720" marB="45720">
                    <a:solidFill>
                      <a:srgbClr val="FFFFFF"/>
                    </a:solidFill>
                  </a:tcPr>
                </a:tc>
                <a:tc>
                  <a:txBody>
                    <a:bodyPr/>
                    <a:lstStyle/>
                    <a:p>
                      <a:r>
                        <a:rPr sz="1575" b="0">
                          <a:solidFill>
                            <a:srgbClr val="172237"/>
                          </a:solidFill>
                          <a:latin typeface="Arial"/>
                          <a:ea typeface="Arial"/>
                          <a:cs typeface="Arial"/>
                        </a:rPr>
                        <a:t>Expertise, availability and rating</a:t>
                      </a:r>
                    </a:p>
                  </a:txBody>
                  <a:tcPr marL="91440" marR="91440" marT="45720" marB="45720">
                    <a:solidFill>
                      <a:srgbClr val="FFFFFF"/>
                    </a:solidFill>
                  </a:tcPr>
                </a:tc>
                <a:tc>
                  <a:txBody>
                    <a:bodyPr/>
                    <a:lstStyle/>
                    <a:p>
                      <a:r>
                        <a:rPr sz="1575" b="0">
                          <a:solidFill>
                            <a:srgbClr val="172237"/>
                          </a:solidFill>
                          <a:latin typeface="Arial"/>
                          <a:ea typeface="Arial"/>
                          <a:cs typeface="Arial"/>
                        </a:rPr>
                        <a:t>Language-aware matching</a:t>
                      </a:r>
                    </a:p>
                  </a:txBody>
                  <a:tcPr marL="91440" marR="91440" marT="45720" marB="45720">
                    <a:solidFill>
                      <a:srgbClr val="FFFFFF"/>
                    </a:solidFill>
                  </a:tcPr>
                </a:tc>
              </a:tr>
              <a:tr h="611188">
                <a:tc>
                  <a:txBody>
                    <a:bodyPr/>
                    <a:lstStyle/>
                    <a:p>
                      <a:r>
                        <a:rPr sz="1575" b="1">
                          <a:solidFill>
                            <a:srgbClr val="172237"/>
                          </a:solidFill>
                          <a:latin typeface="Arial"/>
                          <a:ea typeface="Arial"/>
                          <a:cs typeface="Arial"/>
                        </a:rPr>
                        <a:t>Booking and payment</a:t>
                      </a:r>
                    </a:p>
                  </a:txBody>
                  <a:tcPr marL="91440" marR="91440" marT="45720" marB="45720">
                    <a:solidFill>
                      <a:srgbClr val="EEF5FB"/>
                    </a:solidFill>
                  </a:tcPr>
                </a:tc>
                <a:tc>
                  <a:txBody>
                    <a:bodyPr/>
                    <a:lstStyle/>
                    <a:p>
                      <a:r>
                        <a:rPr sz="1575" b="0">
                          <a:solidFill>
                            <a:srgbClr val="172237"/>
                          </a:solidFill>
                          <a:latin typeface="Arial"/>
                          <a:ea typeface="Arial"/>
                          <a:cs typeface="Arial"/>
                        </a:rPr>
                        <a:t>Booking storage and Razorpay code</a:t>
                      </a:r>
                    </a:p>
                  </a:txBody>
                  <a:tcPr marL="91440" marR="91440" marT="45720" marB="45720">
                    <a:solidFill>
                      <a:srgbClr val="EEF5FB"/>
                    </a:solidFill>
                  </a:tcPr>
                </a:tc>
                <a:tc>
                  <a:txBody>
                    <a:bodyPr/>
                    <a:lstStyle/>
                    <a:p>
                      <a:r>
                        <a:rPr sz="1575" b="0">
                          <a:solidFill>
                            <a:srgbClr val="172237"/>
                          </a:solidFill>
                          <a:latin typeface="Arial"/>
                          <a:ea typeface="Arial"/>
                          <a:cs typeface="Arial"/>
                        </a:rPr>
                        <a:t>Access controls and reliable confirmation</a:t>
                      </a:r>
                    </a:p>
                  </a:txBody>
                  <a:tcPr marL="91440" marR="91440" marT="45720" marB="45720">
                    <a:solidFill>
                      <a:srgbClr val="EEF5FB"/>
                    </a:solidFill>
                  </a:tcPr>
                </a:tc>
              </a:tr>
            </a:tbl>
          </a:graphicData>
        </a:graphic>
      </p:graphicFrame>
      <p:sp>
        <p:nvSpPr>
          <p:cNvPr id="8" name="">
            <a:extLst xmlns:a="http://schemas.openxmlformats.org/drawingml/2006/main">
              <a:ext uri="{FF2B5EF4-FFF2-40B4-BE49-F238E27FC236}">
                <a16:creationId xmlns:a16="http://schemas.microsoft.com/office/drawing/2014/main" id="{35C2D8DC-821D-44D3-A7AF-B3DE91B2D854}"/>
              </a:ext>
            </a:extLst>
          </p:cNvPr>
          <p:cNvSpPr>
            <a:spLocks xmlns:a="http://schemas.openxmlformats.org/drawingml/2006/main" noGrp="1"/>
          </p:cNvSpPr>
          <p:nvPr/>
        </p:nvSpPr>
        <p:spPr>
          <a:xfrm xmlns:a="http://schemas.openxmlformats.org/drawingml/2006/main">
            <a:off x="466725"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Document scanning and statutory analysis remain later roadmap candidates.</a:t>
            </a:r>
          </a:p>
        </p:txBody>
      </p:sp>
    </p:spTree>
    <p:extLst>
      <p:ext uri="{BB962C8B-B14F-4D97-AF65-F5344CB8AC3E}">
        <p14:creationId xmlns:p14="http://schemas.microsoft.com/office/powerpoint/2010/main" val="8410806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AE7F5CC-6FA4-4EE0-85C1-1378C12152C4}"/>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E50B985B-5E14-4B49-87FF-E2D9E9CCDB77}"/>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USER JOURNEY</a:t>
            </a:r>
          </a:p>
        </p:txBody>
      </p:sp>
      <p:sp>
        <p:nvSpPr>
          <p:cNvPr id="3" name="">
            <a:extLst xmlns:a="http://schemas.openxmlformats.org/drawingml/2006/main">
              <a:ext uri="{FF2B5EF4-FFF2-40B4-BE49-F238E27FC236}">
                <a16:creationId xmlns:a16="http://schemas.microsoft.com/office/drawing/2014/main" id="{D76FF2D9-50FE-420D-8A35-0239157DED57}"/>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Illustrative case: “My landlord has not returned my security deposit”</a:t>
            </a:r>
          </a:p>
        </p:txBody>
      </p:sp>
      <p:sp>
        <p:nvSpPr>
          <p:cNvPr id="4" name="">
            <a:extLst xmlns:a="http://schemas.openxmlformats.org/drawingml/2006/main">
              <a:ext uri="{FF2B5EF4-FFF2-40B4-BE49-F238E27FC236}">
                <a16:creationId xmlns:a16="http://schemas.microsoft.com/office/drawing/2014/main" id="{819B3463-7AC5-4CD3-8C5C-7ECC1B623D02}"/>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8DB61B-C82D-4EC7-8BED-58D97D5B54D0}"/>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A8747473-3026-4816-8463-B5B8E2ABDD84}"/>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B70C4C80-0D7D-4224-9515-EF409087CA48}"/>
              </a:ext>
            </a:extLst>
          </p:cNvPr>
          <p:cNvSpPr>
            <a:spLocks xmlns:a="http://schemas.openxmlformats.org/drawingml/2006/main" noGrp="1"/>
          </p:cNvSpPr>
          <p:nvPr/>
        </p:nvSpPr>
        <p:spPr>
          <a:xfrm xmlns:a="http://schemas.openxmlformats.org/drawingml/2006/main">
            <a:off x="457200" y="201930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3963F42B-97BE-4EBF-BA9D-1168F9878226}"/>
              </a:ext>
            </a:extLst>
          </p:cNvPr>
          <p:cNvSpPr>
            <a:spLocks xmlns:a="http://schemas.openxmlformats.org/drawingml/2006/main" noGrp="1"/>
          </p:cNvSpPr>
          <p:nvPr/>
        </p:nvSpPr>
        <p:spPr>
          <a:xfrm xmlns:a="http://schemas.openxmlformats.org/drawingml/2006/main">
            <a:off x="590550" y="213360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01  Speak</a:t>
            </a:r>
          </a:p>
        </p:txBody>
      </p:sp>
      <p:sp>
        <p:nvSpPr>
          <p:cNvPr id="9" name="">
            <a:extLst xmlns:a="http://schemas.openxmlformats.org/drawingml/2006/main">
              <a:ext uri="{FF2B5EF4-FFF2-40B4-BE49-F238E27FC236}">
                <a16:creationId xmlns:a16="http://schemas.microsoft.com/office/drawing/2014/main" id="{F01CBFE4-6CA7-45FB-8FF6-712FDF484E29}"/>
              </a:ext>
            </a:extLst>
          </p:cNvPr>
          <p:cNvSpPr>
            <a:spLocks xmlns:a="http://schemas.openxmlformats.org/drawingml/2006/main" noGrp="1"/>
          </p:cNvSpPr>
          <p:nvPr/>
        </p:nvSpPr>
        <p:spPr>
          <a:xfrm xmlns:a="http://schemas.openxmlformats.org/drawingml/2006/main">
            <a:off x="590550" y="250507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Choose Hindi or English and dictate the issue</a:t>
            </a:r>
          </a:p>
        </p:txBody>
      </p:sp>
      <p:sp>
        <p:nvSpPr>
          <p:cNvPr id="10" name="">
            <a:extLst xmlns:a="http://schemas.openxmlformats.org/drawingml/2006/main">
              <a:ext uri="{FF2B5EF4-FFF2-40B4-BE49-F238E27FC236}">
                <a16:creationId xmlns:a16="http://schemas.microsoft.com/office/drawing/2014/main" id="{057A86FC-C45C-47E4-AB3C-D9479F6786F2}"/>
              </a:ext>
            </a:extLst>
          </p:cNvPr>
          <p:cNvSpPr>
            <a:spLocks xmlns:a="http://schemas.openxmlformats.org/drawingml/2006/main" noGrp="1"/>
          </p:cNvSpPr>
          <p:nvPr/>
        </p:nvSpPr>
        <p:spPr>
          <a:xfrm xmlns:a="http://schemas.openxmlformats.org/drawingml/2006/main">
            <a:off x="4362450" y="201930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A8F9B982-6103-4697-AE27-06732B18712F}"/>
              </a:ext>
            </a:extLst>
          </p:cNvPr>
          <p:cNvSpPr>
            <a:spLocks xmlns:a="http://schemas.openxmlformats.org/drawingml/2006/main" noGrp="1"/>
          </p:cNvSpPr>
          <p:nvPr/>
        </p:nvSpPr>
        <p:spPr>
          <a:xfrm xmlns:a="http://schemas.openxmlformats.org/drawingml/2006/main">
            <a:off x="4495800" y="213360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02  Submit</a:t>
            </a:r>
          </a:p>
        </p:txBody>
      </p:sp>
      <p:sp>
        <p:nvSpPr>
          <p:cNvPr id="12" name="">
            <a:extLst xmlns:a="http://schemas.openxmlformats.org/drawingml/2006/main">
              <a:ext uri="{FF2B5EF4-FFF2-40B4-BE49-F238E27FC236}">
                <a16:creationId xmlns:a16="http://schemas.microsoft.com/office/drawing/2014/main" id="{BB3F44A8-A057-4B0C-B72E-EEFA9FB90A6E}"/>
              </a:ext>
            </a:extLst>
          </p:cNvPr>
          <p:cNvSpPr>
            <a:spLocks xmlns:a="http://schemas.openxmlformats.org/drawingml/2006/main" noGrp="1"/>
          </p:cNvSpPr>
          <p:nvPr/>
        </p:nvSpPr>
        <p:spPr>
          <a:xfrm xmlns:a="http://schemas.openxmlformats.org/drawingml/2006/main">
            <a:off x="4495800" y="250507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Review the transcript and send the request</a:t>
            </a:r>
          </a:p>
        </p:txBody>
      </p:sp>
      <p:sp>
        <p:nvSpPr>
          <p:cNvPr id="13" name="">
            <a:extLst xmlns:a="http://schemas.openxmlformats.org/drawingml/2006/main">
              <a:ext uri="{FF2B5EF4-FFF2-40B4-BE49-F238E27FC236}">
                <a16:creationId xmlns:a16="http://schemas.microsoft.com/office/drawing/2014/main" id="{972200CC-B55F-43EB-9AD9-FD0B9FADD941}"/>
              </a:ext>
            </a:extLst>
          </p:cNvPr>
          <p:cNvSpPr>
            <a:spLocks xmlns:a="http://schemas.openxmlformats.org/drawingml/2006/main" noGrp="1"/>
          </p:cNvSpPr>
          <p:nvPr/>
        </p:nvSpPr>
        <p:spPr>
          <a:xfrm xmlns:a="http://schemas.openxmlformats.org/drawingml/2006/main">
            <a:off x="8267700" y="201930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AFBCA612-9EEF-4B58-A24F-C6EE252D7747}"/>
              </a:ext>
            </a:extLst>
          </p:cNvPr>
          <p:cNvSpPr>
            <a:spLocks xmlns:a="http://schemas.openxmlformats.org/drawingml/2006/main" noGrp="1"/>
          </p:cNvSpPr>
          <p:nvPr/>
        </p:nvSpPr>
        <p:spPr>
          <a:xfrm xmlns:a="http://schemas.openxmlformats.org/drawingml/2006/main">
            <a:off x="8401050" y="213360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03  Understand</a:t>
            </a:r>
          </a:p>
        </p:txBody>
      </p:sp>
      <p:sp>
        <p:nvSpPr>
          <p:cNvPr id="15" name="">
            <a:extLst xmlns:a="http://schemas.openxmlformats.org/drawingml/2006/main">
              <a:ext uri="{FF2B5EF4-FFF2-40B4-BE49-F238E27FC236}">
                <a16:creationId xmlns:a16="http://schemas.microsoft.com/office/drawing/2014/main" id="{B6EE3C68-9190-4249-B46D-694EA2432924}"/>
              </a:ext>
            </a:extLst>
          </p:cNvPr>
          <p:cNvSpPr>
            <a:spLocks xmlns:a="http://schemas.openxmlformats.org/drawingml/2006/main" noGrp="1"/>
          </p:cNvSpPr>
          <p:nvPr/>
        </p:nvSpPr>
        <p:spPr>
          <a:xfrm xmlns:a="http://schemas.openxmlformats.org/drawingml/2006/main">
            <a:off x="8401050" y="250507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Read the category, urgency and next steps</a:t>
            </a:r>
          </a:p>
        </p:txBody>
      </p:sp>
      <p:sp>
        <p:nvSpPr>
          <p:cNvPr id="16" name="">
            <a:extLst xmlns:a="http://schemas.openxmlformats.org/drawingml/2006/main">
              <a:ext uri="{FF2B5EF4-FFF2-40B4-BE49-F238E27FC236}">
                <a16:creationId xmlns:a16="http://schemas.microsoft.com/office/drawing/2014/main" id="{047EA89C-7BFA-4811-A33A-85B9B77EF960}"/>
              </a:ext>
            </a:extLst>
          </p:cNvPr>
          <p:cNvSpPr>
            <a:spLocks xmlns:a="http://schemas.openxmlformats.org/drawingml/2006/main" noGrp="1"/>
          </p:cNvSpPr>
          <p:nvPr/>
        </p:nvSpPr>
        <p:spPr>
          <a:xfrm xmlns:a="http://schemas.openxmlformats.org/drawingml/2006/main">
            <a:off x="8267700" y="424815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D5A27CD9-2E22-4A83-8ED2-552291E5B6CF}"/>
              </a:ext>
            </a:extLst>
          </p:cNvPr>
          <p:cNvSpPr>
            <a:spLocks xmlns:a="http://schemas.openxmlformats.org/drawingml/2006/main" noGrp="1"/>
          </p:cNvSpPr>
          <p:nvPr/>
        </p:nvSpPr>
        <p:spPr>
          <a:xfrm xmlns:a="http://schemas.openxmlformats.org/drawingml/2006/main">
            <a:off x="8401050" y="436245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04  Select</a:t>
            </a:r>
          </a:p>
        </p:txBody>
      </p:sp>
      <p:sp>
        <p:nvSpPr>
          <p:cNvPr id="18" name="">
            <a:extLst xmlns:a="http://schemas.openxmlformats.org/drawingml/2006/main">
              <a:ext uri="{FF2B5EF4-FFF2-40B4-BE49-F238E27FC236}">
                <a16:creationId xmlns:a16="http://schemas.microsoft.com/office/drawing/2014/main" id="{6591E2B1-B4EF-4E4D-AC44-D921C33344B4}"/>
              </a:ext>
            </a:extLst>
          </p:cNvPr>
          <p:cNvSpPr>
            <a:spLocks xmlns:a="http://schemas.openxmlformats.org/drawingml/2006/main" noGrp="1"/>
          </p:cNvSpPr>
          <p:nvPr/>
        </p:nvSpPr>
        <p:spPr>
          <a:xfrm xmlns:a="http://schemas.openxmlformats.org/drawingml/2006/main">
            <a:off x="8401050" y="47339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Choose an advocate from available matches</a:t>
            </a:r>
          </a:p>
        </p:txBody>
      </p:sp>
      <p:sp>
        <p:nvSpPr>
          <p:cNvPr id="19" name="">
            <a:extLst xmlns:a="http://schemas.openxmlformats.org/drawingml/2006/main">
              <a:ext uri="{FF2B5EF4-FFF2-40B4-BE49-F238E27FC236}">
                <a16:creationId xmlns:a16="http://schemas.microsoft.com/office/drawing/2014/main" id="{37645080-CD5B-40F7-88BB-15CE702CA121}"/>
              </a:ext>
            </a:extLst>
          </p:cNvPr>
          <p:cNvSpPr>
            <a:spLocks xmlns:a="http://schemas.openxmlformats.org/drawingml/2006/main" noGrp="1"/>
          </p:cNvSpPr>
          <p:nvPr/>
        </p:nvSpPr>
        <p:spPr>
          <a:xfrm xmlns:a="http://schemas.openxmlformats.org/drawingml/2006/main">
            <a:off x="4362450" y="424815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0" name="">
            <a:extLst xmlns:a="http://schemas.openxmlformats.org/drawingml/2006/main">
              <a:ext uri="{FF2B5EF4-FFF2-40B4-BE49-F238E27FC236}">
                <a16:creationId xmlns:a16="http://schemas.microsoft.com/office/drawing/2014/main" id="{D9F0D422-A53C-460C-BB68-1EC0F9E19F53}"/>
              </a:ext>
            </a:extLst>
          </p:cNvPr>
          <p:cNvSpPr>
            <a:spLocks xmlns:a="http://schemas.openxmlformats.org/drawingml/2006/main" noGrp="1"/>
          </p:cNvSpPr>
          <p:nvPr/>
        </p:nvSpPr>
        <p:spPr>
          <a:xfrm xmlns:a="http://schemas.openxmlformats.org/drawingml/2006/main">
            <a:off x="4495800" y="436245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05  Schedule</a:t>
            </a:r>
          </a:p>
        </p:txBody>
      </p:sp>
      <p:sp>
        <p:nvSpPr>
          <p:cNvPr id="21" name="">
            <a:extLst xmlns:a="http://schemas.openxmlformats.org/drawingml/2006/main">
              <a:ext uri="{FF2B5EF4-FFF2-40B4-BE49-F238E27FC236}">
                <a16:creationId xmlns:a16="http://schemas.microsoft.com/office/drawing/2014/main" id="{208B4D51-55FC-40AF-9501-F12ADC8C74A5}"/>
              </a:ext>
            </a:extLst>
          </p:cNvPr>
          <p:cNvSpPr>
            <a:spLocks xmlns:a="http://schemas.openxmlformats.org/drawingml/2006/main" noGrp="1"/>
          </p:cNvSpPr>
          <p:nvPr/>
        </p:nvSpPr>
        <p:spPr>
          <a:xfrm xmlns:a="http://schemas.openxmlformats.org/drawingml/2006/main">
            <a:off x="4495800" y="47339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Enter user details and an appointment time</a:t>
            </a:r>
          </a:p>
        </p:txBody>
      </p:sp>
      <p:sp>
        <p:nvSpPr>
          <p:cNvPr id="22" name="">
            <a:extLst xmlns:a="http://schemas.openxmlformats.org/drawingml/2006/main">
              <a:ext uri="{FF2B5EF4-FFF2-40B4-BE49-F238E27FC236}">
                <a16:creationId xmlns:a16="http://schemas.microsoft.com/office/drawing/2014/main" id="{A63D3B34-BF8D-494C-B6EF-8E14B1CF839D}"/>
              </a:ext>
            </a:extLst>
          </p:cNvPr>
          <p:cNvSpPr>
            <a:spLocks xmlns:a="http://schemas.openxmlformats.org/drawingml/2006/main" noGrp="1"/>
          </p:cNvSpPr>
          <p:nvPr/>
        </p:nvSpPr>
        <p:spPr>
          <a:xfrm xmlns:a="http://schemas.openxmlformats.org/drawingml/2006/main">
            <a:off x="457200" y="4248150"/>
            <a:ext cx="3476625" cy="14192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3" name="">
            <a:extLst xmlns:a="http://schemas.openxmlformats.org/drawingml/2006/main">
              <a:ext uri="{FF2B5EF4-FFF2-40B4-BE49-F238E27FC236}">
                <a16:creationId xmlns:a16="http://schemas.microsoft.com/office/drawing/2014/main" id="{CB5A67C6-1C8C-4725-87BB-71A71F5C0624}"/>
              </a:ext>
            </a:extLst>
          </p:cNvPr>
          <p:cNvSpPr>
            <a:spLocks xmlns:a="http://schemas.openxmlformats.org/drawingml/2006/main" noGrp="1"/>
          </p:cNvSpPr>
          <p:nvPr/>
        </p:nvSpPr>
        <p:spPr>
          <a:xfrm xmlns:a="http://schemas.openxmlformats.org/drawingml/2006/main">
            <a:off x="590550" y="4362450"/>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06  Confirm</a:t>
            </a:r>
          </a:p>
        </p:txBody>
      </p:sp>
      <p:sp>
        <p:nvSpPr>
          <p:cNvPr id="24" name="">
            <a:extLst xmlns:a="http://schemas.openxmlformats.org/drawingml/2006/main">
              <a:ext uri="{FF2B5EF4-FFF2-40B4-BE49-F238E27FC236}">
                <a16:creationId xmlns:a16="http://schemas.microsoft.com/office/drawing/2014/main" id="{AADEA76F-FE99-423C-B48E-C59D8FD727F3}"/>
              </a:ext>
            </a:extLst>
          </p:cNvPr>
          <p:cNvSpPr>
            <a:spLocks xmlns:a="http://schemas.openxmlformats.org/drawingml/2006/main" noGrp="1"/>
          </p:cNvSpPr>
          <p:nvPr/>
        </p:nvSpPr>
        <p:spPr>
          <a:xfrm xmlns:a="http://schemas.openxmlformats.org/drawingml/2006/main">
            <a:off x="590550" y="47339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 payment or the existing skip option</a:t>
            </a:r>
          </a:p>
        </p:txBody>
      </p:sp>
      <p:cxnSp>
        <p:nvCxnSpPr>
          <p:cNvPr id="54" name=""/>
          <p:cNvCxnSpPr>
            <a:stCxn xmlns:a="http://schemas.openxmlformats.org/drawingml/2006/main" id="7" idx="3"/>
            <a:endCxn xmlns:a="http://schemas.openxmlformats.org/drawingml/2006/main" id="10" idx="1"/>
          </p:cNvCxnSpPr>
          <p:nvPr/>
        </p:nvCxnSpPr>
        <p:spPr>
          <a:xfrm xmlns:a="http://schemas.openxmlformats.org/drawingml/2006/main">
            <a:off x="3933825" y="2728913"/>
            <a:ext cx="428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5" name=""/>
          <p:cNvCxnSpPr>
            <a:stCxn xmlns:a="http://schemas.openxmlformats.org/drawingml/2006/main" id="10" idx="3"/>
            <a:endCxn xmlns:a="http://schemas.openxmlformats.org/drawingml/2006/main" id="13" idx="1"/>
          </p:cNvCxnSpPr>
          <p:nvPr/>
        </p:nvCxnSpPr>
        <p:spPr>
          <a:xfrm xmlns:a="http://schemas.openxmlformats.org/drawingml/2006/main">
            <a:off x="7839075" y="2728913"/>
            <a:ext cx="428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6" name=""/>
          <p:cNvCxnSpPr>
            <a:stCxn xmlns:a="http://schemas.openxmlformats.org/drawingml/2006/main" id="13" idx="2"/>
            <a:endCxn xmlns:a="http://schemas.openxmlformats.org/drawingml/2006/main" id="16" idx="0"/>
          </p:cNvCxnSpPr>
          <p:nvPr/>
        </p:nvCxnSpPr>
        <p:spPr>
          <a:xfrm xmlns:a="http://schemas.openxmlformats.org/drawingml/2006/main">
            <a:off x="10006013" y="3438525"/>
            <a:ext cx="0" cy="80962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7" name=""/>
          <p:cNvCxnSpPr>
            <a:stCxn xmlns:a="http://schemas.openxmlformats.org/drawingml/2006/main" id="16" idx="1"/>
            <a:endCxn xmlns:a="http://schemas.openxmlformats.org/drawingml/2006/main" id="19" idx="3"/>
          </p:cNvCxnSpPr>
          <p:nvPr/>
        </p:nvCxnSpPr>
        <p:spPr>
          <a:xfrm xmlns:a="http://schemas.openxmlformats.org/drawingml/2006/main" flipH="1">
            <a:off x="7839075" y="4957763"/>
            <a:ext cx="428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8" name=""/>
          <p:cNvCxnSpPr>
            <a:stCxn xmlns:a="http://schemas.openxmlformats.org/drawingml/2006/main" id="19" idx="1"/>
            <a:endCxn xmlns:a="http://schemas.openxmlformats.org/drawingml/2006/main" id="22" idx="3"/>
          </p:cNvCxnSpPr>
          <p:nvPr/>
        </p:nvCxnSpPr>
        <p:spPr>
          <a:xfrm xmlns:a="http://schemas.openxmlformats.org/drawingml/2006/main" flipH="1">
            <a:off x="3933825" y="4957763"/>
            <a:ext cx="428625" cy="0"/>
          </a:xfrm>
          <a:prstGeom xmlns:a="http://schemas.openxmlformats.org/drawingml/2006/main" prst="straightConnector1">
            <a:avLst/>
          </a:prstGeom>
          <a:ln xmlns:a="http://schemas.openxmlformats.org/drawingml/2006/main" w="22860">
            <a:solidFill>
              <a:srgbClr val="203F91"/>
            </a:solidFill>
            <a:tailEnd type="triangle" w="med" len="med"/>
          </a:ln>
        </p:spPr>
      </p:cxnSp>
    </p:spTree>
    <p:extLst>
      <p:ext uri="{BB962C8B-B14F-4D97-AF65-F5344CB8AC3E}">
        <p14:creationId xmlns:p14="http://schemas.microsoft.com/office/powerpoint/2010/main" val="3512225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2130484-18B0-416C-B361-55B6A99AAF02}"/>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56D887C0-AB03-4537-B97E-1BDB618232BD}"/>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CURRENT SYSTEM ARCHITECTURE</a:t>
            </a:r>
          </a:p>
        </p:txBody>
      </p:sp>
      <p:sp>
        <p:nvSpPr>
          <p:cNvPr id="3" name="">
            <a:extLst xmlns:a="http://schemas.openxmlformats.org/drawingml/2006/main">
              <a:ext uri="{FF2B5EF4-FFF2-40B4-BE49-F238E27FC236}">
                <a16:creationId xmlns:a16="http://schemas.microsoft.com/office/drawing/2014/main" id="{9F1D0A0D-1165-4A44-9FEB-0AD0208E459D}"/>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Existing application code and service boundaries</a:t>
            </a:r>
          </a:p>
        </p:txBody>
      </p:sp>
      <p:sp>
        <p:nvSpPr>
          <p:cNvPr id="4" name="">
            <a:extLst xmlns:a="http://schemas.openxmlformats.org/drawingml/2006/main">
              <a:ext uri="{FF2B5EF4-FFF2-40B4-BE49-F238E27FC236}">
                <a16:creationId xmlns:a16="http://schemas.microsoft.com/office/drawing/2014/main" id="{C27079FB-B113-460B-8CE9-72A4B86C409E}"/>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204AF0-9352-4F3B-8A80-AD40D8584C8F}"/>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Current implementation in the inherited codebase</a:t>
            </a:r>
          </a:p>
        </p:txBody>
      </p:sp>
      <p:sp>
        <p:nvSpPr>
          <p:cNvPr id="6" name="">
            <a:extLst xmlns:a="http://schemas.openxmlformats.org/drawingml/2006/main">
              <a:ext uri="{FF2B5EF4-FFF2-40B4-BE49-F238E27FC236}">
                <a16:creationId xmlns:a16="http://schemas.microsoft.com/office/drawing/2014/main" id="{0C94B8CF-8C79-4437-BF95-8C3D350905C3}"/>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18CB36A-96FB-44D3-A7E1-0E610EF7E8A6}"/>
              </a:ext>
            </a:extLst>
          </p:cNvPr>
          <p:cNvSpPr>
            <a:spLocks xmlns:a="http://schemas.openxmlformats.org/drawingml/2006/main" noGrp="1"/>
          </p:cNvSpPr>
          <p:nvPr/>
        </p:nvSpPr>
        <p:spPr>
          <a:xfrm xmlns:a="http://schemas.openxmlformats.org/drawingml/2006/main">
            <a:off x="457200" y="1790700"/>
            <a:ext cx="274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BROWSER</a:t>
            </a:r>
          </a:p>
        </p:txBody>
      </p:sp>
      <p:sp>
        <p:nvSpPr>
          <p:cNvPr id="8" name="">
            <a:extLst xmlns:a="http://schemas.openxmlformats.org/drawingml/2006/main">
              <a:ext uri="{FF2B5EF4-FFF2-40B4-BE49-F238E27FC236}">
                <a16:creationId xmlns:a16="http://schemas.microsoft.com/office/drawing/2014/main" id="{6E53157B-DA79-4A64-894E-40B644AA62D3}"/>
              </a:ext>
            </a:extLst>
          </p:cNvPr>
          <p:cNvSpPr>
            <a:spLocks xmlns:a="http://schemas.openxmlformats.org/drawingml/2006/main" noGrp="1"/>
          </p:cNvSpPr>
          <p:nvPr/>
        </p:nvSpPr>
        <p:spPr>
          <a:xfrm xmlns:a="http://schemas.openxmlformats.org/drawingml/2006/main">
            <a:off x="457200" y="2133600"/>
            <a:ext cx="274320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B2C69A-9D74-4E28-95E6-9AD9BEC74B93}"/>
              </a:ext>
            </a:extLst>
          </p:cNvPr>
          <p:cNvSpPr>
            <a:spLocks xmlns:a="http://schemas.openxmlformats.org/drawingml/2006/main" noGrp="1"/>
          </p:cNvSpPr>
          <p:nvPr/>
        </p:nvSpPr>
        <p:spPr>
          <a:xfrm xmlns:a="http://schemas.openxmlformats.org/drawingml/2006/main">
            <a:off x="4010025" y="1790700"/>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APPLICATION SERVER</a:t>
            </a:r>
          </a:p>
        </p:txBody>
      </p:sp>
      <p:sp>
        <p:nvSpPr>
          <p:cNvPr id="10" name="">
            <a:extLst xmlns:a="http://schemas.openxmlformats.org/drawingml/2006/main">
              <a:ext uri="{FF2B5EF4-FFF2-40B4-BE49-F238E27FC236}">
                <a16:creationId xmlns:a16="http://schemas.microsoft.com/office/drawing/2014/main" id="{5026332E-48AA-46B6-BCF5-FC80BB2071EE}"/>
              </a:ext>
            </a:extLst>
          </p:cNvPr>
          <p:cNvSpPr>
            <a:spLocks xmlns:a="http://schemas.openxmlformats.org/drawingml/2006/main" noGrp="1"/>
          </p:cNvSpPr>
          <p:nvPr/>
        </p:nvSpPr>
        <p:spPr>
          <a:xfrm xmlns:a="http://schemas.openxmlformats.org/drawingml/2006/main">
            <a:off x="4010025" y="2133600"/>
            <a:ext cx="37623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FB23A1-A3D6-4033-AA00-4BF027C3BDE6}"/>
              </a:ext>
            </a:extLst>
          </p:cNvPr>
          <p:cNvSpPr>
            <a:spLocks xmlns:a="http://schemas.openxmlformats.org/drawingml/2006/main" noGrp="1"/>
          </p:cNvSpPr>
          <p:nvPr/>
        </p:nvSpPr>
        <p:spPr>
          <a:xfrm xmlns:a="http://schemas.openxmlformats.org/drawingml/2006/main">
            <a:off x="8562975" y="1790700"/>
            <a:ext cx="3171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EXTERNAL SERVICES</a:t>
            </a:r>
          </a:p>
        </p:txBody>
      </p:sp>
      <p:sp>
        <p:nvSpPr>
          <p:cNvPr id="12" name="">
            <a:extLst xmlns:a="http://schemas.openxmlformats.org/drawingml/2006/main">
              <a:ext uri="{FF2B5EF4-FFF2-40B4-BE49-F238E27FC236}">
                <a16:creationId xmlns:a16="http://schemas.microsoft.com/office/drawing/2014/main" id="{245E01AF-BF12-4313-B5CC-444204213F25}"/>
              </a:ext>
            </a:extLst>
          </p:cNvPr>
          <p:cNvSpPr>
            <a:spLocks xmlns:a="http://schemas.openxmlformats.org/drawingml/2006/main" noGrp="1"/>
          </p:cNvSpPr>
          <p:nvPr/>
        </p:nvSpPr>
        <p:spPr>
          <a:xfrm xmlns:a="http://schemas.openxmlformats.org/drawingml/2006/main">
            <a:off x="8562975" y="2133600"/>
            <a:ext cx="31718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72ED5E-2346-4903-93F0-D5CBFEFB831A}"/>
              </a:ext>
            </a:extLst>
          </p:cNvPr>
          <p:cNvSpPr>
            <a:spLocks xmlns:a="http://schemas.openxmlformats.org/drawingml/2006/main" noGrp="1"/>
          </p:cNvSpPr>
          <p:nvPr/>
        </p:nvSpPr>
        <p:spPr>
          <a:xfrm xmlns:a="http://schemas.openxmlformats.org/drawingml/2006/main">
            <a:off x="457200" y="2381250"/>
            <a:ext cx="2743200" cy="11715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0D9307AE-2115-488F-ACA6-15580C974744}"/>
              </a:ext>
            </a:extLst>
          </p:cNvPr>
          <p:cNvSpPr>
            <a:spLocks xmlns:a="http://schemas.openxmlformats.org/drawingml/2006/main" noGrp="1"/>
          </p:cNvSpPr>
          <p:nvPr/>
        </p:nvSpPr>
        <p:spPr>
          <a:xfrm xmlns:a="http://schemas.openxmlformats.org/drawingml/2006/main">
            <a:off x="590550" y="2495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React + Vite</a:t>
            </a:r>
          </a:p>
        </p:txBody>
      </p:sp>
      <p:sp>
        <p:nvSpPr>
          <p:cNvPr id="15" name="">
            <a:extLst xmlns:a="http://schemas.openxmlformats.org/drawingml/2006/main">
              <a:ext uri="{FF2B5EF4-FFF2-40B4-BE49-F238E27FC236}">
                <a16:creationId xmlns:a16="http://schemas.microsoft.com/office/drawing/2014/main" id="{80E5C519-354F-4EFE-8DD9-FCD96B92E217}"/>
              </a:ext>
            </a:extLst>
          </p:cNvPr>
          <p:cNvSpPr>
            <a:spLocks xmlns:a="http://schemas.openxmlformats.org/drawingml/2006/main" noGrp="1"/>
          </p:cNvSpPr>
          <p:nvPr/>
        </p:nvSpPr>
        <p:spPr>
          <a:xfrm xmlns:a="http://schemas.openxmlformats.org/drawingml/2006/main">
            <a:off x="590550" y="28670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Home, results and booking pages</a:t>
            </a:r>
          </a:p>
        </p:txBody>
      </p:sp>
      <p:sp>
        <p:nvSpPr>
          <p:cNvPr id="16" name="">
            <a:extLst xmlns:a="http://schemas.openxmlformats.org/drawingml/2006/main">
              <a:ext uri="{FF2B5EF4-FFF2-40B4-BE49-F238E27FC236}">
                <a16:creationId xmlns:a16="http://schemas.microsoft.com/office/drawing/2014/main" id="{5D60A0EC-F157-4315-A0F8-E055145AE0CD}"/>
              </a:ext>
            </a:extLst>
          </p:cNvPr>
          <p:cNvSpPr>
            <a:spLocks xmlns:a="http://schemas.openxmlformats.org/drawingml/2006/main" noGrp="1"/>
          </p:cNvSpPr>
          <p:nvPr/>
        </p:nvSpPr>
        <p:spPr>
          <a:xfrm xmlns:a="http://schemas.openxmlformats.org/drawingml/2006/main">
            <a:off x="457200" y="4324350"/>
            <a:ext cx="2743200"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5C204E44-B1BE-44A5-9699-9D7EE96F7AC3}"/>
              </a:ext>
            </a:extLst>
          </p:cNvPr>
          <p:cNvSpPr>
            <a:spLocks xmlns:a="http://schemas.openxmlformats.org/drawingml/2006/main" noGrp="1"/>
          </p:cNvSpPr>
          <p:nvPr/>
        </p:nvSpPr>
        <p:spPr>
          <a:xfrm xmlns:a="http://schemas.openxmlformats.org/drawingml/2006/main">
            <a:off x="590550" y="4438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Browser speech</a:t>
            </a:r>
          </a:p>
        </p:txBody>
      </p:sp>
      <p:sp>
        <p:nvSpPr>
          <p:cNvPr id="18" name="">
            <a:extLst xmlns:a="http://schemas.openxmlformats.org/drawingml/2006/main">
              <a:ext uri="{FF2B5EF4-FFF2-40B4-BE49-F238E27FC236}">
                <a16:creationId xmlns:a16="http://schemas.microsoft.com/office/drawing/2014/main" id="{931F7D31-D0E9-4FF2-90FD-C24633E682A6}"/>
              </a:ext>
            </a:extLst>
          </p:cNvPr>
          <p:cNvSpPr>
            <a:spLocks xmlns:a="http://schemas.openxmlformats.org/drawingml/2006/main" noGrp="1"/>
          </p:cNvSpPr>
          <p:nvPr/>
        </p:nvSpPr>
        <p:spPr>
          <a:xfrm xmlns:a="http://schemas.openxmlformats.org/drawingml/2006/main">
            <a:off x="590550" y="481012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Speech recognition and spoken responses</a:t>
            </a:r>
          </a:p>
        </p:txBody>
      </p:sp>
      <p:sp>
        <p:nvSpPr>
          <p:cNvPr id="19" name="">
            <a:extLst xmlns:a="http://schemas.openxmlformats.org/drawingml/2006/main">
              <a:ext uri="{FF2B5EF4-FFF2-40B4-BE49-F238E27FC236}">
                <a16:creationId xmlns:a16="http://schemas.microsoft.com/office/drawing/2014/main" id="{12F3CD20-59E5-464A-9C07-949466F9E927}"/>
              </a:ext>
            </a:extLst>
          </p:cNvPr>
          <p:cNvSpPr>
            <a:spLocks xmlns:a="http://schemas.openxmlformats.org/drawingml/2006/main" noGrp="1"/>
          </p:cNvSpPr>
          <p:nvPr/>
        </p:nvSpPr>
        <p:spPr>
          <a:xfrm xmlns:a="http://schemas.openxmlformats.org/drawingml/2006/main">
            <a:off x="4010025" y="2381250"/>
            <a:ext cx="3762375" cy="11715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0" name="">
            <a:extLst xmlns:a="http://schemas.openxmlformats.org/drawingml/2006/main">
              <a:ext uri="{FF2B5EF4-FFF2-40B4-BE49-F238E27FC236}">
                <a16:creationId xmlns:a16="http://schemas.microsoft.com/office/drawing/2014/main" id="{3B841719-E955-4BBC-9922-26BA606242C9}"/>
              </a:ext>
            </a:extLst>
          </p:cNvPr>
          <p:cNvSpPr>
            <a:spLocks xmlns:a="http://schemas.openxmlformats.org/drawingml/2006/main" noGrp="1"/>
          </p:cNvSpPr>
          <p:nvPr/>
        </p:nvSpPr>
        <p:spPr>
          <a:xfrm xmlns:a="http://schemas.openxmlformats.org/drawingml/2006/main">
            <a:off x="4143375" y="2495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Express API</a:t>
            </a:r>
          </a:p>
        </p:txBody>
      </p:sp>
      <p:sp>
        <p:nvSpPr>
          <p:cNvPr id="21" name="">
            <a:extLst xmlns:a="http://schemas.openxmlformats.org/drawingml/2006/main">
              <a:ext uri="{FF2B5EF4-FFF2-40B4-BE49-F238E27FC236}">
                <a16:creationId xmlns:a16="http://schemas.microsoft.com/office/drawing/2014/main" id="{AA744BA8-A11C-412E-A2FA-AAE64387F4C2}"/>
              </a:ext>
            </a:extLst>
          </p:cNvPr>
          <p:cNvSpPr>
            <a:spLocks xmlns:a="http://schemas.openxmlformats.org/drawingml/2006/main" noGrp="1"/>
          </p:cNvSpPr>
          <p:nvPr/>
        </p:nvSpPr>
        <p:spPr>
          <a:xfrm xmlns:a="http://schemas.openxmlformats.org/drawingml/2006/main">
            <a:off x="4143375" y="2867025"/>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Triage, advocate matching, bookings and payments</a:t>
            </a:r>
          </a:p>
        </p:txBody>
      </p:sp>
      <p:sp>
        <p:nvSpPr>
          <p:cNvPr id="22" name="">
            <a:extLst xmlns:a="http://schemas.openxmlformats.org/drawingml/2006/main">
              <a:ext uri="{FF2B5EF4-FFF2-40B4-BE49-F238E27FC236}">
                <a16:creationId xmlns:a16="http://schemas.microsoft.com/office/drawing/2014/main" id="{F183EDCC-5061-4F3C-8079-8AC176EFC41B}"/>
              </a:ext>
            </a:extLst>
          </p:cNvPr>
          <p:cNvSpPr>
            <a:spLocks xmlns:a="http://schemas.openxmlformats.org/drawingml/2006/main" noGrp="1"/>
          </p:cNvSpPr>
          <p:nvPr/>
        </p:nvSpPr>
        <p:spPr>
          <a:xfrm xmlns:a="http://schemas.openxmlformats.org/drawingml/2006/main">
            <a:off x="4010025" y="4324350"/>
            <a:ext cx="376237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3" name="">
            <a:extLst xmlns:a="http://schemas.openxmlformats.org/drawingml/2006/main">
              <a:ext uri="{FF2B5EF4-FFF2-40B4-BE49-F238E27FC236}">
                <a16:creationId xmlns:a16="http://schemas.microsoft.com/office/drawing/2014/main" id="{999E1908-0CC7-4845-96EF-42954E5BABC1}"/>
              </a:ext>
            </a:extLst>
          </p:cNvPr>
          <p:cNvSpPr>
            <a:spLocks xmlns:a="http://schemas.openxmlformats.org/drawingml/2006/main" noGrp="1"/>
          </p:cNvSpPr>
          <p:nvPr/>
        </p:nvSpPr>
        <p:spPr>
          <a:xfrm xmlns:a="http://schemas.openxmlformats.org/drawingml/2006/main">
            <a:off x="4143375" y="44386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MongoDB</a:t>
            </a:r>
          </a:p>
        </p:txBody>
      </p:sp>
      <p:sp>
        <p:nvSpPr>
          <p:cNvPr id="24" name="">
            <a:extLst xmlns:a="http://schemas.openxmlformats.org/drawingml/2006/main">
              <a:ext uri="{FF2B5EF4-FFF2-40B4-BE49-F238E27FC236}">
                <a16:creationId xmlns:a16="http://schemas.microsoft.com/office/drawing/2014/main" id="{458719D7-3B14-4216-BCF6-A6A704CA6D14}"/>
              </a:ext>
            </a:extLst>
          </p:cNvPr>
          <p:cNvSpPr>
            <a:spLocks xmlns:a="http://schemas.openxmlformats.org/drawingml/2006/main" noGrp="1"/>
          </p:cNvSpPr>
          <p:nvPr/>
        </p:nvSpPr>
        <p:spPr>
          <a:xfrm xmlns:a="http://schemas.openxmlformats.org/drawingml/2006/main">
            <a:off x="4143375" y="4810125"/>
            <a:ext cx="3495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Users, advocates, bookings and review schema</a:t>
            </a:r>
          </a:p>
        </p:txBody>
      </p:sp>
      <p:sp>
        <p:nvSpPr>
          <p:cNvPr id="25" name="">
            <a:extLst xmlns:a="http://schemas.openxmlformats.org/drawingml/2006/main">
              <a:ext uri="{FF2B5EF4-FFF2-40B4-BE49-F238E27FC236}">
                <a16:creationId xmlns:a16="http://schemas.microsoft.com/office/drawing/2014/main" id="{43076E25-AF42-4E2C-B3A6-495E59B3EE52}"/>
              </a:ext>
            </a:extLst>
          </p:cNvPr>
          <p:cNvSpPr>
            <a:spLocks xmlns:a="http://schemas.openxmlformats.org/drawingml/2006/main" noGrp="1"/>
          </p:cNvSpPr>
          <p:nvPr/>
        </p:nvSpPr>
        <p:spPr>
          <a:xfrm xmlns:a="http://schemas.openxmlformats.org/drawingml/2006/main">
            <a:off x="8562975" y="2381250"/>
            <a:ext cx="3171825" cy="11715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6" name="">
            <a:extLst xmlns:a="http://schemas.openxmlformats.org/drawingml/2006/main">
              <a:ext uri="{FF2B5EF4-FFF2-40B4-BE49-F238E27FC236}">
                <a16:creationId xmlns:a16="http://schemas.microsoft.com/office/drawing/2014/main" id="{B7C6964A-CEEE-4338-9DB4-E43B37C310DA}"/>
              </a:ext>
            </a:extLst>
          </p:cNvPr>
          <p:cNvSpPr>
            <a:spLocks xmlns:a="http://schemas.openxmlformats.org/drawingml/2006/main" noGrp="1"/>
          </p:cNvSpPr>
          <p:nvPr/>
        </p:nvSpPr>
        <p:spPr>
          <a:xfrm xmlns:a="http://schemas.openxmlformats.org/drawingml/2006/main">
            <a:off x="8696325" y="249555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AI provider</a:t>
            </a:r>
          </a:p>
        </p:txBody>
      </p:sp>
      <p:sp>
        <p:nvSpPr>
          <p:cNvPr id="27" name="">
            <a:extLst xmlns:a="http://schemas.openxmlformats.org/drawingml/2006/main">
              <a:ext uri="{FF2B5EF4-FFF2-40B4-BE49-F238E27FC236}">
                <a16:creationId xmlns:a16="http://schemas.microsoft.com/office/drawing/2014/main" id="{364A9C74-4408-4CAA-BCD5-4A7BD98FE50D}"/>
              </a:ext>
            </a:extLst>
          </p:cNvPr>
          <p:cNvSpPr>
            <a:spLocks xmlns:a="http://schemas.openxmlformats.org/drawingml/2006/main" noGrp="1"/>
          </p:cNvSpPr>
          <p:nvPr/>
        </p:nvSpPr>
        <p:spPr>
          <a:xfrm xmlns:a="http://schemas.openxmlformats.org/drawingml/2006/main">
            <a:off x="8696325" y="2867025"/>
            <a:ext cx="2905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Gemini or configured gateway</a:t>
            </a:r>
          </a:p>
        </p:txBody>
      </p:sp>
      <p:sp>
        <p:nvSpPr>
          <p:cNvPr id="28" name="">
            <a:extLst xmlns:a="http://schemas.openxmlformats.org/drawingml/2006/main">
              <a:ext uri="{FF2B5EF4-FFF2-40B4-BE49-F238E27FC236}">
                <a16:creationId xmlns:a16="http://schemas.microsoft.com/office/drawing/2014/main" id="{E88763C1-FF36-4C13-A6D9-7E6CA9BED409}"/>
              </a:ext>
            </a:extLst>
          </p:cNvPr>
          <p:cNvSpPr>
            <a:spLocks xmlns:a="http://schemas.openxmlformats.org/drawingml/2006/main" noGrp="1"/>
          </p:cNvSpPr>
          <p:nvPr/>
        </p:nvSpPr>
        <p:spPr>
          <a:xfrm xmlns:a="http://schemas.openxmlformats.org/drawingml/2006/main">
            <a:off x="8562975" y="4324350"/>
            <a:ext cx="317182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9" name="">
            <a:extLst xmlns:a="http://schemas.openxmlformats.org/drawingml/2006/main">
              <a:ext uri="{FF2B5EF4-FFF2-40B4-BE49-F238E27FC236}">
                <a16:creationId xmlns:a16="http://schemas.microsoft.com/office/drawing/2014/main" id="{698FDFEF-37FE-4A76-8805-FA3842973C34}"/>
              </a:ext>
            </a:extLst>
          </p:cNvPr>
          <p:cNvSpPr>
            <a:spLocks xmlns:a="http://schemas.openxmlformats.org/drawingml/2006/main" noGrp="1"/>
          </p:cNvSpPr>
          <p:nvPr/>
        </p:nvSpPr>
        <p:spPr>
          <a:xfrm xmlns:a="http://schemas.openxmlformats.org/drawingml/2006/main">
            <a:off x="8696325" y="443865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Razorpay</a:t>
            </a:r>
          </a:p>
        </p:txBody>
      </p:sp>
      <p:sp>
        <p:nvSpPr>
          <p:cNvPr id="30" name="">
            <a:extLst xmlns:a="http://schemas.openxmlformats.org/drawingml/2006/main">
              <a:ext uri="{FF2B5EF4-FFF2-40B4-BE49-F238E27FC236}">
                <a16:creationId xmlns:a16="http://schemas.microsoft.com/office/drawing/2014/main" id="{ECF2F553-264E-4C01-B8B1-DE86356EBC99}"/>
              </a:ext>
            </a:extLst>
          </p:cNvPr>
          <p:cNvSpPr>
            <a:spLocks xmlns:a="http://schemas.openxmlformats.org/drawingml/2006/main" noGrp="1"/>
          </p:cNvSpPr>
          <p:nvPr/>
        </p:nvSpPr>
        <p:spPr>
          <a:xfrm xmlns:a="http://schemas.openxmlformats.org/drawingml/2006/main">
            <a:off x="8696325" y="4810125"/>
            <a:ext cx="2905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Order creation and signature verification</a:t>
            </a:r>
          </a:p>
        </p:txBody>
      </p:sp>
      <p:cxnSp>
        <p:nvCxnSpPr>
          <p:cNvPr id="67" name=""/>
          <p:cNvCxnSpPr>
            <a:stCxn xmlns:a="http://schemas.openxmlformats.org/drawingml/2006/main" id="13" idx="3"/>
            <a:endCxn xmlns:a="http://schemas.openxmlformats.org/drawingml/2006/main" id="19" idx="1"/>
          </p:cNvCxnSpPr>
          <p:nvPr/>
        </p:nvCxnSpPr>
        <p:spPr>
          <a:xfrm xmlns:a="http://schemas.openxmlformats.org/drawingml/2006/main">
            <a:off x="3200400" y="2967038"/>
            <a:ext cx="809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8" name=""/>
          <p:cNvCxnSpPr>
            <a:stCxn xmlns:a="http://schemas.openxmlformats.org/drawingml/2006/main" id="19" idx="3"/>
            <a:endCxn xmlns:a="http://schemas.openxmlformats.org/drawingml/2006/main" id="25" idx="1"/>
          </p:cNvCxnSpPr>
          <p:nvPr/>
        </p:nvCxnSpPr>
        <p:spPr>
          <a:xfrm xmlns:a="http://schemas.openxmlformats.org/drawingml/2006/main">
            <a:off x="7772400" y="2967038"/>
            <a:ext cx="7905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9" name=""/>
          <p:cNvCxnSpPr>
            <a:stCxn xmlns:a="http://schemas.openxmlformats.org/drawingml/2006/main" id="19" idx="2"/>
            <a:endCxn xmlns:a="http://schemas.openxmlformats.org/drawingml/2006/main" id="22" idx="0"/>
          </p:cNvCxnSpPr>
          <p:nvPr/>
        </p:nvCxnSpPr>
        <p:spPr>
          <a:xfrm xmlns:a="http://schemas.openxmlformats.org/drawingml/2006/main">
            <a:off x="5891213" y="3552825"/>
            <a:ext cx="0" cy="77152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0" name=""/>
          <p:cNvCxnSpPr>
            <a:stCxn xmlns:a="http://schemas.openxmlformats.org/drawingml/2006/main" id="16" idx="0"/>
            <a:endCxn xmlns:a="http://schemas.openxmlformats.org/drawingml/2006/main" id="13" idx="2"/>
          </p:cNvCxnSpPr>
          <p:nvPr/>
        </p:nvCxnSpPr>
        <p:spPr>
          <a:xfrm xmlns:a="http://schemas.openxmlformats.org/drawingml/2006/main" flipV="1">
            <a:off x="1828800" y="3552825"/>
            <a:ext cx="0" cy="77152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1" name=""/>
          <p:cNvCxnSpPr>
            <a:stCxn xmlns:a="http://schemas.openxmlformats.org/drawingml/2006/main" id="19" idx="3"/>
            <a:endCxn xmlns:a="http://schemas.openxmlformats.org/drawingml/2006/main" id="28" idx="1"/>
          </p:cNvCxnSpPr>
          <p:nvPr/>
        </p:nvCxnSpPr>
        <p:spPr>
          <a:xfrm xmlns:a="http://schemas.openxmlformats.org/drawingml/2006/main">
            <a:off x="7772400" y="2967038"/>
            <a:ext cx="790575" cy="1985963"/>
          </a:xfrm>
          <a:prstGeom xmlns:a="http://schemas.openxmlformats.org/drawingml/2006/main" prst="bentConnector3">
            <a:avLst>
              <a:gd name="adj1" fmla="val 50000"/>
            </a:avLst>
          </a:prstGeom>
          <a:ln xmlns:a="http://schemas.openxmlformats.org/drawingml/2006/main" w="22860">
            <a:solidFill>
              <a:srgbClr val="203F91"/>
            </a:solidFill>
            <a:tailEnd type="triangle" w="med" len="med"/>
          </a:ln>
        </p:spPr>
      </p:cxnSp>
      <p:sp>
        <p:nvSpPr>
          <p:cNvPr id="36" name="">
            <a:extLst xmlns:a="http://schemas.openxmlformats.org/drawingml/2006/main">
              <a:ext uri="{FF2B5EF4-FFF2-40B4-BE49-F238E27FC236}">
                <a16:creationId xmlns:a16="http://schemas.microsoft.com/office/drawing/2014/main" id="{FA314A75-A8AA-4977-A9AF-B1D619A470F2}"/>
              </a:ext>
            </a:extLst>
          </p:cNvPr>
          <p:cNvSpPr>
            <a:spLocks xmlns:a="http://schemas.openxmlformats.org/drawingml/2006/main" noGrp="1"/>
          </p:cNvSpPr>
          <p:nvPr/>
        </p:nvSpPr>
        <p:spPr>
          <a:xfrm xmlns:a="http://schemas.openxmlformats.org/drawingml/2006/main">
            <a:off x="457200" y="594360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The Express API calls external services and stores booking and payment records.</a:t>
            </a:r>
          </a:p>
        </p:txBody>
      </p:sp>
    </p:spTree>
    <p:extLst>
      <p:ext uri="{BB962C8B-B14F-4D97-AF65-F5344CB8AC3E}">
        <p14:creationId xmlns:p14="http://schemas.microsoft.com/office/powerpoint/2010/main" val="15154833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F396A33-450B-45B3-B224-9D761936E566}"/>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68C9EC7A-F515-4E5B-9613-D85D9FAAE4CD}"/>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AI ANALYSIS AND ADVOCATE MATCHING</a:t>
            </a:r>
          </a:p>
        </p:txBody>
      </p:sp>
      <p:sp>
        <p:nvSpPr>
          <p:cNvPr id="3" name="">
            <a:extLst xmlns:a="http://schemas.openxmlformats.org/drawingml/2006/main">
              <a:ext uri="{FF2B5EF4-FFF2-40B4-BE49-F238E27FC236}">
                <a16:creationId xmlns:a16="http://schemas.microsoft.com/office/drawing/2014/main" id="{71330387-DAA4-46A1-B785-2DB5DEB88A38}"/>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One triage request combines interpretation with database retrieval</a:t>
            </a:r>
          </a:p>
        </p:txBody>
      </p:sp>
      <p:sp>
        <p:nvSpPr>
          <p:cNvPr id="4" name="">
            <a:extLst xmlns:a="http://schemas.openxmlformats.org/drawingml/2006/main">
              <a:ext uri="{FF2B5EF4-FFF2-40B4-BE49-F238E27FC236}">
                <a16:creationId xmlns:a16="http://schemas.microsoft.com/office/drawing/2014/main" id="{AC96A36F-BD3D-4357-98B7-E2ADC813A397}"/>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91A06E-3CBA-44E9-9AEC-7D93C3E7945D}"/>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E9FA1C9B-DEB4-419A-BFB5-2195E962372B}"/>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30527C2F-3231-474F-A0F7-E93334971473}"/>
              </a:ext>
            </a:extLst>
          </p:cNvPr>
          <p:cNvSpPr>
            <a:spLocks xmlns:a="http://schemas.openxmlformats.org/drawingml/2006/main" noGrp="1"/>
          </p:cNvSpPr>
          <p:nvPr/>
        </p:nvSpPr>
        <p:spPr>
          <a:xfrm xmlns:a="http://schemas.openxmlformats.org/drawingml/2006/main">
            <a:off x="457200" y="2200275"/>
            <a:ext cx="2305050" cy="14001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932C317B-BB03-4883-B4E6-578CA44B4C44}"/>
              </a:ext>
            </a:extLst>
          </p:cNvPr>
          <p:cNvSpPr>
            <a:spLocks xmlns:a="http://schemas.openxmlformats.org/drawingml/2006/main" noGrp="1"/>
          </p:cNvSpPr>
          <p:nvPr/>
        </p:nvSpPr>
        <p:spPr>
          <a:xfrm xmlns:a="http://schemas.openxmlformats.org/drawingml/2006/main">
            <a:off x="590550" y="23145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Request</a:t>
            </a:r>
          </a:p>
        </p:txBody>
      </p:sp>
      <p:sp>
        <p:nvSpPr>
          <p:cNvPr id="9" name="">
            <a:extLst xmlns:a="http://schemas.openxmlformats.org/drawingml/2006/main">
              <a:ext uri="{FF2B5EF4-FFF2-40B4-BE49-F238E27FC236}">
                <a16:creationId xmlns:a16="http://schemas.microsoft.com/office/drawing/2014/main" id="{FE7170DB-2130-4A70-98EB-1FBAFCC73C71}"/>
              </a:ext>
            </a:extLst>
          </p:cNvPr>
          <p:cNvSpPr>
            <a:spLocks xmlns:a="http://schemas.openxmlformats.org/drawingml/2006/main" noGrp="1"/>
          </p:cNvSpPr>
          <p:nvPr/>
        </p:nvSpPr>
        <p:spPr>
          <a:xfrm xmlns:a="http://schemas.openxmlformats.org/drawingml/2006/main">
            <a:off x="590550" y="2686050"/>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Issue text + recent chat history</a:t>
            </a:r>
          </a:p>
        </p:txBody>
      </p:sp>
      <p:sp>
        <p:nvSpPr>
          <p:cNvPr id="10" name="">
            <a:extLst xmlns:a="http://schemas.openxmlformats.org/drawingml/2006/main">
              <a:ext uri="{FF2B5EF4-FFF2-40B4-BE49-F238E27FC236}">
                <a16:creationId xmlns:a16="http://schemas.microsoft.com/office/drawing/2014/main" id="{CDF9CB37-C3A5-4BC2-863E-0A11DD8ACAB6}"/>
              </a:ext>
            </a:extLst>
          </p:cNvPr>
          <p:cNvSpPr>
            <a:spLocks xmlns:a="http://schemas.openxmlformats.org/drawingml/2006/main" noGrp="1"/>
          </p:cNvSpPr>
          <p:nvPr/>
        </p:nvSpPr>
        <p:spPr>
          <a:xfrm xmlns:a="http://schemas.openxmlformats.org/drawingml/2006/main">
            <a:off x="3371850" y="2200275"/>
            <a:ext cx="2381250" cy="14001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FC43E818-5D49-4BFB-83D0-A3C4CEE0C877}"/>
              </a:ext>
            </a:extLst>
          </p:cNvPr>
          <p:cNvSpPr>
            <a:spLocks xmlns:a="http://schemas.openxmlformats.org/drawingml/2006/main" noGrp="1"/>
          </p:cNvSpPr>
          <p:nvPr/>
        </p:nvSpPr>
        <p:spPr>
          <a:xfrm xmlns:a="http://schemas.openxmlformats.org/drawingml/2006/main">
            <a:off x="3505200" y="2314575"/>
            <a:ext cx="2114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AI service</a:t>
            </a:r>
          </a:p>
        </p:txBody>
      </p:sp>
      <p:sp>
        <p:nvSpPr>
          <p:cNvPr id="12" name="">
            <a:extLst xmlns:a="http://schemas.openxmlformats.org/drawingml/2006/main">
              <a:ext uri="{FF2B5EF4-FFF2-40B4-BE49-F238E27FC236}">
                <a16:creationId xmlns:a16="http://schemas.microsoft.com/office/drawing/2014/main" id="{FF274D32-75B4-44F1-9BCA-7FDA4BEF4817}"/>
              </a:ext>
            </a:extLst>
          </p:cNvPr>
          <p:cNvSpPr>
            <a:spLocks xmlns:a="http://schemas.openxmlformats.org/drawingml/2006/main" noGrp="1"/>
          </p:cNvSpPr>
          <p:nvPr/>
        </p:nvSpPr>
        <p:spPr>
          <a:xfrm xmlns:a="http://schemas.openxmlformats.org/drawingml/2006/main">
            <a:off x="3505200" y="2686050"/>
            <a:ext cx="2114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Build prompt and call the configured model</a:t>
            </a:r>
          </a:p>
        </p:txBody>
      </p:sp>
      <p:sp>
        <p:nvSpPr>
          <p:cNvPr id="13" name="">
            <a:extLst xmlns:a="http://schemas.openxmlformats.org/drawingml/2006/main">
              <a:ext uri="{FF2B5EF4-FFF2-40B4-BE49-F238E27FC236}">
                <a16:creationId xmlns:a16="http://schemas.microsoft.com/office/drawing/2014/main" id="{06A356CB-F124-406E-9913-87C4DA39AEA8}"/>
              </a:ext>
            </a:extLst>
          </p:cNvPr>
          <p:cNvSpPr>
            <a:spLocks xmlns:a="http://schemas.openxmlformats.org/drawingml/2006/main" noGrp="1"/>
          </p:cNvSpPr>
          <p:nvPr/>
        </p:nvSpPr>
        <p:spPr>
          <a:xfrm xmlns:a="http://schemas.openxmlformats.org/drawingml/2006/main">
            <a:off x="6362700" y="2200275"/>
            <a:ext cx="2476500" cy="14001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A87F9DA8-605C-4739-9403-EFA354BCCE6A}"/>
              </a:ext>
            </a:extLst>
          </p:cNvPr>
          <p:cNvSpPr>
            <a:spLocks xmlns:a="http://schemas.openxmlformats.org/drawingml/2006/main" noGrp="1"/>
          </p:cNvSpPr>
          <p:nvPr/>
        </p:nvSpPr>
        <p:spPr>
          <a:xfrm xmlns:a="http://schemas.openxmlformats.org/drawingml/2006/main">
            <a:off x="6496050" y="2314575"/>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Structured result</a:t>
            </a:r>
          </a:p>
        </p:txBody>
      </p:sp>
      <p:sp>
        <p:nvSpPr>
          <p:cNvPr id="15" name="">
            <a:extLst xmlns:a="http://schemas.openxmlformats.org/drawingml/2006/main">
              <a:ext uri="{FF2B5EF4-FFF2-40B4-BE49-F238E27FC236}">
                <a16:creationId xmlns:a16="http://schemas.microsoft.com/office/drawing/2014/main" id="{5F9A826C-E598-4F81-AD30-E1B0F205CA84}"/>
              </a:ext>
            </a:extLst>
          </p:cNvPr>
          <p:cNvSpPr>
            <a:spLocks xmlns:a="http://schemas.openxmlformats.org/drawingml/2006/main" noGrp="1"/>
          </p:cNvSpPr>
          <p:nvPr/>
        </p:nvSpPr>
        <p:spPr>
          <a:xfrm xmlns:a="http://schemas.openxmlformats.org/drawingml/2006/main">
            <a:off x="6496050" y="2686050"/>
            <a:ext cx="2209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Category, urgency, summary and actions</a:t>
            </a:r>
          </a:p>
        </p:txBody>
      </p:sp>
      <p:sp>
        <p:nvSpPr>
          <p:cNvPr id="16" name="">
            <a:extLst xmlns:a="http://schemas.openxmlformats.org/drawingml/2006/main">
              <a:ext uri="{FF2B5EF4-FFF2-40B4-BE49-F238E27FC236}">
                <a16:creationId xmlns:a16="http://schemas.microsoft.com/office/drawing/2014/main" id="{CE5948CB-CD95-4EFE-A232-33DBC1B94170}"/>
              </a:ext>
            </a:extLst>
          </p:cNvPr>
          <p:cNvSpPr>
            <a:spLocks xmlns:a="http://schemas.openxmlformats.org/drawingml/2006/main" noGrp="1"/>
          </p:cNvSpPr>
          <p:nvPr/>
        </p:nvSpPr>
        <p:spPr>
          <a:xfrm xmlns:a="http://schemas.openxmlformats.org/drawingml/2006/main">
            <a:off x="9448800" y="2200275"/>
            <a:ext cx="2276475" cy="14001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F7D229C4-C158-4A51-A813-9A9A9273A35E}"/>
              </a:ext>
            </a:extLst>
          </p:cNvPr>
          <p:cNvSpPr>
            <a:spLocks xmlns:a="http://schemas.openxmlformats.org/drawingml/2006/main" noGrp="1"/>
          </p:cNvSpPr>
          <p:nvPr/>
        </p:nvSpPr>
        <p:spPr>
          <a:xfrm xmlns:a="http://schemas.openxmlformats.org/drawingml/2006/main">
            <a:off x="9582150" y="2314575"/>
            <a:ext cx="2009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Matches</a:t>
            </a:r>
          </a:p>
        </p:txBody>
      </p:sp>
      <p:sp>
        <p:nvSpPr>
          <p:cNvPr id="18" name="">
            <a:extLst xmlns:a="http://schemas.openxmlformats.org/drawingml/2006/main">
              <a:ext uri="{FF2B5EF4-FFF2-40B4-BE49-F238E27FC236}">
                <a16:creationId xmlns:a16="http://schemas.microsoft.com/office/drawing/2014/main" id="{49F08E01-9247-482D-BA2F-47F0D2B4A2C4}"/>
              </a:ext>
            </a:extLst>
          </p:cNvPr>
          <p:cNvSpPr>
            <a:spLocks xmlns:a="http://schemas.openxmlformats.org/drawingml/2006/main" noGrp="1"/>
          </p:cNvSpPr>
          <p:nvPr/>
        </p:nvSpPr>
        <p:spPr>
          <a:xfrm xmlns:a="http://schemas.openxmlformats.org/drawingml/2006/main">
            <a:off x="9582150" y="2686050"/>
            <a:ext cx="20097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Filter advocates and sort by rating</a:t>
            </a:r>
          </a:p>
        </p:txBody>
      </p:sp>
      <p:cxnSp>
        <p:nvCxnSpPr>
          <p:cNvPr id="46" name=""/>
          <p:cNvCxnSpPr>
            <a:stCxn xmlns:a="http://schemas.openxmlformats.org/drawingml/2006/main" id="7" idx="3"/>
            <a:endCxn xmlns:a="http://schemas.openxmlformats.org/drawingml/2006/main" id="10" idx="1"/>
          </p:cNvCxnSpPr>
          <p:nvPr/>
        </p:nvCxnSpPr>
        <p:spPr>
          <a:xfrm xmlns:a="http://schemas.openxmlformats.org/drawingml/2006/main">
            <a:off x="2762250" y="2900363"/>
            <a:ext cx="609600"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7" name=""/>
          <p:cNvCxnSpPr>
            <a:stCxn xmlns:a="http://schemas.openxmlformats.org/drawingml/2006/main" id="10" idx="3"/>
            <a:endCxn xmlns:a="http://schemas.openxmlformats.org/drawingml/2006/main" id="13" idx="1"/>
          </p:cNvCxnSpPr>
          <p:nvPr/>
        </p:nvCxnSpPr>
        <p:spPr>
          <a:xfrm xmlns:a="http://schemas.openxmlformats.org/drawingml/2006/main">
            <a:off x="5753100" y="2900363"/>
            <a:ext cx="609600"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8" name=""/>
          <p:cNvCxnSpPr>
            <a:stCxn xmlns:a="http://schemas.openxmlformats.org/drawingml/2006/main" id="13" idx="3"/>
            <a:endCxn xmlns:a="http://schemas.openxmlformats.org/drawingml/2006/main" id="16" idx="1"/>
          </p:cNvCxnSpPr>
          <p:nvPr/>
        </p:nvCxnSpPr>
        <p:spPr>
          <a:xfrm xmlns:a="http://schemas.openxmlformats.org/drawingml/2006/main">
            <a:off x="8839200" y="2900363"/>
            <a:ext cx="609600"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CD7F7A65-5EAD-48C9-B773-EF335F5829F6}"/>
              </a:ext>
            </a:extLst>
          </p:cNvPr>
          <p:cNvSpPr>
            <a:spLocks xmlns:a="http://schemas.openxmlformats.org/drawingml/2006/main" noGrp="1"/>
          </p:cNvSpPr>
          <p:nvPr/>
        </p:nvSpPr>
        <p:spPr>
          <a:xfrm xmlns:a="http://schemas.openxmlformats.org/drawingml/2006/main">
            <a:off x="457200" y="4257675"/>
            <a:ext cx="5324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OUTPUT CATEGORIES</a:t>
            </a:r>
          </a:p>
        </p:txBody>
      </p:sp>
      <p:sp>
        <p:nvSpPr>
          <p:cNvPr id="23" name="">
            <a:extLst xmlns:a="http://schemas.openxmlformats.org/drawingml/2006/main">
              <a:ext uri="{FF2B5EF4-FFF2-40B4-BE49-F238E27FC236}">
                <a16:creationId xmlns:a16="http://schemas.microsoft.com/office/drawing/2014/main" id="{2DFAEFF1-8A27-42FD-9255-C796627A358A}"/>
              </a:ext>
            </a:extLst>
          </p:cNvPr>
          <p:cNvSpPr>
            <a:spLocks xmlns:a="http://schemas.openxmlformats.org/drawingml/2006/main" noGrp="1"/>
          </p:cNvSpPr>
          <p:nvPr/>
        </p:nvSpPr>
        <p:spPr>
          <a:xfrm xmlns:a="http://schemas.openxmlformats.org/drawingml/2006/main">
            <a:off x="457200" y="4600575"/>
            <a:ext cx="53244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ADCAA90-A137-4EF0-865A-A4576D712EC3}"/>
              </a:ext>
            </a:extLst>
          </p:cNvPr>
          <p:cNvSpPr>
            <a:spLocks xmlns:a="http://schemas.openxmlformats.org/drawingml/2006/main" noGrp="1"/>
          </p:cNvSpPr>
          <p:nvPr/>
        </p:nvSpPr>
        <p:spPr>
          <a:xfrm xmlns:a="http://schemas.openxmlformats.org/drawingml/2006/main">
            <a:off x="476250" y="4781550"/>
            <a:ext cx="5238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03F91"/>
                </a:solidFill>
                <a:latin typeface="Arial"/>
                <a:ea typeface="Arial"/>
                <a:cs typeface="Arial"/>
              </a:defRPr>
            </a:pPr>
            <a:r>
              <a:rPr sz="2175" b="1">
                <a:solidFill>
                  <a:srgbClr val="203F91"/>
                </a:solidFill>
                <a:latin typeface="Arial"/>
                <a:ea typeface="Arial"/>
                <a:cs typeface="Arial"/>
              </a:rPr>
              <a:t>Criminal     Civil</a:t>
            </a:r>
          </a:p>
          <a:p xmlns:a="http://schemas.openxmlformats.org/drawingml/2006/main">
            <a:pPr algn="l">
              <a:defRPr sz="2175" b="1">
                <a:solidFill>
                  <a:srgbClr val="203F91"/>
                </a:solidFill>
                <a:latin typeface="Arial"/>
                <a:ea typeface="Arial"/>
                <a:cs typeface="Arial"/>
              </a:defRPr>
            </a:pPr>
            <a:r>
              <a:rPr sz="2175" b="1">
                <a:solidFill>
                  <a:srgbClr val="203F91"/>
                </a:solidFill>
                <a:latin typeface="Arial"/>
                <a:ea typeface="Arial"/>
                <a:cs typeface="Arial"/>
              </a:rPr>
              <a:t>Family        Property</a:t>
            </a:r>
          </a:p>
        </p:txBody>
      </p:sp>
      <p:sp>
        <p:nvSpPr>
          <p:cNvPr id="25" name="">
            <a:extLst xmlns:a="http://schemas.openxmlformats.org/drawingml/2006/main">
              <a:ext uri="{FF2B5EF4-FFF2-40B4-BE49-F238E27FC236}">
                <a16:creationId xmlns:a16="http://schemas.microsoft.com/office/drawing/2014/main" id="{01699D07-222F-451F-BC37-A7B7658E2EAF}"/>
              </a:ext>
            </a:extLst>
          </p:cNvPr>
          <p:cNvSpPr>
            <a:spLocks xmlns:a="http://schemas.openxmlformats.org/drawingml/2006/main" noGrp="1"/>
          </p:cNvSpPr>
          <p:nvPr/>
        </p:nvSpPr>
        <p:spPr>
          <a:xfrm xmlns:a="http://schemas.openxmlformats.org/drawingml/2006/main">
            <a:off x="6372225" y="4257675"/>
            <a:ext cx="5353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CURRENT RULES</a:t>
            </a:r>
          </a:p>
        </p:txBody>
      </p:sp>
      <p:sp>
        <p:nvSpPr>
          <p:cNvPr id="26" name="">
            <a:extLst xmlns:a="http://schemas.openxmlformats.org/drawingml/2006/main">
              <a:ext uri="{FF2B5EF4-FFF2-40B4-BE49-F238E27FC236}">
                <a16:creationId xmlns:a16="http://schemas.microsoft.com/office/drawing/2014/main" id="{9EA96F50-4EB8-4D80-885A-92738E738FDD}"/>
              </a:ext>
            </a:extLst>
          </p:cNvPr>
          <p:cNvSpPr>
            <a:spLocks xmlns:a="http://schemas.openxmlformats.org/drawingml/2006/main" noGrp="1"/>
          </p:cNvSpPr>
          <p:nvPr/>
        </p:nvSpPr>
        <p:spPr>
          <a:xfrm xmlns:a="http://schemas.openxmlformats.org/drawingml/2006/main">
            <a:off x="6372225" y="4600575"/>
            <a:ext cx="53530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2322EE8-FA7E-4F70-BDF7-0235D119A87E}"/>
              </a:ext>
            </a:extLst>
          </p:cNvPr>
          <p:cNvSpPr>
            <a:spLocks xmlns:a="http://schemas.openxmlformats.org/drawingml/2006/main" noGrp="1"/>
          </p:cNvSpPr>
          <p:nvPr/>
        </p:nvSpPr>
        <p:spPr>
          <a:xfrm xmlns:a="http://schemas.openxmlformats.org/drawingml/2006/main">
            <a:off x="6381750" y="4772025"/>
            <a:ext cx="5343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Available advocates only</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Up to 5 matches, highest rating first</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Keyword fallback for selected API failures</a:t>
            </a:r>
          </a:p>
        </p:txBody>
      </p:sp>
    </p:spTree>
    <p:extLst>
      <p:ext uri="{BB962C8B-B14F-4D97-AF65-F5344CB8AC3E}">
        <p14:creationId xmlns:p14="http://schemas.microsoft.com/office/powerpoint/2010/main" val="5657663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9E9EEAB-6303-4D5E-9DC6-180BAE9155E1}"/>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15B66953-FC4D-4CA8-8A32-9F10A7A0571D}"/>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PROPOSED MULTILINGUAL ARCHITECTURE</a:t>
            </a:r>
          </a:p>
        </p:txBody>
      </p:sp>
      <p:sp>
        <p:nvSpPr>
          <p:cNvPr id="3" name="">
            <a:extLst xmlns:a="http://schemas.openxmlformats.org/drawingml/2006/main">
              <a:ext uri="{FF2B5EF4-FFF2-40B4-BE49-F238E27FC236}">
                <a16:creationId xmlns:a16="http://schemas.microsoft.com/office/drawing/2014/main" id="{F997DE3B-BDB1-4019-BFD0-C0C878E49F9F}"/>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 language layer around the existing legal workflow</a:t>
            </a:r>
          </a:p>
        </p:txBody>
      </p:sp>
      <p:sp>
        <p:nvSpPr>
          <p:cNvPr id="4" name="">
            <a:extLst xmlns:a="http://schemas.openxmlformats.org/drawingml/2006/main">
              <a:ext uri="{FF2B5EF4-FFF2-40B4-BE49-F238E27FC236}">
                <a16:creationId xmlns:a16="http://schemas.microsoft.com/office/drawing/2014/main" id="{0DEA7B4D-7080-4984-8D6C-1507C3423079}"/>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5A9373-CEA2-4EE2-95CC-0E621B100D01}"/>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design, subject to provider trials and language evaluation</a:t>
            </a:r>
          </a:p>
        </p:txBody>
      </p:sp>
      <p:sp>
        <p:nvSpPr>
          <p:cNvPr id="6" name="">
            <a:extLst xmlns:a="http://schemas.openxmlformats.org/drawingml/2006/main">
              <a:ext uri="{FF2B5EF4-FFF2-40B4-BE49-F238E27FC236}">
                <a16:creationId xmlns:a16="http://schemas.microsoft.com/office/drawing/2014/main" id="{1005CC2D-BEDC-41A5-893E-C5ACB327C954}"/>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D0F5171E-B3BB-49C8-B97E-A7D643000C84}"/>
              </a:ext>
            </a:extLst>
          </p:cNvPr>
          <p:cNvSpPr>
            <a:spLocks xmlns:a="http://schemas.openxmlformats.org/drawingml/2006/main" noGrp="1"/>
          </p:cNvSpPr>
          <p:nvPr/>
        </p:nvSpPr>
        <p:spPr>
          <a:xfrm xmlns:a="http://schemas.openxmlformats.org/drawingml/2006/main">
            <a:off x="457200" y="2200275"/>
            <a:ext cx="2057400" cy="111442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8" name="">
            <a:extLst xmlns:a="http://schemas.openxmlformats.org/drawingml/2006/main">
              <a:ext uri="{FF2B5EF4-FFF2-40B4-BE49-F238E27FC236}">
                <a16:creationId xmlns:a16="http://schemas.microsoft.com/office/drawing/2014/main" id="{6F990399-E2F4-472C-857B-7F6B03D0B21E}"/>
              </a:ext>
            </a:extLst>
          </p:cNvPr>
          <p:cNvSpPr>
            <a:spLocks xmlns:a="http://schemas.openxmlformats.org/drawingml/2006/main" noGrp="1"/>
          </p:cNvSpPr>
          <p:nvPr/>
        </p:nvSpPr>
        <p:spPr>
          <a:xfrm xmlns:a="http://schemas.openxmlformats.org/drawingml/2006/main">
            <a:off x="590550" y="231457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Language</a:t>
            </a:r>
          </a:p>
        </p:txBody>
      </p:sp>
      <p:sp>
        <p:nvSpPr>
          <p:cNvPr id="9" name="">
            <a:extLst xmlns:a="http://schemas.openxmlformats.org/drawingml/2006/main">
              <a:ext uri="{FF2B5EF4-FFF2-40B4-BE49-F238E27FC236}">
                <a16:creationId xmlns:a16="http://schemas.microsoft.com/office/drawing/2014/main" id="{27E120D1-83F4-4D49-9EA4-6811DBCF5A22}"/>
              </a:ext>
            </a:extLst>
          </p:cNvPr>
          <p:cNvSpPr>
            <a:spLocks xmlns:a="http://schemas.openxmlformats.org/drawingml/2006/main" noGrp="1"/>
          </p:cNvSpPr>
          <p:nvPr/>
        </p:nvSpPr>
        <p:spPr>
          <a:xfrm xmlns:a="http://schemas.openxmlformats.org/drawingml/2006/main">
            <a:off x="590550" y="2686050"/>
            <a:ext cx="1790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Voice or text input</a:t>
            </a:r>
          </a:p>
        </p:txBody>
      </p:sp>
      <p:sp>
        <p:nvSpPr>
          <p:cNvPr id="10" name="">
            <a:extLst xmlns:a="http://schemas.openxmlformats.org/drawingml/2006/main">
              <a:ext uri="{FF2B5EF4-FFF2-40B4-BE49-F238E27FC236}">
                <a16:creationId xmlns:a16="http://schemas.microsoft.com/office/drawing/2014/main" id="{E75E3FC5-BA65-45DD-88E0-A43AAB8EA2BC}"/>
              </a:ext>
            </a:extLst>
          </p:cNvPr>
          <p:cNvSpPr>
            <a:spLocks xmlns:a="http://schemas.openxmlformats.org/drawingml/2006/main" noGrp="1"/>
          </p:cNvSpPr>
          <p:nvPr/>
        </p:nvSpPr>
        <p:spPr>
          <a:xfrm xmlns:a="http://schemas.openxmlformats.org/drawingml/2006/main">
            <a:off x="2895600" y="2200275"/>
            <a:ext cx="2371725" cy="111442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11" name="">
            <a:extLst xmlns:a="http://schemas.openxmlformats.org/drawingml/2006/main">
              <a:ext uri="{FF2B5EF4-FFF2-40B4-BE49-F238E27FC236}">
                <a16:creationId xmlns:a16="http://schemas.microsoft.com/office/drawing/2014/main" id="{CBA34BF5-7D81-43F8-8190-407841DFE7F0}"/>
              </a:ext>
            </a:extLst>
          </p:cNvPr>
          <p:cNvSpPr>
            <a:spLocks xmlns:a="http://schemas.openxmlformats.org/drawingml/2006/main" noGrp="1"/>
          </p:cNvSpPr>
          <p:nvPr/>
        </p:nvSpPr>
        <p:spPr>
          <a:xfrm xmlns:a="http://schemas.openxmlformats.org/drawingml/2006/main">
            <a:off x="3028950" y="2314575"/>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Speech adapter</a:t>
            </a:r>
          </a:p>
        </p:txBody>
      </p:sp>
      <p:sp>
        <p:nvSpPr>
          <p:cNvPr id="12" name="">
            <a:extLst xmlns:a="http://schemas.openxmlformats.org/drawingml/2006/main">
              <a:ext uri="{FF2B5EF4-FFF2-40B4-BE49-F238E27FC236}">
                <a16:creationId xmlns:a16="http://schemas.microsoft.com/office/drawing/2014/main" id="{B28C63B3-79FF-4D08-A053-520A2C3794DE}"/>
              </a:ext>
            </a:extLst>
          </p:cNvPr>
          <p:cNvSpPr>
            <a:spLocks xmlns:a="http://schemas.openxmlformats.org/drawingml/2006/main" noGrp="1"/>
          </p:cNvSpPr>
          <p:nvPr/>
        </p:nvSpPr>
        <p:spPr>
          <a:xfrm xmlns:a="http://schemas.openxmlformats.org/drawingml/2006/main">
            <a:off x="3028950" y="2686050"/>
            <a:ext cx="2105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Language-specific ASR</a:t>
            </a:r>
          </a:p>
        </p:txBody>
      </p:sp>
      <p:sp>
        <p:nvSpPr>
          <p:cNvPr id="13" name="">
            <a:extLst xmlns:a="http://schemas.openxmlformats.org/drawingml/2006/main">
              <a:ext uri="{FF2B5EF4-FFF2-40B4-BE49-F238E27FC236}">
                <a16:creationId xmlns:a16="http://schemas.microsoft.com/office/drawing/2014/main" id="{24CF9F6A-3981-459D-B319-146F57036231}"/>
              </a:ext>
            </a:extLst>
          </p:cNvPr>
          <p:cNvSpPr>
            <a:spLocks xmlns:a="http://schemas.openxmlformats.org/drawingml/2006/main" noGrp="1"/>
          </p:cNvSpPr>
          <p:nvPr/>
        </p:nvSpPr>
        <p:spPr>
          <a:xfrm xmlns:a="http://schemas.openxmlformats.org/drawingml/2006/main">
            <a:off x="5648325" y="2200275"/>
            <a:ext cx="2705100" cy="111442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14" name="">
            <a:extLst xmlns:a="http://schemas.openxmlformats.org/drawingml/2006/main">
              <a:ext uri="{FF2B5EF4-FFF2-40B4-BE49-F238E27FC236}">
                <a16:creationId xmlns:a16="http://schemas.microsoft.com/office/drawing/2014/main" id="{B43AA02D-3ECC-489C-B90E-34DD8DF96682}"/>
              </a:ext>
            </a:extLst>
          </p:cNvPr>
          <p:cNvSpPr>
            <a:spLocks xmlns:a="http://schemas.openxmlformats.org/drawingml/2006/main" noGrp="1"/>
          </p:cNvSpPr>
          <p:nvPr/>
        </p:nvSpPr>
        <p:spPr>
          <a:xfrm xmlns:a="http://schemas.openxmlformats.org/drawingml/2006/main">
            <a:off x="5781675" y="2314575"/>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User confirmation</a:t>
            </a:r>
          </a:p>
        </p:txBody>
      </p:sp>
      <p:sp>
        <p:nvSpPr>
          <p:cNvPr id="15" name="">
            <a:extLst xmlns:a="http://schemas.openxmlformats.org/drawingml/2006/main">
              <a:ext uri="{FF2B5EF4-FFF2-40B4-BE49-F238E27FC236}">
                <a16:creationId xmlns:a16="http://schemas.microsoft.com/office/drawing/2014/main" id="{862E1B8B-375E-4A22-A7F5-B6DFC44D5C04}"/>
              </a:ext>
            </a:extLst>
          </p:cNvPr>
          <p:cNvSpPr>
            <a:spLocks xmlns:a="http://schemas.openxmlformats.org/drawingml/2006/main" noGrp="1"/>
          </p:cNvSpPr>
          <p:nvPr/>
        </p:nvSpPr>
        <p:spPr>
          <a:xfrm xmlns:a="http://schemas.openxmlformats.org/drawingml/2006/main">
            <a:off x="5781675" y="2686050"/>
            <a:ext cx="243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Correct names, dates and amounts</a:t>
            </a:r>
          </a:p>
        </p:txBody>
      </p:sp>
      <p:sp>
        <p:nvSpPr>
          <p:cNvPr id="16" name="">
            <a:extLst xmlns:a="http://schemas.openxmlformats.org/drawingml/2006/main">
              <a:ext uri="{FF2B5EF4-FFF2-40B4-BE49-F238E27FC236}">
                <a16:creationId xmlns:a16="http://schemas.microsoft.com/office/drawing/2014/main" id="{BA0BF8A5-E01D-43D8-BDED-828C03AECEB8}"/>
              </a:ext>
            </a:extLst>
          </p:cNvPr>
          <p:cNvSpPr>
            <a:spLocks xmlns:a="http://schemas.openxmlformats.org/drawingml/2006/main" noGrp="1"/>
          </p:cNvSpPr>
          <p:nvPr/>
        </p:nvSpPr>
        <p:spPr>
          <a:xfrm xmlns:a="http://schemas.openxmlformats.org/drawingml/2006/main">
            <a:off x="8734425" y="2200275"/>
            <a:ext cx="2990850" cy="11144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44FF2AE2-4B6E-4FAC-BCF7-5A28A45FD0B9}"/>
              </a:ext>
            </a:extLst>
          </p:cNvPr>
          <p:cNvSpPr>
            <a:spLocks xmlns:a="http://schemas.openxmlformats.org/drawingml/2006/main" noGrp="1"/>
          </p:cNvSpPr>
          <p:nvPr/>
        </p:nvSpPr>
        <p:spPr>
          <a:xfrm xmlns:a="http://schemas.openxmlformats.org/drawingml/2006/main">
            <a:off x="8867775" y="231457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Legal triage</a:t>
            </a:r>
          </a:p>
        </p:txBody>
      </p:sp>
      <p:sp>
        <p:nvSpPr>
          <p:cNvPr id="18" name="">
            <a:extLst xmlns:a="http://schemas.openxmlformats.org/drawingml/2006/main">
              <a:ext uri="{FF2B5EF4-FFF2-40B4-BE49-F238E27FC236}">
                <a16:creationId xmlns:a16="http://schemas.microsoft.com/office/drawing/2014/main" id="{E3B2907E-1377-4249-84AE-661DF7A62FCE}"/>
              </a:ext>
            </a:extLst>
          </p:cNvPr>
          <p:cNvSpPr>
            <a:spLocks xmlns:a="http://schemas.openxmlformats.org/drawingml/2006/main" noGrp="1"/>
          </p:cNvSpPr>
          <p:nvPr/>
        </p:nvSpPr>
        <p:spPr>
          <a:xfrm xmlns:a="http://schemas.openxmlformats.org/drawingml/2006/main">
            <a:off x="8867775" y="2686050"/>
            <a:ext cx="2724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Reuse and validate structured analysis</a:t>
            </a:r>
          </a:p>
        </p:txBody>
      </p:sp>
      <p:cxnSp>
        <p:nvCxnSpPr>
          <p:cNvPr id="57" name=""/>
          <p:cNvCxnSpPr>
            <a:stCxn xmlns:a="http://schemas.openxmlformats.org/drawingml/2006/main" id="7" idx="3"/>
            <a:endCxn xmlns:a="http://schemas.openxmlformats.org/drawingml/2006/main" id="10" idx="1"/>
          </p:cNvCxnSpPr>
          <p:nvPr/>
        </p:nvCxnSpPr>
        <p:spPr>
          <a:xfrm xmlns:a="http://schemas.openxmlformats.org/drawingml/2006/main">
            <a:off x="2514600" y="2757488"/>
            <a:ext cx="381000" cy="0"/>
          </a:xfrm>
          <a:prstGeom xmlns:a="http://schemas.openxmlformats.org/drawingml/2006/main" prst="straightConnector1">
            <a:avLst/>
          </a:prstGeom>
          <a:ln xmlns:a="http://schemas.openxmlformats.org/drawingml/2006/main" w="22860">
            <a:solidFill>
              <a:srgbClr val="D77A00"/>
            </a:solidFill>
            <a:tailEnd type="triangle" w="med" len="med"/>
          </a:ln>
        </p:spPr>
      </p:cxnSp>
      <p:cxnSp>
        <p:nvCxnSpPr>
          <p:cNvPr id="58" name=""/>
          <p:cNvCxnSpPr>
            <a:stCxn xmlns:a="http://schemas.openxmlformats.org/drawingml/2006/main" id="10" idx="3"/>
            <a:endCxn xmlns:a="http://schemas.openxmlformats.org/drawingml/2006/main" id="13" idx="1"/>
          </p:cNvCxnSpPr>
          <p:nvPr/>
        </p:nvCxnSpPr>
        <p:spPr>
          <a:xfrm xmlns:a="http://schemas.openxmlformats.org/drawingml/2006/main">
            <a:off x="5267325" y="2757488"/>
            <a:ext cx="381000" cy="0"/>
          </a:xfrm>
          <a:prstGeom xmlns:a="http://schemas.openxmlformats.org/drawingml/2006/main" prst="straightConnector1">
            <a:avLst/>
          </a:prstGeom>
          <a:ln xmlns:a="http://schemas.openxmlformats.org/drawingml/2006/main" w="22860">
            <a:solidFill>
              <a:srgbClr val="D77A00"/>
            </a:solidFill>
            <a:tailEnd type="triangle" w="med" len="med"/>
          </a:ln>
        </p:spPr>
      </p:cxnSp>
      <p:cxnSp>
        <p:nvCxnSpPr>
          <p:cNvPr id="59" name=""/>
          <p:cNvCxnSpPr>
            <a:stCxn xmlns:a="http://schemas.openxmlformats.org/drawingml/2006/main" id="13" idx="3"/>
            <a:endCxn xmlns:a="http://schemas.openxmlformats.org/drawingml/2006/main" id="16" idx="1"/>
          </p:cNvCxnSpPr>
          <p:nvPr/>
        </p:nvCxnSpPr>
        <p:spPr>
          <a:xfrm xmlns:a="http://schemas.openxmlformats.org/drawingml/2006/main">
            <a:off x="8353425" y="2757488"/>
            <a:ext cx="381000"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A455304F-0269-4EBD-A9DB-D6FEE32D347C}"/>
              </a:ext>
            </a:extLst>
          </p:cNvPr>
          <p:cNvSpPr>
            <a:spLocks xmlns:a="http://schemas.openxmlformats.org/drawingml/2006/main" noGrp="1"/>
          </p:cNvSpPr>
          <p:nvPr/>
        </p:nvSpPr>
        <p:spPr>
          <a:xfrm xmlns:a="http://schemas.openxmlformats.org/drawingml/2006/main">
            <a:off x="8734425" y="4410075"/>
            <a:ext cx="2990850" cy="124777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23" name="">
            <a:extLst xmlns:a="http://schemas.openxmlformats.org/drawingml/2006/main">
              <a:ext uri="{FF2B5EF4-FFF2-40B4-BE49-F238E27FC236}">
                <a16:creationId xmlns:a16="http://schemas.microsoft.com/office/drawing/2014/main" id="{79F093BD-35D9-43B4-AD0B-C63E2598D275}"/>
              </a:ext>
            </a:extLst>
          </p:cNvPr>
          <p:cNvSpPr>
            <a:spLocks xmlns:a="http://schemas.openxmlformats.org/drawingml/2006/main" noGrp="1"/>
          </p:cNvSpPr>
          <p:nvPr/>
        </p:nvSpPr>
        <p:spPr>
          <a:xfrm xmlns:a="http://schemas.openxmlformats.org/drawingml/2006/main">
            <a:off x="8867775" y="452437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Advocate matching</a:t>
            </a:r>
          </a:p>
        </p:txBody>
      </p:sp>
      <p:sp>
        <p:nvSpPr>
          <p:cNvPr id="24" name="">
            <a:extLst xmlns:a="http://schemas.openxmlformats.org/drawingml/2006/main">
              <a:ext uri="{FF2B5EF4-FFF2-40B4-BE49-F238E27FC236}">
                <a16:creationId xmlns:a16="http://schemas.microsoft.com/office/drawing/2014/main" id="{3C27B61E-5B9F-4AB8-A320-26FE75BCDB81}"/>
              </a:ext>
            </a:extLst>
          </p:cNvPr>
          <p:cNvSpPr>
            <a:spLocks xmlns:a="http://schemas.openxmlformats.org/drawingml/2006/main" noGrp="1"/>
          </p:cNvSpPr>
          <p:nvPr/>
        </p:nvSpPr>
        <p:spPr>
          <a:xfrm xmlns:a="http://schemas.openxmlformats.org/drawingml/2006/main">
            <a:off x="8867775" y="4895850"/>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Expertise + language preference</a:t>
            </a:r>
          </a:p>
        </p:txBody>
      </p:sp>
      <p:sp>
        <p:nvSpPr>
          <p:cNvPr id="25" name="">
            <a:extLst xmlns:a="http://schemas.openxmlformats.org/drawingml/2006/main">
              <a:ext uri="{FF2B5EF4-FFF2-40B4-BE49-F238E27FC236}">
                <a16:creationId xmlns:a16="http://schemas.microsoft.com/office/drawing/2014/main" id="{8F2D09A2-6F9B-40EE-9FDF-485626D4C8B5}"/>
              </a:ext>
            </a:extLst>
          </p:cNvPr>
          <p:cNvSpPr>
            <a:spLocks xmlns:a="http://schemas.openxmlformats.org/drawingml/2006/main" noGrp="1"/>
          </p:cNvSpPr>
          <p:nvPr/>
        </p:nvSpPr>
        <p:spPr>
          <a:xfrm xmlns:a="http://schemas.openxmlformats.org/drawingml/2006/main">
            <a:off x="5648325" y="4410075"/>
            <a:ext cx="2705100" cy="124777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26" name="">
            <a:extLst xmlns:a="http://schemas.openxmlformats.org/drawingml/2006/main">
              <a:ext uri="{FF2B5EF4-FFF2-40B4-BE49-F238E27FC236}">
                <a16:creationId xmlns:a16="http://schemas.microsoft.com/office/drawing/2014/main" id="{B2E4C397-C48A-4D53-BC11-E13428C80F75}"/>
              </a:ext>
            </a:extLst>
          </p:cNvPr>
          <p:cNvSpPr>
            <a:spLocks xmlns:a="http://schemas.openxmlformats.org/drawingml/2006/main" noGrp="1"/>
          </p:cNvSpPr>
          <p:nvPr/>
        </p:nvSpPr>
        <p:spPr>
          <a:xfrm xmlns:a="http://schemas.openxmlformats.org/drawingml/2006/main">
            <a:off x="5781675" y="4524375"/>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Localized response</a:t>
            </a:r>
          </a:p>
        </p:txBody>
      </p:sp>
      <p:sp>
        <p:nvSpPr>
          <p:cNvPr id="27" name="">
            <a:extLst xmlns:a="http://schemas.openxmlformats.org/drawingml/2006/main">
              <a:ext uri="{FF2B5EF4-FFF2-40B4-BE49-F238E27FC236}">
                <a16:creationId xmlns:a16="http://schemas.microsoft.com/office/drawing/2014/main" id="{188F8DED-8784-4559-B21D-5F3D1949581E}"/>
              </a:ext>
            </a:extLst>
          </p:cNvPr>
          <p:cNvSpPr>
            <a:spLocks xmlns:a="http://schemas.openxmlformats.org/drawingml/2006/main" noGrp="1"/>
          </p:cNvSpPr>
          <p:nvPr/>
        </p:nvSpPr>
        <p:spPr>
          <a:xfrm xmlns:a="http://schemas.openxmlformats.org/drawingml/2006/main">
            <a:off x="5781675" y="489585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Preserve facts and flag uncertainty</a:t>
            </a:r>
          </a:p>
        </p:txBody>
      </p:sp>
      <p:sp>
        <p:nvSpPr>
          <p:cNvPr id="28" name="">
            <a:extLst xmlns:a="http://schemas.openxmlformats.org/drawingml/2006/main">
              <a:ext uri="{FF2B5EF4-FFF2-40B4-BE49-F238E27FC236}">
                <a16:creationId xmlns:a16="http://schemas.microsoft.com/office/drawing/2014/main" id="{E6423A07-8398-4A7E-A4AB-254C972860EF}"/>
              </a:ext>
            </a:extLst>
          </p:cNvPr>
          <p:cNvSpPr>
            <a:spLocks xmlns:a="http://schemas.openxmlformats.org/drawingml/2006/main" noGrp="1"/>
          </p:cNvSpPr>
          <p:nvPr/>
        </p:nvSpPr>
        <p:spPr>
          <a:xfrm xmlns:a="http://schemas.openxmlformats.org/drawingml/2006/main">
            <a:off x="2895600" y="4410075"/>
            <a:ext cx="2371725" cy="124777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29" name="">
            <a:extLst xmlns:a="http://schemas.openxmlformats.org/drawingml/2006/main">
              <a:ext uri="{FF2B5EF4-FFF2-40B4-BE49-F238E27FC236}">
                <a16:creationId xmlns:a16="http://schemas.microsoft.com/office/drawing/2014/main" id="{DD894289-89DD-40F7-A3B1-83F1664E5CEC}"/>
              </a:ext>
            </a:extLst>
          </p:cNvPr>
          <p:cNvSpPr>
            <a:spLocks xmlns:a="http://schemas.openxmlformats.org/drawingml/2006/main" noGrp="1"/>
          </p:cNvSpPr>
          <p:nvPr/>
        </p:nvSpPr>
        <p:spPr>
          <a:xfrm xmlns:a="http://schemas.openxmlformats.org/drawingml/2006/main">
            <a:off x="3028950" y="4524375"/>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Speech output</a:t>
            </a:r>
          </a:p>
        </p:txBody>
      </p:sp>
      <p:sp>
        <p:nvSpPr>
          <p:cNvPr id="30" name="">
            <a:extLst xmlns:a="http://schemas.openxmlformats.org/drawingml/2006/main">
              <a:ext uri="{FF2B5EF4-FFF2-40B4-BE49-F238E27FC236}">
                <a16:creationId xmlns:a16="http://schemas.microsoft.com/office/drawing/2014/main" id="{6BDEB7BB-EFB7-4122-8A62-93F07321C6B1}"/>
              </a:ext>
            </a:extLst>
          </p:cNvPr>
          <p:cNvSpPr>
            <a:spLocks xmlns:a="http://schemas.openxmlformats.org/drawingml/2006/main" noGrp="1"/>
          </p:cNvSpPr>
          <p:nvPr/>
        </p:nvSpPr>
        <p:spPr>
          <a:xfrm xmlns:a="http://schemas.openxmlformats.org/drawingml/2006/main">
            <a:off x="3028950" y="4895850"/>
            <a:ext cx="2105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TTS where validated; text remains available</a:t>
            </a:r>
          </a:p>
        </p:txBody>
      </p:sp>
      <p:sp>
        <p:nvSpPr>
          <p:cNvPr id="31" name="">
            <a:extLst xmlns:a="http://schemas.openxmlformats.org/drawingml/2006/main">
              <a:ext uri="{FF2B5EF4-FFF2-40B4-BE49-F238E27FC236}">
                <a16:creationId xmlns:a16="http://schemas.microsoft.com/office/drawing/2014/main" id="{2BD057CF-DB94-4C96-9762-859BF79E27B4}"/>
              </a:ext>
            </a:extLst>
          </p:cNvPr>
          <p:cNvSpPr>
            <a:spLocks xmlns:a="http://schemas.openxmlformats.org/drawingml/2006/main" noGrp="1"/>
          </p:cNvSpPr>
          <p:nvPr/>
        </p:nvSpPr>
        <p:spPr>
          <a:xfrm xmlns:a="http://schemas.openxmlformats.org/drawingml/2006/main">
            <a:off x="457200" y="4410075"/>
            <a:ext cx="2057400" cy="1247775"/>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32" name="">
            <a:extLst xmlns:a="http://schemas.openxmlformats.org/drawingml/2006/main">
              <a:ext uri="{FF2B5EF4-FFF2-40B4-BE49-F238E27FC236}">
                <a16:creationId xmlns:a16="http://schemas.microsoft.com/office/drawing/2014/main" id="{BE6D3E2B-0AF8-4E28-A539-682C253DC982}"/>
              </a:ext>
            </a:extLst>
          </p:cNvPr>
          <p:cNvSpPr>
            <a:spLocks xmlns:a="http://schemas.openxmlformats.org/drawingml/2006/main" noGrp="1"/>
          </p:cNvSpPr>
          <p:nvPr/>
        </p:nvSpPr>
        <p:spPr>
          <a:xfrm xmlns:a="http://schemas.openxmlformats.org/drawingml/2006/main">
            <a:off x="590550" y="452437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User</a:t>
            </a:r>
          </a:p>
        </p:txBody>
      </p:sp>
      <p:sp>
        <p:nvSpPr>
          <p:cNvPr id="33" name="">
            <a:extLst xmlns:a="http://schemas.openxmlformats.org/drawingml/2006/main">
              <a:ext uri="{FF2B5EF4-FFF2-40B4-BE49-F238E27FC236}">
                <a16:creationId xmlns:a16="http://schemas.microsoft.com/office/drawing/2014/main" id="{D867DAC9-3F99-4020-8E7A-48BDB60B9EFB}"/>
              </a:ext>
            </a:extLst>
          </p:cNvPr>
          <p:cNvSpPr>
            <a:spLocks xmlns:a="http://schemas.openxmlformats.org/drawingml/2006/main" noGrp="1"/>
          </p:cNvSpPr>
          <p:nvPr/>
        </p:nvSpPr>
        <p:spPr>
          <a:xfrm xmlns:a="http://schemas.openxmlformats.org/drawingml/2006/main">
            <a:off x="590550" y="4895850"/>
            <a:ext cx="1790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Read or listen</a:t>
            </a:r>
          </a:p>
        </p:txBody>
      </p:sp>
      <p:cxnSp>
        <p:nvCxnSpPr>
          <p:cNvPr id="72" name=""/>
          <p:cNvCxnSpPr>
            <a:stCxn xmlns:a="http://schemas.openxmlformats.org/drawingml/2006/main" id="16" idx="2"/>
            <a:endCxn xmlns:a="http://schemas.openxmlformats.org/drawingml/2006/main" id="22" idx="0"/>
          </p:cNvCxnSpPr>
          <p:nvPr/>
        </p:nvCxnSpPr>
        <p:spPr>
          <a:xfrm xmlns:a="http://schemas.openxmlformats.org/drawingml/2006/main">
            <a:off x="10229850" y="3314700"/>
            <a:ext cx="0" cy="109537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3" name=""/>
          <p:cNvCxnSpPr>
            <a:stCxn xmlns:a="http://schemas.openxmlformats.org/drawingml/2006/main" id="22" idx="1"/>
            <a:endCxn xmlns:a="http://schemas.openxmlformats.org/drawingml/2006/main" id="25" idx="3"/>
          </p:cNvCxnSpPr>
          <p:nvPr/>
        </p:nvCxnSpPr>
        <p:spPr>
          <a:xfrm xmlns:a="http://schemas.openxmlformats.org/drawingml/2006/main" flipH="1">
            <a:off x="8353425" y="5033963"/>
            <a:ext cx="381000" cy="0"/>
          </a:xfrm>
          <a:prstGeom xmlns:a="http://schemas.openxmlformats.org/drawingml/2006/main" prst="straightConnector1">
            <a:avLst/>
          </a:prstGeom>
          <a:ln xmlns:a="http://schemas.openxmlformats.org/drawingml/2006/main" w="22860">
            <a:solidFill>
              <a:srgbClr val="D77A00"/>
            </a:solidFill>
            <a:tailEnd type="triangle" w="med" len="med"/>
          </a:ln>
        </p:spPr>
      </p:cxnSp>
      <p:cxnSp>
        <p:nvCxnSpPr>
          <p:cNvPr id="74" name=""/>
          <p:cNvCxnSpPr>
            <a:stCxn xmlns:a="http://schemas.openxmlformats.org/drawingml/2006/main" id="25" idx="1"/>
            <a:endCxn xmlns:a="http://schemas.openxmlformats.org/drawingml/2006/main" id="28" idx="3"/>
          </p:cNvCxnSpPr>
          <p:nvPr/>
        </p:nvCxnSpPr>
        <p:spPr>
          <a:xfrm xmlns:a="http://schemas.openxmlformats.org/drawingml/2006/main" flipH="1">
            <a:off x="5267325" y="5033963"/>
            <a:ext cx="381000" cy="0"/>
          </a:xfrm>
          <a:prstGeom xmlns:a="http://schemas.openxmlformats.org/drawingml/2006/main" prst="straightConnector1">
            <a:avLst/>
          </a:prstGeom>
          <a:ln xmlns:a="http://schemas.openxmlformats.org/drawingml/2006/main" w="22860">
            <a:solidFill>
              <a:srgbClr val="D77A00"/>
            </a:solidFill>
            <a:tailEnd type="triangle" w="med" len="med"/>
          </a:ln>
        </p:spPr>
      </p:cxnSp>
      <p:cxnSp>
        <p:nvCxnSpPr>
          <p:cNvPr id="75" name=""/>
          <p:cNvCxnSpPr>
            <a:stCxn xmlns:a="http://schemas.openxmlformats.org/drawingml/2006/main" id="28" idx="1"/>
            <a:endCxn xmlns:a="http://schemas.openxmlformats.org/drawingml/2006/main" id="31" idx="3"/>
          </p:cNvCxnSpPr>
          <p:nvPr/>
        </p:nvCxnSpPr>
        <p:spPr>
          <a:xfrm xmlns:a="http://schemas.openxmlformats.org/drawingml/2006/main" flipH="1">
            <a:off x="2514600" y="5033963"/>
            <a:ext cx="381000" cy="0"/>
          </a:xfrm>
          <a:prstGeom xmlns:a="http://schemas.openxmlformats.org/drawingml/2006/main" prst="straightConnector1">
            <a:avLst/>
          </a:prstGeom>
          <a:ln xmlns:a="http://schemas.openxmlformats.org/drawingml/2006/main" w="22860">
            <a:solidFill>
              <a:srgbClr val="D77A00"/>
            </a:solidFill>
            <a:tailEnd type="triangle" w="med" len="med"/>
          </a:ln>
        </p:spPr>
      </p:cxnSp>
      <p:sp>
        <p:nvSpPr>
          <p:cNvPr id="38" name="">
            <a:extLst xmlns:a="http://schemas.openxmlformats.org/drawingml/2006/main">
              <a:ext uri="{FF2B5EF4-FFF2-40B4-BE49-F238E27FC236}">
                <a16:creationId xmlns:a16="http://schemas.microsoft.com/office/drawing/2014/main" id="{823F51E5-DE26-413A-B265-F135F1FA47F9}"/>
              </a:ext>
            </a:extLst>
          </p:cNvPr>
          <p:cNvSpPr>
            <a:spLocks xmlns:a="http://schemas.openxmlformats.org/drawingml/2006/main" noGrp="1"/>
          </p:cNvSpPr>
          <p:nvPr/>
        </p:nvSpPr>
        <p:spPr>
          <a:xfrm xmlns:a="http://schemas.openxmlformats.org/drawingml/2006/main">
            <a:off x="457200" y="5915025"/>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Provider routing and translation, where needed, sit behind the language adapters.</a:t>
            </a:r>
          </a:p>
        </p:txBody>
      </p:sp>
    </p:spTree>
    <p:extLst>
      <p:ext uri="{BB962C8B-B14F-4D97-AF65-F5344CB8AC3E}">
        <p14:creationId xmlns:p14="http://schemas.microsoft.com/office/powerpoint/2010/main" val="20732510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F218A44-1595-44CD-95E2-304F21F2F21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E9CC0EC1-9B65-41EF-B1B5-4CDBB51FBDBB}"/>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LANGUAGE COVERAGE TARGET</a:t>
            </a:r>
          </a:p>
        </p:txBody>
      </p:sp>
      <p:sp>
        <p:nvSpPr>
          <p:cNvPr id="3" name="">
            <a:extLst xmlns:a="http://schemas.openxmlformats.org/drawingml/2006/main">
              <a:ext uri="{FF2B5EF4-FFF2-40B4-BE49-F238E27FC236}">
                <a16:creationId xmlns:a16="http://schemas.microsoft.com/office/drawing/2014/main" id="{87031DDA-1AC6-4C8B-84A1-0B3B872C7D16}"/>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22 scheduled languages, with English retained as an additional language</a:t>
            </a:r>
          </a:p>
        </p:txBody>
      </p:sp>
      <p:sp>
        <p:nvSpPr>
          <p:cNvPr id="4" name="">
            <a:extLst xmlns:a="http://schemas.openxmlformats.org/drawingml/2006/main">
              <a:ext uri="{FF2B5EF4-FFF2-40B4-BE49-F238E27FC236}">
                <a16:creationId xmlns:a16="http://schemas.microsoft.com/office/drawing/2014/main" id="{7B50C6D4-B69F-406B-A782-24CB2902FA07}"/>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577BCD-22CC-431C-BD8A-7C61709AE062}"/>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Target coverage; language-by-language validation remains required</a:t>
            </a:r>
          </a:p>
        </p:txBody>
      </p:sp>
      <p:sp>
        <p:nvSpPr>
          <p:cNvPr id="6" name="">
            <a:extLst xmlns:a="http://schemas.openxmlformats.org/drawingml/2006/main">
              <a:ext uri="{FF2B5EF4-FFF2-40B4-BE49-F238E27FC236}">
                <a16:creationId xmlns:a16="http://schemas.microsoft.com/office/drawing/2014/main" id="{D4C85F85-09C4-4266-AB68-4B6D6FA46232}"/>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F7D31760-A515-49EA-97EF-6E6AD7606DD6}"/>
              </a:ext>
            </a:extLst>
          </p:cNvPr>
          <p:cNvSpPr>
            <a:spLocks xmlns:a="http://schemas.openxmlformats.org/drawingml/2006/main" noGrp="1"/>
          </p:cNvSpPr>
          <p:nvPr/>
        </p:nvSpPr>
        <p:spPr>
          <a:xfrm xmlns:a="http://schemas.openxmlformats.org/drawingml/2006/main">
            <a:off x="495300" y="185737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7500" b="1">
                <a:solidFill>
                  <a:srgbClr val="203F91"/>
                </a:solidFill>
                <a:latin typeface="Georgia"/>
                <a:ea typeface="Georgia"/>
                <a:cs typeface="Georgia"/>
              </a:defRPr>
            </a:pPr>
            <a:r>
              <a:rPr sz="7500" b="1">
                <a:solidFill>
                  <a:srgbClr val="203F91"/>
                </a:solidFill>
                <a:latin typeface="Georgia"/>
                <a:ea typeface="Georgia"/>
                <a:cs typeface="Georgia"/>
              </a:rPr>
              <a:t>22</a:t>
            </a:r>
          </a:p>
        </p:txBody>
      </p:sp>
      <p:sp>
        <p:nvSpPr>
          <p:cNvPr id="8" name="">
            <a:extLst xmlns:a="http://schemas.openxmlformats.org/drawingml/2006/main">
              <a:ext uri="{FF2B5EF4-FFF2-40B4-BE49-F238E27FC236}">
                <a16:creationId xmlns:a16="http://schemas.microsoft.com/office/drawing/2014/main" id="{E28DF845-7857-4B90-A2AC-D971861917B7}"/>
              </a:ext>
            </a:extLst>
          </p:cNvPr>
          <p:cNvSpPr>
            <a:spLocks xmlns:a="http://schemas.openxmlformats.org/drawingml/2006/main" noGrp="1"/>
          </p:cNvSpPr>
          <p:nvPr/>
        </p:nvSpPr>
        <p:spPr>
          <a:xfrm xmlns:a="http://schemas.openxmlformats.org/drawingml/2006/main">
            <a:off x="495300" y="31432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F91"/>
                </a:solidFill>
                <a:latin typeface="Arial"/>
                <a:ea typeface="Arial"/>
                <a:cs typeface="Arial"/>
              </a:defRPr>
            </a:pPr>
            <a:r>
              <a:rPr sz="2025" b="1">
                <a:solidFill>
                  <a:srgbClr val="203F91"/>
                </a:solidFill>
                <a:latin typeface="Arial"/>
                <a:ea typeface="Arial"/>
                <a:cs typeface="Arial"/>
              </a:rPr>
              <a:t>scheduled languages</a:t>
            </a:r>
          </a:p>
        </p:txBody>
      </p:sp>
      <p:sp>
        <p:nvSpPr>
          <p:cNvPr id="9" name="">
            <a:extLst xmlns:a="http://schemas.openxmlformats.org/drawingml/2006/main">
              <a:ext uri="{FF2B5EF4-FFF2-40B4-BE49-F238E27FC236}">
                <a16:creationId xmlns:a16="http://schemas.microsoft.com/office/drawing/2014/main" id="{0CA3B6A9-2604-4AC2-9A19-EFEBDF323476}"/>
              </a:ext>
            </a:extLst>
          </p:cNvPr>
          <p:cNvSpPr>
            <a:spLocks xmlns:a="http://schemas.openxmlformats.org/drawingml/2006/main" noGrp="1"/>
          </p:cNvSpPr>
          <p:nvPr/>
        </p:nvSpPr>
        <p:spPr>
          <a:xfrm xmlns:a="http://schemas.openxmlformats.org/drawingml/2006/main">
            <a:off x="504825" y="3924300"/>
            <a:ext cx="285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Hindi is already in the target set.</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English remains additional.</a:t>
            </a:r>
          </a:p>
        </p:txBody>
      </p:sp>
      <p:sp>
        <p:nvSpPr>
          <p:cNvPr id="10" name="">
            <a:extLst xmlns:a="http://schemas.openxmlformats.org/drawingml/2006/main">
              <a:ext uri="{FF2B5EF4-FFF2-40B4-BE49-F238E27FC236}">
                <a16:creationId xmlns:a16="http://schemas.microsoft.com/office/drawing/2014/main" id="{1FE81B7E-3C7B-4A48-9768-3A26711FB457}"/>
              </a:ext>
            </a:extLst>
          </p:cNvPr>
          <p:cNvSpPr>
            <a:spLocks xmlns:a="http://schemas.openxmlformats.org/drawingml/2006/main" noGrp="1"/>
          </p:cNvSpPr>
          <p:nvPr/>
        </p:nvSpPr>
        <p:spPr>
          <a:xfrm xmlns:a="http://schemas.openxmlformats.org/drawingml/2006/main">
            <a:off x="3829050"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896D3DD-0534-4585-9630-52540387752F}"/>
              </a:ext>
            </a:extLst>
          </p:cNvPr>
          <p:cNvSpPr>
            <a:spLocks xmlns:a="http://schemas.openxmlformats.org/drawingml/2006/main" noGrp="1"/>
          </p:cNvSpPr>
          <p:nvPr/>
        </p:nvSpPr>
        <p:spPr>
          <a:xfrm xmlns:a="http://schemas.openxmlformats.org/drawingml/2006/main">
            <a:off x="3829050"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Assamese</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Bengali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Bodo</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Dogri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Gujarati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Hindi</a:t>
            </a:r>
          </a:p>
        </p:txBody>
      </p:sp>
      <p:sp>
        <p:nvSpPr>
          <p:cNvPr id="12" name="">
            <a:extLst xmlns:a="http://schemas.openxmlformats.org/drawingml/2006/main">
              <a:ext uri="{FF2B5EF4-FFF2-40B4-BE49-F238E27FC236}">
                <a16:creationId xmlns:a16="http://schemas.microsoft.com/office/drawing/2014/main" id="{08104EA3-0023-45BA-91CB-1DB7199B7A5E}"/>
              </a:ext>
            </a:extLst>
          </p:cNvPr>
          <p:cNvSpPr>
            <a:spLocks xmlns:a="http://schemas.openxmlformats.org/drawingml/2006/main" noGrp="1"/>
          </p:cNvSpPr>
          <p:nvPr/>
        </p:nvSpPr>
        <p:spPr>
          <a:xfrm xmlns:a="http://schemas.openxmlformats.org/drawingml/2006/main">
            <a:off x="5819775"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6DCCAE6-9F20-407A-BE3A-FE324CB45D41}"/>
              </a:ext>
            </a:extLst>
          </p:cNvPr>
          <p:cNvSpPr>
            <a:spLocks xmlns:a="http://schemas.openxmlformats.org/drawingml/2006/main" noGrp="1"/>
          </p:cNvSpPr>
          <p:nvPr/>
        </p:nvSpPr>
        <p:spPr>
          <a:xfrm xmlns:a="http://schemas.openxmlformats.org/drawingml/2006/main">
            <a:off x="5819775"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Kannada</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Kashmiri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Konkani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Maithili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Malayalam</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Manipuri</a:t>
            </a:r>
          </a:p>
        </p:txBody>
      </p:sp>
      <p:sp>
        <p:nvSpPr>
          <p:cNvPr id="14" name="">
            <a:extLst xmlns:a="http://schemas.openxmlformats.org/drawingml/2006/main">
              <a:ext uri="{FF2B5EF4-FFF2-40B4-BE49-F238E27FC236}">
                <a16:creationId xmlns:a16="http://schemas.microsoft.com/office/drawing/2014/main" id="{F432F595-CFF9-4B07-890C-E9C87C24FF4A}"/>
              </a:ext>
            </a:extLst>
          </p:cNvPr>
          <p:cNvSpPr>
            <a:spLocks xmlns:a="http://schemas.openxmlformats.org/drawingml/2006/main" noGrp="1"/>
          </p:cNvSpPr>
          <p:nvPr/>
        </p:nvSpPr>
        <p:spPr>
          <a:xfrm xmlns:a="http://schemas.openxmlformats.org/drawingml/2006/main">
            <a:off x="7810500"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538C389-9A30-4A2A-8297-BC1C3DC2E2D9}"/>
              </a:ext>
            </a:extLst>
          </p:cNvPr>
          <p:cNvSpPr>
            <a:spLocks xmlns:a="http://schemas.openxmlformats.org/drawingml/2006/main" noGrp="1"/>
          </p:cNvSpPr>
          <p:nvPr/>
        </p:nvSpPr>
        <p:spPr>
          <a:xfrm xmlns:a="http://schemas.openxmlformats.org/drawingml/2006/main">
            <a:off x="7810500"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Marathi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Nepali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Odia</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Punjabi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Sanskrit</a:t>
            </a:r>
          </a:p>
        </p:txBody>
      </p:sp>
      <p:sp>
        <p:nvSpPr>
          <p:cNvPr id="16" name="">
            <a:extLst xmlns:a="http://schemas.openxmlformats.org/drawingml/2006/main">
              <a:ext uri="{FF2B5EF4-FFF2-40B4-BE49-F238E27FC236}">
                <a16:creationId xmlns:a16="http://schemas.microsoft.com/office/drawing/2014/main" id="{79065686-B5B6-449D-B202-9456A098D552}"/>
              </a:ext>
            </a:extLst>
          </p:cNvPr>
          <p:cNvSpPr>
            <a:spLocks xmlns:a="http://schemas.openxmlformats.org/drawingml/2006/main" noGrp="1"/>
          </p:cNvSpPr>
          <p:nvPr/>
        </p:nvSpPr>
        <p:spPr>
          <a:xfrm xmlns:a="http://schemas.openxmlformats.org/drawingml/2006/main">
            <a:off x="9801225" y="2000250"/>
            <a:ext cx="1724025" cy="19050"/>
          </a:xfrm>
          <a:prstGeom xmlns:a="http://schemas.openxmlformats.org/drawingml/2006/main" prst="rect">
            <a:avLst/>
          </a:prstGeom>
          <a:solidFill xmlns:a="http://schemas.openxmlformats.org/drawingml/2006/main">
            <a:srgbClr val="D77A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4093B4-C93C-435E-82C5-9B6F5D769F84}"/>
              </a:ext>
            </a:extLst>
          </p:cNvPr>
          <p:cNvSpPr>
            <a:spLocks xmlns:a="http://schemas.openxmlformats.org/drawingml/2006/main" noGrp="1"/>
          </p:cNvSpPr>
          <p:nvPr/>
        </p:nvSpPr>
        <p:spPr>
          <a:xfrm xmlns:a="http://schemas.openxmlformats.org/drawingml/2006/main">
            <a:off x="9801225"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Santali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Sindhi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Tamil</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Telugu</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Urdu</a:t>
            </a:r>
          </a:p>
        </p:txBody>
      </p:sp>
      <p:sp>
        <p:nvSpPr>
          <p:cNvPr id="18" name="">
            <a:extLst xmlns:a="http://schemas.openxmlformats.org/drawingml/2006/main">
              <a:ext uri="{FF2B5EF4-FFF2-40B4-BE49-F238E27FC236}">
                <a16:creationId xmlns:a16="http://schemas.microsoft.com/office/drawing/2014/main" id="{DBEA8CE0-DCF5-4BD1-984F-46E09F9198A7}"/>
              </a:ext>
            </a:extLst>
          </p:cNvPr>
          <p:cNvSpPr>
            <a:spLocks xmlns:a="http://schemas.openxmlformats.org/drawingml/2006/main" noGrp="1"/>
          </p:cNvSpPr>
          <p:nvPr/>
        </p:nvSpPr>
        <p:spPr>
          <a:xfrm xmlns:a="http://schemas.openxmlformats.org/drawingml/2006/main">
            <a:off x="485775" y="583882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Coverage checklist: recognition, text quality, playback, interface and user testing</a:t>
            </a:r>
          </a:p>
        </p:txBody>
      </p:sp>
    </p:spTree>
    <p:extLst>
      <p:ext uri="{BB962C8B-B14F-4D97-AF65-F5344CB8AC3E}">
        <p14:creationId xmlns:p14="http://schemas.microsoft.com/office/powerpoint/2010/main" val="46332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A431183-019C-4176-BB13-EB3E222D69CB}"/>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5C1DFE40-8FE7-48AD-97DB-FDB64655CDD4}"/>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DATA MODEL AND BOOKING FLOW</a:t>
            </a:r>
          </a:p>
        </p:txBody>
      </p:sp>
      <p:sp>
        <p:nvSpPr>
          <p:cNvPr id="3" name="">
            <a:extLst xmlns:a="http://schemas.openxmlformats.org/drawingml/2006/main">
              <a:ext uri="{FF2B5EF4-FFF2-40B4-BE49-F238E27FC236}">
                <a16:creationId xmlns:a16="http://schemas.microsoft.com/office/drawing/2014/main" id="{6BBE0EAE-CC6F-4E0F-99AE-95AECB78CB7A}"/>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Persistent records connect users, advocates and payment status</a:t>
            </a:r>
          </a:p>
        </p:txBody>
      </p:sp>
      <p:sp>
        <p:nvSpPr>
          <p:cNvPr id="4" name="">
            <a:extLst xmlns:a="http://schemas.openxmlformats.org/drawingml/2006/main">
              <a:ext uri="{FF2B5EF4-FFF2-40B4-BE49-F238E27FC236}">
                <a16:creationId xmlns:a16="http://schemas.microsoft.com/office/drawing/2014/main" id="{C259D012-D0F0-427A-AA25-3B5845158F27}"/>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93541A-C46E-44E8-8F54-0D2560B62C20}"/>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A1CAF492-3261-493E-9983-8DDDEEBE299B}"/>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BF7E1688-6739-493E-8516-9A21CF34D2B6}"/>
              </a:ext>
            </a:extLst>
          </p:cNvPr>
          <p:cNvSpPr>
            <a:spLocks xmlns:a="http://schemas.openxmlformats.org/drawingml/2006/main" noGrp="1"/>
          </p:cNvSpPr>
          <p:nvPr/>
        </p:nvSpPr>
        <p:spPr>
          <a:xfrm xmlns:a="http://schemas.openxmlformats.org/drawingml/2006/main">
            <a:off x="457200" y="2066925"/>
            <a:ext cx="2933700" cy="13811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4C127DDA-B7FD-4C0F-9FC4-9A72954943D4}"/>
              </a:ext>
            </a:extLst>
          </p:cNvPr>
          <p:cNvSpPr>
            <a:spLocks xmlns:a="http://schemas.openxmlformats.org/drawingml/2006/main" noGrp="1"/>
          </p:cNvSpPr>
          <p:nvPr/>
        </p:nvSpPr>
        <p:spPr>
          <a:xfrm xmlns:a="http://schemas.openxmlformats.org/drawingml/2006/main">
            <a:off x="590550" y="21812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User</a:t>
            </a:r>
          </a:p>
        </p:txBody>
      </p:sp>
      <p:sp>
        <p:nvSpPr>
          <p:cNvPr id="9" name="">
            <a:extLst xmlns:a="http://schemas.openxmlformats.org/drawingml/2006/main">
              <a:ext uri="{FF2B5EF4-FFF2-40B4-BE49-F238E27FC236}">
                <a16:creationId xmlns:a16="http://schemas.microsoft.com/office/drawing/2014/main" id="{A02BAE18-1CF0-4004-A5C3-97B5C717B93B}"/>
              </a:ext>
            </a:extLst>
          </p:cNvPr>
          <p:cNvSpPr>
            <a:spLocks xmlns:a="http://schemas.openxmlformats.org/drawingml/2006/main" noGrp="1"/>
          </p:cNvSpPr>
          <p:nvPr/>
        </p:nvSpPr>
        <p:spPr>
          <a:xfrm xmlns:a="http://schemas.openxmlformats.org/drawingml/2006/main">
            <a:off x="590550" y="2552700"/>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Name, phone, email</a:t>
            </a:r>
          </a:p>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Preferred language</a:t>
            </a:r>
          </a:p>
        </p:txBody>
      </p:sp>
      <p:sp>
        <p:nvSpPr>
          <p:cNvPr id="10" name="">
            <a:extLst xmlns:a="http://schemas.openxmlformats.org/drawingml/2006/main">
              <a:ext uri="{FF2B5EF4-FFF2-40B4-BE49-F238E27FC236}">
                <a16:creationId xmlns:a16="http://schemas.microsoft.com/office/drawing/2014/main" id="{C2CF750F-C90E-4177-BE29-184FB2AC02AB}"/>
              </a:ext>
            </a:extLst>
          </p:cNvPr>
          <p:cNvSpPr>
            <a:spLocks xmlns:a="http://schemas.openxmlformats.org/drawingml/2006/main" noGrp="1"/>
          </p:cNvSpPr>
          <p:nvPr/>
        </p:nvSpPr>
        <p:spPr>
          <a:xfrm xmlns:a="http://schemas.openxmlformats.org/drawingml/2006/main">
            <a:off x="4657725" y="2066925"/>
            <a:ext cx="2933700" cy="13811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0D9E8091-0D8C-40CB-A1A3-0249AEA51D5D}"/>
              </a:ext>
            </a:extLst>
          </p:cNvPr>
          <p:cNvSpPr>
            <a:spLocks xmlns:a="http://schemas.openxmlformats.org/drawingml/2006/main" noGrp="1"/>
          </p:cNvSpPr>
          <p:nvPr/>
        </p:nvSpPr>
        <p:spPr>
          <a:xfrm xmlns:a="http://schemas.openxmlformats.org/drawingml/2006/main">
            <a:off x="4791075" y="21812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Booking</a:t>
            </a:r>
          </a:p>
        </p:txBody>
      </p:sp>
      <p:sp>
        <p:nvSpPr>
          <p:cNvPr id="12" name="">
            <a:extLst xmlns:a="http://schemas.openxmlformats.org/drawingml/2006/main">
              <a:ext uri="{FF2B5EF4-FFF2-40B4-BE49-F238E27FC236}">
                <a16:creationId xmlns:a16="http://schemas.microsoft.com/office/drawing/2014/main" id="{65F83FBF-76A7-43D0-9229-07BAD5722E56}"/>
              </a:ext>
            </a:extLst>
          </p:cNvPr>
          <p:cNvSpPr>
            <a:spLocks xmlns:a="http://schemas.openxmlformats.org/drawingml/2006/main" noGrp="1"/>
          </p:cNvSpPr>
          <p:nvPr/>
        </p:nvSpPr>
        <p:spPr>
          <a:xfrm xmlns:a="http://schemas.openxmlformats.org/drawingml/2006/main">
            <a:off x="4791075" y="2552700"/>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User ID, advocate ID, time</a:t>
            </a:r>
          </a:p>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Status, amount, payment IDs</a:t>
            </a:r>
          </a:p>
        </p:txBody>
      </p:sp>
      <p:sp>
        <p:nvSpPr>
          <p:cNvPr id="13" name="">
            <a:extLst xmlns:a="http://schemas.openxmlformats.org/drawingml/2006/main">
              <a:ext uri="{FF2B5EF4-FFF2-40B4-BE49-F238E27FC236}">
                <a16:creationId xmlns:a16="http://schemas.microsoft.com/office/drawing/2014/main" id="{B75811ED-3B14-4EC1-91FE-93FF369CC9B7}"/>
              </a:ext>
            </a:extLst>
          </p:cNvPr>
          <p:cNvSpPr>
            <a:spLocks xmlns:a="http://schemas.openxmlformats.org/drawingml/2006/main" noGrp="1"/>
          </p:cNvSpPr>
          <p:nvPr/>
        </p:nvSpPr>
        <p:spPr>
          <a:xfrm xmlns:a="http://schemas.openxmlformats.org/drawingml/2006/main">
            <a:off x="8858250" y="2066925"/>
            <a:ext cx="2876550" cy="138112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FB49371A-02B1-4E50-A18C-4DFB06CDF5FF}"/>
              </a:ext>
            </a:extLst>
          </p:cNvPr>
          <p:cNvSpPr>
            <a:spLocks xmlns:a="http://schemas.openxmlformats.org/drawingml/2006/main" noGrp="1"/>
          </p:cNvSpPr>
          <p:nvPr/>
        </p:nvSpPr>
        <p:spPr>
          <a:xfrm xmlns:a="http://schemas.openxmlformats.org/drawingml/2006/main">
            <a:off x="8991600" y="21812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Advocate</a:t>
            </a:r>
          </a:p>
        </p:txBody>
      </p:sp>
      <p:sp>
        <p:nvSpPr>
          <p:cNvPr id="15" name="">
            <a:extLst xmlns:a="http://schemas.openxmlformats.org/drawingml/2006/main">
              <a:ext uri="{FF2B5EF4-FFF2-40B4-BE49-F238E27FC236}">
                <a16:creationId xmlns:a16="http://schemas.microsoft.com/office/drawing/2014/main" id="{CF2572E5-A76B-4C87-9120-B7162240309D}"/>
              </a:ext>
            </a:extLst>
          </p:cNvPr>
          <p:cNvSpPr>
            <a:spLocks xmlns:a="http://schemas.openxmlformats.org/drawingml/2006/main" noGrp="1"/>
          </p:cNvSpPr>
          <p:nvPr/>
        </p:nvSpPr>
        <p:spPr>
          <a:xfrm xmlns:a="http://schemas.openxmlformats.org/drawingml/2006/main">
            <a:off x="8991600" y="25527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Expertise, rating, languages</a:t>
            </a:r>
          </a:p>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Experience, availability</a:t>
            </a:r>
          </a:p>
        </p:txBody>
      </p:sp>
      <p:cxnSp>
        <p:nvCxnSpPr>
          <p:cNvPr id="53" name=""/>
          <p:cNvCxnSpPr>
            <a:stCxn xmlns:a="http://schemas.openxmlformats.org/drawingml/2006/main" id="7" idx="3"/>
            <a:endCxn xmlns:a="http://schemas.openxmlformats.org/drawingml/2006/main" id="10" idx="1"/>
          </p:cNvCxnSpPr>
          <p:nvPr/>
        </p:nvCxnSpPr>
        <p:spPr>
          <a:xfrm xmlns:a="http://schemas.openxmlformats.org/drawingml/2006/main">
            <a:off x="3390900" y="2757488"/>
            <a:ext cx="12668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4" name=""/>
          <p:cNvCxnSpPr>
            <a:stCxn xmlns:a="http://schemas.openxmlformats.org/drawingml/2006/main" id="13" idx="1"/>
            <a:endCxn xmlns:a="http://schemas.openxmlformats.org/drawingml/2006/main" id="10" idx="3"/>
          </p:cNvCxnSpPr>
          <p:nvPr/>
        </p:nvCxnSpPr>
        <p:spPr>
          <a:xfrm xmlns:a="http://schemas.openxmlformats.org/drawingml/2006/main" flipH="1">
            <a:off x="7591425" y="2757488"/>
            <a:ext cx="126682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18" name="">
            <a:extLst xmlns:a="http://schemas.openxmlformats.org/drawingml/2006/main">
              <a:ext uri="{FF2B5EF4-FFF2-40B4-BE49-F238E27FC236}">
                <a16:creationId xmlns:a16="http://schemas.microsoft.com/office/drawing/2014/main" id="{963B9B61-94C2-4EC2-94F2-67A7913E8365}"/>
              </a:ext>
            </a:extLst>
          </p:cNvPr>
          <p:cNvSpPr>
            <a:spLocks xmlns:a="http://schemas.openxmlformats.org/drawingml/2006/main" noGrp="1"/>
          </p:cNvSpPr>
          <p:nvPr/>
        </p:nvSpPr>
        <p:spPr>
          <a:xfrm xmlns:a="http://schemas.openxmlformats.org/drawingml/2006/main">
            <a:off x="3438525" y="2295525"/>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1 to many</a:t>
            </a:r>
          </a:p>
        </p:txBody>
      </p:sp>
      <p:sp>
        <p:nvSpPr>
          <p:cNvPr id="19" name="">
            <a:extLst xmlns:a="http://schemas.openxmlformats.org/drawingml/2006/main">
              <a:ext uri="{FF2B5EF4-FFF2-40B4-BE49-F238E27FC236}">
                <a16:creationId xmlns:a16="http://schemas.microsoft.com/office/drawing/2014/main" id="{E5AAAA8C-BAC9-4C2B-86CA-5181DD74DF37}"/>
              </a:ext>
            </a:extLst>
          </p:cNvPr>
          <p:cNvSpPr>
            <a:spLocks xmlns:a="http://schemas.openxmlformats.org/drawingml/2006/main" noGrp="1"/>
          </p:cNvSpPr>
          <p:nvPr/>
        </p:nvSpPr>
        <p:spPr>
          <a:xfrm xmlns:a="http://schemas.openxmlformats.org/drawingml/2006/main">
            <a:off x="7639050" y="2295525"/>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many to 1</a:t>
            </a:r>
          </a:p>
        </p:txBody>
      </p:sp>
      <p:sp>
        <p:nvSpPr>
          <p:cNvPr id="20" name="">
            <a:extLst xmlns:a="http://schemas.openxmlformats.org/drawingml/2006/main">
              <a:ext uri="{FF2B5EF4-FFF2-40B4-BE49-F238E27FC236}">
                <a16:creationId xmlns:a16="http://schemas.microsoft.com/office/drawing/2014/main" id="{2685B5E5-19DB-4FC5-A2D1-BBA7F62C9ABC}"/>
              </a:ext>
            </a:extLst>
          </p:cNvPr>
          <p:cNvSpPr>
            <a:spLocks xmlns:a="http://schemas.openxmlformats.org/drawingml/2006/main" noGrp="1"/>
          </p:cNvSpPr>
          <p:nvPr/>
        </p:nvSpPr>
        <p:spPr>
          <a:xfrm xmlns:a="http://schemas.openxmlformats.org/drawingml/2006/main">
            <a:off x="457200" y="4048125"/>
            <a:ext cx="11258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PAYMENT SEQUENCE</a:t>
            </a:r>
          </a:p>
        </p:txBody>
      </p:sp>
      <p:sp>
        <p:nvSpPr>
          <p:cNvPr id="21" name="">
            <a:extLst xmlns:a="http://schemas.openxmlformats.org/drawingml/2006/main">
              <a:ext uri="{FF2B5EF4-FFF2-40B4-BE49-F238E27FC236}">
                <a16:creationId xmlns:a16="http://schemas.microsoft.com/office/drawing/2014/main" id="{B65D219F-EC5D-4D92-AB8A-DA7BD1126D2C}"/>
              </a:ext>
            </a:extLst>
          </p:cNvPr>
          <p:cNvSpPr>
            <a:spLocks xmlns:a="http://schemas.openxmlformats.org/drawingml/2006/main" noGrp="1"/>
          </p:cNvSpPr>
          <p:nvPr/>
        </p:nvSpPr>
        <p:spPr>
          <a:xfrm xmlns:a="http://schemas.openxmlformats.org/drawingml/2006/main">
            <a:off x="457200" y="4391025"/>
            <a:ext cx="112585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C0C750C-7F1E-4700-AD46-359226A041B8}"/>
              </a:ext>
            </a:extLst>
          </p:cNvPr>
          <p:cNvSpPr>
            <a:spLocks xmlns:a="http://schemas.openxmlformats.org/drawingml/2006/main" noGrp="1"/>
          </p:cNvSpPr>
          <p:nvPr/>
        </p:nvSpPr>
        <p:spPr>
          <a:xfrm xmlns:a="http://schemas.openxmlformats.org/drawingml/2006/main">
            <a:off x="457200" y="4648200"/>
            <a:ext cx="2390775" cy="9715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3" name="">
            <a:extLst xmlns:a="http://schemas.openxmlformats.org/drawingml/2006/main">
              <a:ext uri="{FF2B5EF4-FFF2-40B4-BE49-F238E27FC236}">
                <a16:creationId xmlns:a16="http://schemas.microsoft.com/office/drawing/2014/main" id="{F5B49EEC-0CEC-442A-9DF1-253552AB0613}"/>
              </a:ext>
            </a:extLst>
          </p:cNvPr>
          <p:cNvSpPr>
            <a:spLocks xmlns:a="http://schemas.openxmlformats.org/drawingml/2006/main" noGrp="1"/>
          </p:cNvSpPr>
          <p:nvPr/>
        </p:nvSpPr>
        <p:spPr>
          <a:xfrm xmlns:a="http://schemas.openxmlformats.org/drawingml/2006/main">
            <a:off x="590550" y="4762500"/>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Create booking</a:t>
            </a:r>
          </a:p>
        </p:txBody>
      </p:sp>
      <p:sp>
        <p:nvSpPr>
          <p:cNvPr id="24" name="">
            <a:extLst xmlns:a="http://schemas.openxmlformats.org/drawingml/2006/main">
              <a:ext uri="{FF2B5EF4-FFF2-40B4-BE49-F238E27FC236}">
                <a16:creationId xmlns:a16="http://schemas.microsoft.com/office/drawing/2014/main" id="{9274ABFD-46E1-4D30-8200-82C1494F9C55}"/>
              </a:ext>
            </a:extLst>
          </p:cNvPr>
          <p:cNvSpPr>
            <a:spLocks xmlns:a="http://schemas.openxmlformats.org/drawingml/2006/main" noGrp="1"/>
          </p:cNvSpPr>
          <p:nvPr/>
        </p:nvSpPr>
        <p:spPr>
          <a:xfrm xmlns:a="http://schemas.openxmlformats.org/drawingml/2006/main">
            <a:off x="590550" y="5133975"/>
            <a:ext cx="2124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MongoDB record</a:t>
            </a:r>
          </a:p>
        </p:txBody>
      </p:sp>
      <p:sp>
        <p:nvSpPr>
          <p:cNvPr id="25" name="">
            <a:extLst xmlns:a="http://schemas.openxmlformats.org/drawingml/2006/main">
              <a:ext uri="{FF2B5EF4-FFF2-40B4-BE49-F238E27FC236}">
                <a16:creationId xmlns:a16="http://schemas.microsoft.com/office/drawing/2014/main" id="{5350E318-1257-455E-A5D8-E2E75EC57E6E}"/>
              </a:ext>
            </a:extLst>
          </p:cNvPr>
          <p:cNvSpPr>
            <a:spLocks xmlns:a="http://schemas.openxmlformats.org/drawingml/2006/main" noGrp="1"/>
          </p:cNvSpPr>
          <p:nvPr/>
        </p:nvSpPr>
        <p:spPr>
          <a:xfrm xmlns:a="http://schemas.openxmlformats.org/drawingml/2006/main">
            <a:off x="3419475" y="4648200"/>
            <a:ext cx="2390775" cy="9715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6" name="">
            <a:extLst xmlns:a="http://schemas.openxmlformats.org/drawingml/2006/main">
              <a:ext uri="{FF2B5EF4-FFF2-40B4-BE49-F238E27FC236}">
                <a16:creationId xmlns:a16="http://schemas.microsoft.com/office/drawing/2014/main" id="{A193A967-6DCB-4414-B00A-9EFBDA3F1C85}"/>
              </a:ext>
            </a:extLst>
          </p:cNvPr>
          <p:cNvSpPr>
            <a:spLocks xmlns:a="http://schemas.openxmlformats.org/drawingml/2006/main" noGrp="1"/>
          </p:cNvSpPr>
          <p:nvPr/>
        </p:nvSpPr>
        <p:spPr>
          <a:xfrm xmlns:a="http://schemas.openxmlformats.org/drawingml/2006/main">
            <a:off x="3552825" y="4762500"/>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Create order</a:t>
            </a:r>
          </a:p>
        </p:txBody>
      </p:sp>
      <p:sp>
        <p:nvSpPr>
          <p:cNvPr id="27" name="">
            <a:extLst xmlns:a="http://schemas.openxmlformats.org/drawingml/2006/main">
              <a:ext uri="{FF2B5EF4-FFF2-40B4-BE49-F238E27FC236}">
                <a16:creationId xmlns:a16="http://schemas.microsoft.com/office/drawing/2014/main" id="{15CFAFF7-7D16-46C7-B723-5C4C55E1CCD2}"/>
              </a:ext>
            </a:extLst>
          </p:cNvPr>
          <p:cNvSpPr>
            <a:spLocks xmlns:a="http://schemas.openxmlformats.org/drawingml/2006/main" noGrp="1"/>
          </p:cNvSpPr>
          <p:nvPr/>
        </p:nvSpPr>
        <p:spPr>
          <a:xfrm xmlns:a="http://schemas.openxmlformats.org/drawingml/2006/main">
            <a:off x="3552825" y="5133975"/>
            <a:ext cx="2124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Server calls Razorpay</a:t>
            </a:r>
          </a:p>
        </p:txBody>
      </p:sp>
      <p:sp>
        <p:nvSpPr>
          <p:cNvPr id="28" name="">
            <a:extLst xmlns:a="http://schemas.openxmlformats.org/drawingml/2006/main">
              <a:ext uri="{FF2B5EF4-FFF2-40B4-BE49-F238E27FC236}">
                <a16:creationId xmlns:a16="http://schemas.microsoft.com/office/drawing/2014/main" id="{7E3BE90F-EB2C-4CD8-9744-F61A9A9EFF6A}"/>
              </a:ext>
            </a:extLst>
          </p:cNvPr>
          <p:cNvSpPr>
            <a:spLocks xmlns:a="http://schemas.openxmlformats.org/drawingml/2006/main" noGrp="1"/>
          </p:cNvSpPr>
          <p:nvPr/>
        </p:nvSpPr>
        <p:spPr>
          <a:xfrm xmlns:a="http://schemas.openxmlformats.org/drawingml/2006/main">
            <a:off x="6381750" y="4648200"/>
            <a:ext cx="2390775" cy="9715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9" name="">
            <a:extLst xmlns:a="http://schemas.openxmlformats.org/drawingml/2006/main">
              <a:ext uri="{FF2B5EF4-FFF2-40B4-BE49-F238E27FC236}">
                <a16:creationId xmlns:a16="http://schemas.microsoft.com/office/drawing/2014/main" id="{7DD20AA0-5E31-4900-AAEE-4CD5548807E0}"/>
              </a:ext>
            </a:extLst>
          </p:cNvPr>
          <p:cNvSpPr>
            <a:spLocks xmlns:a="http://schemas.openxmlformats.org/drawingml/2006/main" noGrp="1"/>
          </p:cNvSpPr>
          <p:nvPr/>
        </p:nvSpPr>
        <p:spPr>
          <a:xfrm xmlns:a="http://schemas.openxmlformats.org/drawingml/2006/main">
            <a:off x="6515100" y="4762500"/>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Checkout</a:t>
            </a:r>
          </a:p>
        </p:txBody>
      </p:sp>
      <p:sp>
        <p:nvSpPr>
          <p:cNvPr id="30" name="">
            <a:extLst xmlns:a="http://schemas.openxmlformats.org/drawingml/2006/main">
              <a:ext uri="{FF2B5EF4-FFF2-40B4-BE49-F238E27FC236}">
                <a16:creationId xmlns:a16="http://schemas.microsoft.com/office/drawing/2014/main" id="{7A687C4E-3686-464F-980D-1D6884EE23D2}"/>
              </a:ext>
            </a:extLst>
          </p:cNvPr>
          <p:cNvSpPr>
            <a:spLocks xmlns:a="http://schemas.openxmlformats.org/drawingml/2006/main" noGrp="1"/>
          </p:cNvSpPr>
          <p:nvPr/>
        </p:nvSpPr>
        <p:spPr>
          <a:xfrm xmlns:a="http://schemas.openxmlformats.org/drawingml/2006/main">
            <a:off x="6515100" y="5133975"/>
            <a:ext cx="2124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User pays in browser</a:t>
            </a:r>
          </a:p>
        </p:txBody>
      </p:sp>
      <p:sp>
        <p:nvSpPr>
          <p:cNvPr id="31" name="">
            <a:extLst xmlns:a="http://schemas.openxmlformats.org/drawingml/2006/main">
              <a:ext uri="{FF2B5EF4-FFF2-40B4-BE49-F238E27FC236}">
                <a16:creationId xmlns:a16="http://schemas.microsoft.com/office/drawing/2014/main" id="{D285E606-5CD4-4601-B7FF-560D69D31033}"/>
              </a:ext>
            </a:extLst>
          </p:cNvPr>
          <p:cNvSpPr>
            <a:spLocks xmlns:a="http://schemas.openxmlformats.org/drawingml/2006/main" noGrp="1"/>
          </p:cNvSpPr>
          <p:nvPr/>
        </p:nvSpPr>
        <p:spPr>
          <a:xfrm xmlns:a="http://schemas.openxmlformats.org/drawingml/2006/main">
            <a:off x="9344025" y="4648200"/>
            <a:ext cx="2390775" cy="9715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32" name="">
            <a:extLst xmlns:a="http://schemas.openxmlformats.org/drawingml/2006/main">
              <a:ext uri="{FF2B5EF4-FFF2-40B4-BE49-F238E27FC236}">
                <a16:creationId xmlns:a16="http://schemas.microsoft.com/office/drawing/2014/main" id="{3D9BE1E0-839A-4F15-8709-07201717078B}"/>
              </a:ext>
            </a:extLst>
          </p:cNvPr>
          <p:cNvSpPr>
            <a:spLocks xmlns:a="http://schemas.openxmlformats.org/drawingml/2006/main" noGrp="1"/>
          </p:cNvSpPr>
          <p:nvPr/>
        </p:nvSpPr>
        <p:spPr>
          <a:xfrm xmlns:a="http://schemas.openxmlformats.org/drawingml/2006/main">
            <a:off x="9477375" y="4762500"/>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Verify</a:t>
            </a:r>
          </a:p>
        </p:txBody>
      </p:sp>
      <p:sp>
        <p:nvSpPr>
          <p:cNvPr id="33" name="">
            <a:extLst xmlns:a="http://schemas.openxmlformats.org/drawingml/2006/main">
              <a:ext uri="{FF2B5EF4-FFF2-40B4-BE49-F238E27FC236}">
                <a16:creationId xmlns:a16="http://schemas.microsoft.com/office/drawing/2014/main" id="{8F58754D-8645-4E99-BB29-D21684FAF463}"/>
              </a:ext>
            </a:extLst>
          </p:cNvPr>
          <p:cNvSpPr>
            <a:spLocks xmlns:a="http://schemas.openxmlformats.org/drawingml/2006/main" noGrp="1"/>
          </p:cNvSpPr>
          <p:nvPr/>
        </p:nvSpPr>
        <p:spPr>
          <a:xfrm xmlns:a="http://schemas.openxmlformats.org/drawingml/2006/main">
            <a:off x="9477375" y="5133975"/>
            <a:ext cx="2124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Update booking status</a:t>
            </a:r>
          </a:p>
        </p:txBody>
      </p:sp>
      <p:cxnSp>
        <p:nvCxnSpPr>
          <p:cNvPr id="71" name=""/>
          <p:cNvCxnSpPr>
            <a:stCxn xmlns:a="http://schemas.openxmlformats.org/drawingml/2006/main" id="22" idx="3"/>
            <a:endCxn xmlns:a="http://schemas.openxmlformats.org/drawingml/2006/main" id="25" idx="1"/>
          </p:cNvCxnSpPr>
          <p:nvPr/>
        </p:nvCxnSpPr>
        <p:spPr>
          <a:xfrm xmlns:a="http://schemas.openxmlformats.org/drawingml/2006/main">
            <a:off x="2847975" y="5133975"/>
            <a:ext cx="571500"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2" name=""/>
          <p:cNvCxnSpPr>
            <a:stCxn xmlns:a="http://schemas.openxmlformats.org/drawingml/2006/main" id="25" idx="3"/>
            <a:endCxn xmlns:a="http://schemas.openxmlformats.org/drawingml/2006/main" id="28" idx="1"/>
          </p:cNvCxnSpPr>
          <p:nvPr/>
        </p:nvCxnSpPr>
        <p:spPr>
          <a:xfrm xmlns:a="http://schemas.openxmlformats.org/drawingml/2006/main">
            <a:off x="5810250" y="5133975"/>
            <a:ext cx="571500"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3" name=""/>
          <p:cNvCxnSpPr>
            <a:stCxn xmlns:a="http://schemas.openxmlformats.org/drawingml/2006/main" id="28" idx="3"/>
            <a:endCxn xmlns:a="http://schemas.openxmlformats.org/drawingml/2006/main" id="31" idx="1"/>
          </p:cNvCxnSpPr>
          <p:nvPr/>
        </p:nvCxnSpPr>
        <p:spPr>
          <a:xfrm xmlns:a="http://schemas.openxmlformats.org/drawingml/2006/main">
            <a:off x="8772525" y="5133975"/>
            <a:ext cx="571500"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37" name="">
            <a:extLst xmlns:a="http://schemas.openxmlformats.org/drawingml/2006/main">
              <a:ext uri="{FF2B5EF4-FFF2-40B4-BE49-F238E27FC236}">
                <a16:creationId xmlns:a16="http://schemas.microsoft.com/office/drawing/2014/main" id="{9E62FBB5-F5B0-4D24-B5DF-FF88E28202D8}"/>
              </a:ext>
            </a:extLst>
          </p:cNvPr>
          <p:cNvSpPr>
            <a:spLocks xmlns:a="http://schemas.openxmlformats.org/drawingml/2006/main" noGrp="1"/>
          </p:cNvSpPr>
          <p:nvPr/>
        </p:nvSpPr>
        <p:spPr>
          <a:xfrm xmlns:a="http://schemas.openxmlformats.org/drawingml/2006/main">
            <a:off x="457200" y="594360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 Review schema also exists. A complete review workflow is outside the current routes.</a:t>
            </a:r>
          </a:p>
        </p:txBody>
      </p:sp>
    </p:spTree>
    <p:extLst>
      <p:ext uri="{BB962C8B-B14F-4D97-AF65-F5344CB8AC3E}">
        <p14:creationId xmlns:p14="http://schemas.microsoft.com/office/powerpoint/2010/main" val="1885821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885943-347A-479F-AC67-11B4AC5979F4}"/>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8C7D1D96-1C5D-4FD7-9864-6D936A8C0B94}"/>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FEASIBILITY AND RISKS</a:t>
            </a:r>
          </a:p>
        </p:txBody>
      </p:sp>
      <p:sp>
        <p:nvSpPr>
          <p:cNvPr id="3" name="">
            <a:extLst xmlns:a="http://schemas.openxmlformats.org/drawingml/2006/main">
              <a:ext uri="{FF2B5EF4-FFF2-40B4-BE49-F238E27FC236}">
                <a16:creationId xmlns:a16="http://schemas.microsoft.com/office/drawing/2014/main" id="{4CA6BC60-AFE2-4F4C-A61D-4FC3B9AF38AB}"/>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Reuse the working structure and validate the uncertain parts</a:t>
            </a:r>
          </a:p>
        </p:txBody>
      </p:sp>
      <p:sp>
        <p:nvSpPr>
          <p:cNvPr id="4" name="">
            <a:extLst xmlns:a="http://schemas.openxmlformats.org/drawingml/2006/main">
              <a:ext uri="{FF2B5EF4-FFF2-40B4-BE49-F238E27FC236}">
                <a16:creationId xmlns:a16="http://schemas.microsoft.com/office/drawing/2014/main" id="{55BE0A75-1A92-4F55-8612-1D32499B9AB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0D8D11-C908-4538-97A2-355DBEAF5392}"/>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10CD1FE2-2A99-4EC9-A446-189C07433875}"/>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40B7FCE8-8D4E-4E5C-9306-CF808499B00E}"/>
              </a:ext>
            </a:extLst>
          </p:cNvPr>
          <p:cNvSpPr>
            <a:spLocks xmlns:a="http://schemas.openxmlformats.org/drawingml/2006/main" noGrp="1"/>
          </p:cNvSpPr>
          <p:nvPr/>
        </p:nvSpPr>
        <p:spPr>
          <a:xfrm xmlns:a="http://schemas.openxmlformats.org/drawingml/2006/main">
            <a:off x="457200" y="1800225"/>
            <a:ext cx="45053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REUSABLE FOUNDATION</a:t>
            </a:r>
          </a:p>
        </p:txBody>
      </p:sp>
      <p:sp>
        <p:nvSpPr>
          <p:cNvPr id="8" name="">
            <a:extLst xmlns:a="http://schemas.openxmlformats.org/drawingml/2006/main">
              <a:ext uri="{FF2B5EF4-FFF2-40B4-BE49-F238E27FC236}">
                <a16:creationId xmlns:a16="http://schemas.microsoft.com/office/drawing/2014/main" id="{BF3654E8-B9F2-4BDB-8A84-E57A3EAFEC7E}"/>
              </a:ext>
            </a:extLst>
          </p:cNvPr>
          <p:cNvSpPr>
            <a:spLocks xmlns:a="http://schemas.openxmlformats.org/drawingml/2006/main" noGrp="1"/>
          </p:cNvSpPr>
          <p:nvPr/>
        </p:nvSpPr>
        <p:spPr>
          <a:xfrm xmlns:a="http://schemas.openxmlformats.org/drawingml/2006/main">
            <a:off x="457200" y="2143125"/>
            <a:ext cx="45053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10A52A-DC87-474B-8CC4-5857D08E2B20}"/>
              </a:ext>
            </a:extLst>
          </p:cNvPr>
          <p:cNvSpPr>
            <a:spLocks xmlns:a="http://schemas.openxmlformats.org/drawingml/2006/main" noGrp="1"/>
          </p:cNvSpPr>
          <p:nvPr/>
        </p:nvSpPr>
        <p:spPr>
          <a:xfrm xmlns:a="http://schemas.openxmlformats.org/drawingml/2006/main">
            <a:off x="485775" y="2381250"/>
            <a:ext cx="4371975" cy="316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72237"/>
                </a:solidFill>
                <a:latin typeface="Arial"/>
                <a:ea typeface="Arial"/>
                <a:cs typeface="Arial"/>
              </a:defRPr>
            </a:pPr>
            <a:r>
              <a:rPr sz="1950" b="0">
                <a:solidFill>
                  <a:srgbClr val="172237"/>
                </a:solidFill>
                <a:latin typeface="Arial"/>
                <a:ea typeface="Arial"/>
                <a:cs typeface="Arial"/>
              </a:rPr>
              <a:t>React interface and routing</a:t>
            </a:r>
          </a:p>
          <a:p xmlns:a="http://schemas.openxmlformats.org/drawingml/2006/main">
            <a:r>
              <a:t/>
            </a:r>
          </a:p>
          <a:p xmlns:a="http://schemas.openxmlformats.org/drawingml/2006/main">
            <a:pPr algn="l">
              <a:defRPr sz="1950" b="0">
                <a:solidFill>
                  <a:srgbClr val="172237"/>
                </a:solidFill>
                <a:latin typeface="Arial"/>
                <a:ea typeface="Arial"/>
                <a:cs typeface="Arial"/>
              </a:defRPr>
            </a:pPr>
            <a:r>
              <a:rPr sz="1950" b="0">
                <a:solidFill>
                  <a:srgbClr val="172237"/>
                </a:solidFill>
                <a:latin typeface="Arial"/>
                <a:ea typeface="Arial"/>
                <a:cs typeface="Arial"/>
              </a:rPr>
              <a:t>Express service structure</a:t>
            </a:r>
          </a:p>
          <a:p xmlns:a="http://schemas.openxmlformats.org/drawingml/2006/main">
            <a:r>
              <a:t/>
            </a:r>
          </a:p>
          <a:p xmlns:a="http://schemas.openxmlformats.org/drawingml/2006/main">
            <a:pPr algn="l">
              <a:defRPr sz="1950" b="0">
                <a:solidFill>
                  <a:srgbClr val="172237"/>
                </a:solidFill>
                <a:latin typeface="Arial"/>
                <a:ea typeface="Arial"/>
                <a:cs typeface="Arial"/>
              </a:defRPr>
            </a:pPr>
            <a:r>
              <a:rPr sz="1950" b="0">
                <a:solidFill>
                  <a:srgbClr val="172237"/>
                </a:solidFill>
                <a:latin typeface="Arial"/>
                <a:ea typeface="Arial"/>
                <a:cs typeface="Arial"/>
              </a:rPr>
              <a:t>MongoDB records</a:t>
            </a:r>
          </a:p>
          <a:p xmlns:a="http://schemas.openxmlformats.org/drawingml/2006/main">
            <a:r>
              <a:t/>
            </a:r>
          </a:p>
          <a:p xmlns:a="http://schemas.openxmlformats.org/drawingml/2006/main">
            <a:pPr algn="l">
              <a:defRPr sz="1950" b="0">
                <a:solidFill>
                  <a:srgbClr val="172237"/>
                </a:solidFill>
                <a:latin typeface="Arial"/>
                <a:ea typeface="Arial"/>
                <a:cs typeface="Arial"/>
              </a:defRPr>
            </a:pPr>
            <a:r>
              <a:rPr sz="1950" b="0">
                <a:solidFill>
                  <a:srgbClr val="172237"/>
                </a:solidFill>
                <a:latin typeface="Arial"/>
                <a:ea typeface="Arial"/>
                <a:cs typeface="Arial"/>
              </a:rPr>
              <a:t>AI and payment integrations</a:t>
            </a:r>
          </a:p>
        </p:txBody>
      </p:sp>
      <p:sp>
        <p:nvSpPr>
          <p:cNvPr id="10" name="">
            <a:extLst xmlns:a="http://schemas.openxmlformats.org/drawingml/2006/main">
              <a:ext uri="{FF2B5EF4-FFF2-40B4-BE49-F238E27FC236}">
                <a16:creationId xmlns:a16="http://schemas.microsoft.com/office/drawing/2014/main" id="{C901B1C3-8905-4C92-ABC4-FDE48222D8FC}"/>
              </a:ext>
            </a:extLst>
          </p:cNvPr>
          <p:cNvSpPr>
            <a:spLocks xmlns:a="http://schemas.openxmlformats.org/drawingml/2006/main" noGrp="1"/>
          </p:cNvSpPr>
          <p:nvPr/>
        </p:nvSpPr>
        <p:spPr>
          <a:xfrm xmlns:a="http://schemas.openxmlformats.org/drawingml/2006/main">
            <a:off x="5486400" y="1800225"/>
            <a:ext cx="623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RISK AND PROPOSED RESPONSE</a:t>
            </a:r>
          </a:p>
        </p:txBody>
      </p:sp>
      <p:sp>
        <p:nvSpPr>
          <p:cNvPr id="11" name="">
            <a:extLst xmlns:a="http://schemas.openxmlformats.org/drawingml/2006/main">
              <a:ext uri="{FF2B5EF4-FFF2-40B4-BE49-F238E27FC236}">
                <a16:creationId xmlns:a16="http://schemas.microsoft.com/office/drawing/2014/main" id="{A872CFF3-49A3-4A02-904B-0C0A17DE384A}"/>
              </a:ext>
            </a:extLst>
          </p:cNvPr>
          <p:cNvSpPr>
            <a:spLocks xmlns:a="http://schemas.openxmlformats.org/drawingml/2006/main" noGrp="1"/>
          </p:cNvSpPr>
          <p:nvPr/>
        </p:nvSpPr>
        <p:spPr>
          <a:xfrm xmlns:a="http://schemas.openxmlformats.org/drawingml/2006/main">
            <a:off x="5486400" y="2143125"/>
            <a:ext cx="6238875" cy="19050"/>
          </a:xfrm>
          <a:prstGeom xmlns:a="http://schemas.openxmlformats.org/drawingml/2006/main" prst="rect">
            <a:avLst/>
          </a:prstGeom>
          <a:solidFill xmlns:a="http://schemas.openxmlformats.org/drawingml/2006/main">
            <a:srgbClr val="D77A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411FF04-5D9B-4BF1-B7A9-466FFC24268A}"/>
              </a:ext>
            </a:extLst>
          </p:cNvPr>
          <p:cNvSpPr>
            <a:spLocks xmlns:a="http://schemas.openxmlformats.org/drawingml/2006/main" noGrp="1"/>
          </p:cNvSpPr>
          <p:nvPr/>
        </p:nvSpPr>
        <p:spPr>
          <a:xfrm xmlns:a="http://schemas.openxmlformats.org/drawingml/2006/main">
            <a:off x="5505450" y="2343150"/>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Uneven speech coverage</a:t>
            </a:r>
          </a:p>
        </p:txBody>
      </p:sp>
      <p:sp>
        <p:nvSpPr>
          <p:cNvPr id="13" name="">
            <a:extLst xmlns:a="http://schemas.openxmlformats.org/drawingml/2006/main">
              <a:ext uri="{FF2B5EF4-FFF2-40B4-BE49-F238E27FC236}">
                <a16:creationId xmlns:a16="http://schemas.microsoft.com/office/drawing/2014/main" id="{FA442DF4-EFC9-4932-8EC2-0FB2C163929D}"/>
              </a:ext>
            </a:extLst>
          </p:cNvPr>
          <p:cNvSpPr>
            <a:spLocks xmlns:a="http://schemas.openxmlformats.org/drawingml/2006/main" noGrp="1"/>
          </p:cNvSpPr>
          <p:nvPr/>
        </p:nvSpPr>
        <p:spPr>
          <a:xfrm xmlns:a="http://schemas.openxmlformats.org/drawingml/2006/main">
            <a:off x="5505450" y="2628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237"/>
                </a:solidFill>
                <a:latin typeface="Arial"/>
                <a:ea typeface="Arial"/>
                <a:cs typeface="Arial"/>
              </a:defRPr>
            </a:pPr>
            <a:r>
              <a:rPr sz="1575" b="0">
                <a:solidFill>
                  <a:srgbClr val="172237"/>
                </a:solidFill>
                <a:latin typeface="Arial"/>
                <a:ea typeface="Arial"/>
                <a:cs typeface="Arial"/>
              </a:rPr>
              <a:t>Test providers by language and script</a:t>
            </a:r>
          </a:p>
        </p:txBody>
      </p:sp>
      <p:sp>
        <p:nvSpPr>
          <p:cNvPr id="14" name="">
            <a:extLst xmlns:a="http://schemas.openxmlformats.org/drawingml/2006/main">
              <a:ext uri="{FF2B5EF4-FFF2-40B4-BE49-F238E27FC236}">
                <a16:creationId xmlns:a16="http://schemas.microsoft.com/office/drawing/2014/main" id="{752500F4-E729-48A9-AF16-1F305397A238}"/>
              </a:ext>
            </a:extLst>
          </p:cNvPr>
          <p:cNvSpPr>
            <a:spLocks xmlns:a="http://schemas.openxmlformats.org/drawingml/2006/main" noGrp="1"/>
          </p:cNvSpPr>
          <p:nvPr/>
        </p:nvSpPr>
        <p:spPr>
          <a:xfrm xmlns:a="http://schemas.openxmlformats.org/drawingml/2006/main">
            <a:off x="5505450" y="30575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Incorrect legal meaning</a:t>
            </a:r>
          </a:p>
        </p:txBody>
      </p:sp>
      <p:sp>
        <p:nvSpPr>
          <p:cNvPr id="15" name="">
            <a:extLst xmlns:a="http://schemas.openxmlformats.org/drawingml/2006/main">
              <a:ext uri="{FF2B5EF4-FFF2-40B4-BE49-F238E27FC236}">
                <a16:creationId xmlns:a16="http://schemas.microsoft.com/office/drawing/2014/main" id="{4A42354A-2AAB-44E0-AA50-E0C706CAE611}"/>
              </a:ext>
            </a:extLst>
          </p:cNvPr>
          <p:cNvSpPr>
            <a:spLocks xmlns:a="http://schemas.openxmlformats.org/drawingml/2006/main" noGrp="1"/>
          </p:cNvSpPr>
          <p:nvPr/>
        </p:nvSpPr>
        <p:spPr>
          <a:xfrm xmlns:a="http://schemas.openxmlformats.org/drawingml/2006/main">
            <a:off x="5505450" y="334327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237"/>
                </a:solidFill>
                <a:latin typeface="Arial"/>
                <a:ea typeface="Arial"/>
                <a:cs typeface="Arial"/>
              </a:defRPr>
            </a:pPr>
            <a:r>
              <a:rPr sz="1575" b="0">
                <a:solidFill>
                  <a:srgbClr val="172237"/>
                </a:solidFill>
                <a:latin typeface="Arial"/>
                <a:ea typeface="Arial"/>
                <a:cs typeface="Arial"/>
              </a:rPr>
              <a:t>Confirm transcript and review outputs</a:t>
            </a:r>
          </a:p>
        </p:txBody>
      </p:sp>
      <p:sp>
        <p:nvSpPr>
          <p:cNvPr id="16" name="">
            <a:extLst xmlns:a="http://schemas.openxmlformats.org/drawingml/2006/main">
              <a:ext uri="{FF2B5EF4-FFF2-40B4-BE49-F238E27FC236}">
                <a16:creationId xmlns:a16="http://schemas.microsoft.com/office/drawing/2014/main" id="{5B3B7587-9426-4FFD-8D07-F1423F58C8D2}"/>
              </a:ext>
            </a:extLst>
          </p:cNvPr>
          <p:cNvSpPr>
            <a:spLocks xmlns:a="http://schemas.openxmlformats.org/drawingml/2006/main" noGrp="1"/>
          </p:cNvSpPr>
          <p:nvPr/>
        </p:nvSpPr>
        <p:spPr>
          <a:xfrm xmlns:a="http://schemas.openxmlformats.org/drawingml/2006/main">
            <a:off x="5505450" y="3771900"/>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Provider failure or latency</a:t>
            </a:r>
          </a:p>
        </p:txBody>
      </p:sp>
      <p:sp>
        <p:nvSpPr>
          <p:cNvPr id="17" name="">
            <a:extLst xmlns:a="http://schemas.openxmlformats.org/drawingml/2006/main">
              <a:ext uri="{FF2B5EF4-FFF2-40B4-BE49-F238E27FC236}">
                <a16:creationId xmlns:a16="http://schemas.microsoft.com/office/drawing/2014/main" id="{2A88C840-989F-43AB-8BAE-0B486A06D587}"/>
              </a:ext>
            </a:extLst>
          </p:cNvPr>
          <p:cNvSpPr>
            <a:spLocks xmlns:a="http://schemas.openxmlformats.org/drawingml/2006/main" noGrp="1"/>
          </p:cNvSpPr>
          <p:nvPr/>
        </p:nvSpPr>
        <p:spPr>
          <a:xfrm xmlns:a="http://schemas.openxmlformats.org/drawingml/2006/main">
            <a:off x="5505450" y="40576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237"/>
                </a:solidFill>
                <a:latin typeface="Arial"/>
                <a:ea typeface="Arial"/>
                <a:cs typeface="Arial"/>
              </a:defRPr>
            </a:pPr>
            <a:r>
              <a:rPr sz="1575" b="0">
                <a:solidFill>
                  <a:srgbClr val="172237"/>
                </a:solidFill>
                <a:latin typeface="Arial"/>
                <a:ea typeface="Arial"/>
                <a:cs typeface="Arial"/>
              </a:rPr>
              <a:t>Use timeouts, clear errors and text fallback</a:t>
            </a:r>
          </a:p>
        </p:txBody>
      </p:sp>
      <p:sp>
        <p:nvSpPr>
          <p:cNvPr id="18" name="">
            <a:extLst xmlns:a="http://schemas.openxmlformats.org/drawingml/2006/main">
              <a:ext uri="{FF2B5EF4-FFF2-40B4-BE49-F238E27FC236}">
                <a16:creationId xmlns:a16="http://schemas.microsoft.com/office/drawing/2014/main" id="{92539138-3BBE-4B65-923C-A2FB3949633D}"/>
              </a:ext>
            </a:extLst>
          </p:cNvPr>
          <p:cNvSpPr>
            <a:spLocks xmlns:a="http://schemas.openxmlformats.org/drawingml/2006/main" noGrp="1"/>
          </p:cNvSpPr>
          <p:nvPr/>
        </p:nvSpPr>
        <p:spPr>
          <a:xfrm xmlns:a="http://schemas.openxmlformats.org/drawingml/2006/main">
            <a:off x="5505450" y="448627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Sensitive case information</a:t>
            </a:r>
          </a:p>
        </p:txBody>
      </p:sp>
      <p:sp>
        <p:nvSpPr>
          <p:cNvPr id="19" name="">
            <a:extLst xmlns:a="http://schemas.openxmlformats.org/drawingml/2006/main">
              <a:ext uri="{FF2B5EF4-FFF2-40B4-BE49-F238E27FC236}">
                <a16:creationId xmlns:a16="http://schemas.microsoft.com/office/drawing/2014/main" id="{37220EA8-FC62-4774-88F4-C7174195B626}"/>
              </a:ext>
            </a:extLst>
          </p:cNvPr>
          <p:cNvSpPr>
            <a:spLocks xmlns:a="http://schemas.openxmlformats.org/drawingml/2006/main" noGrp="1"/>
          </p:cNvSpPr>
          <p:nvPr/>
        </p:nvSpPr>
        <p:spPr>
          <a:xfrm xmlns:a="http://schemas.openxmlformats.org/drawingml/2006/main">
            <a:off x="5505450" y="47720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237"/>
                </a:solidFill>
                <a:latin typeface="Arial"/>
                <a:ea typeface="Arial"/>
                <a:cs typeface="Arial"/>
              </a:defRPr>
            </a:pPr>
            <a:r>
              <a:rPr sz="1575" b="0">
                <a:solidFill>
                  <a:srgbClr val="172237"/>
                </a:solidFill>
                <a:latin typeface="Arial"/>
                <a:ea typeface="Arial"/>
                <a:cs typeface="Arial"/>
              </a:rPr>
              <a:t>Add access control and retention rules</a:t>
            </a:r>
          </a:p>
        </p:txBody>
      </p:sp>
      <p:sp>
        <p:nvSpPr>
          <p:cNvPr id="20" name="">
            <a:extLst xmlns:a="http://schemas.openxmlformats.org/drawingml/2006/main">
              <a:ext uri="{FF2B5EF4-FFF2-40B4-BE49-F238E27FC236}">
                <a16:creationId xmlns:a16="http://schemas.microsoft.com/office/drawing/2014/main" id="{395EEE0A-F189-4590-A2A5-4323FDF01852}"/>
              </a:ext>
            </a:extLst>
          </p:cNvPr>
          <p:cNvSpPr>
            <a:spLocks xmlns:a="http://schemas.openxmlformats.org/drawingml/2006/main" noGrp="1"/>
          </p:cNvSpPr>
          <p:nvPr/>
        </p:nvSpPr>
        <p:spPr>
          <a:xfrm xmlns:a="http://schemas.openxmlformats.org/drawingml/2006/main">
            <a:off x="5505450" y="5200650"/>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Unreliable bookings</a:t>
            </a:r>
          </a:p>
        </p:txBody>
      </p:sp>
      <p:sp>
        <p:nvSpPr>
          <p:cNvPr id="21" name="">
            <a:extLst xmlns:a="http://schemas.openxmlformats.org/drawingml/2006/main">
              <a:ext uri="{FF2B5EF4-FFF2-40B4-BE49-F238E27FC236}">
                <a16:creationId xmlns:a16="http://schemas.microsoft.com/office/drawing/2014/main" id="{06F93449-A82E-4D9C-9ED4-AE5073D543CA}"/>
              </a:ext>
            </a:extLst>
          </p:cNvPr>
          <p:cNvSpPr>
            <a:spLocks xmlns:a="http://schemas.openxmlformats.org/drawingml/2006/main" noGrp="1"/>
          </p:cNvSpPr>
          <p:nvPr/>
        </p:nvSpPr>
        <p:spPr>
          <a:xfrm xmlns:a="http://schemas.openxmlformats.org/drawingml/2006/main">
            <a:off x="5505450" y="54864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237"/>
                </a:solidFill>
                <a:latin typeface="Arial"/>
                <a:ea typeface="Arial"/>
                <a:cs typeface="Arial"/>
              </a:defRPr>
            </a:pPr>
            <a:r>
              <a:rPr sz="1575" b="0">
                <a:solidFill>
                  <a:srgbClr val="172237"/>
                </a:solidFill>
                <a:latin typeface="Arial"/>
                <a:ea typeface="Arial"/>
                <a:cs typeface="Arial"/>
              </a:rPr>
              <a:t>Check slots, fees and payment ownership</a:t>
            </a:r>
          </a:p>
        </p:txBody>
      </p:sp>
    </p:spTree>
    <p:extLst>
      <p:ext uri="{BB962C8B-B14F-4D97-AF65-F5344CB8AC3E}">
        <p14:creationId xmlns:p14="http://schemas.microsoft.com/office/powerpoint/2010/main" val="2801331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085D89C-8C82-47D2-8F5E-73E27DA8400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2FB3D546-D73C-4867-AEA0-D958CA40F487}"/>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DEVELOPMENT ROADMAP</a:t>
            </a:r>
          </a:p>
        </p:txBody>
      </p:sp>
      <p:sp>
        <p:nvSpPr>
          <p:cNvPr id="3" name="">
            <a:extLst xmlns:a="http://schemas.openxmlformats.org/drawingml/2006/main">
              <a:ext uri="{FF2B5EF4-FFF2-40B4-BE49-F238E27FC236}">
                <a16:creationId xmlns:a16="http://schemas.microsoft.com/office/drawing/2014/main" id="{119BB68A-D6F5-479F-8825-1CC30092802E}"/>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 staged implementation plan with evidence at each milestone</a:t>
            </a:r>
          </a:p>
        </p:txBody>
      </p:sp>
      <p:sp>
        <p:nvSpPr>
          <p:cNvPr id="4" name="">
            <a:extLst xmlns:a="http://schemas.openxmlformats.org/drawingml/2006/main">
              <a:ext uri="{FF2B5EF4-FFF2-40B4-BE49-F238E27FC236}">
                <a16:creationId xmlns:a16="http://schemas.microsoft.com/office/drawing/2014/main" id="{D2118A4E-6149-420B-A0BE-1DE796774B2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5608D3-0E6B-4C31-8078-74A795505D3E}"/>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milestones; scheduling depends on scope and resources</a:t>
            </a:r>
          </a:p>
        </p:txBody>
      </p:sp>
      <p:sp>
        <p:nvSpPr>
          <p:cNvPr id="6" name="">
            <a:extLst xmlns:a="http://schemas.openxmlformats.org/drawingml/2006/main">
              <a:ext uri="{FF2B5EF4-FFF2-40B4-BE49-F238E27FC236}">
                <a16:creationId xmlns:a16="http://schemas.microsoft.com/office/drawing/2014/main" id="{965CF048-E2F8-4F06-8395-BDB26A03783C}"/>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898CDE31-B2DC-41E2-B023-E856412A0ED0}"/>
              </a:ext>
            </a:extLst>
          </p:cNvPr>
          <p:cNvSpPr>
            <a:spLocks xmlns:a="http://schemas.openxmlformats.org/drawingml/2006/main" noGrp="1"/>
          </p:cNvSpPr>
          <p:nvPr/>
        </p:nvSpPr>
        <p:spPr>
          <a:xfrm xmlns:a="http://schemas.openxmlformats.org/drawingml/2006/main">
            <a:off x="457200" y="20002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203F91"/>
                </a:solidFill>
                <a:latin typeface="Georgia"/>
                <a:ea typeface="Georgia"/>
                <a:cs typeface="Georgia"/>
              </a:defRPr>
            </a:pPr>
            <a:r>
              <a:rPr sz="4575" b="1">
                <a:solidFill>
                  <a:srgbClr val="203F91"/>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9DAFCED4-849D-4BBD-B833-530158AF4473}"/>
              </a:ext>
            </a:extLst>
          </p:cNvPr>
          <p:cNvSpPr>
            <a:spLocks xmlns:a="http://schemas.openxmlformats.org/drawingml/2006/main" noGrp="1"/>
          </p:cNvSpPr>
          <p:nvPr/>
        </p:nvSpPr>
        <p:spPr>
          <a:xfrm xmlns:a="http://schemas.openxmlformats.org/drawingml/2006/main">
            <a:off x="457200" y="2905125"/>
            <a:ext cx="25717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59FCF17-57C1-434F-9EC9-FF9A3A721AFA}"/>
              </a:ext>
            </a:extLst>
          </p:cNvPr>
          <p:cNvSpPr>
            <a:spLocks xmlns:a="http://schemas.openxmlformats.org/drawingml/2006/main" noGrp="1"/>
          </p:cNvSpPr>
          <p:nvPr/>
        </p:nvSpPr>
        <p:spPr>
          <a:xfrm xmlns:a="http://schemas.openxmlformats.org/drawingml/2006/main">
            <a:off x="457200" y="314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03F91"/>
                </a:solidFill>
                <a:latin typeface="Arial"/>
                <a:ea typeface="Arial"/>
                <a:cs typeface="Arial"/>
              </a:defRPr>
            </a:pPr>
            <a:r>
              <a:rPr sz="2100" b="1">
                <a:solidFill>
                  <a:srgbClr val="203F91"/>
                </a:solidFill>
                <a:latin typeface="Arial"/>
                <a:ea typeface="Arial"/>
                <a:cs typeface="Arial"/>
              </a:rPr>
              <a:t>Baseline audit</a:t>
            </a:r>
          </a:p>
        </p:txBody>
      </p:sp>
      <p:sp>
        <p:nvSpPr>
          <p:cNvPr id="10" name="">
            <a:extLst xmlns:a="http://schemas.openxmlformats.org/drawingml/2006/main">
              <a:ext uri="{FF2B5EF4-FFF2-40B4-BE49-F238E27FC236}">
                <a16:creationId xmlns:a16="http://schemas.microsoft.com/office/drawing/2014/main" id="{C27D22C5-F0F5-4729-97FD-CEC86E08BA60}"/>
              </a:ext>
            </a:extLst>
          </p:cNvPr>
          <p:cNvSpPr>
            <a:spLocks xmlns:a="http://schemas.openxmlformats.org/drawingml/2006/main" noGrp="1"/>
          </p:cNvSpPr>
          <p:nvPr/>
        </p:nvSpPr>
        <p:spPr>
          <a:xfrm xmlns:a="http://schemas.openxmlformats.org/drawingml/2006/main">
            <a:off x="457200" y="3886200"/>
            <a:ext cx="2571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Reproduce the existing flow</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Record bugs and API behavior</a:t>
            </a:r>
          </a:p>
        </p:txBody>
      </p:sp>
      <p:sp>
        <p:nvSpPr>
          <p:cNvPr id="11" name="">
            <a:extLst xmlns:a="http://schemas.openxmlformats.org/drawingml/2006/main">
              <a:ext uri="{FF2B5EF4-FFF2-40B4-BE49-F238E27FC236}">
                <a16:creationId xmlns:a16="http://schemas.microsoft.com/office/drawing/2014/main" id="{B70938D7-FF42-4C0D-A8CA-801EC0F8D821}"/>
              </a:ext>
            </a:extLst>
          </p:cNvPr>
          <p:cNvSpPr>
            <a:spLocks xmlns:a="http://schemas.openxmlformats.org/drawingml/2006/main" noGrp="1"/>
          </p:cNvSpPr>
          <p:nvPr/>
        </p:nvSpPr>
        <p:spPr>
          <a:xfrm xmlns:a="http://schemas.openxmlformats.org/drawingml/2006/main">
            <a:off x="457200" y="5391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7E65"/>
                </a:solidFill>
                <a:latin typeface="Arial"/>
                <a:ea typeface="Arial"/>
                <a:cs typeface="Arial"/>
              </a:defRPr>
            </a:pPr>
            <a:r>
              <a:rPr sz="1575" b="1">
                <a:solidFill>
                  <a:srgbClr val="087E65"/>
                </a:solidFill>
                <a:latin typeface="Arial"/>
                <a:ea typeface="Arial"/>
                <a:cs typeface="Arial"/>
              </a:rPr>
              <a:t>Evidence: repeatable demo</a:t>
            </a:r>
          </a:p>
        </p:txBody>
      </p:sp>
      <p:sp>
        <p:nvSpPr>
          <p:cNvPr id="12" name="">
            <a:extLst xmlns:a="http://schemas.openxmlformats.org/drawingml/2006/main">
              <a:ext uri="{FF2B5EF4-FFF2-40B4-BE49-F238E27FC236}">
                <a16:creationId xmlns:a16="http://schemas.microsoft.com/office/drawing/2014/main" id="{C6C60A84-0D08-4614-87C8-A3FE15984691}"/>
              </a:ext>
            </a:extLst>
          </p:cNvPr>
          <p:cNvSpPr>
            <a:spLocks xmlns:a="http://schemas.openxmlformats.org/drawingml/2006/main" noGrp="1"/>
          </p:cNvSpPr>
          <p:nvPr/>
        </p:nvSpPr>
        <p:spPr>
          <a:xfrm xmlns:a="http://schemas.openxmlformats.org/drawingml/2006/main">
            <a:off x="3362325" y="20002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77A00"/>
                </a:solidFill>
                <a:latin typeface="Georgia"/>
                <a:ea typeface="Georgia"/>
                <a:cs typeface="Georgia"/>
              </a:defRPr>
            </a:pPr>
            <a:r>
              <a:rPr sz="4575" b="1">
                <a:solidFill>
                  <a:srgbClr val="D77A00"/>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062F4939-02C0-4835-9B9F-CA0B1D2D2D62}"/>
              </a:ext>
            </a:extLst>
          </p:cNvPr>
          <p:cNvSpPr>
            <a:spLocks xmlns:a="http://schemas.openxmlformats.org/drawingml/2006/main" noGrp="1"/>
          </p:cNvSpPr>
          <p:nvPr/>
        </p:nvSpPr>
        <p:spPr>
          <a:xfrm xmlns:a="http://schemas.openxmlformats.org/drawingml/2006/main">
            <a:off x="3362325" y="2905125"/>
            <a:ext cx="25717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BF941B-50C0-4097-A8F3-698021D3AC38}"/>
              </a:ext>
            </a:extLst>
          </p:cNvPr>
          <p:cNvSpPr>
            <a:spLocks xmlns:a="http://schemas.openxmlformats.org/drawingml/2006/main" noGrp="1"/>
          </p:cNvSpPr>
          <p:nvPr/>
        </p:nvSpPr>
        <p:spPr>
          <a:xfrm xmlns:a="http://schemas.openxmlformats.org/drawingml/2006/main">
            <a:off x="3362325" y="314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03F91"/>
                </a:solidFill>
                <a:latin typeface="Arial"/>
                <a:ea typeface="Arial"/>
                <a:cs typeface="Arial"/>
              </a:defRPr>
            </a:pPr>
            <a:r>
              <a:rPr sz="2100" b="1">
                <a:solidFill>
                  <a:srgbClr val="203F91"/>
                </a:solidFill>
                <a:latin typeface="Arial"/>
                <a:ea typeface="Arial"/>
                <a:cs typeface="Arial"/>
              </a:rPr>
              <a:t>Language pilot</a:t>
            </a:r>
          </a:p>
        </p:txBody>
      </p:sp>
      <p:sp>
        <p:nvSpPr>
          <p:cNvPr id="15" name="">
            <a:extLst xmlns:a="http://schemas.openxmlformats.org/drawingml/2006/main">
              <a:ext uri="{FF2B5EF4-FFF2-40B4-BE49-F238E27FC236}">
                <a16:creationId xmlns:a16="http://schemas.microsoft.com/office/drawing/2014/main" id="{6A2BBDD8-6B65-48E0-B4D3-F947D4B4CFC4}"/>
              </a:ext>
            </a:extLst>
          </p:cNvPr>
          <p:cNvSpPr>
            <a:spLocks xmlns:a="http://schemas.openxmlformats.org/drawingml/2006/main" noGrp="1"/>
          </p:cNvSpPr>
          <p:nvPr/>
        </p:nvSpPr>
        <p:spPr>
          <a:xfrm xmlns:a="http://schemas.openxmlformats.org/drawingml/2006/main">
            <a:off x="3362325" y="3886200"/>
            <a:ext cx="2571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Add provider adapters</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Test a small language batch</a:t>
            </a:r>
          </a:p>
        </p:txBody>
      </p:sp>
      <p:sp>
        <p:nvSpPr>
          <p:cNvPr id="16" name="">
            <a:extLst xmlns:a="http://schemas.openxmlformats.org/drawingml/2006/main">
              <a:ext uri="{FF2B5EF4-FFF2-40B4-BE49-F238E27FC236}">
                <a16:creationId xmlns:a16="http://schemas.microsoft.com/office/drawing/2014/main" id="{60A22A6D-62A0-45B7-8957-374299AAFCF9}"/>
              </a:ext>
            </a:extLst>
          </p:cNvPr>
          <p:cNvSpPr>
            <a:spLocks xmlns:a="http://schemas.openxmlformats.org/drawingml/2006/main" noGrp="1"/>
          </p:cNvSpPr>
          <p:nvPr/>
        </p:nvSpPr>
        <p:spPr>
          <a:xfrm xmlns:a="http://schemas.openxmlformats.org/drawingml/2006/main">
            <a:off x="3362325" y="5391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7E65"/>
                </a:solidFill>
                <a:latin typeface="Arial"/>
                <a:ea typeface="Arial"/>
                <a:cs typeface="Arial"/>
              </a:defRPr>
            </a:pPr>
            <a:r>
              <a:rPr sz="1575" b="1">
                <a:solidFill>
                  <a:srgbClr val="087E65"/>
                </a:solidFill>
                <a:latin typeface="Arial"/>
                <a:ea typeface="Arial"/>
                <a:cs typeface="Arial"/>
              </a:rPr>
              <a:t>Evidence: reviewed transcripts</a:t>
            </a:r>
          </a:p>
        </p:txBody>
      </p:sp>
      <p:sp>
        <p:nvSpPr>
          <p:cNvPr id="17" name="">
            <a:extLst xmlns:a="http://schemas.openxmlformats.org/drawingml/2006/main">
              <a:ext uri="{FF2B5EF4-FFF2-40B4-BE49-F238E27FC236}">
                <a16:creationId xmlns:a16="http://schemas.microsoft.com/office/drawing/2014/main" id="{B6C92D49-385E-4575-A004-6F3BD5CF9A68}"/>
              </a:ext>
            </a:extLst>
          </p:cNvPr>
          <p:cNvSpPr>
            <a:spLocks xmlns:a="http://schemas.openxmlformats.org/drawingml/2006/main" noGrp="1"/>
          </p:cNvSpPr>
          <p:nvPr/>
        </p:nvSpPr>
        <p:spPr>
          <a:xfrm xmlns:a="http://schemas.openxmlformats.org/drawingml/2006/main">
            <a:off x="6267450" y="20002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77A00"/>
                </a:solidFill>
                <a:latin typeface="Georgia"/>
                <a:ea typeface="Georgia"/>
                <a:cs typeface="Georgia"/>
              </a:defRPr>
            </a:pPr>
            <a:r>
              <a:rPr sz="4575" b="1">
                <a:solidFill>
                  <a:srgbClr val="D77A00"/>
                </a:solidFill>
                <a:latin typeface="Georgia"/>
                <a:ea typeface="Georgia"/>
                <a:cs typeface="Georgia"/>
              </a:rPr>
              <a:t>03</a:t>
            </a:r>
          </a:p>
        </p:txBody>
      </p:sp>
      <p:sp>
        <p:nvSpPr>
          <p:cNvPr id="18" name="">
            <a:extLst xmlns:a="http://schemas.openxmlformats.org/drawingml/2006/main">
              <a:ext uri="{FF2B5EF4-FFF2-40B4-BE49-F238E27FC236}">
                <a16:creationId xmlns:a16="http://schemas.microsoft.com/office/drawing/2014/main" id="{AEA3CE8E-9802-4098-8793-8759D5AD1FE4}"/>
              </a:ext>
            </a:extLst>
          </p:cNvPr>
          <p:cNvSpPr>
            <a:spLocks xmlns:a="http://schemas.openxmlformats.org/drawingml/2006/main" noGrp="1"/>
          </p:cNvSpPr>
          <p:nvPr/>
        </p:nvSpPr>
        <p:spPr>
          <a:xfrm xmlns:a="http://schemas.openxmlformats.org/drawingml/2006/main">
            <a:off x="6267450" y="2905125"/>
            <a:ext cx="25717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7D962CE-E148-4389-B83D-52B7078D89C8}"/>
              </a:ext>
            </a:extLst>
          </p:cNvPr>
          <p:cNvSpPr>
            <a:spLocks xmlns:a="http://schemas.openxmlformats.org/drawingml/2006/main" noGrp="1"/>
          </p:cNvSpPr>
          <p:nvPr/>
        </p:nvSpPr>
        <p:spPr>
          <a:xfrm xmlns:a="http://schemas.openxmlformats.org/drawingml/2006/main">
            <a:off x="6267450" y="314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03F91"/>
                </a:solidFill>
                <a:latin typeface="Arial"/>
                <a:ea typeface="Arial"/>
                <a:cs typeface="Arial"/>
              </a:defRPr>
            </a:pPr>
            <a:r>
              <a:rPr sz="2100" b="1">
                <a:solidFill>
                  <a:srgbClr val="203F91"/>
                </a:solidFill>
                <a:latin typeface="Arial"/>
                <a:ea typeface="Arial"/>
                <a:cs typeface="Arial"/>
              </a:rPr>
              <a:t>Coverage expansion</a:t>
            </a:r>
          </a:p>
        </p:txBody>
      </p:sp>
      <p:sp>
        <p:nvSpPr>
          <p:cNvPr id="20" name="">
            <a:extLst xmlns:a="http://schemas.openxmlformats.org/drawingml/2006/main">
              <a:ext uri="{FF2B5EF4-FFF2-40B4-BE49-F238E27FC236}">
                <a16:creationId xmlns:a16="http://schemas.microsoft.com/office/drawing/2014/main" id="{4F85F774-062F-4235-AA57-5992CDD62EA1}"/>
              </a:ext>
            </a:extLst>
          </p:cNvPr>
          <p:cNvSpPr>
            <a:spLocks xmlns:a="http://schemas.openxmlformats.org/drawingml/2006/main" noGrp="1"/>
          </p:cNvSpPr>
          <p:nvPr/>
        </p:nvSpPr>
        <p:spPr>
          <a:xfrm xmlns:a="http://schemas.openxmlformats.org/drawingml/2006/main">
            <a:off x="6267450" y="3886200"/>
            <a:ext cx="2571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Localize interface and responses</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Add language-aware matching</a:t>
            </a:r>
          </a:p>
        </p:txBody>
      </p:sp>
      <p:sp>
        <p:nvSpPr>
          <p:cNvPr id="21" name="">
            <a:extLst xmlns:a="http://schemas.openxmlformats.org/drawingml/2006/main">
              <a:ext uri="{FF2B5EF4-FFF2-40B4-BE49-F238E27FC236}">
                <a16:creationId xmlns:a16="http://schemas.microsoft.com/office/drawing/2014/main" id="{3DD87428-F64A-44AF-BF7B-255D4757A568}"/>
              </a:ext>
            </a:extLst>
          </p:cNvPr>
          <p:cNvSpPr>
            <a:spLocks xmlns:a="http://schemas.openxmlformats.org/drawingml/2006/main" noGrp="1"/>
          </p:cNvSpPr>
          <p:nvPr/>
        </p:nvSpPr>
        <p:spPr>
          <a:xfrm xmlns:a="http://schemas.openxmlformats.org/drawingml/2006/main">
            <a:off x="6267450" y="5391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7E65"/>
                </a:solidFill>
                <a:latin typeface="Arial"/>
                <a:ea typeface="Arial"/>
                <a:cs typeface="Arial"/>
              </a:defRPr>
            </a:pPr>
            <a:r>
              <a:rPr sz="1575" b="1">
                <a:solidFill>
                  <a:srgbClr val="087E65"/>
                </a:solidFill>
                <a:latin typeface="Arial"/>
                <a:ea typeface="Arial"/>
                <a:cs typeface="Arial"/>
              </a:rPr>
              <a:t>Evidence: per-language report</a:t>
            </a:r>
          </a:p>
        </p:txBody>
      </p:sp>
      <p:sp>
        <p:nvSpPr>
          <p:cNvPr id="22" name="">
            <a:extLst xmlns:a="http://schemas.openxmlformats.org/drawingml/2006/main">
              <a:ext uri="{FF2B5EF4-FFF2-40B4-BE49-F238E27FC236}">
                <a16:creationId xmlns:a16="http://schemas.microsoft.com/office/drawing/2014/main" id="{232C4AAB-F0AD-45A6-826C-C94CEACEA382}"/>
              </a:ext>
            </a:extLst>
          </p:cNvPr>
          <p:cNvSpPr>
            <a:spLocks xmlns:a="http://schemas.openxmlformats.org/drawingml/2006/main" noGrp="1"/>
          </p:cNvSpPr>
          <p:nvPr/>
        </p:nvSpPr>
        <p:spPr>
          <a:xfrm xmlns:a="http://schemas.openxmlformats.org/drawingml/2006/main">
            <a:off x="9172575" y="20002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77A00"/>
                </a:solidFill>
                <a:latin typeface="Georgia"/>
                <a:ea typeface="Georgia"/>
                <a:cs typeface="Georgia"/>
              </a:defRPr>
            </a:pPr>
            <a:r>
              <a:rPr sz="4575" b="1">
                <a:solidFill>
                  <a:srgbClr val="D77A00"/>
                </a:solidFill>
                <a:latin typeface="Georgia"/>
                <a:ea typeface="Georgia"/>
                <a:cs typeface="Georgia"/>
              </a:rPr>
              <a:t>04</a:t>
            </a:r>
          </a:p>
        </p:txBody>
      </p:sp>
      <p:sp>
        <p:nvSpPr>
          <p:cNvPr id="23" name="">
            <a:extLst xmlns:a="http://schemas.openxmlformats.org/drawingml/2006/main">
              <a:ext uri="{FF2B5EF4-FFF2-40B4-BE49-F238E27FC236}">
                <a16:creationId xmlns:a16="http://schemas.microsoft.com/office/drawing/2014/main" id="{AF132C73-CC95-4939-B24E-9197E307D819}"/>
              </a:ext>
            </a:extLst>
          </p:cNvPr>
          <p:cNvSpPr>
            <a:spLocks xmlns:a="http://schemas.openxmlformats.org/drawingml/2006/main" noGrp="1"/>
          </p:cNvSpPr>
          <p:nvPr/>
        </p:nvSpPr>
        <p:spPr>
          <a:xfrm xmlns:a="http://schemas.openxmlformats.org/drawingml/2006/main">
            <a:off x="9172575" y="2905125"/>
            <a:ext cx="25717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B2494ED-B0A1-40A8-B4D1-63FE9324454B}"/>
              </a:ext>
            </a:extLst>
          </p:cNvPr>
          <p:cNvSpPr>
            <a:spLocks xmlns:a="http://schemas.openxmlformats.org/drawingml/2006/main" noGrp="1"/>
          </p:cNvSpPr>
          <p:nvPr/>
        </p:nvSpPr>
        <p:spPr>
          <a:xfrm xmlns:a="http://schemas.openxmlformats.org/drawingml/2006/main">
            <a:off x="9172575" y="314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03F91"/>
                </a:solidFill>
                <a:latin typeface="Arial"/>
                <a:ea typeface="Arial"/>
                <a:cs typeface="Arial"/>
              </a:defRPr>
            </a:pPr>
            <a:r>
              <a:rPr sz="2100" b="1">
                <a:solidFill>
                  <a:srgbClr val="203F91"/>
                </a:solidFill>
                <a:latin typeface="Arial"/>
                <a:ea typeface="Arial"/>
                <a:cs typeface="Arial"/>
              </a:rPr>
              <a:t>Integrated validation</a:t>
            </a:r>
          </a:p>
        </p:txBody>
      </p:sp>
      <p:sp>
        <p:nvSpPr>
          <p:cNvPr id="25" name="">
            <a:extLst xmlns:a="http://schemas.openxmlformats.org/drawingml/2006/main">
              <a:ext uri="{FF2B5EF4-FFF2-40B4-BE49-F238E27FC236}">
                <a16:creationId xmlns:a16="http://schemas.microsoft.com/office/drawing/2014/main" id="{247F47CE-170E-4A1F-B6A3-D82ED989DD26}"/>
              </a:ext>
            </a:extLst>
          </p:cNvPr>
          <p:cNvSpPr>
            <a:spLocks xmlns:a="http://schemas.openxmlformats.org/drawingml/2006/main" noGrp="1"/>
          </p:cNvSpPr>
          <p:nvPr/>
        </p:nvSpPr>
        <p:spPr>
          <a:xfrm xmlns:a="http://schemas.openxmlformats.org/drawingml/2006/main">
            <a:off x="9172575" y="3886200"/>
            <a:ext cx="2571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Harden booking and payment</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Run complete user scenarios</a:t>
            </a:r>
          </a:p>
        </p:txBody>
      </p:sp>
      <p:sp>
        <p:nvSpPr>
          <p:cNvPr id="26" name="">
            <a:extLst xmlns:a="http://schemas.openxmlformats.org/drawingml/2006/main">
              <a:ext uri="{FF2B5EF4-FFF2-40B4-BE49-F238E27FC236}">
                <a16:creationId xmlns:a16="http://schemas.microsoft.com/office/drawing/2014/main" id="{FD3C8ACA-6C4F-41EE-B80B-34C482ADA62B}"/>
              </a:ext>
            </a:extLst>
          </p:cNvPr>
          <p:cNvSpPr>
            <a:spLocks xmlns:a="http://schemas.openxmlformats.org/drawingml/2006/main" noGrp="1"/>
          </p:cNvSpPr>
          <p:nvPr/>
        </p:nvSpPr>
        <p:spPr>
          <a:xfrm xmlns:a="http://schemas.openxmlformats.org/drawingml/2006/main">
            <a:off x="9172575" y="5391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87E65"/>
                </a:solidFill>
                <a:latin typeface="Arial"/>
                <a:ea typeface="Arial"/>
                <a:cs typeface="Arial"/>
              </a:defRPr>
            </a:pPr>
            <a:r>
              <a:rPr sz="1575" b="1">
                <a:solidFill>
                  <a:srgbClr val="087E65"/>
                </a:solidFill>
                <a:latin typeface="Arial"/>
                <a:ea typeface="Arial"/>
                <a:cs typeface="Arial"/>
              </a:rPr>
              <a:t>Evidence: faculty-ready demo</a:t>
            </a:r>
          </a:p>
        </p:txBody>
      </p:sp>
    </p:spTree>
    <p:extLst>
      <p:ext uri="{BB962C8B-B14F-4D97-AF65-F5344CB8AC3E}">
        <p14:creationId xmlns:p14="http://schemas.microsoft.com/office/powerpoint/2010/main" val="19418221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693F74-A239-494F-B910-D1371B0551A1}"/>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61F113F8-5F4E-45FB-A3EB-4952BF5ABBC5}"/>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VALIDATION PLAN</a:t>
            </a:r>
          </a:p>
        </p:txBody>
      </p:sp>
      <p:sp>
        <p:nvSpPr>
          <p:cNvPr id="3" name="">
            <a:extLst xmlns:a="http://schemas.openxmlformats.org/drawingml/2006/main">
              <a:ext uri="{FF2B5EF4-FFF2-40B4-BE49-F238E27FC236}">
                <a16:creationId xmlns:a16="http://schemas.microsoft.com/office/drawing/2014/main" id="{B3B6FDF0-FDF5-4740-A818-E07E9CD9EF32}"/>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Language coverage must come with measurable evidence</a:t>
            </a:r>
          </a:p>
        </p:txBody>
      </p:sp>
      <p:sp>
        <p:nvSpPr>
          <p:cNvPr id="4" name="">
            <a:extLst xmlns:a="http://schemas.openxmlformats.org/drawingml/2006/main">
              <a:ext uri="{FF2B5EF4-FFF2-40B4-BE49-F238E27FC236}">
                <a16:creationId xmlns:a16="http://schemas.microsoft.com/office/drawing/2014/main" id="{17AA6200-F4D9-42BD-AF8E-C7AD020AA01C}"/>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EF327B-7E72-40EC-9A8C-766E8E4D20D8}"/>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evaluation; no benchmark results claimed</a:t>
            </a:r>
          </a:p>
        </p:txBody>
      </p:sp>
      <p:sp>
        <p:nvSpPr>
          <p:cNvPr id="6" name="">
            <a:extLst xmlns:a="http://schemas.openxmlformats.org/drawingml/2006/main">
              <a:ext uri="{FF2B5EF4-FFF2-40B4-BE49-F238E27FC236}">
                <a16:creationId xmlns:a16="http://schemas.microsoft.com/office/drawing/2014/main" id="{72D0B565-7C95-436D-9D1B-25F83295442A}"/>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12</a:t>
            </a:r>
          </a:p>
        </p:txBody>
      </p:sp>
      <p:graphicFrame>
        <p:nvGraphicFramePr>
          <p:cNvPr id="15" name=""/>
          <p:cNvGraphicFramePr/>
          <p:nvPr/>
        </p:nvGraphicFramePr>
        <p:xfrm>
          <a:off xmlns:a="http://schemas.openxmlformats.org/drawingml/2006/main" x="457200" y="1847850"/>
          <a:ext xmlns:a="http://schemas.openxmlformats.org/drawingml/2006/main" cx="11277600" cy="3724275"/>
        </p:xfrm>
        <a:graphic xmlns:a="http://schemas.openxmlformats.org/drawingml/2006/main">
          <a:graphicData uri="http://schemas.openxmlformats.org/drawingml/2006/table">
            <a:tbl>
              <a:tblPr/>
              <a:tblGrid>
                <a:gridCol w="2371725"/>
                <a:gridCol w="4286250"/>
                <a:gridCol w="4619625"/>
              </a:tblGrid>
              <a:tr h="620713">
                <a:tc>
                  <a:txBody>
                    <a:bodyPr/>
                    <a:lstStyle/>
                    <a:p>
                      <a:r>
                        <a:rPr sz="1500" b="1">
                          <a:solidFill>
                            <a:srgbClr val="FFFFFF"/>
                          </a:solidFill>
                          <a:latin typeface="Arial"/>
                          <a:ea typeface="Arial"/>
                          <a:cs typeface="Arial"/>
                        </a:rPr>
                        <a:t>Layer</a:t>
                      </a:r>
                    </a:p>
                  </a:txBody>
                  <a:tcPr marL="91440" marR="91440" marT="45720" marB="45720">
                    <a:solidFill>
                      <a:srgbClr val="203F91"/>
                    </a:solidFill>
                  </a:tcPr>
                </a:tc>
                <a:tc>
                  <a:txBody>
                    <a:bodyPr/>
                    <a:lstStyle/>
                    <a:p>
                      <a:r>
                        <a:rPr sz="1500" b="1">
                          <a:solidFill>
                            <a:srgbClr val="FFFFFF"/>
                          </a:solidFill>
                          <a:latin typeface="Arial"/>
                          <a:ea typeface="Arial"/>
                          <a:cs typeface="Arial"/>
                        </a:rPr>
                        <a:t>What to measure</a:t>
                      </a:r>
                    </a:p>
                  </a:txBody>
                  <a:tcPr marL="91440" marR="91440" marT="45720" marB="45720">
                    <a:solidFill>
                      <a:srgbClr val="203F91"/>
                    </a:solidFill>
                  </a:tcPr>
                </a:tc>
                <a:tc>
                  <a:txBody>
                    <a:bodyPr/>
                    <a:lstStyle/>
                    <a:p>
                      <a:r>
                        <a:rPr sz="1500" b="1">
                          <a:solidFill>
                            <a:srgbClr val="FFFFFF"/>
                          </a:solidFill>
                          <a:latin typeface="Arial"/>
                          <a:ea typeface="Arial"/>
                          <a:cs typeface="Arial"/>
                        </a:rPr>
                        <a:t>Evidence to present</a:t>
                      </a:r>
                    </a:p>
                  </a:txBody>
                  <a:tcPr marL="91440" marR="91440" marT="45720" marB="45720">
                    <a:solidFill>
                      <a:srgbClr val="203F91"/>
                    </a:solidFill>
                  </a:tcPr>
                </a:tc>
              </a:tr>
              <a:tr h="620713">
                <a:tc>
                  <a:txBody>
                    <a:bodyPr/>
                    <a:lstStyle/>
                    <a:p>
                      <a:r>
                        <a:rPr sz="1575" b="1">
                          <a:solidFill>
                            <a:srgbClr val="172237"/>
                          </a:solidFill>
                          <a:latin typeface="Arial"/>
                          <a:ea typeface="Arial"/>
                          <a:cs typeface="Arial"/>
                        </a:rPr>
                        <a:t>Speech recognition</a:t>
                      </a:r>
                    </a:p>
                  </a:txBody>
                  <a:tcPr marL="91440" marR="91440" marT="45720" marB="45720">
                    <a:solidFill>
                      <a:srgbClr val="EEF5FB"/>
                    </a:solidFill>
                  </a:tcPr>
                </a:tc>
                <a:tc>
                  <a:txBody>
                    <a:bodyPr/>
                    <a:lstStyle/>
                    <a:p>
                      <a:r>
                        <a:rPr sz="1575" b="0">
                          <a:solidFill>
                            <a:srgbClr val="172237"/>
                          </a:solidFill>
                          <a:latin typeface="Arial"/>
                          <a:ea typeface="Arial"/>
                          <a:cs typeface="Arial"/>
                        </a:rPr>
                        <a:t>Word errors and critical fact errors</a:t>
                      </a:r>
                    </a:p>
                  </a:txBody>
                  <a:tcPr marL="91440" marR="91440" marT="45720" marB="45720">
                    <a:solidFill>
                      <a:srgbClr val="EEF5FB"/>
                    </a:solidFill>
                  </a:tcPr>
                </a:tc>
                <a:tc>
                  <a:txBody>
                    <a:bodyPr/>
                    <a:lstStyle/>
                    <a:p>
                      <a:r>
                        <a:rPr sz="1575" b="0">
                          <a:solidFill>
                            <a:srgbClr val="172237"/>
                          </a:solidFill>
                          <a:latin typeface="Arial"/>
                          <a:ea typeface="Arial"/>
                          <a:cs typeface="Arial"/>
                        </a:rPr>
                        <a:t>Per-language transcripts and corrections</a:t>
                      </a:r>
                    </a:p>
                  </a:txBody>
                  <a:tcPr marL="91440" marR="91440" marT="45720" marB="45720">
                    <a:solidFill>
                      <a:srgbClr val="EEF5FB"/>
                    </a:solidFill>
                  </a:tcPr>
                </a:tc>
              </a:tr>
              <a:tr h="620713">
                <a:tc>
                  <a:txBody>
                    <a:bodyPr/>
                    <a:lstStyle/>
                    <a:p>
                      <a:r>
                        <a:rPr sz="1575" b="1">
                          <a:solidFill>
                            <a:srgbClr val="172237"/>
                          </a:solidFill>
                          <a:latin typeface="Arial"/>
                          <a:ea typeface="Arial"/>
                          <a:cs typeface="Arial"/>
                        </a:rPr>
                        <a:t>Legal triage</a:t>
                      </a:r>
                    </a:p>
                  </a:txBody>
                  <a:tcPr marL="91440" marR="91440" marT="45720" marB="45720">
                    <a:solidFill>
                      <a:srgbClr val="FFFFFF"/>
                    </a:solidFill>
                  </a:tcPr>
                </a:tc>
                <a:tc>
                  <a:txBody>
                    <a:bodyPr/>
                    <a:lstStyle/>
                    <a:p>
                      <a:r>
                        <a:rPr sz="1575" b="0">
                          <a:solidFill>
                            <a:srgbClr val="172237"/>
                          </a:solidFill>
                          <a:latin typeface="Arial"/>
                          <a:ea typeface="Arial"/>
                          <a:cs typeface="Arial"/>
                        </a:rPr>
                        <a:t>Category accuracy and urgency errors</a:t>
                      </a:r>
                    </a:p>
                  </a:txBody>
                  <a:tcPr marL="91440" marR="91440" marT="45720" marB="45720">
                    <a:solidFill>
                      <a:srgbClr val="FFFFFF"/>
                    </a:solidFill>
                  </a:tcPr>
                </a:tc>
                <a:tc>
                  <a:txBody>
                    <a:bodyPr/>
                    <a:lstStyle/>
                    <a:p>
                      <a:r>
                        <a:rPr sz="1575" b="0">
                          <a:solidFill>
                            <a:srgbClr val="172237"/>
                          </a:solidFill>
                          <a:latin typeface="Arial"/>
                          <a:ea typeface="Arial"/>
                          <a:cs typeface="Arial"/>
                        </a:rPr>
                        <a:t>Reviewed test cases with expected labels</a:t>
                      </a:r>
                    </a:p>
                  </a:txBody>
                  <a:tcPr marL="91440" marR="91440" marT="45720" marB="45720">
                    <a:solidFill>
                      <a:srgbClr val="FFFFFF"/>
                    </a:solidFill>
                  </a:tcPr>
                </a:tc>
              </a:tr>
              <a:tr h="620713">
                <a:tc>
                  <a:txBody>
                    <a:bodyPr/>
                    <a:lstStyle/>
                    <a:p>
                      <a:r>
                        <a:rPr sz="1575" b="1">
                          <a:solidFill>
                            <a:srgbClr val="172237"/>
                          </a:solidFill>
                          <a:latin typeface="Arial"/>
                          <a:ea typeface="Arial"/>
                          <a:cs typeface="Arial"/>
                        </a:rPr>
                        <a:t>Language response</a:t>
                      </a:r>
                    </a:p>
                  </a:txBody>
                  <a:tcPr marL="91440" marR="91440" marT="45720" marB="45720">
                    <a:solidFill>
                      <a:srgbClr val="EEF5FB"/>
                    </a:solidFill>
                  </a:tcPr>
                </a:tc>
                <a:tc>
                  <a:txBody>
                    <a:bodyPr/>
                    <a:lstStyle/>
                    <a:p>
                      <a:r>
                        <a:rPr sz="1575" b="0">
                          <a:solidFill>
                            <a:srgbClr val="172237"/>
                          </a:solidFill>
                          <a:latin typeface="Arial"/>
                          <a:ea typeface="Arial"/>
                          <a:cs typeface="Arial"/>
                        </a:rPr>
                        <a:t>Meaning, clarity and factual preservation</a:t>
                      </a:r>
                    </a:p>
                  </a:txBody>
                  <a:tcPr marL="91440" marR="91440" marT="45720" marB="45720">
                    <a:solidFill>
                      <a:srgbClr val="EEF5FB"/>
                    </a:solidFill>
                  </a:tcPr>
                </a:tc>
                <a:tc>
                  <a:txBody>
                    <a:bodyPr/>
                    <a:lstStyle/>
                    <a:p>
                      <a:r>
                        <a:rPr sz="1575" b="0">
                          <a:solidFill>
                            <a:srgbClr val="172237"/>
                          </a:solidFill>
                          <a:latin typeface="Arial"/>
                          <a:ea typeface="Arial"/>
                          <a:cs typeface="Arial"/>
                        </a:rPr>
                        <a:t>Bilingual or native-speaker review</a:t>
                      </a:r>
                    </a:p>
                  </a:txBody>
                  <a:tcPr marL="91440" marR="91440" marT="45720" marB="45720">
                    <a:solidFill>
                      <a:srgbClr val="EEF5FB"/>
                    </a:solidFill>
                  </a:tcPr>
                </a:tc>
              </a:tr>
              <a:tr h="620713">
                <a:tc>
                  <a:txBody>
                    <a:bodyPr/>
                    <a:lstStyle/>
                    <a:p>
                      <a:r>
                        <a:rPr sz="1575" b="1">
                          <a:solidFill>
                            <a:srgbClr val="172237"/>
                          </a:solidFill>
                          <a:latin typeface="Arial"/>
                          <a:ea typeface="Arial"/>
                          <a:cs typeface="Arial"/>
                        </a:rPr>
                        <a:t>User experience</a:t>
                      </a:r>
                    </a:p>
                  </a:txBody>
                  <a:tcPr marL="91440" marR="91440" marT="45720" marB="45720">
                    <a:solidFill>
                      <a:srgbClr val="FFFFFF"/>
                    </a:solidFill>
                  </a:tcPr>
                </a:tc>
                <a:tc>
                  <a:txBody>
                    <a:bodyPr/>
                    <a:lstStyle/>
                    <a:p>
                      <a:r>
                        <a:rPr sz="1575" b="0">
                          <a:solidFill>
                            <a:srgbClr val="172237"/>
                          </a:solidFill>
                          <a:latin typeface="Arial"/>
                          <a:ea typeface="Arial"/>
                          <a:cs typeface="Arial"/>
                        </a:rPr>
                        <a:t>Completion rate and response time</a:t>
                      </a:r>
                    </a:p>
                  </a:txBody>
                  <a:tcPr marL="91440" marR="91440" marT="45720" marB="45720">
                    <a:solidFill>
                      <a:srgbClr val="FFFFFF"/>
                    </a:solidFill>
                  </a:tcPr>
                </a:tc>
                <a:tc>
                  <a:txBody>
                    <a:bodyPr/>
                    <a:lstStyle/>
                    <a:p>
                      <a:r>
                        <a:rPr sz="1575" b="0">
                          <a:solidFill>
                            <a:srgbClr val="172237"/>
                          </a:solidFill>
                          <a:latin typeface="Arial"/>
                          <a:ea typeface="Arial"/>
                          <a:cs typeface="Arial"/>
                        </a:rPr>
                        <a:t>Observed tasks and median / p95 latency</a:t>
                      </a:r>
                    </a:p>
                  </a:txBody>
                  <a:tcPr marL="91440" marR="91440" marT="45720" marB="45720">
                    <a:solidFill>
                      <a:srgbClr val="FFFFFF"/>
                    </a:solidFill>
                  </a:tcPr>
                </a:tc>
              </a:tr>
              <a:tr h="620713">
                <a:tc>
                  <a:txBody>
                    <a:bodyPr/>
                    <a:lstStyle/>
                    <a:p>
                      <a:r>
                        <a:rPr sz="1575" b="1">
                          <a:solidFill>
                            <a:srgbClr val="172237"/>
                          </a:solidFill>
                          <a:latin typeface="Arial"/>
                          <a:ea typeface="Arial"/>
                          <a:cs typeface="Arial"/>
                        </a:rPr>
                        <a:t>Booking and payment</a:t>
                      </a:r>
                    </a:p>
                  </a:txBody>
                  <a:tcPr marL="91440" marR="91440" marT="45720" marB="45720">
                    <a:solidFill>
                      <a:srgbClr val="EEF5FB"/>
                    </a:solidFill>
                  </a:tcPr>
                </a:tc>
                <a:tc>
                  <a:txBody>
                    <a:bodyPr/>
                    <a:lstStyle/>
                    <a:p>
                      <a:r>
                        <a:rPr sz="1575" b="0">
                          <a:solidFill>
                            <a:srgbClr val="172237"/>
                          </a:solidFill>
                          <a:latin typeface="Arial"/>
                          <a:ea typeface="Arial"/>
                          <a:cs typeface="Arial"/>
                        </a:rPr>
                        <a:t>Slot conflicts and status correctness</a:t>
                      </a:r>
                    </a:p>
                  </a:txBody>
                  <a:tcPr marL="91440" marR="91440" marT="45720" marB="45720">
                    <a:solidFill>
                      <a:srgbClr val="EEF5FB"/>
                    </a:solidFill>
                  </a:tcPr>
                </a:tc>
                <a:tc>
                  <a:txBody>
                    <a:bodyPr/>
                    <a:lstStyle/>
                    <a:p>
                      <a:r>
                        <a:rPr sz="1575" b="0">
                          <a:solidFill>
                            <a:srgbClr val="172237"/>
                          </a:solidFill>
                          <a:latin typeface="Arial"/>
                          <a:ea typeface="Arial"/>
                          <a:cs typeface="Arial"/>
                        </a:rPr>
                        <a:t>Integration tests and failure scenarios</a:t>
                      </a:r>
                    </a:p>
                  </a:txBody>
                  <a:tcPr marL="91440" marR="91440" marT="45720" marB="45720">
                    <a:solidFill>
                      <a:srgbClr val="EEF5FB"/>
                    </a:solidFill>
                  </a:tcPr>
                </a:tc>
              </a:tr>
            </a:tbl>
          </a:graphicData>
        </a:graphic>
      </p:graphicFrame>
      <p:sp>
        <p:nvSpPr>
          <p:cNvPr id="8" name="">
            <a:extLst xmlns:a="http://schemas.openxmlformats.org/drawingml/2006/main">
              <a:ext uri="{FF2B5EF4-FFF2-40B4-BE49-F238E27FC236}">
                <a16:creationId xmlns:a16="http://schemas.microsoft.com/office/drawing/2014/main" id="{0419EB8A-976C-41FD-B71F-BF76B089C175}"/>
              </a:ext>
            </a:extLst>
          </p:cNvPr>
          <p:cNvSpPr>
            <a:spLocks xmlns:a="http://schemas.openxmlformats.org/drawingml/2006/main" noGrp="1"/>
          </p:cNvSpPr>
          <p:nvPr/>
        </p:nvSpPr>
        <p:spPr>
          <a:xfrm xmlns:a="http://schemas.openxmlformats.org/drawingml/2006/main">
            <a:off x="466725" y="5829300"/>
            <a:ext cx="11229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D77A00"/>
                </a:solidFill>
                <a:latin typeface="Arial"/>
                <a:ea typeface="Arial"/>
                <a:cs typeface="Arial"/>
              </a:defRPr>
            </a:pPr>
            <a:r>
              <a:rPr sz="1800" b="1">
                <a:solidFill>
                  <a:srgbClr val="D77A00"/>
                </a:solidFill>
                <a:latin typeface="Arial"/>
                <a:ea typeface="Arial"/>
                <a:cs typeface="Arial"/>
              </a:rPr>
              <a:t>Choose acceptance thresholds with faculty and reviewers before testing.</a:t>
            </a:r>
          </a:p>
        </p:txBody>
      </p:sp>
    </p:spTree>
    <p:extLst>
      <p:ext uri="{BB962C8B-B14F-4D97-AF65-F5344CB8AC3E}">
        <p14:creationId xmlns:p14="http://schemas.microsoft.com/office/powerpoint/2010/main" val="17132981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4F3C5B7-4187-409B-AFBC-2F937F2C8ABC}"/>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5DE7F0D5-D285-4DCB-9AF5-C16B398399AC}"/>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EXPECTED IMPACT AND PROJECT CONTRIBUTION</a:t>
            </a:r>
          </a:p>
        </p:txBody>
      </p:sp>
      <p:sp>
        <p:nvSpPr>
          <p:cNvPr id="3" name="">
            <a:extLst xmlns:a="http://schemas.openxmlformats.org/drawingml/2006/main">
              <a:ext uri="{FF2B5EF4-FFF2-40B4-BE49-F238E27FC236}">
                <a16:creationId xmlns:a16="http://schemas.microsoft.com/office/drawing/2014/main" id="{568BE4CA-833B-49F3-A94B-998522C85E80}"/>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Benefits to evaluate as the inherited prototype develops</a:t>
            </a:r>
          </a:p>
        </p:txBody>
      </p:sp>
      <p:sp>
        <p:nvSpPr>
          <p:cNvPr id="4" name="">
            <a:extLst xmlns:a="http://schemas.openxmlformats.org/drawingml/2006/main">
              <a:ext uri="{FF2B5EF4-FFF2-40B4-BE49-F238E27FC236}">
                <a16:creationId xmlns:a16="http://schemas.microsoft.com/office/drawing/2014/main" id="{B6CB2309-F38C-4567-B382-ABCFB11ABDBE}"/>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988035-E8C8-4C59-8627-7775E3469A56}"/>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E143B630-A7FD-4942-A462-89F24EBCEF43}"/>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34E03BCC-BE69-486F-A93C-F4F2A91DBFA9}"/>
              </a:ext>
            </a:extLst>
          </p:cNvPr>
          <p:cNvSpPr>
            <a:spLocks xmlns:a="http://schemas.openxmlformats.org/drawingml/2006/main" noGrp="1"/>
          </p:cNvSpPr>
          <p:nvPr/>
        </p:nvSpPr>
        <p:spPr>
          <a:xfrm xmlns:a="http://schemas.openxmlformats.org/drawingml/2006/main">
            <a:off x="381000" y="2047875"/>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03F91"/>
                </a:solidFill>
                <a:latin typeface="Georgia"/>
                <a:ea typeface="Georgia"/>
                <a:cs typeface="Georgia"/>
              </a:defRPr>
            </a:pPr>
            <a:r>
              <a:rPr sz="2700" b="1">
                <a:solidFill>
                  <a:srgbClr val="203F91"/>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8C432F88-0924-4B03-A7E1-FC159F4B0D34}"/>
              </a:ext>
            </a:extLst>
          </p:cNvPr>
          <p:cNvSpPr>
            <a:spLocks xmlns:a="http://schemas.openxmlformats.org/drawingml/2006/main" noGrp="1"/>
          </p:cNvSpPr>
          <p:nvPr/>
        </p:nvSpPr>
        <p:spPr>
          <a:xfrm xmlns:a="http://schemas.openxmlformats.org/drawingml/2006/main">
            <a:off x="1238250" y="20478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Broader language access</a:t>
            </a:r>
          </a:p>
        </p:txBody>
      </p:sp>
      <p:sp>
        <p:nvSpPr>
          <p:cNvPr id="9" name="">
            <a:extLst xmlns:a="http://schemas.openxmlformats.org/drawingml/2006/main">
              <a:ext uri="{FF2B5EF4-FFF2-40B4-BE49-F238E27FC236}">
                <a16:creationId xmlns:a16="http://schemas.microsoft.com/office/drawing/2014/main" id="{3DCA312A-A951-46C7-BDE9-44544F9FB945}"/>
              </a:ext>
            </a:extLst>
          </p:cNvPr>
          <p:cNvSpPr>
            <a:spLocks xmlns:a="http://schemas.openxmlformats.org/drawingml/2006/main" noGrp="1"/>
          </p:cNvSpPr>
          <p:nvPr/>
        </p:nvSpPr>
        <p:spPr>
          <a:xfrm xmlns:a="http://schemas.openxmlformats.org/drawingml/2006/main">
            <a:off x="4714875" y="2047875"/>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More users can describe a problem in their preferred language.</a:t>
            </a:r>
          </a:p>
        </p:txBody>
      </p:sp>
      <p:sp>
        <p:nvSpPr>
          <p:cNvPr id="10" name="">
            <a:extLst xmlns:a="http://schemas.openxmlformats.org/drawingml/2006/main">
              <a:ext uri="{FF2B5EF4-FFF2-40B4-BE49-F238E27FC236}">
                <a16:creationId xmlns:a16="http://schemas.microsoft.com/office/drawing/2014/main" id="{F611B93E-C268-432B-BF53-5EB804063D45}"/>
              </a:ext>
            </a:extLst>
          </p:cNvPr>
          <p:cNvSpPr>
            <a:spLocks xmlns:a="http://schemas.openxmlformats.org/drawingml/2006/main" noGrp="1"/>
          </p:cNvSpPr>
          <p:nvPr/>
        </p:nvSpPr>
        <p:spPr>
          <a:xfrm xmlns:a="http://schemas.openxmlformats.org/drawingml/2006/main">
            <a:off x="1238250" y="2771775"/>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50AF3E-780A-4949-AE47-E39601633CA9}"/>
              </a:ext>
            </a:extLst>
          </p:cNvPr>
          <p:cNvSpPr>
            <a:spLocks xmlns:a="http://schemas.openxmlformats.org/drawingml/2006/main" noGrp="1"/>
          </p:cNvSpPr>
          <p:nvPr/>
        </p:nvSpPr>
        <p:spPr>
          <a:xfrm xmlns:a="http://schemas.openxmlformats.org/drawingml/2006/main">
            <a:off x="381000" y="30480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3B9"/>
                </a:solidFill>
                <a:latin typeface="Georgia"/>
                <a:ea typeface="Georgia"/>
                <a:cs typeface="Georgia"/>
              </a:defRPr>
            </a:pPr>
            <a:r>
              <a:rPr sz="2700" b="1">
                <a:solidFill>
                  <a:srgbClr val="0073B9"/>
                </a:solidFill>
                <a:latin typeface="Georgia"/>
                <a:ea typeface="Georgia"/>
                <a:cs typeface="Georgia"/>
              </a:rPr>
              <a:t>02</a:t>
            </a:r>
          </a:p>
        </p:txBody>
      </p:sp>
      <p:sp>
        <p:nvSpPr>
          <p:cNvPr id="12" name="">
            <a:extLst xmlns:a="http://schemas.openxmlformats.org/drawingml/2006/main">
              <a:ext uri="{FF2B5EF4-FFF2-40B4-BE49-F238E27FC236}">
                <a16:creationId xmlns:a16="http://schemas.microsoft.com/office/drawing/2014/main" id="{34ADB4D6-3C07-4E42-9966-B62FBF3A7A83}"/>
              </a:ext>
            </a:extLst>
          </p:cNvPr>
          <p:cNvSpPr>
            <a:spLocks xmlns:a="http://schemas.openxmlformats.org/drawingml/2006/main" noGrp="1"/>
          </p:cNvSpPr>
          <p:nvPr/>
        </p:nvSpPr>
        <p:spPr>
          <a:xfrm xmlns:a="http://schemas.openxmlformats.org/drawingml/2006/main">
            <a:off x="1238250" y="3048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073B9"/>
                </a:solidFill>
                <a:latin typeface="Arial"/>
                <a:ea typeface="Arial"/>
                <a:cs typeface="Arial"/>
              </a:defRPr>
            </a:pPr>
            <a:r>
              <a:rPr sz="1800" b="1">
                <a:solidFill>
                  <a:srgbClr val="0073B9"/>
                </a:solidFill>
                <a:latin typeface="Arial"/>
                <a:ea typeface="Arial"/>
                <a:cs typeface="Arial"/>
              </a:rPr>
              <a:t>Clearer first steps</a:t>
            </a:r>
          </a:p>
        </p:txBody>
      </p:sp>
      <p:sp>
        <p:nvSpPr>
          <p:cNvPr id="13" name="">
            <a:extLst xmlns:a="http://schemas.openxmlformats.org/drawingml/2006/main">
              <a:ext uri="{FF2B5EF4-FFF2-40B4-BE49-F238E27FC236}">
                <a16:creationId xmlns:a16="http://schemas.microsoft.com/office/drawing/2014/main" id="{A6EF9814-5E8F-49E1-91C1-8A5A8F94DAF5}"/>
              </a:ext>
            </a:extLst>
          </p:cNvPr>
          <p:cNvSpPr>
            <a:spLocks xmlns:a="http://schemas.openxmlformats.org/drawingml/2006/main" noGrp="1"/>
          </p:cNvSpPr>
          <p:nvPr/>
        </p:nvSpPr>
        <p:spPr>
          <a:xfrm xmlns:a="http://schemas.openxmlformats.org/drawingml/2006/main">
            <a:off x="4714875" y="304800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Users can understand the issue category and prepare for a consultation.</a:t>
            </a:r>
          </a:p>
        </p:txBody>
      </p:sp>
      <p:sp>
        <p:nvSpPr>
          <p:cNvPr id="14" name="">
            <a:extLst xmlns:a="http://schemas.openxmlformats.org/drawingml/2006/main">
              <a:ext uri="{FF2B5EF4-FFF2-40B4-BE49-F238E27FC236}">
                <a16:creationId xmlns:a16="http://schemas.microsoft.com/office/drawing/2014/main" id="{B00AD1F0-6EC2-46ED-8791-54F70F5AC43B}"/>
              </a:ext>
            </a:extLst>
          </p:cNvPr>
          <p:cNvSpPr>
            <a:spLocks xmlns:a="http://schemas.openxmlformats.org/drawingml/2006/main" noGrp="1"/>
          </p:cNvSpPr>
          <p:nvPr/>
        </p:nvSpPr>
        <p:spPr>
          <a:xfrm xmlns:a="http://schemas.openxmlformats.org/drawingml/2006/main">
            <a:off x="1238250" y="377190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A5B1F83-7907-40A4-89F9-C353AE18E222}"/>
              </a:ext>
            </a:extLst>
          </p:cNvPr>
          <p:cNvSpPr>
            <a:spLocks xmlns:a="http://schemas.openxmlformats.org/drawingml/2006/main" noGrp="1"/>
          </p:cNvSpPr>
          <p:nvPr/>
        </p:nvSpPr>
        <p:spPr>
          <a:xfrm xmlns:a="http://schemas.openxmlformats.org/drawingml/2006/main">
            <a:off x="381000" y="4048125"/>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65"/>
                </a:solidFill>
                <a:latin typeface="Georgia"/>
                <a:ea typeface="Georgia"/>
                <a:cs typeface="Georgia"/>
              </a:defRPr>
            </a:pPr>
            <a:r>
              <a:rPr sz="2700" b="1">
                <a:solidFill>
                  <a:srgbClr val="087E65"/>
                </a:solidFill>
                <a:latin typeface="Georgia"/>
                <a:ea typeface="Georgia"/>
                <a:cs typeface="Georgia"/>
              </a:rPr>
              <a:t>03</a:t>
            </a:r>
          </a:p>
        </p:txBody>
      </p:sp>
      <p:sp>
        <p:nvSpPr>
          <p:cNvPr id="16" name="">
            <a:extLst xmlns:a="http://schemas.openxmlformats.org/drawingml/2006/main">
              <a:ext uri="{FF2B5EF4-FFF2-40B4-BE49-F238E27FC236}">
                <a16:creationId xmlns:a16="http://schemas.microsoft.com/office/drawing/2014/main" id="{03EC3380-1D8A-4125-8D85-4D8CCF98A024}"/>
              </a:ext>
            </a:extLst>
          </p:cNvPr>
          <p:cNvSpPr>
            <a:spLocks xmlns:a="http://schemas.openxmlformats.org/drawingml/2006/main" noGrp="1"/>
          </p:cNvSpPr>
          <p:nvPr/>
        </p:nvSpPr>
        <p:spPr>
          <a:xfrm xmlns:a="http://schemas.openxmlformats.org/drawingml/2006/main">
            <a:off x="1238250" y="40481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87E65"/>
                </a:solidFill>
                <a:latin typeface="Arial"/>
                <a:ea typeface="Arial"/>
                <a:cs typeface="Arial"/>
              </a:defRPr>
            </a:pPr>
            <a:r>
              <a:rPr sz="1800" b="1">
                <a:solidFill>
                  <a:srgbClr val="087E65"/>
                </a:solidFill>
                <a:latin typeface="Arial"/>
                <a:ea typeface="Arial"/>
                <a:cs typeface="Arial"/>
              </a:rPr>
              <a:t>More relevant discovery</a:t>
            </a:r>
          </a:p>
        </p:txBody>
      </p:sp>
      <p:sp>
        <p:nvSpPr>
          <p:cNvPr id="17" name="">
            <a:extLst xmlns:a="http://schemas.openxmlformats.org/drawingml/2006/main">
              <a:ext uri="{FF2B5EF4-FFF2-40B4-BE49-F238E27FC236}">
                <a16:creationId xmlns:a16="http://schemas.microsoft.com/office/drawing/2014/main" id="{F36BD922-84EC-4100-A14F-EA4A03B7B994}"/>
              </a:ext>
            </a:extLst>
          </p:cNvPr>
          <p:cNvSpPr>
            <a:spLocks xmlns:a="http://schemas.openxmlformats.org/drawingml/2006/main" noGrp="1"/>
          </p:cNvSpPr>
          <p:nvPr/>
        </p:nvSpPr>
        <p:spPr>
          <a:xfrm xmlns:a="http://schemas.openxmlformats.org/drawingml/2006/main">
            <a:off x="4714875" y="4048125"/>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Language preference can complement expertise when finding advocates.</a:t>
            </a:r>
          </a:p>
        </p:txBody>
      </p:sp>
      <p:sp>
        <p:nvSpPr>
          <p:cNvPr id="18" name="">
            <a:extLst xmlns:a="http://schemas.openxmlformats.org/drawingml/2006/main">
              <a:ext uri="{FF2B5EF4-FFF2-40B4-BE49-F238E27FC236}">
                <a16:creationId xmlns:a16="http://schemas.microsoft.com/office/drawing/2014/main" id="{905792FD-342B-47C1-83F7-74A97165ADAF}"/>
              </a:ext>
            </a:extLst>
          </p:cNvPr>
          <p:cNvSpPr>
            <a:spLocks xmlns:a="http://schemas.openxmlformats.org/drawingml/2006/main" noGrp="1"/>
          </p:cNvSpPr>
          <p:nvPr/>
        </p:nvSpPr>
        <p:spPr>
          <a:xfrm xmlns:a="http://schemas.openxmlformats.org/drawingml/2006/main">
            <a:off x="1238250" y="4772025"/>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E0DDE35-8978-4760-BDBC-593C0F14A6F7}"/>
              </a:ext>
            </a:extLst>
          </p:cNvPr>
          <p:cNvSpPr>
            <a:spLocks xmlns:a="http://schemas.openxmlformats.org/drawingml/2006/main" noGrp="1"/>
          </p:cNvSpPr>
          <p:nvPr/>
        </p:nvSpPr>
        <p:spPr>
          <a:xfrm xmlns:a="http://schemas.openxmlformats.org/drawingml/2006/main">
            <a:off x="381000" y="504825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77A00"/>
                </a:solidFill>
                <a:latin typeface="Georgia"/>
                <a:ea typeface="Georgia"/>
                <a:cs typeface="Georgia"/>
              </a:defRPr>
            </a:pPr>
            <a:r>
              <a:rPr sz="2700" b="1">
                <a:solidFill>
                  <a:srgbClr val="D77A00"/>
                </a:solidFill>
                <a:latin typeface="Georgia"/>
                <a:ea typeface="Georgia"/>
                <a:cs typeface="Georgia"/>
              </a:rPr>
              <a:t>04</a:t>
            </a:r>
          </a:p>
        </p:txBody>
      </p:sp>
      <p:sp>
        <p:nvSpPr>
          <p:cNvPr id="20" name="">
            <a:extLst xmlns:a="http://schemas.openxmlformats.org/drawingml/2006/main">
              <a:ext uri="{FF2B5EF4-FFF2-40B4-BE49-F238E27FC236}">
                <a16:creationId xmlns:a16="http://schemas.microsoft.com/office/drawing/2014/main" id="{0DF1A9B3-E595-4DED-9742-6B67C6F97C51}"/>
              </a:ext>
            </a:extLst>
          </p:cNvPr>
          <p:cNvSpPr>
            <a:spLocks xmlns:a="http://schemas.openxmlformats.org/drawingml/2006/main" noGrp="1"/>
          </p:cNvSpPr>
          <p:nvPr/>
        </p:nvSpPr>
        <p:spPr>
          <a:xfrm xmlns:a="http://schemas.openxmlformats.org/drawingml/2006/main">
            <a:off x="1238250" y="50482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D77A00"/>
                </a:solidFill>
                <a:latin typeface="Arial"/>
                <a:ea typeface="Arial"/>
                <a:cs typeface="Arial"/>
              </a:defRPr>
            </a:pPr>
            <a:r>
              <a:rPr sz="1800" b="1">
                <a:solidFill>
                  <a:srgbClr val="D77A00"/>
                </a:solidFill>
                <a:latin typeface="Arial"/>
                <a:ea typeface="Arial"/>
                <a:cs typeface="Arial"/>
              </a:rPr>
              <a:t>Accountable development</a:t>
            </a:r>
          </a:p>
        </p:txBody>
      </p:sp>
      <p:sp>
        <p:nvSpPr>
          <p:cNvPr id="21" name="">
            <a:extLst xmlns:a="http://schemas.openxmlformats.org/drawingml/2006/main">
              <a:ext uri="{FF2B5EF4-FFF2-40B4-BE49-F238E27FC236}">
                <a16:creationId xmlns:a16="http://schemas.microsoft.com/office/drawing/2014/main" id="{FA4104C0-7E73-4BDA-BC3E-10ADA6D7F941}"/>
              </a:ext>
            </a:extLst>
          </p:cNvPr>
          <p:cNvSpPr>
            <a:spLocks xmlns:a="http://schemas.openxmlformats.org/drawingml/2006/main" noGrp="1"/>
          </p:cNvSpPr>
          <p:nvPr/>
        </p:nvSpPr>
        <p:spPr>
          <a:xfrm xmlns:a="http://schemas.openxmlformats.org/drawingml/2006/main">
            <a:off x="4714875" y="504825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A documented baseline and test results make new contributions visible.</a:t>
            </a:r>
          </a:p>
        </p:txBody>
      </p:sp>
      <p:sp>
        <p:nvSpPr>
          <p:cNvPr id="22" name="">
            <a:extLst xmlns:a="http://schemas.openxmlformats.org/drawingml/2006/main">
              <a:ext uri="{FF2B5EF4-FFF2-40B4-BE49-F238E27FC236}">
                <a16:creationId xmlns:a16="http://schemas.microsoft.com/office/drawing/2014/main" id="{E4111075-55D6-4908-84AC-804AF53DD0C5}"/>
              </a:ext>
            </a:extLst>
          </p:cNvPr>
          <p:cNvSpPr>
            <a:spLocks xmlns:a="http://schemas.openxmlformats.org/drawingml/2006/main" noGrp="1"/>
          </p:cNvSpPr>
          <p:nvPr/>
        </p:nvSpPr>
        <p:spPr>
          <a:xfrm xmlns:a="http://schemas.openxmlformats.org/drawingml/2006/main">
            <a:off x="1238250" y="577215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Tree>
    <p:extLst>
      <p:ext uri="{BB962C8B-B14F-4D97-AF65-F5344CB8AC3E}">
        <p14:creationId xmlns:p14="http://schemas.microsoft.com/office/powerpoint/2010/main" val="10690548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BFB4D1-0191-4B54-AC99-8501C1D7882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3414C27A-AC8F-4E3A-8603-562CC5A8B3A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REFERENCES AND DISCUSSION</a:t>
            </a:r>
          </a:p>
        </p:txBody>
      </p:sp>
      <p:sp>
        <p:nvSpPr>
          <p:cNvPr id="3" name="">
            <a:extLst xmlns:a="http://schemas.openxmlformats.org/drawingml/2006/main">
              <a:ext uri="{FF2B5EF4-FFF2-40B4-BE49-F238E27FC236}">
                <a16:creationId xmlns:a16="http://schemas.microsoft.com/office/drawing/2014/main" id="{59E5357F-AC20-44F6-80F7-9A8431197FE4}"/>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Source basis for the architecture and proposed language extension</a:t>
            </a:r>
          </a:p>
        </p:txBody>
      </p:sp>
      <p:sp>
        <p:nvSpPr>
          <p:cNvPr id="4" name="">
            <a:extLst xmlns:a="http://schemas.openxmlformats.org/drawingml/2006/main">
              <a:ext uri="{FF2B5EF4-FFF2-40B4-BE49-F238E27FC236}">
                <a16:creationId xmlns:a16="http://schemas.microsoft.com/office/drawing/2014/main" id="{0A353E49-DC6A-4769-B30A-5046166C7685}"/>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CF802D-BD5D-40A2-A527-3E69AE8D1E3F}"/>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E052F745-E1FB-4194-A983-D269A29261DE}"/>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80040F1E-FEE2-42E6-9390-25EFFA2B44D0}"/>
              </a:ext>
            </a:extLst>
          </p:cNvPr>
          <p:cNvSpPr>
            <a:spLocks xmlns:a="http://schemas.openxmlformats.org/drawingml/2006/main" noGrp="1"/>
          </p:cNvSpPr>
          <p:nvPr/>
        </p:nvSpPr>
        <p:spPr>
          <a:xfrm xmlns:a="http://schemas.openxmlformats.org/drawingml/2006/main">
            <a:off x="457200" y="1781175"/>
            <a:ext cx="544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PROJECT EVIDENCE</a:t>
            </a:r>
          </a:p>
        </p:txBody>
      </p:sp>
      <p:sp>
        <p:nvSpPr>
          <p:cNvPr id="8" name="">
            <a:extLst xmlns:a="http://schemas.openxmlformats.org/drawingml/2006/main">
              <a:ext uri="{FF2B5EF4-FFF2-40B4-BE49-F238E27FC236}">
                <a16:creationId xmlns:a16="http://schemas.microsoft.com/office/drawing/2014/main" id="{236566F7-D44B-46EF-8C14-CC479087A4B6}"/>
              </a:ext>
            </a:extLst>
          </p:cNvPr>
          <p:cNvSpPr>
            <a:spLocks xmlns:a="http://schemas.openxmlformats.org/drawingml/2006/main" noGrp="1"/>
          </p:cNvSpPr>
          <p:nvPr/>
        </p:nvSpPr>
        <p:spPr>
          <a:xfrm xmlns:a="http://schemas.openxmlformats.org/drawingml/2006/main">
            <a:off x="457200" y="2124075"/>
            <a:ext cx="544830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661F28-0B17-4F9E-BFA9-8EC2F74D81AB}"/>
              </a:ext>
            </a:extLst>
          </p:cNvPr>
          <p:cNvSpPr>
            <a:spLocks xmlns:a="http://schemas.openxmlformats.org/drawingml/2006/main" noGrp="1"/>
          </p:cNvSpPr>
          <p:nvPr/>
        </p:nvSpPr>
        <p:spPr>
          <a:xfrm xmlns:a="http://schemas.openxmlformats.org/drawingml/2006/main">
            <a:off x="476250" y="2333625"/>
            <a:ext cx="539115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Current application source</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React pages, voice component and chat hook</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Express controllers, AI service and models</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Development direction</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Project documentation and assigned extension</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Visual reference</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NaN.pdf supplied by the presenter</a:t>
            </a:r>
          </a:p>
        </p:txBody>
      </p:sp>
      <p:sp>
        <p:nvSpPr>
          <p:cNvPr id="10" name="">
            <a:extLst xmlns:a="http://schemas.openxmlformats.org/drawingml/2006/main">
              <a:ext uri="{FF2B5EF4-FFF2-40B4-BE49-F238E27FC236}">
                <a16:creationId xmlns:a16="http://schemas.microsoft.com/office/drawing/2014/main" id="{3D6F53ED-6376-46C5-982F-1A87C40BCBF8}"/>
              </a:ext>
            </a:extLst>
          </p:cNvPr>
          <p:cNvSpPr>
            <a:spLocks xmlns:a="http://schemas.openxmlformats.org/drawingml/2006/main" noGrp="1"/>
          </p:cNvSpPr>
          <p:nvPr/>
        </p:nvSpPr>
        <p:spPr>
          <a:xfrm xmlns:a="http://schemas.openxmlformats.org/drawingml/2006/main">
            <a:off x="6486525" y="1781175"/>
            <a:ext cx="523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EXTERNAL REFERENCES</a:t>
            </a:r>
          </a:p>
        </p:txBody>
      </p:sp>
      <p:sp>
        <p:nvSpPr>
          <p:cNvPr id="11" name="">
            <a:extLst xmlns:a="http://schemas.openxmlformats.org/drawingml/2006/main">
              <a:ext uri="{FF2B5EF4-FFF2-40B4-BE49-F238E27FC236}">
                <a16:creationId xmlns:a16="http://schemas.microsoft.com/office/drawing/2014/main" id="{A0F88C75-4472-49EB-A410-C9C5786CE218}"/>
              </a:ext>
            </a:extLst>
          </p:cNvPr>
          <p:cNvSpPr>
            <a:spLocks xmlns:a="http://schemas.openxmlformats.org/drawingml/2006/main" noGrp="1"/>
          </p:cNvSpPr>
          <p:nvPr/>
        </p:nvSpPr>
        <p:spPr>
          <a:xfrm xmlns:a="http://schemas.openxmlformats.org/drawingml/2006/main">
            <a:off x="6486525" y="2124075"/>
            <a:ext cx="523875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7D313A-882E-4D9D-9DAB-499DCEB45BD5}"/>
              </a:ext>
            </a:extLst>
          </p:cNvPr>
          <p:cNvSpPr>
            <a:spLocks xmlns:a="http://schemas.openxmlformats.org/drawingml/2006/main" noGrp="1"/>
          </p:cNvSpPr>
          <p:nvPr/>
        </p:nvSpPr>
        <p:spPr>
          <a:xfrm xmlns:a="http://schemas.openxmlformats.org/drawingml/2006/main">
            <a:off x="6496050" y="2333625"/>
            <a:ext cx="52197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Ministry of Home Affairs</a:t>
            </a:r>
          </a:p>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Eighth Schedule language list</a:t>
            </a:r>
          </a:p>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mha.gov.in/sites/default/files/Eighth_Schedule.pdf</a:t>
            </a:r>
          </a:p>
          <a:p xmlns:a="http://schemas.openxmlformats.org/drawingml/2006/main">
            <a:r>
              <a:t/>
            </a:r>
          </a:p>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BHASHINI</a:t>
            </a:r>
          </a:p>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Candidate language-service ecosystem</a:t>
            </a:r>
          </a:p>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bhashini.gov.in</a:t>
            </a:r>
          </a:p>
        </p:txBody>
      </p:sp>
      <p:sp>
        <p:nvSpPr>
          <p:cNvPr id="13" name="">
            <a:extLst xmlns:a="http://schemas.openxmlformats.org/drawingml/2006/main">
              <a:ext uri="{FF2B5EF4-FFF2-40B4-BE49-F238E27FC236}">
                <a16:creationId xmlns:a16="http://schemas.microsoft.com/office/drawing/2014/main" id="{98579213-3D73-48ED-BE70-40A0AFA45148}"/>
              </a:ext>
            </a:extLst>
          </p:cNvPr>
          <p:cNvSpPr>
            <a:spLocks xmlns:a="http://schemas.openxmlformats.org/drawingml/2006/main" noGrp="1"/>
          </p:cNvSpPr>
          <p:nvPr/>
        </p:nvSpPr>
        <p:spPr>
          <a:xfrm xmlns:a="http://schemas.openxmlformats.org/drawingml/2006/main">
            <a:off x="466725" y="5800725"/>
            <a:ext cx="11249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F91"/>
                </a:solidFill>
                <a:latin typeface="Arial"/>
                <a:ea typeface="Arial"/>
                <a:cs typeface="Arial"/>
              </a:defRPr>
            </a:pPr>
            <a:r>
              <a:rPr sz="2025" b="1">
                <a:solidFill>
                  <a:srgbClr val="203F91"/>
                </a:solidFill>
                <a:latin typeface="Arial"/>
                <a:ea typeface="Arial"/>
                <a:cs typeface="Arial"/>
              </a:rPr>
              <a:t>Discussion: language pilot, project scope and acceptance criteria</a:t>
            </a:r>
          </a:p>
        </p:txBody>
      </p:sp>
    </p:spTree>
    <p:extLst>
      <p:ext uri="{BB962C8B-B14F-4D97-AF65-F5344CB8AC3E}">
        <p14:creationId xmlns:p14="http://schemas.microsoft.com/office/powerpoint/2010/main" val="16270042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2026-10-09T06:11:31.2890000Z</dcterms:created>
  <dcterms:modified xsi:type="dcterms:W3CDTF">2026-10-09T06:11:31.2890000Z</dcterms:modified>
</coreProperties>
</file>