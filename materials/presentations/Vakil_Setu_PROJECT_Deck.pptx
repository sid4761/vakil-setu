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33aeb2584c94215" /><Relationship Type="http://schemas.openxmlformats.org/officeDocument/2006/relationships/extended-properties" Target="/docProps/app.xml" Id="R4201ba6ceb794620" /><Relationship Type="http://schemas.openxmlformats.org/officeDocument/2006/relationships/officeDocument" Target="/ppt/presentation.xml" Id="R4fa682b78bfd4778" /></Relationships>
</file>

<file path=ppt/presentation.xml><?xml version="1.0" encoding="utf-8"?>
<p:presentation xmlns:p="http://schemas.openxmlformats.org/presentationml/2006/main">
  <p:sldMasterIdLst>
    <p:sldMasterId xmlns:r="http://schemas.openxmlformats.org/officeDocument/2006/relationships" id="2147483648" r:id="R328cb43978d345ca"/>
  </p:sldMasterIdLst>
  <p:notesMasterIdLst>
    <p:notesMasterId xmlns:r="http://schemas.openxmlformats.org/officeDocument/2006/relationships" r:id="R0c26dc47719f4754"/>
  </p:notesMasterIdLst>
  <p:sldIdLst>
    <p:sldId xmlns:r="http://schemas.openxmlformats.org/officeDocument/2006/relationships" id="256" r:id="R01760ad306ae473d"/>
    <p:sldId xmlns:r="http://schemas.openxmlformats.org/officeDocument/2006/relationships" id="257" r:id="Rec47bea1774545d6"/>
    <p:sldId xmlns:r="http://schemas.openxmlformats.org/officeDocument/2006/relationships" id="258" r:id="R35c9f103cf384b25"/>
    <p:sldId xmlns:r="http://schemas.openxmlformats.org/officeDocument/2006/relationships" id="259" r:id="R8f39cd492d41461e"/>
    <p:sldId xmlns:r="http://schemas.openxmlformats.org/officeDocument/2006/relationships" id="260" r:id="R7da5384750a54fd4"/>
    <p:sldId xmlns:r="http://schemas.openxmlformats.org/officeDocument/2006/relationships" id="261" r:id="Rd4632f4e850b4df8"/>
    <p:sldId xmlns:r="http://schemas.openxmlformats.org/officeDocument/2006/relationships" id="262" r:id="Rf6dc8a57186d4654"/>
    <p:sldId xmlns:r="http://schemas.openxmlformats.org/officeDocument/2006/relationships" id="263" r:id="Rb9e35120afb149eb"/>
    <p:sldId xmlns:r="http://schemas.openxmlformats.org/officeDocument/2006/relationships" id="264" r:id="R98944e0164e149cd"/>
    <p:sldId xmlns:r="http://schemas.openxmlformats.org/officeDocument/2006/relationships" id="265" r:id="Ra677ad49b0eb4d97"/>
    <p:sldId xmlns:r="http://schemas.openxmlformats.org/officeDocument/2006/relationships" id="266" r:id="R7ad9b1ee04174ad6"/>
    <p:sldId xmlns:r="http://schemas.openxmlformats.org/officeDocument/2006/relationships" id="267" r:id="Rcfcde965805b4a99"/>
    <p:sldId xmlns:r="http://schemas.openxmlformats.org/officeDocument/2006/relationships" id="268" r:id="Rcf4ee2cccade4b73"/>
    <p:sldId xmlns:r="http://schemas.openxmlformats.org/officeDocument/2006/relationships" id="269" r:id="R23c84a7770a14f1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ff3732f5a6497f" /><Relationship Type="http://schemas.openxmlformats.org/officeDocument/2006/relationships/slideMaster" Target="/ppt/slideMasters/slideMaster1.xml" Id="R328cb43978d345ca" /><Relationship Type="http://schemas.openxmlformats.org/officeDocument/2006/relationships/notesMaster" Target="/ppt/notesMasters/notesMaster1.xml" Id="R0c26dc47719f4754" /><Relationship Type="http://schemas.openxmlformats.org/officeDocument/2006/relationships/presProps" Target="/ppt/presProps.xml" Id="R3ef40a3ea78b42e8" /><Relationship Type="http://schemas.openxmlformats.org/officeDocument/2006/relationships/tableStyles" Target="/ppt/tableStyles.xml" Id="R69ea1ebd34294cd6" /><Relationship Type="http://schemas.openxmlformats.org/officeDocument/2006/relationships/slide" Target="/ppt/slides/slide1.xml" Id="R01760ad306ae473d" /><Relationship Type="http://schemas.openxmlformats.org/officeDocument/2006/relationships/slide" Target="/ppt/slides/slide2.xml" Id="Rec47bea1774545d6" /><Relationship Type="http://schemas.openxmlformats.org/officeDocument/2006/relationships/slide" Target="/ppt/slides/slide3.xml" Id="R35c9f103cf384b25" /><Relationship Type="http://schemas.openxmlformats.org/officeDocument/2006/relationships/slide" Target="/ppt/slides/slide4.xml" Id="R8f39cd492d41461e" /><Relationship Type="http://schemas.openxmlformats.org/officeDocument/2006/relationships/slide" Target="/ppt/slides/slide5.xml" Id="R7da5384750a54fd4" /><Relationship Type="http://schemas.openxmlformats.org/officeDocument/2006/relationships/slide" Target="/ppt/slides/slide6.xml" Id="Rd4632f4e850b4df8" /><Relationship Type="http://schemas.openxmlformats.org/officeDocument/2006/relationships/slide" Target="/ppt/slides/slide7.xml" Id="Rf6dc8a57186d4654" /><Relationship Type="http://schemas.openxmlformats.org/officeDocument/2006/relationships/slide" Target="/ppt/slides/slide8.xml" Id="Rb9e35120afb149eb" /><Relationship Type="http://schemas.openxmlformats.org/officeDocument/2006/relationships/slide" Target="/ppt/slides/slide9.xml" Id="R98944e0164e149cd" /><Relationship Type="http://schemas.openxmlformats.org/officeDocument/2006/relationships/slide" Target="/ppt/slides/slide10.xml" Id="Ra677ad49b0eb4d97" /><Relationship Type="http://schemas.openxmlformats.org/officeDocument/2006/relationships/slide" Target="/ppt/slides/slide11.xml" Id="R7ad9b1ee04174ad6" /><Relationship Type="http://schemas.openxmlformats.org/officeDocument/2006/relationships/slide" Target="/ppt/slides/slide12.xml" Id="Rcfcde965805b4a99" /><Relationship Type="http://schemas.openxmlformats.org/officeDocument/2006/relationships/slide" Target="/ppt/slides/slide13.xml" Id="Rcf4ee2cccade4b73" /><Relationship Type="http://schemas.openxmlformats.org/officeDocument/2006/relationships/slide" Target="/ppt/slides/slide14.xml" Id="R23c84a7770a14f1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d0c64347e0040c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77270ffa0534154" /><Relationship Type="http://schemas.openxmlformats.org/officeDocument/2006/relationships/notesMaster" Target="/ppt/notesMasters/notesMaster1.xml" Id="Rb584727ca3a944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bfcc173346e42f4" /><Relationship Type="http://schemas.openxmlformats.org/officeDocument/2006/relationships/notesMaster" Target="/ppt/notesMasters/notesMaster1.xml" Id="R16410614987b454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82c44d0f96e470a" /><Relationship Type="http://schemas.openxmlformats.org/officeDocument/2006/relationships/notesMaster" Target="/ppt/notesMasters/notesMaster1.xml" Id="R07efc4264707411b" /></Relationships>
</file>

<file path=ppt/notesSlides/_rels/notesSlide4.xml.rels>&#65279;<?xml version="1.0" encoding="utf-8"?><Relationships xmlns="http://schemas.openxmlformats.org/package/2006/relationships"><Relationship Type="http://schemas.openxmlformats.org/officeDocument/2006/relationships/slide" Target="/ppt/slides/slide4.xml" Id="R4c7568c48b6f4dba" /><Relationship Type="http://schemas.openxmlformats.org/officeDocument/2006/relationships/notesMaster" Target="/ppt/notesMasters/notesMaster1.xml" Id="R72af11debf3a45f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6edf4d2f874ee6" /><Relationship Type="http://schemas.openxmlformats.org/officeDocument/2006/relationships/notesMaster" Target="/ppt/notesMasters/notesMaster1.xml" Id="R03c15751b9024d04" /></Relationships>
</file>

<file path=ppt/notesSlides/_rels/notesSlide6.xml.rels>&#65279;<?xml version="1.0" encoding="utf-8"?><Relationships xmlns="http://schemas.openxmlformats.org/package/2006/relationships"><Relationship Type="http://schemas.openxmlformats.org/officeDocument/2006/relationships/slide" Target="/ppt/slides/slide6.xml" Id="R9cb1d79c54a94019" /><Relationship Type="http://schemas.openxmlformats.org/officeDocument/2006/relationships/notesMaster" Target="/ppt/notesMasters/notesMaster1.xml" Id="R10e9ecd1028c43b1" /></Relationships>
</file>

<file path=ppt/notesSlides/_rels/notesSlide7.xml.rels>&#65279;<?xml version="1.0" encoding="utf-8"?><Relationships xmlns="http://schemas.openxmlformats.org/package/2006/relationships"><Relationship Type="http://schemas.openxmlformats.org/officeDocument/2006/relationships/slide" Target="/ppt/slides/slide7.xml" Id="R163e94ee2bcf4f6e" /><Relationship Type="http://schemas.openxmlformats.org/officeDocument/2006/relationships/notesMaster" Target="/ppt/notesMasters/notesMaster1.xml" Id="Rc9e933c8ef894551"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1df5b6abb74483" /><Relationship Type="http://schemas.openxmlformats.org/officeDocument/2006/relationships/notesMaster" Target="/ppt/notesMasters/notesMaster1.xml" Id="R50ba076db8574174" /></Relationships>
</file>

<file path=ppt/notesSlides/_rels/notesSlide9.xml.rels>&#65279;<?xml version="1.0" encoding="utf-8"?><Relationships xmlns="http://schemas.openxmlformats.org/package/2006/relationships"><Relationship Type="http://schemas.openxmlformats.org/officeDocument/2006/relationships/slide" Target="/ppt/slides/slide9.xml" Id="R172f8c92990940b1" /><Relationship Type="http://schemas.openxmlformats.org/officeDocument/2006/relationships/notesMaster" Target="/ppt/notesMasters/notesMaster1.xml" Id="R372cf8746eb7419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b60b07e6551423d" /><Relationship Type="http://schemas.openxmlformats.org/officeDocument/2006/relationships/notesMaster" Target="/ppt/notesMasters/notesMaster1.xml" Id="Rb766b752feb948a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a94622a0ec548dd" /><Relationship Type="http://schemas.openxmlformats.org/officeDocument/2006/relationships/notesMaster" Target="/ppt/notesMasters/notesMaster1.xml" Id="R0366fc0c199343b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dc1a3889caa47d7" /><Relationship Type="http://schemas.openxmlformats.org/officeDocument/2006/relationships/notesMaster" Target="/ppt/notesMasters/notesMaster1.xml" Id="R8ec073a546ff440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6e4218baa54578" /><Relationship Type="http://schemas.openxmlformats.org/officeDocument/2006/relationships/notesMaster" Target="/ppt/notesMasters/notesMaster1.xml" Id="R7a1e3420d34c431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f0e50c0ca6224703" /><Relationship Type="http://schemas.openxmlformats.org/officeDocument/2006/relationships/notesMaster" Target="/ppt/notesMasters/notesMaster1.xml" Id="Rc105c85b713549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We are presenting Vakil Setu, a multilingual legal intake and consultation project. Our focus is the first step a person takes when facing a legal concern: explaining the situation, reviewing a clear summary, and finding an appropriate advocate. The current project is a web application with English, Hindi and Punjabi pilot interfaces. We will explain the problem, our development approach, how the application works, and the evidence behind our results.</a:t>
            </a:r>
          </a:p>
          <a:p xmlns:a="http://schemas.openxmlformats.org/drawingml/2006/main">
            <a:r>
              <a:t/>
            </a:r>
          </a:p>
          <a:p xmlns:a="http://schemas.openxmlformats.org/drawingml/2006/main">
            <a:r>
              <a:t>Presenter cue: Introduce the team verbally. Keep the opening under 30 seconds.</a:t>
            </a:r>
          </a:p>
          <a:p xmlns:a="http://schemas.openxmlformats.org/drawingml/2006/main">
            <a:r>
              <a:t/>
            </a:r>
          </a:p>
          <a:p xmlns:a="http://schemas.openxmlformats.org/drawingml/2006/main">
            <a:r>
              <a:t>Sources:</a:t>
            </a:r>
          </a:p>
          <a:p xmlns:a="http://schemas.openxmlformats.org/drawingml/2006/main">
            <a:r>
              <a:t>C:/Users/DELL/Vakil-Setu/rebuild/README.md</a:t>
            </a:r>
          </a:p>
          <a:p xmlns:a="http://schemas.openxmlformats.org/drawingml/2006/main">
            <a:r>
              <a:t>C:/Users/DELL/Vakil-Setu/rebuild/docs/decisions.md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problem we address is uncertainty at the beginning of a legal interaction. A person may know what happened but may not know the relevant legal category, which facts matter, or whom to contact. Searching online or relying on personal referrals can leave the person repeating the same story across different channels. Our working hypothesis is that a private intake in a familiar language, followed by a reviewed summary, can make this first interaction easier. We have not yet measured that benefit through a field study, so we present it as the problem we are testing.</a:t>
            </a:r>
          </a:p>
          <a:p xmlns:a="http://schemas.openxmlformats.org/drawingml/2006/main">
            <a:r>
              <a:t/>
            </a:r>
          </a:p>
          <a:p xmlns:a="http://schemas.openxmlformats.org/drawingml/2006/main">
            <a:r>
              <a:t>Presenter cue: Use a hypothetical tenant whose security deposit has not been returned. Do not give a legal conclusion.</a:t>
            </a:r>
          </a:p>
          <a:p xmlns:a="http://schemas.openxmlformats.org/drawingml/2006/main">
            <a:r>
              <a:t/>
            </a:r>
          </a:p>
          <a:p xmlns:a="http://schemas.openxmlformats.org/drawingml/2006/main">
            <a:r>
              <a:t>Sources:</a:t>
            </a:r>
          </a:p>
          <a:p xmlns:a="http://schemas.openxmlformats.org/drawingml/2006/main">
            <a:r>
              <a:t>C:/Users/DELL/Vakil-Setu/rebuild/docs/requirements.md</a:t>
            </a:r>
          </a:p>
          <a:p xmlns:a="http://schemas.openxmlformats.org/drawingml/2006/main">
            <a:r>
              <a:t>C:/Users/DELL/Vakil-Setu/rebuild/docs/srs-source.txt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need for digital legal access is already recognised. Tele-Law connects people with lawyers through telephone and video services, while LawRato provides lawyer discovery and consultation options. We therefore cannot claim that online access to lawyers is a new idea. Our project focuses on the intake before the consultation: retaining the user's words, letting the user review a summary, and sharing a specific version with a chosen advocate. Citizens and advocates are the intended beneficiaries. Whether this approach improves completion or reduces repeated explanations still requires a comparative user study.</a:t>
            </a:r>
          </a:p>
          <a:p xmlns:a="http://schemas.openxmlformats.org/drawingml/2006/main">
            <a:r>
              <a:t/>
            </a:r>
          </a:p>
          <a:p xmlns:a="http://schemas.openxmlformats.org/drawingml/2006/main">
            <a:r>
              <a:t>Presenter cue: Explain the project's chosen focus without claiming competitors lack these capabilities.</a:t>
            </a:r>
          </a:p>
          <a:p xmlns:a="http://schemas.openxmlformats.org/drawingml/2006/main">
            <a:r>
              <a:t/>
            </a:r>
          </a:p>
          <a:p xmlns:a="http://schemas.openxmlformats.org/drawingml/2006/main">
            <a:r>
              <a:t>Sources:</a:t>
            </a:r>
          </a:p>
          <a:p xmlns:a="http://schemas.openxmlformats.org/drawingml/2006/main">
            <a:r>
              <a:t>https://www.tele-law.in/faq.html</a:t>
            </a:r>
          </a:p>
          <a:p xmlns:a="http://schemas.openxmlformats.org/drawingml/2006/main">
            <a:r>
              <a:t>https://lawrato.com/cmses/page/how-does-lawrato-work</a:t>
            </a:r>
          </a:p>
          <a:p xmlns:a="http://schemas.openxmlformats.org/drawingml/2006/main">
            <a:r>
              <a:t>C:/Users/DELL/Vakil-Setu/rebuild/packages/backend/convex/bookings.ts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objective is to implement a reviewable path from a person's concern to a consultation request. The MVP includes user accounts, application roles, private cases, versioned summaries, advocate approval, discovery and future consultation slots. Successful completion means that the system preserves the user's words, checks ownership on the backend, shares the exact approved summary version, and clearly records the request state. A request remains pending until an advocate accepts it. Payments, public reviews, a native mobile application and guaranteed emergency connections are outside the current MVP.</a:t>
            </a:r>
          </a:p>
          <a:p xmlns:a="http://schemas.openxmlformats.org/drawingml/2006/main">
            <a:r>
              <a:t/>
            </a:r>
          </a:p>
          <a:p xmlns:a="http://schemas.openxmlformats.org/drawingml/2006/main">
            <a:r>
              <a:t>Presenter cue: Separate the implemented workflow from the remaining hosted acceptance checks.</a:t>
            </a:r>
          </a:p>
          <a:p xmlns:a="http://schemas.openxmlformats.org/drawingml/2006/main">
            <a:r>
              <a:t/>
            </a:r>
          </a:p>
          <a:p xmlns:a="http://schemas.openxmlformats.org/drawingml/2006/main">
            <a:r>
              <a:t>Sources:</a:t>
            </a:r>
          </a:p>
          <a:p xmlns:a="http://schemas.openxmlformats.org/drawingml/2006/main">
            <a:r>
              <a:t>C:/Users/DELL/Vakil-Setu/rebuild/README.md</a:t>
            </a:r>
          </a:p>
          <a:p xmlns:a="http://schemas.openxmlformats.org/drawingml/2006/main">
            <a:r>
              <a:t>C:/Users/DELL/Vakil-Setu/rebuild/docs/requirements.md</a:t>
            </a:r>
          </a:p>
          <a:p xmlns:a="http://schemas.openxmlformats.org/drawingml/2006/main">
            <a:r>
              <a:t>C:/Users/DELL/Vakil-Setu/rebuild/packages/backend/convex/bookings.ts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began by comparing the source requirements with the inherited React and Express application. That audit exposed a gap between some advertised features and the actual code, so we kept the legacy version and built the maintained implementation separately. We narrowed the first language pilot to English, Hindi and Punjabi. We then developed the backend permissions and consultation lifecycle alongside the web interface. An alternative was to expand every feature and language immediately. We chose staged coverage so that each capability could have separate evidence. Validation combined automated tests, responsive browser checks and a limited real hosted intake check.</a:t>
            </a:r>
          </a:p>
          <a:p xmlns:a="http://schemas.openxmlformats.org/drawingml/2006/main">
            <a:r>
              <a:t/>
            </a:r>
          </a:p>
          <a:p xmlns:a="http://schemas.openxmlformats.org/drawingml/2006/main">
            <a:r>
              <a:t>Presenter cue: Describe the actual sequence. Do not invent interviews, sprint dates or survey findings.</a:t>
            </a:r>
          </a:p>
          <a:p xmlns:a="http://schemas.openxmlformats.org/drawingml/2006/main">
            <a:r>
              <a:t/>
            </a:r>
          </a:p>
          <a:p xmlns:a="http://schemas.openxmlformats.org/drawingml/2006/main">
            <a:r>
              <a:t>Sources:</a:t>
            </a:r>
          </a:p>
          <a:p xmlns:a="http://schemas.openxmlformats.org/drawingml/2006/main">
            <a:r>
              <a:t>C:/Users/DELL/Vakil-Setu/rebuild/docs/legacy-ai-audit.md</a:t>
            </a:r>
          </a:p>
          <a:p xmlns:a="http://schemas.openxmlformats.org/drawingml/2006/main">
            <a:r>
              <a:t>C:/Users/DELL/Vakil-Setu/rebuild/docs/decisions.md</a:t>
            </a:r>
          </a:p>
          <a:p xmlns:a="http://schemas.openxmlformats.org/drawingml/2006/main">
            <a:r>
              <a:t>C:/Users/DELL/Vakil-Setu/rebuild/docs/verification.md</a:t>
            </a:r>
          </a:p>
          <a:p xmlns:a="http://schemas.openxmlformats.org/drawingml/2006/main">
            <a:r>
              <a:t>C:/Users/DELL/Vakil-Setu/rebuild/docs/hosted-activation.md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current implementation uses Next.js and React for the web interface, with TypeScript across the workspace. Clerk handles identity and sessions. Convex owns the application data and checks roles, record ownership and permitted actions. It also handles slot reservations and lifecycle changes through backend mutations. Shared domain and language packages keep common rules separate from the interface. These choices support a typed web application with a hosted backend and managed identity. AI sits behind a server-side gateway adapter. The browser never needs the provider credentials, and a successful sign-in does not grant unrestricted access to application data.</a:t>
            </a:r>
          </a:p>
          <a:p xmlns:a="http://schemas.openxmlformats.org/drawingml/2006/main">
            <a:r>
              <a:t/>
            </a:r>
          </a:p>
          <a:p xmlns:a="http://schemas.openxmlformats.org/drawingml/2006/main">
            <a:r>
              <a:t>Presenter cue: If asked why the stack changed, explain the explicit identity and backend permission boundaries.</a:t>
            </a:r>
          </a:p>
          <a:p xmlns:a="http://schemas.openxmlformats.org/drawingml/2006/main">
            <a:r>
              <a:t/>
            </a:r>
          </a:p>
          <a:p xmlns:a="http://schemas.openxmlformats.org/drawingml/2006/main">
            <a:r>
              <a:t>Sources:</a:t>
            </a:r>
          </a:p>
          <a:p xmlns:a="http://schemas.openxmlformats.org/drawingml/2006/main">
            <a:r>
              <a:t>C:/Users/DELL/Vakil-Setu/rebuild/packages/backend/ARCHITECTURE.md</a:t>
            </a:r>
          </a:p>
          <a:p xmlns:a="http://schemas.openxmlformats.org/drawingml/2006/main">
            <a:r>
              <a:t>C:/Users/DELL/Vakil-Setu/rebuild/packages/backend/convex/lib/access.ts</a:t>
            </a:r>
          </a:p>
          <a:p xmlns:a="http://schemas.openxmlformats.org/drawingml/2006/main">
            <a:r>
              <a:t>C:/Users/DELL/Vakil-Setu/rebuild/packages/backend/convex/lib/provider.ts</a:t>
            </a:r>
          </a:p>
          <a:p xmlns:a="http://schemas.openxmlformats.org/drawingml/2006/main">
            <a:r>
              <a:t>C:/Users/DELL/Vakil-Setu/rebuild/package.json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implemented web experience. A user starts by describing a concern, either by typing or by trying browser speech where available. The text remains editable before saving. Saving an intake stores the user's words privately. It does not automatically produce AI analysis. The saved case confirms that distinction and offers a manual summary starting from the original intake, or advocate discovery. This gives us a useful workflow even when the AI provider is unavailable. A person should always know whether they are reading their own summary or a provider-generated draft.</a:t>
            </a:r>
          </a:p>
          <a:p xmlns:a="http://schemas.openxmlformats.org/drawingml/2006/main">
            <a:r>
              <a:t/>
            </a:r>
          </a:p>
          <a:p xmlns:a="http://schemas.openxmlformats.org/drawingml/2006/main">
            <a:r>
              <a:t>Presenter cue: Point to the start action. For a live demo, use the synthetic example in the script appendix.</a:t>
            </a:r>
          </a:p>
          <a:p xmlns:a="http://schemas.openxmlformats.org/drawingml/2006/main">
            <a:r>
              <a:t/>
            </a:r>
          </a:p>
          <a:p xmlns:a="http://schemas.openxmlformats.org/drawingml/2006/main">
            <a:r>
              <a:t>Sources:</a:t>
            </a:r>
          </a:p>
          <a:p xmlns:a="http://schemas.openxmlformats.org/drawingml/2006/main">
            <a:r>
              <a:t>C:/Users/DELL/Vakil-Setu/rebuild/apps/web/src/components/intake.tsx</a:t>
            </a:r>
          </a:p>
          <a:p xmlns:a="http://schemas.openxmlformats.org/drawingml/2006/main">
            <a:r>
              <a:t>C:/Users/DELL/Vakil-Setu/rebuild/apps/web/src/components/cases.tsx</a:t>
            </a:r>
          </a:p>
          <a:p xmlns:a="http://schemas.openxmlformats.org/drawingml/2006/main">
            <a:r>
              <a:t>C:/Users/DELL/Vakil-Setu/rebuild/.runtime/browser-qa/landing-en-1280.png</a:t>
            </a:r>
          </a:p>
          <a:p xmlns:a="http://schemas.openxmlformats.org/drawingml/2006/main">
            <a:r>
              <a:t>C:/Users/DELL/Vakil-Setu/rebuild/docs/verification.md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consultation flow begins with a reviewed summary and an approved advocate who has a future slot. Before submitting, the user consents to share a specific summary version with that advocate. The backend checks ownership, approval and slot availability together, then reserves the slot and records a pending request. Repeated identical submissions use an idempotency key, which prevents duplicate request records. The advocate can accept or decline, and the system handles cancellation and expiry through recorded state changes. Automated tests exercise these rules, including competing reservations. A complete hosted user-to-advocate acceptance trial remains part of the next validation stage.</a:t>
            </a:r>
          </a:p>
          <a:p xmlns:a="http://schemas.openxmlformats.org/drawingml/2006/main">
            <a:r>
              <a:t/>
            </a:r>
          </a:p>
          <a:p xmlns:a="http://schemas.openxmlformats.org/drawingml/2006/main">
            <a:r>
              <a:t>Presenter cue: Explain pending versus accepted. Avoid describing a request as a completed consultation.</a:t>
            </a:r>
          </a:p>
          <a:p xmlns:a="http://schemas.openxmlformats.org/drawingml/2006/main">
            <a:r>
              <a:t/>
            </a:r>
          </a:p>
          <a:p xmlns:a="http://schemas.openxmlformats.org/drawingml/2006/main">
            <a:r>
              <a:t>Sources:</a:t>
            </a:r>
          </a:p>
          <a:p xmlns:a="http://schemas.openxmlformats.org/drawingml/2006/main">
            <a:r>
              <a:t>C:/Users/DELL/Vakil-Setu/rebuild/packages/backend/convex/bookings.ts</a:t>
            </a:r>
          </a:p>
          <a:p xmlns:a="http://schemas.openxmlformats.org/drawingml/2006/main">
            <a:r>
              <a:t>C:/Users/DELL/Vakil-Setu/rebuild/packages/domain/src/index.ts</a:t>
            </a:r>
          </a:p>
          <a:p xmlns:a="http://schemas.openxmlformats.org/drawingml/2006/main">
            <a:r>
              <a:t>C:/Users/DELL/Vakil-Setu/rebuild/packages/backend/tests/backend.test.ts</a:t>
            </a:r>
          </a:p>
          <a:p xmlns:a="http://schemas.openxmlformats.org/drawingml/2006/main">
            <a:r>
              <a:t>C:/Users/DELL/Vakil-Setu/rebuild/docs/hosted-activation.md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Language support has several independent parts. Our pilot has English, Hindi and Punjabi interface bundles, although some operational text still falls back to English. Hindi and Punjabi read-aloud use a bundled engine whose audio generation and browser lifecycle have been checked. That does not establish pronunciation quality or physical audibility. Speech recognition uses an optional browser path and still needs microphone accuracy testing. The broader registry includes 22 scheduled languages plus English, but those entries are expansion targets. The AI adapter exists, while the DGX endpoint and live inference remain unverified. We therefore claim neither complete multilingual AI nor measured legal accuracy.</a:t>
            </a:r>
          </a:p>
          <a:p xmlns:a="http://schemas.openxmlformats.org/drawingml/2006/main">
            <a:r>
              <a:t/>
            </a:r>
          </a:p>
          <a:p xmlns:a="http://schemas.openxmlformats.org/drawingml/2006/main">
            <a:r>
              <a:t>Presenter cue: Emphasise the distinction between a translated interface, speech and AI comprehension.</a:t>
            </a:r>
          </a:p>
          <a:p xmlns:a="http://schemas.openxmlformats.org/drawingml/2006/main">
            <a:r>
              <a:t/>
            </a:r>
          </a:p>
          <a:p xmlns:a="http://schemas.openxmlformats.org/drawingml/2006/main">
            <a:r>
              <a:t>Sources:</a:t>
            </a:r>
          </a:p>
          <a:p xmlns:a="http://schemas.openxmlformats.org/drawingml/2006/main">
            <a:r>
              <a:t>C:/Users/DELL/Vakil-Setu/rebuild/docs/language-matrix.md</a:t>
            </a:r>
          </a:p>
          <a:p xmlns:a="http://schemas.openxmlformats.org/drawingml/2006/main">
            <a:r>
              <a:t>C:/Users/DELL/Vakil-Setu/rebuild/docs/verification.md</a:t>
            </a:r>
          </a:p>
          <a:p xmlns:a="http://schemas.openxmlformats.org/drawingml/2006/main">
            <a:r>
              <a:t>C:/Users/DELL/Vakil-Setu/rebuild/docs/hosted-activation.md</a:t>
            </a:r>
          </a:p>
          <a:p xmlns:a="http://schemas.openxmlformats.org/drawingml/2006/main">
            <a:r>
              <a:t>C:/Users/DELL/Vakil-Setu/rebuild/packages/backend/convex/lib/provider.ts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project work falls into four areas. The web workflow covers intake, case review, discovery and responsive interaction. The backend area covers ownership, credential review and the consultation lifecycle. Language access covers pilot text, locale handling and read-aloud behaviour. Validation covers the automated scenarios, browser checks and evidence records. For individual evaluation, each team member should name the component they personally handled, explain one decision, describe a challenge and show the resulting behaviour. We will attribute individual work only after confirming it within the team.</a:t>
            </a:r>
          </a:p>
          <a:p xmlns:a="http://schemas.openxmlformats.org/drawingml/2006/main">
            <a:r>
              <a:t/>
            </a:r>
          </a:p>
          <a:p xmlns:a="http://schemas.openxmlformats.org/drawingml/2006/main">
            <a:r>
              <a:t>Presenter cue: Replace the final two sentences with the confirmed personal contribution paragraph in the preparation section.</a:t>
            </a:r>
          </a:p>
          <a:p xmlns:a="http://schemas.openxmlformats.org/drawingml/2006/main">
            <a:r>
              <a:t/>
            </a:r>
          </a:p>
          <a:p xmlns:a="http://schemas.openxmlformats.org/drawingml/2006/main">
            <a:r>
              <a:t>Sources:</a:t>
            </a:r>
          </a:p>
          <a:p xmlns:a="http://schemas.openxmlformats.org/drawingml/2006/main">
            <a:r>
              <a:t>C:/Users/DELL/Vakil-Setu/rebuild/docs/completion-record.md</a:t>
            </a:r>
          </a:p>
          <a:p xmlns:a="http://schemas.openxmlformats.org/drawingml/2006/main">
            <a:r>
              <a:t>C:/Users/DELL/Vakil-Setu/rebuild/docs/verification.md</a:t>
            </a:r>
          </a:p>
          <a:p xmlns:a="http://schemas.openxmlformats.org/drawingml/2006/main">
            <a:r>
              <a:t>C:/Users/DELL/Vakil-Setu/rebuild/apps/web/src/components/</a:t>
            </a:r>
          </a:p>
          <a:p xmlns:a="http://schemas.openxmlformats.org/drawingml/2006/main">
            <a:r>
              <a:t>C:/Users/DELL/Vakil-Setu/rebuild/packages/backend/convex/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recorded verification provides three useful forms of evidence. First, the latest record reports 78 passing tests: 60 backend tests, 12 language tests and six case-render tests. Typechecks and the production build also passed. Second, browser checks covered narrow and desktop layouts and specific speech lifecycle scenarios. Third, a labelled synthetic Punjabi intake crossed real Clerk authentication and Convex persistence, preserved the Gurmukhi text and remained available after reload. These checks support those specific behaviours. They do not establish production readiness, full hosted booking reliability or AI quality. The evidence dates are the fourteenth to sixteenth of October 2026.</a:t>
            </a:r>
          </a:p>
          <a:p xmlns:a="http://schemas.openxmlformats.org/drawingml/2006/main">
            <a:r>
              <a:t/>
            </a:r>
          </a:p>
          <a:p xmlns:a="http://schemas.openxmlformats.org/drawingml/2006/main">
            <a:r>
              <a:t>Presenter cue: Call these recorded results. Do not claim a coverage percentage or a fresh test run.</a:t>
            </a:r>
          </a:p>
          <a:p xmlns:a="http://schemas.openxmlformats.org/drawingml/2006/main">
            <a:r>
              <a:t/>
            </a:r>
          </a:p>
          <a:p xmlns:a="http://schemas.openxmlformats.org/drawingml/2006/main">
            <a:r>
              <a:t>Sources:</a:t>
            </a:r>
          </a:p>
          <a:p xmlns:a="http://schemas.openxmlformats.org/drawingml/2006/main">
            <a:r>
              <a:t>C:/Users/DELL/Vakil-Setu/rebuild/docs/verification.md</a:t>
            </a:r>
          </a:p>
          <a:p xmlns:a="http://schemas.openxmlformats.org/drawingml/2006/main">
            <a:r>
              <a:t>C:/Users/DELL/Vakil-Setu/rebuild/docs/hosted-activation.md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lesson is that implementation, configuration and real-world validation are separate milestones. A hidden button cannot replace a backend ownership check. A saved intake needs an explicit success state so the user understands what happened. Speech features need recovery behaviour when a voice or browser capability fails. The remaining limitations are substantial: we have no measured user study or legal accuracy evaluation, human language review is incomplete, and hosted multi-role acceptance still needs work. The bundled speech assets also need source and build provenance review before public redistribution. These limits define the next work rather than disappearing behind a successful build.</a:t>
            </a:r>
          </a:p>
          <a:p xmlns:a="http://schemas.openxmlformats.org/drawingml/2006/main">
            <a:r>
              <a:t/>
            </a:r>
          </a:p>
          <a:p xmlns:a="http://schemas.openxmlformats.org/drawingml/2006/main">
            <a:r>
              <a:t>Presenter cue: Connect these lessons to engineering judgement and professional growth.</a:t>
            </a:r>
          </a:p>
          <a:p xmlns:a="http://schemas.openxmlformats.org/drawingml/2006/main">
            <a:r>
              <a:t/>
            </a:r>
          </a:p>
          <a:p xmlns:a="http://schemas.openxmlformats.org/drawingml/2006/main">
            <a:r>
              <a:t>Sources:</a:t>
            </a:r>
          </a:p>
          <a:p xmlns:a="http://schemas.openxmlformats.org/drawingml/2006/main">
            <a:r>
              <a:t>C:/Users/DELL/Vakil-Setu/rebuild/docs/verification.md</a:t>
            </a:r>
          </a:p>
          <a:p xmlns:a="http://schemas.openxmlformats.org/drawingml/2006/main">
            <a:r>
              <a:t>C:/Users/DELL/Vakil-Setu/rebuild/docs/hosted-activation.md</a:t>
            </a:r>
          </a:p>
          <a:p xmlns:a="http://schemas.openxmlformats.org/drawingml/2006/main">
            <a:r>
              <a:t>C:/Users/DELL/Vakil-Setu/rebuild/docs/language-matrix.md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immediate priority is validation of the existing workflow. We need independent user and advocate accounts to exercise approval, sharing, booking and cancellation on the hosted system. We then need microphone trials and human review of language quality and usability. AI activation requires an actual gateway contract, explicit consent tests and a legally reviewed evaluation set. Only after those checks should we expand the language coverage or assess native mobile work. We would measure task completion, corrections to captured facts, understanding of sharing consent and booking conflicts. These are proposed pilot metrics, not results already achieved.</a:t>
            </a:r>
          </a:p>
          <a:p xmlns:a="http://schemas.openxmlformats.org/drawingml/2006/main">
            <a:r>
              <a:t/>
            </a:r>
          </a:p>
          <a:p xmlns:a="http://schemas.openxmlformats.org/drawingml/2006/main">
            <a:r>
              <a:t>Presenter cue: Avoid promising a delivery date without an agreed schedule or dependencies.</a:t>
            </a:r>
          </a:p>
          <a:p xmlns:a="http://schemas.openxmlformats.org/drawingml/2006/main">
            <a:r>
              <a:t/>
            </a:r>
          </a:p>
          <a:p xmlns:a="http://schemas.openxmlformats.org/drawingml/2006/main">
            <a:r>
              <a:t>Sources:</a:t>
            </a:r>
          </a:p>
          <a:p xmlns:a="http://schemas.openxmlformats.org/drawingml/2006/main">
            <a:r>
              <a:t>C:/Users/DELL/Vakil-Setu/rebuild/docs/verification.md</a:t>
            </a:r>
          </a:p>
          <a:p xmlns:a="http://schemas.openxmlformats.org/drawingml/2006/main">
            <a:r>
              <a:t>C:/Users/DELL/Vakil-Setu/rebuild/docs/operations.md</a:t>
            </a:r>
          </a:p>
          <a:p xmlns:a="http://schemas.openxmlformats.org/drawingml/2006/main">
            <a:r>
              <a:t>C:/Users/DELL/Vakil-Setu/rebuild/README.md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Vakil Setu provides a working foundation for multilingual legal intake, user-reviewed summaries and controlled consultation requests. The original objective is partly achieved: the core workflows exist and specific behaviours have evidence, while complete hosted acceptance and validated AI remain unfinished. The next milestone is a measured pilot that tests whether users can complete the process and understand what they share. Thank you. We are ready for questions.</a:t>
            </a:r>
          </a:p>
          <a:p xmlns:a="http://schemas.openxmlformats.org/drawingml/2006/main">
            <a:r>
              <a:t/>
            </a:r>
          </a:p>
          <a:p xmlns:a="http://schemas.openxmlformats.org/drawingml/2006/main">
            <a:r>
              <a:t>Presenter cue: Pause for questions. Use the viva answers in the script as preparation.</a:t>
            </a:r>
          </a:p>
          <a:p xmlns:a="http://schemas.openxmlformats.org/drawingml/2006/main">
            <a:r>
              <a:t/>
            </a:r>
          </a:p>
          <a:p xmlns:a="http://schemas.openxmlformats.org/drawingml/2006/main">
            <a:r>
              <a:t>Sources:</a:t>
            </a:r>
          </a:p>
          <a:p xmlns:a="http://schemas.openxmlformats.org/drawingml/2006/main">
            <a:r>
              <a:t>C:/Users/DELL/Vakil-Setu/rebuild/README.md</a:t>
            </a:r>
          </a:p>
          <a:p xmlns:a="http://schemas.openxmlformats.org/drawingml/2006/main">
            <a:r>
              <a:t>C:/Users/DELL/Vakil-Setu/rebuild/docs/verification.md</a:t>
            </a:r>
          </a:p>
          <a:p xmlns:a="http://schemas.openxmlformats.org/drawingml/2006/main">
            <a:r>
              <a:t>C:/Users/DELL/Vakil-Setu/rebuild/docs/hosted-activation.md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4a8fbeb9e2847f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1c6b7a58b0a4e6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d9a10c1ddd424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cbe9cd45d024dc3"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93097308bdb415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8585c3249c849f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02BEE57-88CA-4AE0-9605-DC82E49928D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A9BA285-54A5-4FAF-B3F2-8F5D878960A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57F50BC-20F4-472D-A26D-159219569AFB}"/>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313877A-5D69-4633-9C24-46F95361B0B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7EFDF08-23E1-4329-9146-0ED16A7CBC4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9114FF8-DF53-4D60-8935-6EEF935E5EB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A0EFEE6-18E2-434E-9574-457141EDF10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854FF1B-7EB4-47DF-A884-D82D89E61BE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1E720EA-DBCE-42CD-BCCF-032D6A92BA8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A477484-7808-49DF-B6D3-1359502F2AE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687690df614db1" /><Relationship Type="http://schemas.openxmlformats.org/officeDocument/2006/relationships/slideLayout" Target="/ppt/slideLayouts/slideLayout1.xml" Id="R9effd251899c48f0" /><Relationship Type="http://schemas.openxmlformats.org/officeDocument/2006/relationships/slideLayout" Target="/ppt/slideLayouts/slideLayout2.xml" Id="R26db932d0dfb4430" /><Relationship Type="http://schemas.openxmlformats.org/officeDocument/2006/relationships/slideLayout" Target="/ppt/slideLayouts/slideLayout3.xml" Id="R754489abe8e94066" /><Relationship Type="http://schemas.openxmlformats.org/officeDocument/2006/relationships/slideLayout" Target="/ppt/slideLayouts/slideLayout4.xml" Id="Rc4db3cbcfdad4e5f" /><Relationship Type="http://schemas.openxmlformats.org/officeDocument/2006/relationships/slideLayout" Target="/ppt/slideLayouts/slideLayout5.xml" Id="R1575904376884eb1" /><Relationship Type="http://schemas.openxmlformats.org/officeDocument/2006/relationships/slideLayout" Target="/ppt/slideLayouts/slideLayout6.xml" Id="R7b889743786f47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effd251899c48f0"/>
    <p:sldLayoutId xmlns:r="http://schemas.openxmlformats.org/officeDocument/2006/relationships" id="2147483650" r:id="R26db932d0dfb4430"/>
    <p:sldLayoutId xmlns:r="http://schemas.openxmlformats.org/officeDocument/2006/relationships" id="2147483651" r:id="R754489abe8e94066"/>
    <p:sldLayoutId xmlns:r="http://schemas.openxmlformats.org/officeDocument/2006/relationships" id="2147483652" r:id="Rc4db3cbcfdad4e5f"/>
    <p:sldLayoutId xmlns:r="http://schemas.openxmlformats.org/officeDocument/2006/relationships" id="2147483653" r:id="R1575904376884eb1"/>
    <p:sldLayoutId xmlns:r="http://schemas.openxmlformats.org/officeDocument/2006/relationships" id="2147483654" r:id="R7b889743786f47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38cb23a7f0e4581" /><Relationship Type="http://schemas.openxmlformats.org/officeDocument/2006/relationships/notesSlide" Target="/ppt/notesSlides/notesSlide1.xml" Id="R017b964d22d64d9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f41d7cf97254735" /><Relationship Type="http://schemas.openxmlformats.org/officeDocument/2006/relationships/notesSlide" Target="/ppt/notesSlides/notesSlide2.xml" Id="R1221748e4b96482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057a5dcc79d4f96" /><Relationship Type="http://schemas.openxmlformats.org/officeDocument/2006/relationships/notesSlide" Target="/ppt/notesSlides/notesSlide3.xml" Id="R6b48726937664dd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386b3922a5649ae" /><Relationship Type="http://schemas.openxmlformats.org/officeDocument/2006/relationships/notesSlide" Target="/ppt/notesSlides/notesSlide4.xml" Id="R184f137aba08414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f64f58bc12a40b8" /><Relationship Type="http://schemas.openxmlformats.org/officeDocument/2006/relationships/notesSlide" Target="/ppt/notesSlides/notesSlide5.xml" Id="R704f60e7fbaf4b5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304c00ae33545be" /><Relationship Type="http://schemas.openxmlformats.org/officeDocument/2006/relationships/notesSlide" Target="/ppt/notesSlides/notesSlide6.xml" Id="R6a078fe7089d45f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cb1b6f8e644441a9" /><Relationship Type="http://schemas.openxmlformats.org/officeDocument/2006/relationships/image" Target="/ppt/media/image.png" Id="Rfb3e4ca6b45f43e6" /><Relationship Type="http://schemas.openxmlformats.org/officeDocument/2006/relationships/notesSlide" Target="/ppt/notesSlides/notesSlide7.xml" Id="R7c0ca364cebf478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e99b60f9cc6b4044" /><Relationship Type="http://schemas.openxmlformats.org/officeDocument/2006/relationships/notesSlide" Target="/ppt/notesSlides/notesSlide8.xml" Id="R88fb543edb8e47b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62f38341f9845bf" /><Relationship Type="http://schemas.openxmlformats.org/officeDocument/2006/relationships/notesSlide" Target="/ppt/notesSlides/notesSlide9.xml" Id="R69e64ba2327e4f06"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d1d13d57d0a147ea" /><Relationship Type="http://schemas.openxmlformats.org/officeDocument/2006/relationships/notesSlide" Target="/ppt/notesSlides/notesSlide10.xml" Id="R72256167676d458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1441b1035294c8b" /><Relationship Type="http://schemas.openxmlformats.org/officeDocument/2006/relationships/notesSlide" Target="/ppt/notesSlides/notesSlide11.xml" Id="Rb4045b93f15c44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275ccb5bfdad45da" /><Relationship Type="http://schemas.openxmlformats.org/officeDocument/2006/relationships/notesSlide" Target="/ppt/notesSlides/notesSlide12.xml" Id="Rdef22b3ba24b435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93f73e9b67c4770" /><Relationship Type="http://schemas.openxmlformats.org/officeDocument/2006/relationships/notesSlide" Target="/ppt/notesSlides/notesSlide13.xml" Id="R3aef75303f4648b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bd5a9e357f5146d3" /><Relationship Type="http://schemas.openxmlformats.org/officeDocument/2006/relationships/notesSlide" Target="/ppt/notesSlides/notesSlide14.xml" Id="R969b247aefa6463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4F6EF3A-68ED-4B63-80AF-2F6B509A5C69}"/>
              </a:ext>
            </a:extLst>
          </p:cNvPr>
          <p:cNvSpPr>
            <a:spLocks xmlns:a="http://schemas.openxmlformats.org/drawingml/2006/main" noGrp="1"/>
          </p:cNvSpPr>
          <p:nvPr/>
        </p:nvSpPr>
        <p:spPr>
          <a:xfrm xmlns:a="http://schemas.openxmlformats.org/drawingml/2006/main">
            <a:off x="619125" y="1476375"/>
            <a:ext cx="107632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6375" b="1">
                <a:solidFill>
                  <a:srgbClr val="B12632"/>
                </a:solidFill>
                <a:latin typeface="Arial"/>
                <a:ea typeface="Arial"/>
                <a:cs typeface="Arial"/>
              </a:defRPr>
            </a:defPPr>
          </a:lstStyle>
          <a:p xmlns:a="http://schemas.openxmlformats.org/drawingml/2006/main">
            <a:pPr>
              <a:defRPr sz="6375" b="1">
                <a:solidFill>
                  <a:srgbClr val="B12632"/>
                </a:solidFill>
                <a:latin typeface="Arial"/>
                <a:ea typeface="Arial"/>
                <a:cs typeface="Arial"/>
              </a:defRPr>
            </a:pPr>
            <a:r>
              <a:rPr sz="6375" b="1">
                <a:solidFill>
                  <a:srgbClr val="B12632"/>
                </a:solidFill>
                <a:latin typeface="Arial"/>
                <a:ea typeface="Arial"/>
                <a:cs typeface="Arial"/>
              </a:rPr>
              <a:t>VAKIL SETU</a:t>
            </a:r>
          </a:p>
        </p:txBody>
      </p:sp>
      <p:sp>
        <p:nvSpPr>
          <p:cNvPr id="2" name="">
            <a:extLst xmlns:a="http://schemas.openxmlformats.org/drawingml/2006/main">
              <a:ext uri="{FF2B5EF4-FFF2-40B4-BE49-F238E27FC236}">
                <a16:creationId xmlns:a16="http://schemas.microsoft.com/office/drawing/2014/main" id="{28A86C6B-5FCF-4750-A8D7-A3D49DE81A76}"/>
              </a:ext>
            </a:extLst>
          </p:cNvPr>
          <p:cNvSpPr>
            <a:spLocks xmlns:a="http://schemas.openxmlformats.org/drawingml/2006/main" noGrp="1"/>
          </p:cNvSpPr>
          <p:nvPr/>
        </p:nvSpPr>
        <p:spPr>
          <a:xfrm xmlns:a="http://schemas.openxmlformats.org/drawingml/2006/main">
            <a:off x="666750" y="2724150"/>
            <a:ext cx="10668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850" b="0">
                <a:solidFill>
                  <a:srgbClr val="172A35"/>
                </a:solidFill>
                <a:latin typeface="Arial"/>
                <a:ea typeface="Arial"/>
                <a:cs typeface="Arial"/>
              </a:defRPr>
            </a:defPPr>
          </a:lstStyle>
          <a:p xmlns:a="http://schemas.openxmlformats.org/drawingml/2006/main">
            <a:pPr>
              <a:defRPr sz="2850" b="0">
                <a:solidFill>
                  <a:srgbClr val="172A35"/>
                </a:solidFill>
                <a:latin typeface="Arial"/>
                <a:ea typeface="Arial"/>
                <a:cs typeface="Arial"/>
              </a:defRPr>
            </a:pPr>
            <a:r>
              <a:rPr sz="2850" b="0">
                <a:solidFill>
                  <a:srgbClr val="172A35"/>
                </a:solidFill>
                <a:latin typeface="Arial"/>
                <a:ea typeface="Arial"/>
                <a:cs typeface="Arial"/>
              </a:rPr>
              <a:t>Multilingual legal intake and consultation</a:t>
            </a:r>
          </a:p>
        </p:txBody>
      </p:sp>
      <p:sp>
        <p:nvSpPr>
          <p:cNvPr id="3" name="">
            <a:extLst xmlns:a="http://schemas.openxmlformats.org/drawingml/2006/main">
              <a:ext uri="{FF2B5EF4-FFF2-40B4-BE49-F238E27FC236}">
                <a16:creationId xmlns:a16="http://schemas.microsoft.com/office/drawing/2014/main" id="{E00156EF-6ED2-4099-9295-4F0971F8A96A}"/>
              </a:ext>
            </a:extLst>
          </p:cNvPr>
          <p:cNvSpPr>
            <a:spLocks xmlns:a="http://schemas.openxmlformats.org/drawingml/2006/main" noGrp="1"/>
          </p:cNvSpPr>
          <p:nvPr/>
        </p:nvSpPr>
        <p:spPr>
          <a:xfrm xmlns:a="http://schemas.openxmlformats.org/drawingml/2006/main">
            <a:off x="685800" y="4591050"/>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52616A"/>
                </a:solidFill>
                <a:latin typeface="Arial"/>
                <a:ea typeface="Arial"/>
                <a:cs typeface="Arial"/>
              </a:defRPr>
            </a:defPPr>
          </a:lstStyle>
          <a:p xmlns:a="http://schemas.openxmlformats.org/drawingml/2006/main">
            <a:pPr>
              <a:defRPr sz="2025" b="0">
                <a:solidFill>
                  <a:srgbClr val="52616A"/>
                </a:solidFill>
                <a:latin typeface="Arial"/>
                <a:ea typeface="Arial"/>
                <a:cs typeface="Arial"/>
              </a:defRPr>
            </a:pPr>
            <a:r>
              <a:rPr sz="2025" b="0">
                <a:solidFill>
                  <a:srgbClr val="52616A"/>
                </a:solidFill>
                <a:latin typeface="Arial"/>
                <a:ea typeface="Arial"/>
                <a:cs typeface="Arial"/>
              </a:rPr>
              <a:t>Problem   Reason   Objective   Journey</a:t>
            </a:r>
          </a:p>
        </p:txBody>
      </p:sp>
      <p:sp>
        <p:nvSpPr>
          <p:cNvPr id="4" name="">
            <a:extLst xmlns:a="http://schemas.openxmlformats.org/drawingml/2006/main">
              <a:ext uri="{FF2B5EF4-FFF2-40B4-BE49-F238E27FC236}">
                <a16:creationId xmlns:a16="http://schemas.microsoft.com/office/drawing/2014/main" id="{65DD2E93-7FF4-42D2-9092-B15A1DB65184}"/>
              </a:ext>
            </a:extLst>
          </p:cNvPr>
          <p:cNvSpPr>
            <a:spLocks xmlns:a="http://schemas.openxmlformats.org/drawingml/2006/main" noGrp="1"/>
          </p:cNvSpPr>
          <p:nvPr/>
        </p:nvSpPr>
        <p:spPr>
          <a:xfrm xmlns:a="http://schemas.openxmlformats.org/drawingml/2006/main">
            <a:off x="685800" y="50768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52616A"/>
                </a:solidFill>
                <a:latin typeface="Arial"/>
                <a:ea typeface="Arial"/>
                <a:cs typeface="Arial"/>
              </a:defRPr>
            </a:defPPr>
          </a:lstStyle>
          <a:p xmlns:a="http://schemas.openxmlformats.org/drawingml/2006/main">
            <a:pPr>
              <a:defRPr sz="2025" b="0">
                <a:solidFill>
                  <a:srgbClr val="52616A"/>
                </a:solidFill>
                <a:latin typeface="Arial"/>
                <a:ea typeface="Arial"/>
                <a:cs typeface="Arial"/>
              </a:defRPr>
            </a:pPr>
            <a:r>
              <a:rPr sz="2025" b="0">
                <a:solidFill>
                  <a:srgbClr val="52616A"/>
                </a:solidFill>
                <a:latin typeface="Arial"/>
                <a:ea typeface="Arial"/>
                <a:cs typeface="Arial"/>
              </a:rPr>
              <a:t>Execution   Contribution   Takeaway</a:t>
            </a:r>
          </a:p>
        </p:txBody>
      </p:sp>
      <p:sp>
        <p:nvSpPr>
          <p:cNvPr id="5" name="">
            <a:extLst xmlns:a="http://schemas.openxmlformats.org/drawingml/2006/main">
              <a:ext uri="{FF2B5EF4-FFF2-40B4-BE49-F238E27FC236}">
                <a16:creationId xmlns:a16="http://schemas.microsoft.com/office/drawing/2014/main" id="{793D954C-5034-43F7-9B2F-B3C4B654C2B0}"/>
              </a:ext>
            </a:extLst>
          </p:cNvPr>
          <p:cNvSpPr>
            <a:spLocks xmlns:a="http://schemas.openxmlformats.org/drawingml/2006/main" noGrp="1"/>
          </p:cNvSpPr>
          <p:nvPr/>
        </p:nvSpPr>
        <p:spPr>
          <a:xfrm xmlns:a="http://schemas.openxmlformats.org/drawingml/2006/main">
            <a:off x="685800" y="6076950"/>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425" b="0">
                <a:solidFill>
                  <a:srgbClr val="52616A"/>
                </a:solidFill>
                <a:latin typeface="Arial"/>
                <a:ea typeface="Arial"/>
                <a:cs typeface="Arial"/>
              </a:defRPr>
            </a:defPPr>
          </a:lstStyle>
          <a:p xmlns:a="http://schemas.openxmlformats.org/drawingml/2006/main">
            <a:pPr>
              <a:defRPr sz="1425" b="0">
                <a:solidFill>
                  <a:srgbClr val="52616A"/>
                </a:solidFill>
                <a:latin typeface="Arial"/>
                <a:ea typeface="Arial"/>
                <a:cs typeface="Arial"/>
              </a:defRPr>
            </a:pPr>
            <a:r>
              <a:rPr sz="1425" b="0">
                <a:solidFill>
                  <a:srgbClr val="52616A"/>
                </a:solidFill>
                <a:latin typeface="Arial"/>
                <a:ea typeface="Arial"/>
                <a:cs typeface="Arial"/>
              </a:rPr>
              <a:t>Faculty project presentation</a:t>
            </a:r>
          </a:p>
        </p:txBody>
      </p:sp>
      <p:sp>
        <p:nvSpPr>
          <p:cNvPr id="6" name="">
            <a:extLst xmlns:a="http://schemas.openxmlformats.org/drawingml/2006/main">
              <a:ext uri="{FF2B5EF4-FFF2-40B4-BE49-F238E27FC236}">
                <a16:creationId xmlns:a16="http://schemas.microsoft.com/office/drawing/2014/main" id="{04BD1509-4CBA-41F8-9908-4773EEB7610B}"/>
              </a:ext>
            </a:extLst>
          </p:cNvPr>
          <p:cNvSpPr>
            <a:spLocks xmlns:a="http://schemas.openxmlformats.org/drawingml/2006/main" noGrp="1"/>
          </p:cNvSpPr>
          <p:nvPr/>
        </p:nvSpPr>
        <p:spPr>
          <a:xfrm xmlns:a="http://schemas.openxmlformats.org/drawingml/2006/main">
            <a:off x="11525250" y="64484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75" b="0">
                <a:solidFill>
                  <a:srgbClr val="52616A"/>
                </a:solidFill>
                <a:latin typeface="Arial"/>
                <a:ea typeface="Arial"/>
                <a:cs typeface="Arial"/>
              </a:defRPr>
            </a:defPPr>
          </a:lstStyle>
          <a:p xmlns:a="http://schemas.openxmlformats.org/drawingml/2006/main">
            <a:pPr>
              <a:defRPr sz="1275" b="0">
                <a:solidFill>
                  <a:srgbClr val="52616A"/>
                </a:solidFill>
                <a:latin typeface="Arial"/>
                <a:ea typeface="Arial"/>
                <a:cs typeface="Arial"/>
              </a:defRPr>
            </a:pPr>
            <a:r>
              <a:rPr sz="1275" b="0">
                <a:solidFill>
                  <a:srgbClr val="52616A"/>
                </a:solidFill>
                <a:latin typeface="Arial"/>
                <a:ea typeface="Arial"/>
                <a:cs typeface="Arial"/>
              </a:rPr>
              <a:t>01</a:t>
            </a:r>
          </a:p>
        </p:txBody>
      </p:sp>
    </p:spTree>
    <p:extLst>
      <p:ext uri="{BB962C8B-B14F-4D97-AF65-F5344CB8AC3E}">
        <p14:creationId xmlns:p14="http://schemas.microsoft.com/office/powerpoint/2010/main" val="124847034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4B25A5B-1F0B-43BC-BF27-7D559B39C25F}"/>
              </a:ext>
            </a:extLst>
          </p:cNvPr>
          <p:cNvSpPr>
            <a:spLocks xmlns:a="http://schemas.openxmlformats.org/drawingml/2006/main" noGrp="1"/>
          </p:cNvSpPr>
          <p:nvPr/>
        </p:nvSpPr>
        <p:spPr>
          <a:xfrm xmlns:a="http://schemas.openxmlformats.org/drawingml/2006/main">
            <a:off x="590550" y="3048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B12632"/>
                </a:solidFill>
                <a:latin typeface="Arial"/>
                <a:ea typeface="Arial"/>
                <a:cs typeface="Arial"/>
              </a:defRPr>
            </a:defPPr>
          </a:lstStyle>
          <a:p xmlns:a="http://schemas.openxmlformats.org/drawingml/2006/main">
            <a:pPr>
              <a:defRPr sz="1950" b="1">
                <a:solidFill>
                  <a:srgbClr val="B12632"/>
                </a:solidFill>
                <a:latin typeface="Arial"/>
                <a:ea typeface="Arial"/>
                <a:cs typeface="Arial"/>
              </a:defRPr>
            </a:pPr>
            <a:r>
              <a:rPr sz="1950" b="1">
                <a:solidFill>
                  <a:srgbClr val="B12632"/>
                </a:solidFill>
                <a:latin typeface="Arial"/>
                <a:ea typeface="Arial"/>
                <a:cs typeface="Arial"/>
              </a:rPr>
              <a:t>P  /  PROBLEM</a:t>
            </a:r>
          </a:p>
        </p:txBody>
      </p:sp>
      <p:sp>
        <p:nvSpPr>
          <p:cNvPr id="2" name="">
            <a:extLst xmlns:a="http://schemas.openxmlformats.org/drawingml/2006/main">
              <a:ext uri="{FF2B5EF4-FFF2-40B4-BE49-F238E27FC236}">
                <a16:creationId xmlns:a16="http://schemas.microsoft.com/office/drawing/2014/main" id="{CE1E6DEF-7E6C-4887-B04D-4B1C0B4E31C4}"/>
              </a:ext>
            </a:extLst>
          </p:cNvPr>
          <p:cNvSpPr>
            <a:spLocks xmlns:a="http://schemas.openxmlformats.org/drawingml/2006/main" noGrp="1"/>
          </p:cNvSpPr>
          <p:nvPr/>
        </p:nvSpPr>
        <p:spPr>
          <a:xfrm xmlns:a="http://schemas.openxmlformats.org/drawingml/2006/main">
            <a:off x="590550" y="8001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72A35"/>
                </a:solidFill>
                <a:latin typeface="Arial"/>
                <a:ea typeface="Arial"/>
                <a:cs typeface="Arial"/>
              </a:defRPr>
            </a:defPPr>
          </a:lstStyle>
          <a:p xmlns:a="http://schemas.openxmlformats.org/drawingml/2006/main">
            <a:pPr>
              <a:defRPr sz="3450" b="1">
                <a:solidFill>
                  <a:srgbClr val="172A35"/>
                </a:solidFill>
                <a:latin typeface="Arial"/>
                <a:ea typeface="Arial"/>
                <a:cs typeface="Arial"/>
              </a:defRPr>
            </a:pPr>
            <a:r>
              <a:rPr sz="3450" b="1">
                <a:solidFill>
                  <a:srgbClr val="172A35"/>
                </a:solidFill>
                <a:latin typeface="Arial"/>
                <a:ea typeface="Arial"/>
                <a:cs typeface="Arial"/>
              </a:rPr>
              <a:t>The difficult first step</a:t>
            </a:r>
          </a:p>
        </p:txBody>
      </p:sp>
      <p:sp>
        <p:nvSpPr>
          <p:cNvPr id="3" name="">
            <a:extLst xmlns:a="http://schemas.openxmlformats.org/drawingml/2006/main">
              <a:ext uri="{FF2B5EF4-FFF2-40B4-BE49-F238E27FC236}">
                <a16:creationId xmlns:a16="http://schemas.microsoft.com/office/drawing/2014/main" id="{804E5BE1-8CDA-43F9-A78C-6AC4FF1F3EB9}"/>
              </a:ext>
            </a:extLst>
          </p:cNvPr>
          <p:cNvSpPr>
            <a:spLocks xmlns:a="http://schemas.openxmlformats.org/drawingml/2006/main" noGrp="1"/>
          </p:cNvSpPr>
          <p:nvPr/>
        </p:nvSpPr>
        <p:spPr>
          <a:xfrm xmlns:a="http://schemas.openxmlformats.org/drawingml/2006/main">
            <a:off x="619125" y="14763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52616A"/>
                </a:solidFill>
                <a:latin typeface="Arial"/>
                <a:ea typeface="Arial"/>
                <a:cs typeface="Arial"/>
              </a:defRPr>
            </a:def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A person can describe a problem without knowing its legal category</a:t>
            </a:r>
          </a:p>
        </p:txBody>
      </p:sp>
      <p:sp>
        <p:nvSpPr>
          <p:cNvPr id="4" name="">
            <a:extLst xmlns:a="http://schemas.openxmlformats.org/drawingml/2006/main">
              <a:ext uri="{FF2B5EF4-FFF2-40B4-BE49-F238E27FC236}">
                <a16:creationId xmlns:a16="http://schemas.microsoft.com/office/drawing/2014/main" id="{A70E05F2-D304-4179-A008-376EF5EF075E}"/>
              </a:ext>
            </a:extLst>
          </p:cNvPr>
          <p:cNvSpPr>
            <a:spLocks xmlns:a="http://schemas.openxmlformats.org/drawingml/2006/main" noGrp="1"/>
          </p:cNvSpPr>
          <p:nvPr/>
        </p:nvSpPr>
        <p:spPr>
          <a:xfrm xmlns:a="http://schemas.openxmlformats.org/drawingml/2006/main">
            <a:off x="590550" y="21240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51906C3-BFB7-40AC-BE33-761640FBBA0A}"/>
              </a:ext>
            </a:extLst>
          </p:cNvPr>
          <p:cNvSpPr>
            <a:spLocks xmlns:a="http://schemas.openxmlformats.org/drawingml/2006/main" noGrp="1"/>
          </p:cNvSpPr>
          <p:nvPr/>
        </p:nvSpPr>
        <p:spPr>
          <a:xfrm xmlns:a="http://schemas.openxmlformats.org/drawingml/2006/main">
            <a:off x="742950" y="22098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People</a:t>
            </a:r>
          </a:p>
        </p:txBody>
      </p:sp>
      <p:sp>
        <p:nvSpPr>
          <p:cNvPr id="6" name="">
            <a:extLst xmlns:a="http://schemas.openxmlformats.org/drawingml/2006/main">
              <a:ext uri="{FF2B5EF4-FFF2-40B4-BE49-F238E27FC236}">
                <a16:creationId xmlns:a16="http://schemas.microsoft.com/office/drawing/2014/main" id="{C9FECE87-B7DD-4D6B-A913-47CE00B30866}"/>
              </a:ext>
            </a:extLst>
          </p:cNvPr>
          <p:cNvSpPr>
            <a:spLocks xmlns:a="http://schemas.openxmlformats.org/drawingml/2006/main" noGrp="1"/>
          </p:cNvSpPr>
          <p:nvPr/>
        </p:nvSpPr>
        <p:spPr>
          <a:xfrm xmlns:a="http://schemas.openxmlformats.org/drawingml/2006/main">
            <a:off x="3543300" y="21717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Citizens unfamiliar with legal processes or legal English</a:t>
            </a:r>
          </a:p>
        </p:txBody>
      </p:sp>
      <p:sp>
        <p:nvSpPr>
          <p:cNvPr id="7" name="">
            <a:extLst xmlns:a="http://schemas.openxmlformats.org/drawingml/2006/main">
              <a:ext uri="{FF2B5EF4-FFF2-40B4-BE49-F238E27FC236}">
                <a16:creationId xmlns:a16="http://schemas.microsoft.com/office/drawing/2014/main" id="{8E89EFA7-223E-45C6-B665-615804C6ED2A}"/>
              </a:ext>
            </a:extLst>
          </p:cNvPr>
          <p:cNvSpPr>
            <a:spLocks xmlns:a="http://schemas.openxmlformats.org/drawingml/2006/main" noGrp="1"/>
          </p:cNvSpPr>
          <p:nvPr/>
        </p:nvSpPr>
        <p:spPr>
          <a:xfrm xmlns:a="http://schemas.openxmlformats.org/drawingml/2006/main">
            <a:off x="742950" y="31242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Friction</a:t>
            </a:r>
          </a:p>
        </p:txBody>
      </p:sp>
      <p:sp>
        <p:nvSpPr>
          <p:cNvPr id="8" name="">
            <a:extLst xmlns:a="http://schemas.openxmlformats.org/drawingml/2006/main">
              <a:ext uri="{FF2B5EF4-FFF2-40B4-BE49-F238E27FC236}">
                <a16:creationId xmlns:a16="http://schemas.microsoft.com/office/drawing/2014/main" id="{6FA53288-6421-4FBB-979C-C5C4ED699F9C}"/>
              </a:ext>
            </a:extLst>
          </p:cNvPr>
          <p:cNvSpPr>
            <a:spLocks xmlns:a="http://schemas.openxmlformats.org/drawingml/2006/main" noGrp="1"/>
          </p:cNvSpPr>
          <p:nvPr/>
        </p:nvSpPr>
        <p:spPr>
          <a:xfrm xmlns:a="http://schemas.openxmlformats.org/drawingml/2006/main">
            <a:off x="3543300" y="30861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Unstructured facts, language mismatch and uncertainty about whom to contact</a:t>
            </a:r>
          </a:p>
        </p:txBody>
      </p:sp>
      <p:sp>
        <p:nvSpPr>
          <p:cNvPr id="9" name="">
            <a:extLst xmlns:a="http://schemas.openxmlformats.org/drawingml/2006/main">
              <a:ext uri="{FF2B5EF4-FFF2-40B4-BE49-F238E27FC236}">
                <a16:creationId xmlns:a16="http://schemas.microsoft.com/office/drawing/2014/main" id="{CFA845A4-FAC4-4B5F-8B1B-07C81445D33A}"/>
              </a:ext>
            </a:extLst>
          </p:cNvPr>
          <p:cNvSpPr>
            <a:spLocks xmlns:a="http://schemas.openxmlformats.org/drawingml/2006/main" noGrp="1"/>
          </p:cNvSpPr>
          <p:nvPr/>
        </p:nvSpPr>
        <p:spPr>
          <a:xfrm xmlns:a="http://schemas.openxmlformats.org/drawingml/2006/main">
            <a:off x="590550" y="39528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CAEA575-303E-45B7-A4EF-7FFA78E047EB}"/>
              </a:ext>
            </a:extLst>
          </p:cNvPr>
          <p:cNvSpPr>
            <a:spLocks xmlns:a="http://schemas.openxmlformats.org/drawingml/2006/main" noGrp="1"/>
          </p:cNvSpPr>
          <p:nvPr/>
        </p:nvSpPr>
        <p:spPr>
          <a:xfrm xmlns:a="http://schemas.openxmlformats.org/drawingml/2006/main">
            <a:off x="742950" y="40386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Today</a:t>
            </a:r>
          </a:p>
        </p:txBody>
      </p:sp>
      <p:sp>
        <p:nvSpPr>
          <p:cNvPr id="11" name="">
            <a:extLst xmlns:a="http://schemas.openxmlformats.org/drawingml/2006/main">
              <a:ext uri="{FF2B5EF4-FFF2-40B4-BE49-F238E27FC236}">
                <a16:creationId xmlns:a16="http://schemas.microsoft.com/office/drawing/2014/main" id="{8E0EB68C-3140-4D38-A807-DFD59E5EC6C7}"/>
              </a:ext>
            </a:extLst>
          </p:cNvPr>
          <p:cNvSpPr>
            <a:spLocks xmlns:a="http://schemas.openxmlformats.org/drawingml/2006/main" noGrp="1"/>
          </p:cNvSpPr>
          <p:nvPr/>
        </p:nvSpPr>
        <p:spPr>
          <a:xfrm xmlns:a="http://schemas.openxmlformats.org/drawingml/2006/main">
            <a:off x="3543300" y="40005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Personal referrals, online searches and separate consultation services</a:t>
            </a:r>
          </a:p>
        </p:txBody>
      </p:sp>
      <p:sp>
        <p:nvSpPr>
          <p:cNvPr id="12" name="">
            <a:extLst xmlns:a="http://schemas.openxmlformats.org/drawingml/2006/main">
              <a:ext uri="{FF2B5EF4-FFF2-40B4-BE49-F238E27FC236}">
                <a16:creationId xmlns:a16="http://schemas.microsoft.com/office/drawing/2014/main" id="{E926B6EB-093F-4A6F-B3D1-40C97B476923}"/>
              </a:ext>
            </a:extLst>
          </p:cNvPr>
          <p:cNvSpPr>
            <a:spLocks xmlns:a="http://schemas.openxmlformats.org/drawingml/2006/main" noGrp="1"/>
          </p:cNvSpPr>
          <p:nvPr/>
        </p:nvSpPr>
        <p:spPr>
          <a:xfrm xmlns:a="http://schemas.openxmlformats.org/drawingml/2006/main">
            <a:off x="742950" y="49530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Project gap</a:t>
            </a:r>
          </a:p>
        </p:txBody>
      </p:sp>
      <p:sp>
        <p:nvSpPr>
          <p:cNvPr id="13" name="">
            <a:extLst xmlns:a="http://schemas.openxmlformats.org/drawingml/2006/main">
              <a:ext uri="{FF2B5EF4-FFF2-40B4-BE49-F238E27FC236}">
                <a16:creationId xmlns:a16="http://schemas.microsoft.com/office/drawing/2014/main" id="{04E49C73-982B-4524-8C0F-C6181BB84A5B}"/>
              </a:ext>
            </a:extLst>
          </p:cNvPr>
          <p:cNvSpPr>
            <a:spLocks xmlns:a="http://schemas.openxmlformats.org/drawingml/2006/main" noGrp="1"/>
          </p:cNvSpPr>
          <p:nvPr/>
        </p:nvSpPr>
        <p:spPr>
          <a:xfrm xmlns:a="http://schemas.openxmlformats.org/drawingml/2006/main">
            <a:off x="3543300" y="49149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A private, reviewed intake that carries into a consultation request</a:t>
            </a:r>
          </a:p>
        </p:txBody>
      </p:sp>
      <p:sp>
        <p:nvSpPr>
          <p:cNvPr id="14" name="">
            <a:extLst xmlns:a="http://schemas.openxmlformats.org/drawingml/2006/main">
              <a:ext uri="{FF2B5EF4-FFF2-40B4-BE49-F238E27FC236}">
                <a16:creationId xmlns:a16="http://schemas.microsoft.com/office/drawing/2014/main" id="{87F4132B-899F-47BF-9248-1C115FA39484}"/>
              </a:ext>
            </a:extLst>
          </p:cNvPr>
          <p:cNvSpPr>
            <a:spLocks xmlns:a="http://schemas.openxmlformats.org/drawingml/2006/main" noGrp="1"/>
          </p:cNvSpPr>
          <p:nvPr/>
        </p:nvSpPr>
        <p:spPr>
          <a:xfrm xmlns:a="http://schemas.openxmlformats.org/drawingml/2006/main">
            <a:off x="619125" y="6191250"/>
            <a:ext cx="10715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Problem hypothesis. No field survey or measured user impact is claimed.</a:t>
            </a:r>
          </a:p>
        </p:txBody>
      </p:sp>
      <p:sp>
        <p:nvSpPr>
          <p:cNvPr id="15" name="">
            <a:extLst xmlns:a="http://schemas.openxmlformats.org/drawingml/2006/main">
              <a:ext uri="{FF2B5EF4-FFF2-40B4-BE49-F238E27FC236}">
                <a16:creationId xmlns:a16="http://schemas.microsoft.com/office/drawing/2014/main" id="{ADD19DD9-035F-41A5-91AD-EE1840EAE439}"/>
              </a:ext>
            </a:extLst>
          </p:cNvPr>
          <p:cNvSpPr>
            <a:spLocks xmlns:a="http://schemas.openxmlformats.org/drawingml/2006/main" noGrp="1"/>
          </p:cNvSpPr>
          <p:nvPr/>
        </p:nvSpPr>
        <p:spPr>
          <a:xfrm xmlns:a="http://schemas.openxmlformats.org/drawingml/2006/main">
            <a:off x="11525250" y="64484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75" b="0">
                <a:solidFill>
                  <a:srgbClr val="52616A"/>
                </a:solidFill>
                <a:latin typeface="Arial"/>
                <a:ea typeface="Arial"/>
                <a:cs typeface="Arial"/>
              </a:defRPr>
            </a:defPPr>
          </a:lstStyle>
          <a:p xmlns:a="http://schemas.openxmlformats.org/drawingml/2006/main">
            <a:pPr>
              <a:defRPr sz="1275" b="0">
                <a:solidFill>
                  <a:srgbClr val="52616A"/>
                </a:solidFill>
                <a:latin typeface="Arial"/>
                <a:ea typeface="Arial"/>
                <a:cs typeface="Arial"/>
              </a:defRPr>
            </a:pPr>
            <a:r>
              <a:rPr sz="1275" b="0">
                <a:solidFill>
                  <a:srgbClr val="52616A"/>
                </a:solidFill>
                <a:latin typeface="Arial"/>
                <a:ea typeface="Arial"/>
                <a:cs typeface="Arial"/>
              </a:rPr>
              <a:t>02</a:t>
            </a:r>
          </a:p>
        </p:txBody>
      </p:sp>
    </p:spTree>
    <p:extLst>
      <p:ext uri="{BB962C8B-B14F-4D97-AF65-F5344CB8AC3E}">
        <p14:creationId xmlns:p14="http://schemas.microsoft.com/office/powerpoint/2010/main" val="211028547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7C252279-5872-486B-9681-543E72173281}"/>
              </a:ext>
            </a:extLst>
          </p:cNvPr>
          <p:cNvSpPr>
            <a:spLocks xmlns:a="http://schemas.openxmlformats.org/drawingml/2006/main" noGrp="1"/>
          </p:cNvSpPr>
          <p:nvPr/>
        </p:nvSpPr>
        <p:spPr>
          <a:xfrm xmlns:a="http://schemas.openxmlformats.org/drawingml/2006/main">
            <a:off x="590550" y="3048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B12632"/>
                </a:solidFill>
                <a:latin typeface="Arial"/>
                <a:ea typeface="Arial"/>
                <a:cs typeface="Arial"/>
              </a:defRPr>
            </a:defPPr>
          </a:lstStyle>
          <a:p xmlns:a="http://schemas.openxmlformats.org/drawingml/2006/main">
            <a:pPr>
              <a:defRPr sz="1950" b="1">
                <a:solidFill>
                  <a:srgbClr val="B12632"/>
                </a:solidFill>
                <a:latin typeface="Arial"/>
                <a:ea typeface="Arial"/>
                <a:cs typeface="Arial"/>
              </a:defRPr>
            </a:pPr>
            <a:r>
              <a:rPr sz="1950" b="1">
                <a:solidFill>
                  <a:srgbClr val="B12632"/>
                </a:solidFill>
                <a:latin typeface="Arial"/>
                <a:ea typeface="Arial"/>
                <a:cs typeface="Arial"/>
              </a:rPr>
              <a:t>R  /  REASON</a:t>
            </a:r>
          </a:p>
        </p:txBody>
      </p:sp>
      <p:sp>
        <p:nvSpPr>
          <p:cNvPr id="2" name="">
            <a:extLst xmlns:a="http://schemas.openxmlformats.org/drawingml/2006/main">
              <a:ext uri="{FF2B5EF4-FFF2-40B4-BE49-F238E27FC236}">
                <a16:creationId xmlns:a16="http://schemas.microsoft.com/office/drawing/2014/main" id="{D858F26F-52CB-482C-93B5-1C5F085C5B50}"/>
              </a:ext>
            </a:extLst>
          </p:cNvPr>
          <p:cNvSpPr>
            <a:spLocks xmlns:a="http://schemas.openxmlformats.org/drawingml/2006/main" noGrp="1"/>
          </p:cNvSpPr>
          <p:nvPr/>
        </p:nvSpPr>
        <p:spPr>
          <a:xfrm xmlns:a="http://schemas.openxmlformats.org/drawingml/2006/main">
            <a:off x="590550" y="8001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72A35"/>
                </a:solidFill>
                <a:latin typeface="Arial"/>
                <a:ea typeface="Arial"/>
                <a:cs typeface="Arial"/>
              </a:defRPr>
            </a:defPPr>
          </a:lstStyle>
          <a:p xmlns:a="http://schemas.openxmlformats.org/drawingml/2006/main">
            <a:pPr>
              <a:defRPr sz="3450" b="1">
                <a:solidFill>
                  <a:srgbClr val="172A35"/>
                </a:solidFill>
                <a:latin typeface="Arial"/>
                <a:ea typeface="Arial"/>
                <a:cs typeface="Arial"/>
              </a:defRPr>
            </a:pPr>
            <a:r>
              <a:rPr sz="3450" b="1">
                <a:solidFill>
                  <a:srgbClr val="172A35"/>
                </a:solidFill>
                <a:latin typeface="Arial"/>
                <a:ea typeface="Arial"/>
                <a:cs typeface="Arial"/>
              </a:rPr>
              <a:t>Existing services and our focus</a:t>
            </a:r>
          </a:p>
        </p:txBody>
      </p:sp>
      <p:sp>
        <p:nvSpPr>
          <p:cNvPr id="3" name="">
            <a:extLst xmlns:a="http://schemas.openxmlformats.org/drawingml/2006/main">
              <a:ext uri="{FF2B5EF4-FFF2-40B4-BE49-F238E27FC236}">
                <a16:creationId xmlns:a16="http://schemas.microsoft.com/office/drawing/2014/main" id="{6CAA889F-2700-4925-AC15-EFDB164BCA92}"/>
              </a:ext>
            </a:extLst>
          </p:cNvPr>
          <p:cNvSpPr>
            <a:spLocks xmlns:a="http://schemas.openxmlformats.org/drawingml/2006/main" noGrp="1"/>
          </p:cNvSpPr>
          <p:nvPr/>
        </p:nvSpPr>
        <p:spPr>
          <a:xfrm xmlns:a="http://schemas.openxmlformats.org/drawingml/2006/main">
            <a:off x="619125" y="14763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52616A"/>
                </a:solidFill>
                <a:latin typeface="Arial"/>
                <a:ea typeface="Arial"/>
                <a:cs typeface="Arial"/>
              </a:defRPr>
            </a:def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Access to legal help already has established approaches</a:t>
            </a:r>
          </a:p>
        </p:txBody>
      </p:sp>
      <p:sp>
        <p:nvSpPr>
          <p:cNvPr id="4" name="">
            <a:extLst xmlns:a="http://schemas.openxmlformats.org/drawingml/2006/main">
              <a:ext uri="{FF2B5EF4-FFF2-40B4-BE49-F238E27FC236}">
                <a16:creationId xmlns:a16="http://schemas.microsoft.com/office/drawing/2014/main" id="{89EDBA9D-36AA-4D7E-8F98-95B0CD2A7C9B}"/>
              </a:ext>
            </a:extLst>
          </p:cNvPr>
          <p:cNvSpPr>
            <a:spLocks xmlns:a="http://schemas.openxmlformats.org/drawingml/2006/main" noGrp="1"/>
          </p:cNvSpPr>
          <p:nvPr/>
        </p:nvSpPr>
        <p:spPr>
          <a:xfrm xmlns:a="http://schemas.openxmlformats.org/drawingml/2006/main">
            <a:off x="590550" y="21240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A954A5A4-F201-46D8-A43C-FFD5A781FEA5}"/>
              </a:ext>
            </a:extLst>
          </p:cNvPr>
          <p:cNvSpPr>
            <a:spLocks xmlns:a="http://schemas.openxmlformats.org/drawingml/2006/main" noGrp="1"/>
          </p:cNvSpPr>
          <p:nvPr/>
        </p:nvSpPr>
        <p:spPr>
          <a:xfrm xmlns:a="http://schemas.openxmlformats.org/drawingml/2006/main">
            <a:off x="742950" y="22098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Tele-Law</a:t>
            </a:r>
          </a:p>
        </p:txBody>
      </p:sp>
      <p:sp>
        <p:nvSpPr>
          <p:cNvPr id="6" name="">
            <a:extLst xmlns:a="http://schemas.openxmlformats.org/drawingml/2006/main">
              <a:ext uri="{FF2B5EF4-FFF2-40B4-BE49-F238E27FC236}">
                <a16:creationId xmlns:a16="http://schemas.microsoft.com/office/drawing/2014/main" id="{75DCED7D-8A01-4086-8A90-199CC43D5860}"/>
              </a:ext>
            </a:extLst>
          </p:cNvPr>
          <p:cNvSpPr>
            <a:spLocks xmlns:a="http://schemas.openxmlformats.org/drawingml/2006/main" noGrp="1"/>
          </p:cNvSpPr>
          <p:nvPr/>
        </p:nvSpPr>
        <p:spPr>
          <a:xfrm xmlns:a="http://schemas.openxmlformats.org/drawingml/2006/main">
            <a:off x="3543300" y="21717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Connects people with lawyers through phone and video services</a:t>
            </a:r>
          </a:p>
        </p:txBody>
      </p:sp>
      <p:sp>
        <p:nvSpPr>
          <p:cNvPr id="7" name="">
            <a:extLst xmlns:a="http://schemas.openxmlformats.org/drawingml/2006/main">
              <a:ext uri="{FF2B5EF4-FFF2-40B4-BE49-F238E27FC236}">
                <a16:creationId xmlns:a16="http://schemas.microsoft.com/office/drawing/2014/main" id="{9AE1936A-C5BD-46B5-9F9F-7F11C32452D7}"/>
              </a:ext>
            </a:extLst>
          </p:cNvPr>
          <p:cNvSpPr>
            <a:spLocks xmlns:a="http://schemas.openxmlformats.org/drawingml/2006/main" noGrp="1"/>
          </p:cNvSpPr>
          <p:nvPr/>
        </p:nvSpPr>
        <p:spPr>
          <a:xfrm xmlns:a="http://schemas.openxmlformats.org/drawingml/2006/main">
            <a:off x="742950" y="31242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LawRato</a:t>
            </a:r>
          </a:p>
        </p:txBody>
      </p:sp>
      <p:sp>
        <p:nvSpPr>
          <p:cNvPr id="8" name="">
            <a:extLst xmlns:a="http://schemas.openxmlformats.org/drawingml/2006/main">
              <a:ext uri="{FF2B5EF4-FFF2-40B4-BE49-F238E27FC236}">
                <a16:creationId xmlns:a16="http://schemas.microsoft.com/office/drawing/2014/main" id="{2229D9E6-7E7D-4154-AA26-45388CAF7405}"/>
              </a:ext>
            </a:extLst>
          </p:cNvPr>
          <p:cNvSpPr>
            <a:spLocks xmlns:a="http://schemas.openxmlformats.org/drawingml/2006/main" noGrp="1"/>
          </p:cNvSpPr>
          <p:nvPr/>
        </p:nvSpPr>
        <p:spPr>
          <a:xfrm xmlns:a="http://schemas.openxmlformats.org/drawingml/2006/main">
            <a:off x="3543300" y="30861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Offers advocate discovery and consultation options</a:t>
            </a:r>
          </a:p>
        </p:txBody>
      </p:sp>
      <p:sp>
        <p:nvSpPr>
          <p:cNvPr id="9" name="">
            <a:extLst xmlns:a="http://schemas.openxmlformats.org/drawingml/2006/main">
              <a:ext uri="{FF2B5EF4-FFF2-40B4-BE49-F238E27FC236}">
                <a16:creationId xmlns:a16="http://schemas.microsoft.com/office/drawing/2014/main" id="{0E2684EB-5FAC-4963-80D3-495C2CAF0372}"/>
              </a:ext>
            </a:extLst>
          </p:cNvPr>
          <p:cNvSpPr>
            <a:spLocks xmlns:a="http://schemas.openxmlformats.org/drawingml/2006/main" noGrp="1"/>
          </p:cNvSpPr>
          <p:nvPr/>
        </p:nvSpPr>
        <p:spPr>
          <a:xfrm xmlns:a="http://schemas.openxmlformats.org/drawingml/2006/main">
            <a:off x="590550" y="39528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B0C1171-DA70-4909-A458-074995DB0F7B}"/>
              </a:ext>
            </a:extLst>
          </p:cNvPr>
          <p:cNvSpPr>
            <a:spLocks xmlns:a="http://schemas.openxmlformats.org/drawingml/2006/main" noGrp="1"/>
          </p:cNvSpPr>
          <p:nvPr/>
        </p:nvSpPr>
        <p:spPr>
          <a:xfrm xmlns:a="http://schemas.openxmlformats.org/drawingml/2006/main">
            <a:off x="742950" y="40386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Vakil Setu</a:t>
            </a:r>
          </a:p>
        </p:txBody>
      </p:sp>
      <p:sp>
        <p:nvSpPr>
          <p:cNvPr id="11" name="">
            <a:extLst xmlns:a="http://schemas.openxmlformats.org/drawingml/2006/main">
              <a:ext uri="{FF2B5EF4-FFF2-40B4-BE49-F238E27FC236}">
                <a16:creationId xmlns:a16="http://schemas.microsoft.com/office/drawing/2014/main" id="{51C75AF4-1D82-49C7-A99E-7FBFCA130F7A}"/>
              </a:ext>
            </a:extLst>
          </p:cNvPr>
          <p:cNvSpPr>
            <a:spLocks xmlns:a="http://schemas.openxmlformats.org/drawingml/2006/main" noGrp="1"/>
          </p:cNvSpPr>
          <p:nvPr/>
        </p:nvSpPr>
        <p:spPr>
          <a:xfrm xmlns:a="http://schemas.openxmlformats.org/drawingml/2006/main">
            <a:off x="3543300" y="40005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Focuses on multilingual intake, user review and controlled summary sharing</a:t>
            </a:r>
          </a:p>
        </p:txBody>
      </p:sp>
      <p:sp>
        <p:nvSpPr>
          <p:cNvPr id="12" name="">
            <a:extLst xmlns:a="http://schemas.openxmlformats.org/drawingml/2006/main">
              <a:ext uri="{FF2B5EF4-FFF2-40B4-BE49-F238E27FC236}">
                <a16:creationId xmlns:a16="http://schemas.microsoft.com/office/drawing/2014/main" id="{C43B71C5-FA84-4A08-8C85-2D03FC27A0D2}"/>
              </a:ext>
            </a:extLst>
          </p:cNvPr>
          <p:cNvSpPr>
            <a:spLocks xmlns:a="http://schemas.openxmlformats.org/drawingml/2006/main" noGrp="1"/>
          </p:cNvSpPr>
          <p:nvPr/>
        </p:nvSpPr>
        <p:spPr>
          <a:xfrm xmlns:a="http://schemas.openxmlformats.org/drawingml/2006/main">
            <a:off x="742950" y="49530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Why this scope</a:t>
            </a:r>
          </a:p>
        </p:txBody>
      </p:sp>
      <p:sp>
        <p:nvSpPr>
          <p:cNvPr id="13" name="">
            <a:extLst xmlns:a="http://schemas.openxmlformats.org/drawingml/2006/main">
              <a:ext uri="{FF2B5EF4-FFF2-40B4-BE49-F238E27FC236}">
                <a16:creationId xmlns:a16="http://schemas.microsoft.com/office/drawing/2014/main" id="{3EF8932C-8B1D-4B58-9F6B-1CF98E16DA14}"/>
              </a:ext>
            </a:extLst>
          </p:cNvPr>
          <p:cNvSpPr>
            <a:spLocks xmlns:a="http://schemas.openxmlformats.org/drawingml/2006/main" noGrp="1"/>
          </p:cNvSpPr>
          <p:nvPr/>
        </p:nvSpPr>
        <p:spPr>
          <a:xfrm xmlns:a="http://schemas.openxmlformats.org/drawingml/2006/main">
            <a:off x="3543300" y="49149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Citizens prepare their account. Advocates receive the version the user approved.</a:t>
            </a:r>
          </a:p>
        </p:txBody>
      </p:sp>
      <p:sp>
        <p:nvSpPr>
          <p:cNvPr id="14" name="">
            <a:extLst xmlns:a="http://schemas.openxmlformats.org/drawingml/2006/main">
              <a:ext uri="{FF2B5EF4-FFF2-40B4-BE49-F238E27FC236}">
                <a16:creationId xmlns:a16="http://schemas.microsoft.com/office/drawing/2014/main" id="{734B3E5D-D1F6-4C40-84D5-0F0AD186D37D}"/>
              </a:ext>
            </a:extLst>
          </p:cNvPr>
          <p:cNvSpPr>
            <a:spLocks xmlns:a="http://schemas.openxmlformats.org/drawingml/2006/main" noGrp="1"/>
          </p:cNvSpPr>
          <p:nvPr/>
        </p:nvSpPr>
        <p:spPr>
          <a:xfrm xmlns:a="http://schemas.openxmlformats.org/drawingml/2006/main">
            <a:off x="619125" y="6191250"/>
            <a:ext cx="10715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Differentiation is a project focus. Comparative superiority remains untested.</a:t>
            </a:r>
          </a:p>
        </p:txBody>
      </p:sp>
      <p:sp>
        <p:nvSpPr>
          <p:cNvPr id="15" name="">
            <a:extLst xmlns:a="http://schemas.openxmlformats.org/drawingml/2006/main">
              <a:ext uri="{FF2B5EF4-FFF2-40B4-BE49-F238E27FC236}">
                <a16:creationId xmlns:a16="http://schemas.microsoft.com/office/drawing/2014/main" id="{D82DDB26-504E-4499-A357-B2307B1D9850}"/>
              </a:ext>
            </a:extLst>
          </p:cNvPr>
          <p:cNvSpPr>
            <a:spLocks xmlns:a="http://schemas.openxmlformats.org/drawingml/2006/main" noGrp="1"/>
          </p:cNvSpPr>
          <p:nvPr/>
        </p:nvSpPr>
        <p:spPr>
          <a:xfrm xmlns:a="http://schemas.openxmlformats.org/drawingml/2006/main">
            <a:off x="11525250" y="64484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75" b="0">
                <a:solidFill>
                  <a:srgbClr val="52616A"/>
                </a:solidFill>
                <a:latin typeface="Arial"/>
                <a:ea typeface="Arial"/>
                <a:cs typeface="Arial"/>
              </a:defRPr>
            </a:defPPr>
          </a:lstStyle>
          <a:p xmlns:a="http://schemas.openxmlformats.org/drawingml/2006/main">
            <a:pPr>
              <a:defRPr sz="1275" b="0">
                <a:solidFill>
                  <a:srgbClr val="52616A"/>
                </a:solidFill>
                <a:latin typeface="Arial"/>
                <a:ea typeface="Arial"/>
                <a:cs typeface="Arial"/>
              </a:defRPr>
            </a:pPr>
            <a:r>
              <a:rPr sz="1275" b="0">
                <a:solidFill>
                  <a:srgbClr val="52616A"/>
                </a:solidFill>
                <a:latin typeface="Arial"/>
                <a:ea typeface="Arial"/>
                <a:cs typeface="Arial"/>
              </a:rPr>
              <a:t>03</a:t>
            </a:r>
          </a:p>
        </p:txBody>
      </p:sp>
    </p:spTree>
    <p:extLst>
      <p:ext uri="{BB962C8B-B14F-4D97-AF65-F5344CB8AC3E}">
        <p14:creationId xmlns:p14="http://schemas.microsoft.com/office/powerpoint/2010/main" val="142376954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5581DC06-AF00-49A5-BF10-FF1BF88F016E}"/>
              </a:ext>
            </a:extLst>
          </p:cNvPr>
          <p:cNvSpPr>
            <a:spLocks xmlns:a="http://schemas.openxmlformats.org/drawingml/2006/main" noGrp="1"/>
          </p:cNvSpPr>
          <p:nvPr/>
        </p:nvSpPr>
        <p:spPr>
          <a:xfrm xmlns:a="http://schemas.openxmlformats.org/drawingml/2006/main">
            <a:off x="590550" y="3048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B12632"/>
                </a:solidFill>
                <a:latin typeface="Arial"/>
                <a:ea typeface="Arial"/>
                <a:cs typeface="Arial"/>
              </a:defRPr>
            </a:defPPr>
          </a:lstStyle>
          <a:p xmlns:a="http://schemas.openxmlformats.org/drawingml/2006/main">
            <a:pPr>
              <a:defRPr sz="1950" b="1">
                <a:solidFill>
                  <a:srgbClr val="B12632"/>
                </a:solidFill>
                <a:latin typeface="Arial"/>
                <a:ea typeface="Arial"/>
                <a:cs typeface="Arial"/>
              </a:defRPr>
            </a:pPr>
            <a:r>
              <a:rPr sz="1950" b="1">
                <a:solidFill>
                  <a:srgbClr val="B12632"/>
                </a:solidFill>
                <a:latin typeface="Arial"/>
                <a:ea typeface="Arial"/>
                <a:cs typeface="Arial"/>
              </a:rPr>
              <a:t>O  /  OBJECTIVE</a:t>
            </a:r>
          </a:p>
        </p:txBody>
      </p:sp>
      <p:sp>
        <p:nvSpPr>
          <p:cNvPr id="2" name="">
            <a:extLst xmlns:a="http://schemas.openxmlformats.org/drawingml/2006/main">
              <a:ext uri="{FF2B5EF4-FFF2-40B4-BE49-F238E27FC236}">
                <a16:creationId xmlns:a16="http://schemas.microsoft.com/office/drawing/2014/main" id="{84166CBB-5A6C-4E9C-A6BF-8984EACBE0E7}"/>
              </a:ext>
            </a:extLst>
          </p:cNvPr>
          <p:cNvSpPr>
            <a:spLocks xmlns:a="http://schemas.openxmlformats.org/drawingml/2006/main" noGrp="1"/>
          </p:cNvSpPr>
          <p:nvPr/>
        </p:nvSpPr>
        <p:spPr>
          <a:xfrm xmlns:a="http://schemas.openxmlformats.org/drawingml/2006/main">
            <a:off x="590550" y="8001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72A35"/>
                </a:solidFill>
                <a:latin typeface="Arial"/>
                <a:ea typeface="Arial"/>
                <a:cs typeface="Arial"/>
              </a:defRPr>
            </a:defPPr>
          </a:lstStyle>
          <a:p xmlns:a="http://schemas.openxmlformats.org/drawingml/2006/main">
            <a:pPr>
              <a:defRPr sz="3450" b="1">
                <a:solidFill>
                  <a:srgbClr val="172A35"/>
                </a:solidFill>
                <a:latin typeface="Arial"/>
                <a:ea typeface="Arial"/>
                <a:cs typeface="Arial"/>
              </a:defRPr>
            </a:pPr>
            <a:r>
              <a:rPr sz="3450" b="1">
                <a:solidFill>
                  <a:srgbClr val="172A35"/>
                </a:solidFill>
                <a:latin typeface="Arial"/>
                <a:ea typeface="Arial"/>
                <a:cs typeface="Arial"/>
              </a:rPr>
              <a:t>A reviewable path to consultation</a:t>
            </a:r>
          </a:p>
        </p:txBody>
      </p:sp>
      <p:sp>
        <p:nvSpPr>
          <p:cNvPr id="3" name="">
            <a:extLst xmlns:a="http://schemas.openxmlformats.org/drawingml/2006/main">
              <a:ext uri="{FF2B5EF4-FFF2-40B4-BE49-F238E27FC236}">
                <a16:creationId xmlns:a16="http://schemas.microsoft.com/office/drawing/2014/main" id="{7375A2E2-EDDE-40D3-8661-7175D794E8D4}"/>
              </a:ext>
            </a:extLst>
          </p:cNvPr>
          <p:cNvSpPr>
            <a:spLocks xmlns:a="http://schemas.openxmlformats.org/drawingml/2006/main" noGrp="1"/>
          </p:cNvSpPr>
          <p:nvPr/>
        </p:nvSpPr>
        <p:spPr>
          <a:xfrm xmlns:a="http://schemas.openxmlformats.org/drawingml/2006/main">
            <a:off x="619125" y="14763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52616A"/>
                </a:solidFill>
                <a:latin typeface="Arial"/>
                <a:ea typeface="Arial"/>
                <a:cs typeface="Arial"/>
              </a:defRPr>
            </a:def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The MVP centres on a private intake and an explicit request lifecycle</a:t>
            </a:r>
          </a:p>
        </p:txBody>
      </p:sp>
      <p:sp>
        <p:nvSpPr>
          <p:cNvPr id="4" name="">
            <a:extLst xmlns:a="http://schemas.openxmlformats.org/drawingml/2006/main">
              <a:ext uri="{FF2B5EF4-FFF2-40B4-BE49-F238E27FC236}">
                <a16:creationId xmlns:a16="http://schemas.microsoft.com/office/drawing/2014/main" id="{6C15294D-74A1-4400-A719-77E7B1643E98}"/>
              </a:ext>
            </a:extLst>
          </p:cNvPr>
          <p:cNvSpPr>
            <a:spLocks xmlns:a="http://schemas.openxmlformats.org/drawingml/2006/main" noGrp="1"/>
          </p:cNvSpPr>
          <p:nvPr/>
        </p:nvSpPr>
        <p:spPr>
          <a:xfrm xmlns:a="http://schemas.openxmlformats.org/drawingml/2006/main">
            <a:off x="666750" y="217170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B12632"/>
                </a:solidFill>
                <a:latin typeface="Arial"/>
                <a:ea typeface="Arial"/>
                <a:cs typeface="Arial"/>
              </a:defRPr>
            </a:defPPr>
          </a:lstStyle>
          <a:p xmlns:a="http://schemas.openxmlformats.org/drawingml/2006/main">
            <a:pPr>
              <a:defRPr sz="2325" b="1">
                <a:solidFill>
                  <a:srgbClr val="B12632"/>
                </a:solidFill>
                <a:latin typeface="Arial"/>
                <a:ea typeface="Arial"/>
                <a:cs typeface="Arial"/>
              </a:defRPr>
            </a:pPr>
            <a:r>
              <a:rPr sz="2325" b="1">
                <a:solidFill>
                  <a:srgbClr val="B12632"/>
                </a:solidFill>
                <a:latin typeface="Arial"/>
                <a:ea typeface="Arial"/>
                <a:cs typeface="Arial"/>
              </a:rPr>
              <a:t>Included in the MVP</a:t>
            </a:r>
          </a:p>
        </p:txBody>
      </p:sp>
      <p:sp>
        <p:nvSpPr>
          <p:cNvPr id="5" name="">
            <a:extLst xmlns:a="http://schemas.openxmlformats.org/drawingml/2006/main">
              <a:ext uri="{FF2B5EF4-FFF2-40B4-BE49-F238E27FC236}">
                <a16:creationId xmlns:a16="http://schemas.microsoft.com/office/drawing/2014/main" id="{79A7C603-E520-4E06-9888-FDD6167398D8}"/>
              </a:ext>
            </a:extLst>
          </p:cNvPr>
          <p:cNvSpPr>
            <a:spLocks xmlns:a="http://schemas.openxmlformats.org/drawingml/2006/main" noGrp="1"/>
          </p:cNvSpPr>
          <p:nvPr/>
        </p:nvSpPr>
        <p:spPr>
          <a:xfrm xmlns:a="http://schemas.openxmlformats.org/drawingml/2006/main">
            <a:off x="666750" y="28575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72A35"/>
                </a:solidFill>
                <a:latin typeface="Arial"/>
                <a:ea typeface="Arial"/>
                <a:cs typeface="Arial"/>
              </a:defRPr>
            </a:defPPr>
          </a:lstStyle>
          <a:p xmlns:a="http://schemas.openxmlformats.org/drawingml/2006/main">
            <a:pPr>
              <a:defRPr sz="2100" b="0">
                <a:solidFill>
                  <a:srgbClr val="172A35"/>
                </a:solidFill>
                <a:latin typeface="Arial"/>
                <a:ea typeface="Arial"/>
                <a:cs typeface="Arial"/>
              </a:defRPr>
            </a:pPr>
            <a:r>
              <a:rPr sz="2100" b="0">
                <a:solidFill>
                  <a:srgbClr val="172A35"/>
                </a:solidFill>
                <a:latin typeface="Arial"/>
                <a:ea typeface="Arial"/>
                <a:cs typeface="Arial"/>
              </a:rPr>
              <a:t>Accounts and application roles</a:t>
            </a:r>
          </a:p>
        </p:txBody>
      </p:sp>
      <p:sp>
        <p:nvSpPr>
          <p:cNvPr id="6" name="">
            <a:extLst xmlns:a="http://schemas.openxmlformats.org/drawingml/2006/main">
              <a:ext uri="{FF2B5EF4-FFF2-40B4-BE49-F238E27FC236}">
                <a16:creationId xmlns:a16="http://schemas.microsoft.com/office/drawing/2014/main" id="{980EC2FA-1513-4F6F-B62D-1DD44D322027}"/>
              </a:ext>
            </a:extLst>
          </p:cNvPr>
          <p:cNvSpPr>
            <a:spLocks xmlns:a="http://schemas.openxmlformats.org/drawingml/2006/main" noGrp="1"/>
          </p:cNvSpPr>
          <p:nvPr/>
        </p:nvSpPr>
        <p:spPr>
          <a:xfrm xmlns:a="http://schemas.openxmlformats.org/drawingml/2006/main">
            <a:off x="666750" y="35814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72A35"/>
                </a:solidFill>
                <a:latin typeface="Arial"/>
                <a:ea typeface="Arial"/>
                <a:cs typeface="Arial"/>
              </a:defRPr>
            </a:defPPr>
          </a:lstStyle>
          <a:p xmlns:a="http://schemas.openxmlformats.org/drawingml/2006/main">
            <a:pPr>
              <a:defRPr sz="2100" b="0">
                <a:solidFill>
                  <a:srgbClr val="172A35"/>
                </a:solidFill>
                <a:latin typeface="Arial"/>
                <a:ea typeface="Arial"/>
                <a:cs typeface="Arial"/>
              </a:defRPr>
            </a:pPr>
            <a:r>
              <a:rPr sz="2100" b="0">
                <a:solidFill>
                  <a:srgbClr val="172A35"/>
                </a:solidFill>
                <a:latin typeface="Arial"/>
                <a:ea typeface="Arial"/>
                <a:cs typeface="Arial"/>
              </a:rPr>
              <a:t>Private intake and versioned summaries</a:t>
            </a:r>
          </a:p>
        </p:txBody>
      </p:sp>
      <p:sp>
        <p:nvSpPr>
          <p:cNvPr id="7" name="">
            <a:extLst xmlns:a="http://schemas.openxmlformats.org/drawingml/2006/main">
              <a:ext uri="{FF2B5EF4-FFF2-40B4-BE49-F238E27FC236}">
                <a16:creationId xmlns:a16="http://schemas.microsoft.com/office/drawing/2014/main" id="{45D7400F-0DD3-46F3-A595-15C4223418F1}"/>
              </a:ext>
            </a:extLst>
          </p:cNvPr>
          <p:cNvSpPr>
            <a:spLocks xmlns:a="http://schemas.openxmlformats.org/drawingml/2006/main" noGrp="1"/>
          </p:cNvSpPr>
          <p:nvPr/>
        </p:nvSpPr>
        <p:spPr>
          <a:xfrm xmlns:a="http://schemas.openxmlformats.org/drawingml/2006/main">
            <a:off x="666750" y="43053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72A35"/>
                </a:solidFill>
                <a:latin typeface="Arial"/>
                <a:ea typeface="Arial"/>
                <a:cs typeface="Arial"/>
              </a:defRPr>
            </a:defPPr>
          </a:lstStyle>
          <a:p xmlns:a="http://schemas.openxmlformats.org/drawingml/2006/main">
            <a:pPr>
              <a:defRPr sz="2100" b="0">
                <a:solidFill>
                  <a:srgbClr val="172A35"/>
                </a:solidFill>
                <a:latin typeface="Arial"/>
                <a:ea typeface="Arial"/>
                <a:cs typeface="Arial"/>
              </a:defRPr>
            </a:pPr>
            <a:r>
              <a:rPr sz="2100" b="0">
                <a:solidFill>
                  <a:srgbClr val="172A35"/>
                </a:solidFill>
                <a:latin typeface="Arial"/>
                <a:ea typeface="Arial"/>
                <a:cs typeface="Arial"/>
              </a:rPr>
              <a:t>Advocate approval and discovery</a:t>
            </a:r>
          </a:p>
        </p:txBody>
      </p:sp>
      <p:sp>
        <p:nvSpPr>
          <p:cNvPr id="8" name="">
            <a:extLst xmlns:a="http://schemas.openxmlformats.org/drawingml/2006/main">
              <a:ext uri="{FF2B5EF4-FFF2-40B4-BE49-F238E27FC236}">
                <a16:creationId xmlns:a16="http://schemas.microsoft.com/office/drawing/2014/main" id="{83A728E4-955A-478B-92BF-BD0E51A8545D}"/>
              </a:ext>
            </a:extLst>
          </p:cNvPr>
          <p:cNvSpPr>
            <a:spLocks xmlns:a="http://schemas.openxmlformats.org/drawingml/2006/main" noGrp="1"/>
          </p:cNvSpPr>
          <p:nvPr/>
        </p:nvSpPr>
        <p:spPr>
          <a:xfrm xmlns:a="http://schemas.openxmlformats.org/drawingml/2006/main">
            <a:off x="666750" y="50292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72A35"/>
                </a:solidFill>
                <a:latin typeface="Arial"/>
                <a:ea typeface="Arial"/>
                <a:cs typeface="Arial"/>
              </a:defRPr>
            </a:defPPr>
          </a:lstStyle>
          <a:p xmlns:a="http://schemas.openxmlformats.org/drawingml/2006/main">
            <a:pPr>
              <a:defRPr sz="2100" b="0">
                <a:solidFill>
                  <a:srgbClr val="172A35"/>
                </a:solidFill>
                <a:latin typeface="Arial"/>
                <a:ea typeface="Arial"/>
                <a:cs typeface="Arial"/>
              </a:defRPr>
            </a:pPr>
            <a:r>
              <a:rPr sz="2100" b="0">
                <a:solidFill>
                  <a:srgbClr val="172A35"/>
                </a:solidFill>
                <a:latin typeface="Arial"/>
                <a:ea typeface="Arial"/>
                <a:cs typeface="Arial"/>
              </a:rPr>
              <a:t>Future slots and consultation requests</a:t>
            </a:r>
          </a:p>
        </p:txBody>
      </p:sp>
      <p:sp>
        <p:nvSpPr>
          <p:cNvPr id="9" name="">
            <a:extLst xmlns:a="http://schemas.openxmlformats.org/drawingml/2006/main">
              <a:ext uri="{FF2B5EF4-FFF2-40B4-BE49-F238E27FC236}">
                <a16:creationId xmlns:a16="http://schemas.microsoft.com/office/drawing/2014/main" id="{12ACA685-26F4-4D62-98D0-A3CB62E86F57}"/>
              </a:ext>
            </a:extLst>
          </p:cNvPr>
          <p:cNvSpPr>
            <a:spLocks xmlns:a="http://schemas.openxmlformats.org/drawingml/2006/main" noGrp="1"/>
          </p:cNvSpPr>
          <p:nvPr/>
        </p:nvSpPr>
        <p:spPr>
          <a:xfrm xmlns:a="http://schemas.openxmlformats.org/drawingml/2006/main">
            <a:off x="6477000" y="217170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B12632"/>
                </a:solidFill>
                <a:latin typeface="Arial"/>
                <a:ea typeface="Arial"/>
                <a:cs typeface="Arial"/>
              </a:defRPr>
            </a:defPPr>
          </a:lstStyle>
          <a:p xmlns:a="http://schemas.openxmlformats.org/drawingml/2006/main">
            <a:pPr>
              <a:defRPr sz="2325" b="1">
                <a:solidFill>
                  <a:srgbClr val="B12632"/>
                </a:solidFill>
                <a:latin typeface="Arial"/>
                <a:ea typeface="Arial"/>
                <a:cs typeface="Arial"/>
              </a:defRPr>
            </a:pPr>
            <a:r>
              <a:rPr sz="2325" b="1">
                <a:solidFill>
                  <a:srgbClr val="B12632"/>
                </a:solidFill>
                <a:latin typeface="Arial"/>
                <a:ea typeface="Arial"/>
                <a:cs typeface="Arial"/>
              </a:rPr>
              <a:t>Completion criteria</a:t>
            </a:r>
          </a:p>
        </p:txBody>
      </p:sp>
      <p:sp>
        <p:nvSpPr>
          <p:cNvPr id="10" name="">
            <a:extLst xmlns:a="http://schemas.openxmlformats.org/drawingml/2006/main">
              <a:ext uri="{FF2B5EF4-FFF2-40B4-BE49-F238E27FC236}">
                <a16:creationId xmlns:a16="http://schemas.microsoft.com/office/drawing/2014/main" id="{78CF55A0-7296-4FC6-B5E9-0E013856DE40}"/>
              </a:ext>
            </a:extLst>
          </p:cNvPr>
          <p:cNvSpPr>
            <a:spLocks xmlns:a="http://schemas.openxmlformats.org/drawingml/2006/main" noGrp="1"/>
          </p:cNvSpPr>
          <p:nvPr/>
        </p:nvSpPr>
        <p:spPr>
          <a:xfrm xmlns:a="http://schemas.openxmlformats.org/drawingml/2006/main">
            <a:off x="6477000" y="28575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72A35"/>
                </a:solidFill>
                <a:latin typeface="Arial"/>
                <a:ea typeface="Arial"/>
                <a:cs typeface="Arial"/>
              </a:defRPr>
            </a:defPPr>
          </a:lstStyle>
          <a:p xmlns:a="http://schemas.openxmlformats.org/drawingml/2006/main">
            <a:pPr>
              <a:defRPr sz="2100" b="0">
                <a:solidFill>
                  <a:srgbClr val="172A35"/>
                </a:solidFill>
                <a:latin typeface="Arial"/>
                <a:ea typeface="Arial"/>
                <a:cs typeface="Arial"/>
              </a:defRPr>
            </a:pPr>
            <a:r>
              <a:rPr sz="2100" b="0">
                <a:solidFill>
                  <a:srgbClr val="172A35"/>
                </a:solidFill>
                <a:latin typeface="Arial"/>
                <a:ea typeface="Arial"/>
                <a:cs typeface="Arial"/>
              </a:rPr>
              <a:t>Preserve the user's reviewed words</a:t>
            </a:r>
          </a:p>
        </p:txBody>
      </p:sp>
      <p:sp>
        <p:nvSpPr>
          <p:cNvPr id="11" name="">
            <a:extLst xmlns:a="http://schemas.openxmlformats.org/drawingml/2006/main">
              <a:ext uri="{FF2B5EF4-FFF2-40B4-BE49-F238E27FC236}">
                <a16:creationId xmlns:a16="http://schemas.microsoft.com/office/drawing/2014/main" id="{47FBE9F8-2684-4CB1-A02A-DD1C9E96170B}"/>
              </a:ext>
            </a:extLst>
          </p:cNvPr>
          <p:cNvSpPr>
            <a:spLocks xmlns:a="http://schemas.openxmlformats.org/drawingml/2006/main" noGrp="1"/>
          </p:cNvSpPr>
          <p:nvPr/>
        </p:nvSpPr>
        <p:spPr>
          <a:xfrm xmlns:a="http://schemas.openxmlformats.org/drawingml/2006/main">
            <a:off x="6477000" y="35814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72A35"/>
                </a:solidFill>
                <a:latin typeface="Arial"/>
                <a:ea typeface="Arial"/>
                <a:cs typeface="Arial"/>
              </a:defRPr>
            </a:defPPr>
          </a:lstStyle>
          <a:p xmlns:a="http://schemas.openxmlformats.org/drawingml/2006/main">
            <a:pPr>
              <a:defRPr sz="2100" b="0">
                <a:solidFill>
                  <a:srgbClr val="172A35"/>
                </a:solidFill>
                <a:latin typeface="Arial"/>
                <a:ea typeface="Arial"/>
                <a:cs typeface="Arial"/>
              </a:defRPr>
            </a:pPr>
            <a:r>
              <a:rPr sz="2100" b="0">
                <a:solidFill>
                  <a:srgbClr val="172A35"/>
                </a:solidFill>
                <a:latin typeface="Arial"/>
                <a:ea typeface="Arial"/>
                <a:cs typeface="Arial"/>
              </a:rPr>
              <a:t>Enforce ownership on the backend</a:t>
            </a:r>
          </a:p>
        </p:txBody>
      </p:sp>
      <p:sp>
        <p:nvSpPr>
          <p:cNvPr id="12" name="">
            <a:extLst xmlns:a="http://schemas.openxmlformats.org/drawingml/2006/main">
              <a:ext uri="{FF2B5EF4-FFF2-40B4-BE49-F238E27FC236}">
                <a16:creationId xmlns:a16="http://schemas.microsoft.com/office/drawing/2014/main" id="{162BD014-5FD0-497C-A12B-946C9B9A8F38}"/>
              </a:ext>
            </a:extLst>
          </p:cNvPr>
          <p:cNvSpPr>
            <a:spLocks xmlns:a="http://schemas.openxmlformats.org/drawingml/2006/main" noGrp="1"/>
          </p:cNvSpPr>
          <p:nvPr/>
        </p:nvSpPr>
        <p:spPr>
          <a:xfrm xmlns:a="http://schemas.openxmlformats.org/drawingml/2006/main">
            <a:off x="6477000" y="43053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72A35"/>
                </a:solidFill>
                <a:latin typeface="Arial"/>
                <a:ea typeface="Arial"/>
                <a:cs typeface="Arial"/>
              </a:defRPr>
            </a:defPPr>
          </a:lstStyle>
          <a:p xmlns:a="http://schemas.openxmlformats.org/drawingml/2006/main">
            <a:pPr>
              <a:defRPr sz="2100" b="0">
                <a:solidFill>
                  <a:srgbClr val="172A35"/>
                </a:solidFill>
                <a:latin typeface="Arial"/>
                <a:ea typeface="Arial"/>
                <a:cs typeface="Arial"/>
              </a:defRPr>
            </a:pPr>
            <a:r>
              <a:rPr sz="2100" b="0">
                <a:solidFill>
                  <a:srgbClr val="172A35"/>
                </a:solidFill>
                <a:latin typeface="Arial"/>
                <a:ea typeface="Arial"/>
                <a:cs typeface="Arial"/>
              </a:rPr>
              <a:t>Share only the approved summary version</a:t>
            </a:r>
          </a:p>
        </p:txBody>
      </p:sp>
      <p:sp>
        <p:nvSpPr>
          <p:cNvPr id="13" name="">
            <a:extLst xmlns:a="http://schemas.openxmlformats.org/drawingml/2006/main">
              <a:ext uri="{FF2B5EF4-FFF2-40B4-BE49-F238E27FC236}">
                <a16:creationId xmlns:a16="http://schemas.microsoft.com/office/drawing/2014/main" id="{8DB3067B-C76B-43C8-A26A-85AE95C5261F}"/>
              </a:ext>
            </a:extLst>
          </p:cNvPr>
          <p:cNvSpPr>
            <a:spLocks xmlns:a="http://schemas.openxmlformats.org/drawingml/2006/main" noGrp="1"/>
          </p:cNvSpPr>
          <p:nvPr/>
        </p:nvSpPr>
        <p:spPr>
          <a:xfrm xmlns:a="http://schemas.openxmlformats.org/drawingml/2006/main">
            <a:off x="6477000" y="50292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72A35"/>
                </a:solidFill>
                <a:latin typeface="Arial"/>
                <a:ea typeface="Arial"/>
                <a:cs typeface="Arial"/>
              </a:defRPr>
            </a:defPPr>
          </a:lstStyle>
          <a:p xmlns:a="http://schemas.openxmlformats.org/drawingml/2006/main">
            <a:pPr>
              <a:defRPr sz="2100" b="0">
                <a:solidFill>
                  <a:srgbClr val="172A35"/>
                </a:solidFill>
                <a:latin typeface="Arial"/>
                <a:ea typeface="Arial"/>
                <a:cs typeface="Arial"/>
              </a:defRPr>
            </a:pPr>
            <a:r>
              <a:rPr sz="2100" b="0">
                <a:solidFill>
                  <a:srgbClr val="172A35"/>
                </a:solidFill>
                <a:latin typeface="Arial"/>
                <a:ea typeface="Arial"/>
                <a:cs typeface="Arial"/>
              </a:rPr>
              <a:t>Show pending and accepted states clearly</a:t>
            </a:r>
          </a:p>
        </p:txBody>
      </p:sp>
      <p:sp>
        <p:nvSpPr>
          <p:cNvPr id="14" name="">
            <a:extLst xmlns:a="http://schemas.openxmlformats.org/drawingml/2006/main">
              <a:ext uri="{FF2B5EF4-FFF2-40B4-BE49-F238E27FC236}">
                <a16:creationId xmlns:a16="http://schemas.microsoft.com/office/drawing/2014/main" id="{E2470CF5-8675-4382-BBC7-75D3B0243A91}"/>
              </a:ext>
            </a:extLst>
          </p:cNvPr>
          <p:cNvSpPr>
            <a:spLocks xmlns:a="http://schemas.openxmlformats.org/drawingml/2006/main" noGrp="1"/>
          </p:cNvSpPr>
          <p:nvPr/>
        </p:nvSpPr>
        <p:spPr>
          <a:xfrm xmlns:a="http://schemas.openxmlformats.org/drawingml/2006/main">
            <a:off x="619125" y="6191250"/>
            <a:ext cx="10715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Payments, reviews, native mobile and guaranteed emergency dispatch are deferred.</a:t>
            </a:r>
          </a:p>
        </p:txBody>
      </p:sp>
      <p:sp>
        <p:nvSpPr>
          <p:cNvPr id="15" name="">
            <a:extLst xmlns:a="http://schemas.openxmlformats.org/drawingml/2006/main">
              <a:ext uri="{FF2B5EF4-FFF2-40B4-BE49-F238E27FC236}">
                <a16:creationId xmlns:a16="http://schemas.microsoft.com/office/drawing/2014/main" id="{9BA83778-CBEF-4C61-B32D-7EDC72878ED5}"/>
              </a:ext>
            </a:extLst>
          </p:cNvPr>
          <p:cNvSpPr>
            <a:spLocks xmlns:a="http://schemas.openxmlformats.org/drawingml/2006/main" noGrp="1"/>
          </p:cNvSpPr>
          <p:nvPr/>
        </p:nvSpPr>
        <p:spPr>
          <a:xfrm xmlns:a="http://schemas.openxmlformats.org/drawingml/2006/main">
            <a:off x="11525250" y="64484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75" b="0">
                <a:solidFill>
                  <a:srgbClr val="52616A"/>
                </a:solidFill>
                <a:latin typeface="Arial"/>
                <a:ea typeface="Arial"/>
                <a:cs typeface="Arial"/>
              </a:defRPr>
            </a:defPPr>
          </a:lstStyle>
          <a:p xmlns:a="http://schemas.openxmlformats.org/drawingml/2006/main">
            <a:pPr>
              <a:defRPr sz="1275" b="0">
                <a:solidFill>
                  <a:srgbClr val="52616A"/>
                </a:solidFill>
                <a:latin typeface="Arial"/>
                <a:ea typeface="Arial"/>
                <a:cs typeface="Arial"/>
              </a:defRPr>
            </a:pPr>
            <a:r>
              <a:rPr sz="1275" b="0">
                <a:solidFill>
                  <a:srgbClr val="52616A"/>
                </a:solidFill>
                <a:latin typeface="Arial"/>
                <a:ea typeface="Arial"/>
                <a:cs typeface="Arial"/>
              </a:rPr>
              <a:t>04</a:t>
            </a:r>
          </a:p>
        </p:txBody>
      </p:sp>
    </p:spTree>
    <p:extLst>
      <p:ext uri="{BB962C8B-B14F-4D97-AF65-F5344CB8AC3E}">
        <p14:creationId xmlns:p14="http://schemas.microsoft.com/office/powerpoint/2010/main" val="179851686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C302519-30D8-4B06-B5F8-B1949382C011}"/>
              </a:ext>
            </a:extLst>
          </p:cNvPr>
          <p:cNvSpPr>
            <a:spLocks xmlns:a="http://schemas.openxmlformats.org/drawingml/2006/main" noGrp="1"/>
          </p:cNvSpPr>
          <p:nvPr/>
        </p:nvSpPr>
        <p:spPr>
          <a:xfrm xmlns:a="http://schemas.openxmlformats.org/drawingml/2006/main">
            <a:off x="590550" y="3048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B12632"/>
                </a:solidFill>
                <a:latin typeface="Arial"/>
                <a:ea typeface="Arial"/>
                <a:cs typeface="Arial"/>
              </a:defRPr>
            </a:defPPr>
          </a:lstStyle>
          <a:p xmlns:a="http://schemas.openxmlformats.org/drawingml/2006/main">
            <a:pPr>
              <a:defRPr sz="1950" b="1">
                <a:solidFill>
                  <a:srgbClr val="B12632"/>
                </a:solidFill>
                <a:latin typeface="Arial"/>
                <a:ea typeface="Arial"/>
                <a:cs typeface="Arial"/>
              </a:defRPr>
            </a:pPr>
            <a:r>
              <a:rPr sz="1950" b="1">
                <a:solidFill>
                  <a:srgbClr val="B12632"/>
                </a:solidFill>
                <a:latin typeface="Arial"/>
                <a:ea typeface="Arial"/>
                <a:cs typeface="Arial"/>
              </a:rPr>
              <a:t>J  /  JOURNEY</a:t>
            </a:r>
          </a:p>
        </p:txBody>
      </p:sp>
      <p:sp>
        <p:nvSpPr>
          <p:cNvPr id="2" name="">
            <a:extLst xmlns:a="http://schemas.openxmlformats.org/drawingml/2006/main">
              <a:ext uri="{FF2B5EF4-FFF2-40B4-BE49-F238E27FC236}">
                <a16:creationId xmlns:a16="http://schemas.microsoft.com/office/drawing/2014/main" id="{910E44F0-1857-4355-B406-47E0C82AA467}"/>
              </a:ext>
            </a:extLst>
          </p:cNvPr>
          <p:cNvSpPr>
            <a:spLocks xmlns:a="http://schemas.openxmlformats.org/drawingml/2006/main" noGrp="1"/>
          </p:cNvSpPr>
          <p:nvPr/>
        </p:nvSpPr>
        <p:spPr>
          <a:xfrm xmlns:a="http://schemas.openxmlformats.org/drawingml/2006/main">
            <a:off x="590550" y="8001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72A35"/>
                </a:solidFill>
                <a:latin typeface="Arial"/>
                <a:ea typeface="Arial"/>
                <a:cs typeface="Arial"/>
              </a:defRPr>
            </a:defPPr>
          </a:lstStyle>
          <a:p xmlns:a="http://schemas.openxmlformats.org/drawingml/2006/main">
            <a:pPr>
              <a:defRPr sz="3450" b="1">
                <a:solidFill>
                  <a:srgbClr val="172A35"/>
                </a:solidFill>
                <a:latin typeface="Arial"/>
                <a:ea typeface="Arial"/>
                <a:cs typeface="Arial"/>
              </a:defRPr>
            </a:pPr>
            <a:r>
              <a:rPr sz="3450" b="1">
                <a:solidFill>
                  <a:srgbClr val="172A35"/>
                </a:solidFill>
                <a:latin typeface="Arial"/>
                <a:ea typeface="Arial"/>
                <a:cs typeface="Arial"/>
              </a:rPr>
              <a:t>Development approach and decisions</a:t>
            </a:r>
          </a:p>
        </p:txBody>
      </p:sp>
      <p:sp>
        <p:nvSpPr>
          <p:cNvPr id="3" name="">
            <a:extLst xmlns:a="http://schemas.openxmlformats.org/drawingml/2006/main">
              <a:ext uri="{FF2B5EF4-FFF2-40B4-BE49-F238E27FC236}">
                <a16:creationId xmlns:a16="http://schemas.microsoft.com/office/drawing/2014/main" id="{CA324998-7BDC-4271-AD84-2948F8FC4F53}"/>
              </a:ext>
            </a:extLst>
          </p:cNvPr>
          <p:cNvSpPr>
            <a:spLocks xmlns:a="http://schemas.openxmlformats.org/drawingml/2006/main" noGrp="1"/>
          </p:cNvSpPr>
          <p:nvPr/>
        </p:nvSpPr>
        <p:spPr>
          <a:xfrm xmlns:a="http://schemas.openxmlformats.org/drawingml/2006/main">
            <a:off x="619125" y="14763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52616A"/>
                </a:solidFill>
                <a:latin typeface="Arial"/>
                <a:ea typeface="Arial"/>
                <a:cs typeface="Arial"/>
              </a:defRPr>
            </a:def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The rebuild preserves the legacy application in a separate directory</a:t>
            </a:r>
          </a:p>
        </p:txBody>
      </p:sp>
      <p:sp>
        <p:nvSpPr>
          <p:cNvPr id="4" name="">
            <a:extLst xmlns:a="http://schemas.openxmlformats.org/drawingml/2006/main">
              <a:ext uri="{FF2B5EF4-FFF2-40B4-BE49-F238E27FC236}">
                <a16:creationId xmlns:a16="http://schemas.microsoft.com/office/drawing/2014/main" id="{CA6CD16A-E9FC-4F0D-A6AA-9895E2F4CBF3}"/>
              </a:ext>
            </a:extLst>
          </p:cNvPr>
          <p:cNvSpPr>
            <a:spLocks xmlns:a="http://schemas.openxmlformats.org/drawingml/2006/main" noGrp="1"/>
          </p:cNvSpPr>
          <p:nvPr/>
        </p:nvSpPr>
        <p:spPr>
          <a:xfrm xmlns:a="http://schemas.openxmlformats.org/drawingml/2006/main">
            <a:off x="590550" y="21240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53DB84ED-28E0-49D3-826D-A4A5FE2FDB7F}"/>
              </a:ext>
            </a:extLst>
          </p:cNvPr>
          <p:cNvSpPr>
            <a:spLocks xmlns:a="http://schemas.openxmlformats.org/drawingml/2006/main" noGrp="1"/>
          </p:cNvSpPr>
          <p:nvPr/>
        </p:nvSpPr>
        <p:spPr>
          <a:xfrm xmlns:a="http://schemas.openxmlformats.org/drawingml/2006/main">
            <a:off x="742950" y="22098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01  Audit</a:t>
            </a:r>
          </a:p>
        </p:txBody>
      </p:sp>
      <p:sp>
        <p:nvSpPr>
          <p:cNvPr id="6" name="">
            <a:extLst xmlns:a="http://schemas.openxmlformats.org/drawingml/2006/main">
              <a:ext uri="{FF2B5EF4-FFF2-40B4-BE49-F238E27FC236}">
                <a16:creationId xmlns:a16="http://schemas.microsoft.com/office/drawing/2014/main" id="{F61AB4A3-6FE3-4569-8AA8-9A23E3BA6800}"/>
              </a:ext>
            </a:extLst>
          </p:cNvPr>
          <p:cNvSpPr>
            <a:spLocks xmlns:a="http://schemas.openxmlformats.org/drawingml/2006/main" noGrp="1"/>
          </p:cNvSpPr>
          <p:nvPr/>
        </p:nvSpPr>
        <p:spPr>
          <a:xfrm xmlns:a="http://schemas.openxmlformats.org/drawingml/2006/main">
            <a:off x="3543300" y="21717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Compared the SRS with legacy code and checked advertised capabilities</a:t>
            </a:r>
          </a:p>
        </p:txBody>
      </p:sp>
      <p:sp>
        <p:nvSpPr>
          <p:cNvPr id="7" name="">
            <a:extLst xmlns:a="http://schemas.openxmlformats.org/drawingml/2006/main">
              <a:ext uri="{FF2B5EF4-FFF2-40B4-BE49-F238E27FC236}">
                <a16:creationId xmlns:a16="http://schemas.microsoft.com/office/drawing/2014/main" id="{5BAA486C-8B95-4357-B01D-BE0E69B8CA61}"/>
              </a:ext>
            </a:extLst>
          </p:cNvPr>
          <p:cNvSpPr>
            <a:spLocks xmlns:a="http://schemas.openxmlformats.org/drawingml/2006/main" noGrp="1"/>
          </p:cNvSpPr>
          <p:nvPr/>
        </p:nvSpPr>
        <p:spPr>
          <a:xfrm xmlns:a="http://schemas.openxmlformats.org/drawingml/2006/main">
            <a:off x="742950" y="31242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02  Define</a:t>
            </a:r>
          </a:p>
        </p:txBody>
      </p:sp>
      <p:sp>
        <p:nvSpPr>
          <p:cNvPr id="8" name="">
            <a:extLst xmlns:a="http://schemas.openxmlformats.org/drawingml/2006/main">
              <a:ext uri="{FF2B5EF4-FFF2-40B4-BE49-F238E27FC236}">
                <a16:creationId xmlns:a16="http://schemas.microsoft.com/office/drawing/2014/main" id="{97868F7B-2E6F-4870-B1DC-211236D1489B}"/>
              </a:ext>
            </a:extLst>
          </p:cNvPr>
          <p:cNvSpPr>
            <a:spLocks xmlns:a="http://schemas.openxmlformats.org/drawingml/2006/main" noGrp="1"/>
          </p:cNvSpPr>
          <p:nvPr/>
        </p:nvSpPr>
        <p:spPr>
          <a:xfrm xmlns:a="http://schemas.openxmlformats.org/drawingml/2006/main">
            <a:off x="3543300" y="30861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Selected three pilot languages and bounded the consultation MVP</a:t>
            </a:r>
          </a:p>
        </p:txBody>
      </p:sp>
      <p:sp>
        <p:nvSpPr>
          <p:cNvPr id="9" name="">
            <a:extLst xmlns:a="http://schemas.openxmlformats.org/drawingml/2006/main">
              <a:ext uri="{FF2B5EF4-FFF2-40B4-BE49-F238E27FC236}">
                <a16:creationId xmlns:a16="http://schemas.microsoft.com/office/drawing/2014/main" id="{C3E70DF7-CDC7-4B50-BC68-F84F713D47AF}"/>
              </a:ext>
            </a:extLst>
          </p:cNvPr>
          <p:cNvSpPr>
            <a:spLocks xmlns:a="http://schemas.openxmlformats.org/drawingml/2006/main" noGrp="1"/>
          </p:cNvSpPr>
          <p:nvPr/>
        </p:nvSpPr>
        <p:spPr>
          <a:xfrm xmlns:a="http://schemas.openxmlformats.org/drawingml/2006/main">
            <a:off x="590550" y="39528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127FBC2-5341-4932-B87E-1C07BB1FCAE5}"/>
              </a:ext>
            </a:extLst>
          </p:cNvPr>
          <p:cNvSpPr>
            <a:spLocks xmlns:a="http://schemas.openxmlformats.org/drawingml/2006/main" noGrp="1"/>
          </p:cNvSpPr>
          <p:nvPr/>
        </p:nvSpPr>
        <p:spPr>
          <a:xfrm xmlns:a="http://schemas.openxmlformats.org/drawingml/2006/main">
            <a:off x="742950" y="40386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03  Build</a:t>
            </a:r>
          </a:p>
        </p:txBody>
      </p:sp>
      <p:sp>
        <p:nvSpPr>
          <p:cNvPr id="11" name="">
            <a:extLst xmlns:a="http://schemas.openxmlformats.org/drawingml/2006/main">
              <a:ext uri="{FF2B5EF4-FFF2-40B4-BE49-F238E27FC236}">
                <a16:creationId xmlns:a16="http://schemas.microsoft.com/office/drawing/2014/main" id="{BAD77D0E-473B-40E0-B66A-4228DB21B470}"/>
              </a:ext>
            </a:extLst>
          </p:cNvPr>
          <p:cNvSpPr>
            <a:spLocks xmlns:a="http://schemas.openxmlformats.org/drawingml/2006/main" noGrp="1"/>
          </p:cNvSpPr>
          <p:nvPr/>
        </p:nvSpPr>
        <p:spPr>
          <a:xfrm xmlns:a="http://schemas.openxmlformats.org/drawingml/2006/main">
            <a:off x="3543300" y="40005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Implemented backend rules, private workflows and responsive pages</a:t>
            </a:r>
          </a:p>
        </p:txBody>
      </p:sp>
      <p:sp>
        <p:nvSpPr>
          <p:cNvPr id="12" name="">
            <a:extLst xmlns:a="http://schemas.openxmlformats.org/drawingml/2006/main">
              <a:ext uri="{FF2B5EF4-FFF2-40B4-BE49-F238E27FC236}">
                <a16:creationId xmlns:a16="http://schemas.microsoft.com/office/drawing/2014/main" id="{4485392C-4BCD-4571-AE5C-BAA978E378CB}"/>
              </a:ext>
            </a:extLst>
          </p:cNvPr>
          <p:cNvSpPr>
            <a:spLocks xmlns:a="http://schemas.openxmlformats.org/drawingml/2006/main" noGrp="1"/>
          </p:cNvSpPr>
          <p:nvPr/>
        </p:nvSpPr>
        <p:spPr>
          <a:xfrm xmlns:a="http://schemas.openxmlformats.org/drawingml/2006/main">
            <a:off x="742950" y="49530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04  Verify</a:t>
            </a:r>
          </a:p>
        </p:txBody>
      </p:sp>
      <p:sp>
        <p:nvSpPr>
          <p:cNvPr id="13" name="">
            <a:extLst xmlns:a="http://schemas.openxmlformats.org/drawingml/2006/main">
              <a:ext uri="{FF2B5EF4-FFF2-40B4-BE49-F238E27FC236}">
                <a16:creationId xmlns:a16="http://schemas.microsoft.com/office/drawing/2014/main" id="{99059E23-3BB3-404E-8CFD-F3B8BCB535B4}"/>
              </a:ext>
            </a:extLst>
          </p:cNvPr>
          <p:cNvSpPr>
            <a:spLocks xmlns:a="http://schemas.openxmlformats.org/drawingml/2006/main" noGrp="1"/>
          </p:cNvSpPr>
          <p:nvPr/>
        </p:nvSpPr>
        <p:spPr>
          <a:xfrm xmlns:a="http://schemas.openxmlformats.org/drawingml/2006/main">
            <a:off x="3543300" y="49149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Used automated checks, browser scenarios and a hosted intake check</a:t>
            </a:r>
          </a:p>
        </p:txBody>
      </p:sp>
      <p:sp>
        <p:nvSpPr>
          <p:cNvPr id="14" name="">
            <a:extLst xmlns:a="http://schemas.openxmlformats.org/drawingml/2006/main">
              <a:ext uri="{FF2B5EF4-FFF2-40B4-BE49-F238E27FC236}">
                <a16:creationId xmlns:a16="http://schemas.microsoft.com/office/drawing/2014/main" id="{183DF260-8898-4D12-A765-0C881E95C492}"/>
              </a:ext>
            </a:extLst>
          </p:cNvPr>
          <p:cNvSpPr>
            <a:spLocks xmlns:a="http://schemas.openxmlformats.org/drawingml/2006/main" noGrp="1"/>
          </p:cNvSpPr>
          <p:nvPr/>
        </p:nvSpPr>
        <p:spPr>
          <a:xfrm xmlns:a="http://schemas.openxmlformats.org/drawingml/2006/main">
            <a:off x="619125" y="6191250"/>
            <a:ext cx="10715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Key choice: expand in stages instead of treating a language registry as complete support.</a:t>
            </a:r>
          </a:p>
        </p:txBody>
      </p:sp>
      <p:sp>
        <p:nvSpPr>
          <p:cNvPr id="15" name="">
            <a:extLst xmlns:a="http://schemas.openxmlformats.org/drawingml/2006/main">
              <a:ext uri="{FF2B5EF4-FFF2-40B4-BE49-F238E27FC236}">
                <a16:creationId xmlns:a16="http://schemas.microsoft.com/office/drawing/2014/main" id="{6CC624B8-FA23-441D-BB78-A68756D59EA3}"/>
              </a:ext>
            </a:extLst>
          </p:cNvPr>
          <p:cNvSpPr>
            <a:spLocks xmlns:a="http://schemas.openxmlformats.org/drawingml/2006/main" noGrp="1"/>
          </p:cNvSpPr>
          <p:nvPr/>
        </p:nvSpPr>
        <p:spPr>
          <a:xfrm xmlns:a="http://schemas.openxmlformats.org/drawingml/2006/main">
            <a:off x="11525250" y="64484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75" b="0">
                <a:solidFill>
                  <a:srgbClr val="52616A"/>
                </a:solidFill>
                <a:latin typeface="Arial"/>
                <a:ea typeface="Arial"/>
                <a:cs typeface="Arial"/>
              </a:defRPr>
            </a:defPPr>
          </a:lstStyle>
          <a:p xmlns:a="http://schemas.openxmlformats.org/drawingml/2006/main">
            <a:pPr>
              <a:defRPr sz="1275" b="0">
                <a:solidFill>
                  <a:srgbClr val="52616A"/>
                </a:solidFill>
                <a:latin typeface="Arial"/>
                <a:ea typeface="Arial"/>
                <a:cs typeface="Arial"/>
              </a:defRPr>
            </a:pPr>
            <a:r>
              <a:rPr sz="1275" b="0">
                <a:solidFill>
                  <a:srgbClr val="52616A"/>
                </a:solidFill>
                <a:latin typeface="Arial"/>
                <a:ea typeface="Arial"/>
                <a:cs typeface="Arial"/>
              </a:rPr>
              <a:t>05</a:t>
            </a:r>
          </a:p>
        </p:txBody>
      </p:sp>
    </p:spTree>
    <p:extLst>
      <p:ext uri="{BB962C8B-B14F-4D97-AF65-F5344CB8AC3E}">
        <p14:creationId xmlns:p14="http://schemas.microsoft.com/office/powerpoint/2010/main" val="154802784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17EEA4B-D298-40A1-B6DD-54C398892A3E}"/>
              </a:ext>
            </a:extLst>
          </p:cNvPr>
          <p:cNvSpPr>
            <a:spLocks xmlns:a="http://schemas.openxmlformats.org/drawingml/2006/main" noGrp="1"/>
          </p:cNvSpPr>
          <p:nvPr/>
        </p:nvSpPr>
        <p:spPr>
          <a:xfrm xmlns:a="http://schemas.openxmlformats.org/drawingml/2006/main">
            <a:off x="590550" y="3048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B12632"/>
                </a:solidFill>
                <a:latin typeface="Arial"/>
                <a:ea typeface="Arial"/>
                <a:cs typeface="Arial"/>
              </a:defRPr>
            </a:defPPr>
          </a:lstStyle>
          <a:p xmlns:a="http://schemas.openxmlformats.org/drawingml/2006/main">
            <a:pPr>
              <a:defRPr sz="1950" b="1">
                <a:solidFill>
                  <a:srgbClr val="B12632"/>
                </a:solidFill>
                <a:latin typeface="Arial"/>
                <a:ea typeface="Arial"/>
                <a:cs typeface="Arial"/>
              </a:defRPr>
            </a:pPr>
            <a:r>
              <a:rPr sz="1950" b="1">
                <a:solidFill>
                  <a:srgbClr val="B12632"/>
                </a:solidFill>
                <a:latin typeface="Arial"/>
                <a:ea typeface="Arial"/>
                <a:cs typeface="Arial"/>
              </a:rPr>
              <a:t>E  /  EXECUTION</a:t>
            </a:r>
          </a:p>
        </p:txBody>
      </p:sp>
      <p:sp>
        <p:nvSpPr>
          <p:cNvPr id="2" name="">
            <a:extLst xmlns:a="http://schemas.openxmlformats.org/drawingml/2006/main">
              <a:ext uri="{FF2B5EF4-FFF2-40B4-BE49-F238E27FC236}">
                <a16:creationId xmlns:a16="http://schemas.microsoft.com/office/drawing/2014/main" id="{22CCB91B-5B6F-4DD2-B368-E437E6B884DE}"/>
              </a:ext>
            </a:extLst>
          </p:cNvPr>
          <p:cNvSpPr>
            <a:spLocks xmlns:a="http://schemas.openxmlformats.org/drawingml/2006/main" noGrp="1"/>
          </p:cNvSpPr>
          <p:nvPr/>
        </p:nvSpPr>
        <p:spPr>
          <a:xfrm xmlns:a="http://schemas.openxmlformats.org/drawingml/2006/main">
            <a:off x="590550" y="8001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72A35"/>
                </a:solidFill>
                <a:latin typeface="Arial"/>
                <a:ea typeface="Arial"/>
                <a:cs typeface="Arial"/>
              </a:defRPr>
            </a:defPPr>
          </a:lstStyle>
          <a:p xmlns:a="http://schemas.openxmlformats.org/drawingml/2006/main">
            <a:pPr>
              <a:defRPr sz="3450" b="1">
                <a:solidFill>
                  <a:srgbClr val="172A35"/>
                </a:solidFill>
                <a:latin typeface="Arial"/>
                <a:ea typeface="Arial"/>
                <a:cs typeface="Arial"/>
              </a:defRPr>
            </a:pPr>
            <a:r>
              <a:rPr sz="3450" b="1">
                <a:solidFill>
                  <a:srgbClr val="172A35"/>
                </a:solidFill>
                <a:latin typeface="Arial"/>
                <a:ea typeface="Arial"/>
                <a:cs typeface="Arial"/>
              </a:rPr>
              <a:t>Application architecture</a:t>
            </a:r>
          </a:p>
        </p:txBody>
      </p:sp>
      <p:sp>
        <p:nvSpPr>
          <p:cNvPr id="3" name="">
            <a:extLst xmlns:a="http://schemas.openxmlformats.org/drawingml/2006/main">
              <a:ext uri="{FF2B5EF4-FFF2-40B4-BE49-F238E27FC236}">
                <a16:creationId xmlns:a16="http://schemas.microsoft.com/office/drawing/2014/main" id="{8E19D859-16B9-4AD0-A454-5D5F4FA2B3B7}"/>
              </a:ext>
            </a:extLst>
          </p:cNvPr>
          <p:cNvSpPr>
            <a:spLocks xmlns:a="http://schemas.openxmlformats.org/drawingml/2006/main" noGrp="1"/>
          </p:cNvSpPr>
          <p:nvPr/>
        </p:nvSpPr>
        <p:spPr>
          <a:xfrm xmlns:a="http://schemas.openxmlformats.org/drawingml/2006/main">
            <a:off x="619125" y="14763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52616A"/>
                </a:solidFill>
                <a:latin typeface="Arial"/>
                <a:ea typeface="Arial"/>
                <a:cs typeface="Arial"/>
              </a:defRPr>
            </a:def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Identity and application permissions have separate responsibilities</a:t>
            </a:r>
          </a:p>
        </p:txBody>
      </p:sp>
      <p:sp>
        <p:nvSpPr>
          <p:cNvPr id="4" name="">
            <a:extLst xmlns:a="http://schemas.openxmlformats.org/drawingml/2006/main">
              <a:ext uri="{FF2B5EF4-FFF2-40B4-BE49-F238E27FC236}">
                <a16:creationId xmlns:a16="http://schemas.microsoft.com/office/drawing/2014/main" id="{E710E487-1A93-4AB0-A246-F90B631C489B}"/>
              </a:ext>
            </a:extLst>
          </p:cNvPr>
          <p:cNvSpPr>
            <a:spLocks xmlns:a="http://schemas.openxmlformats.org/drawingml/2006/main" noGrp="1"/>
          </p:cNvSpPr>
          <p:nvPr/>
        </p:nvSpPr>
        <p:spPr>
          <a:xfrm xmlns:a="http://schemas.openxmlformats.org/drawingml/2006/main">
            <a:off x="590550" y="21240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0E96CD6-E3EC-4EF1-B6C4-168AFFF9EAB2}"/>
              </a:ext>
            </a:extLst>
          </p:cNvPr>
          <p:cNvSpPr>
            <a:spLocks xmlns:a="http://schemas.openxmlformats.org/drawingml/2006/main" noGrp="1"/>
          </p:cNvSpPr>
          <p:nvPr/>
        </p:nvSpPr>
        <p:spPr>
          <a:xfrm xmlns:a="http://schemas.openxmlformats.org/drawingml/2006/main">
            <a:off x="742950" y="22098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Web interface</a:t>
            </a:r>
          </a:p>
        </p:txBody>
      </p:sp>
      <p:sp>
        <p:nvSpPr>
          <p:cNvPr id="6" name="">
            <a:extLst xmlns:a="http://schemas.openxmlformats.org/drawingml/2006/main">
              <a:ext uri="{FF2B5EF4-FFF2-40B4-BE49-F238E27FC236}">
                <a16:creationId xmlns:a16="http://schemas.microsoft.com/office/drawing/2014/main" id="{5FD3063C-1BCD-49E6-8A3C-4F02B7779229}"/>
              </a:ext>
            </a:extLst>
          </p:cNvPr>
          <p:cNvSpPr>
            <a:spLocks xmlns:a="http://schemas.openxmlformats.org/drawingml/2006/main" noGrp="1"/>
          </p:cNvSpPr>
          <p:nvPr/>
        </p:nvSpPr>
        <p:spPr>
          <a:xfrm xmlns:a="http://schemas.openxmlformats.org/drawingml/2006/main">
            <a:off x="3543300" y="21717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Next.js, React and TypeScript render the multilingual workflows</a:t>
            </a:r>
          </a:p>
        </p:txBody>
      </p:sp>
      <p:sp>
        <p:nvSpPr>
          <p:cNvPr id="7" name="">
            <a:extLst xmlns:a="http://schemas.openxmlformats.org/drawingml/2006/main">
              <a:ext uri="{FF2B5EF4-FFF2-40B4-BE49-F238E27FC236}">
                <a16:creationId xmlns:a16="http://schemas.microsoft.com/office/drawing/2014/main" id="{0CE94C81-13D5-4AB1-86B2-980B96D0D1F0}"/>
              </a:ext>
            </a:extLst>
          </p:cNvPr>
          <p:cNvSpPr>
            <a:spLocks xmlns:a="http://schemas.openxmlformats.org/drawingml/2006/main" noGrp="1"/>
          </p:cNvSpPr>
          <p:nvPr/>
        </p:nvSpPr>
        <p:spPr>
          <a:xfrm xmlns:a="http://schemas.openxmlformats.org/drawingml/2006/main">
            <a:off x="742950" y="31242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Identity</a:t>
            </a:r>
          </a:p>
        </p:txBody>
      </p:sp>
      <p:sp>
        <p:nvSpPr>
          <p:cNvPr id="8" name="">
            <a:extLst xmlns:a="http://schemas.openxmlformats.org/drawingml/2006/main">
              <a:ext uri="{FF2B5EF4-FFF2-40B4-BE49-F238E27FC236}">
                <a16:creationId xmlns:a16="http://schemas.microsoft.com/office/drawing/2014/main" id="{FADC896C-1D80-4718-8C64-F95CBBCF14F7}"/>
              </a:ext>
            </a:extLst>
          </p:cNvPr>
          <p:cNvSpPr>
            <a:spLocks xmlns:a="http://schemas.openxmlformats.org/drawingml/2006/main" noGrp="1"/>
          </p:cNvSpPr>
          <p:nvPr/>
        </p:nvSpPr>
        <p:spPr>
          <a:xfrm xmlns:a="http://schemas.openxmlformats.org/drawingml/2006/main">
            <a:off x="3543300" y="30861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Clerk handles sign-in and sessions</a:t>
            </a:r>
          </a:p>
        </p:txBody>
      </p:sp>
      <p:sp>
        <p:nvSpPr>
          <p:cNvPr id="9" name="">
            <a:extLst xmlns:a="http://schemas.openxmlformats.org/drawingml/2006/main">
              <a:ext uri="{FF2B5EF4-FFF2-40B4-BE49-F238E27FC236}">
                <a16:creationId xmlns:a16="http://schemas.microsoft.com/office/drawing/2014/main" id="{2346DC31-1BD0-4C6F-A19B-37B3CF7959AF}"/>
              </a:ext>
            </a:extLst>
          </p:cNvPr>
          <p:cNvSpPr>
            <a:spLocks xmlns:a="http://schemas.openxmlformats.org/drawingml/2006/main" noGrp="1"/>
          </p:cNvSpPr>
          <p:nvPr/>
        </p:nvSpPr>
        <p:spPr>
          <a:xfrm xmlns:a="http://schemas.openxmlformats.org/drawingml/2006/main">
            <a:off x="590550" y="39528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7A76F58-F815-4FBE-92F0-188BE61C6E39}"/>
              </a:ext>
            </a:extLst>
          </p:cNvPr>
          <p:cNvSpPr>
            <a:spLocks xmlns:a="http://schemas.openxmlformats.org/drawingml/2006/main" noGrp="1"/>
          </p:cNvSpPr>
          <p:nvPr/>
        </p:nvSpPr>
        <p:spPr>
          <a:xfrm xmlns:a="http://schemas.openxmlformats.org/drawingml/2006/main">
            <a:off x="742950" y="40386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Application backend</a:t>
            </a:r>
          </a:p>
        </p:txBody>
      </p:sp>
      <p:sp>
        <p:nvSpPr>
          <p:cNvPr id="11" name="">
            <a:extLst xmlns:a="http://schemas.openxmlformats.org/drawingml/2006/main">
              <a:ext uri="{FF2B5EF4-FFF2-40B4-BE49-F238E27FC236}">
                <a16:creationId xmlns:a16="http://schemas.microsoft.com/office/drawing/2014/main" id="{1F3F25CB-8ED3-45D9-8F8D-A45D2E84D14F}"/>
              </a:ext>
            </a:extLst>
          </p:cNvPr>
          <p:cNvSpPr>
            <a:spLocks xmlns:a="http://schemas.openxmlformats.org/drawingml/2006/main" noGrp="1"/>
          </p:cNvSpPr>
          <p:nvPr/>
        </p:nvSpPr>
        <p:spPr>
          <a:xfrm xmlns:a="http://schemas.openxmlformats.org/drawingml/2006/main">
            <a:off x="3543300" y="40005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Convex checks roles and ownership, stores cases and reserves slots</a:t>
            </a:r>
          </a:p>
        </p:txBody>
      </p:sp>
      <p:sp>
        <p:nvSpPr>
          <p:cNvPr id="12" name="">
            <a:extLst xmlns:a="http://schemas.openxmlformats.org/drawingml/2006/main">
              <a:ext uri="{FF2B5EF4-FFF2-40B4-BE49-F238E27FC236}">
                <a16:creationId xmlns:a16="http://schemas.microsoft.com/office/drawing/2014/main" id="{07A086D3-14A5-4C1F-9912-A682428111CA}"/>
              </a:ext>
            </a:extLst>
          </p:cNvPr>
          <p:cNvSpPr>
            <a:spLocks xmlns:a="http://schemas.openxmlformats.org/drawingml/2006/main" noGrp="1"/>
          </p:cNvSpPr>
          <p:nvPr/>
        </p:nvSpPr>
        <p:spPr>
          <a:xfrm xmlns:a="http://schemas.openxmlformats.org/drawingml/2006/main">
            <a:off x="742950" y="49530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Optional AI</a:t>
            </a:r>
          </a:p>
        </p:txBody>
      </p:sp>
      <p:sp>
        <p:nvSpPr>
          <p:cNvPr id="13" name="">
            <a:extLst xmlns:a="http://schemas.openxmlformats.org/drawingml/2006/main">
              <a:ext uri="{FF2B5EF4-FFF2-40B4-BE49-F238E27FC236}">
                <a16:creationId xmlns:a16="http://schemas.microsoft.com/office/drawing/2014/main" id="{6A86E869-4987-4D42-8CF3-DB7FC40974D1}"/>
              </a:ext>
            </a:extLst>
          </p:cNvPr>
          <p:cNvSpPr>
            <a:spLocks xmlns:a="http://schemas.openxmlformats.org/drawingml/2006/main" noGrp="1"/>
          </p:cNvSpPr>
          <p:nvPr/>
        </p:nvSpPr>
        <p:spPr>
          <a:xfrm xmlns:a="http://schemas.openxmlformats.org/drawingml/2006/main">
            <a:off x="3543300" y="49149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A server-side gateway adapter requires configuration and explicit consent</a:t>
            </a:r>
          </a:p>
        </p:txBody>
      </p:sp>
      <p:sp>
        <p:nvSpPr>
          <p:cNvPr id="14" name="">
            <a:extLst xmlns:a="http://schemas.openxmlformats.org/drawingml/2006/main">
              <a:ext uri="{FF2B5EF4-FFF2-40B4-BE49-F238E27FC236}">
                <a16:creationId xmlns:a16="http://schemas.microsoft.com/office/drawing/2014/main" id="{987D6854-02DA-45D9-A883-5E9A53B320D2}"/>
              </a:ext>
            </a:extLst>
          </p:cNvPr>
          <p:cNvSpPr>
            <a:spLocks xmlns:a="http://schemas.openxmlformats.org/drawingml/2006/main" noGrp="1"/>
          </p:cNvSpPr>
          <p:nvPr/>
        </p:nvSpPr>
        <p:spPr>
          <a:xfrm xmlns:a="http://schemas.openxmlformats.org/drawingml/2006/main">
            <a:off x="619125" y="6191250"/>
            <a:ext cx="10715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Shared domain and language packages support consistent rules across the application.</a:t>
            </a:r>
          </a:p>
        </p:txBody>
      </p:sp>
      <p:sp>
        <p:nvSpPr>
          <p:cNvPr id="15" name="">
            <a:extLst xmlns:a="http://schemas.openxmlformats.org/drawingml/2006/main">
              <a:ext uri="{FF2B5EF4-FFF2-40B4-BE49-F238E27FC236}">
                <a16:creationId xmlns:a16="http://schemas.microsoft.com/office/drawing/2014/main" id="{2EADEA21-85E7-477F-BFF5-B41D06D9C983}"/>
              </a:ext>
            </a:extLst>
          </p:cNvPr>
          <p:cNvSpPr>
            <a:spLocks xmlns:a="http://schemas.openxmlformats.org/drawingml/2006/main" noGrp="1"/>
          </p:cNvSpPr>
          <p:nvPr/>
        </p:nvSpPr>
        <p:spPr>
          <a:xfrm xmlns:a="http://schemas.openxmlformats.org/drawingml/2006/main">
            <a:off x="11525250" y="64484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75" b="0">
                <a:solidFill>
                  <a:srgbClr val="52616A"/>
                </a:solidFill>
                <a:latin typeface="Arial"/>
                <a:ea typeface="Arial"/>
                <a:cs typeface="Arial"/>
              </a:defRPr>
            </a:defPPr>
          </a:lstStyle>
          <a:p xmlns:a="http://schemas.openxmlformats.org/drawingml/2006/main">
            <a:pPr>
              <a:defRPr sz="1275" b="0">
                <a:solidFill>
                  <a:srgbClr val="52616A"/>
                </a:solidFill>
                <a:latin typeface="Arial"/>
                <a:ea typeface="Arial"/>
                <a:cs typeface="Arial"/>
              </a:defRPr>
            </a:pPr>
            <a:r>
              <a:rPr sz="1275" b="0">
                <a:solidFill>
                  <a:srgbClr val="52616A"/>
                </a:solidFill>
                <a:latin typeface="Arial"/>
                <a:ea typeface="Arial"/>
                <a:cs typeface="Arial"/>
              </a:rPr>
              <a:t>06</a:t>
            </a:r>
          </a:p>
        </p:txBody>
      </p:sp>
    </p:spTree>
    <p:extLst>
      <p:ext uri="{BB962C8B-B14F-4D97-AF65-F5344CB8AC3E}">
        <p14:creationId xmlns:p14="http://schemas.microsoft.com/office/powerpoint/2010/main" val="145988755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96B3D76-47D4-4389-9F0D-B694630D5CE8}"/>
              </a:ext>
            </a:extLst>
          </p:cNvPr>
          <p:cNvSpPr>
            <a:spLocks xmlns:a="http://schemas.openxmlformats.org/drawingml/2006/main" noGrp="1"/>
          </p:cNvSpPr>
          <p:nvPr/>
        </p:nvSpPr>
        <p:spPr>
          <a:xfrm xmlns:a="http://schemas.openxmlformats.org/drawingml/2006/main">
            <a:off x="590550" y="3048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B12632"/>
                </a:solidFill>
                <a:latin typeface="Arial"/>
                <a:ea typeface="Arial"/>
                <a:cs typeface="Arial"/>
              </a:defRPr>
            </a:defPPr>
          </a:lstStyle>
          <a:p xmlns:a="http://schemas.openxmlformats.org/drawingml/2006/main">
            <a:pPr>
              <a:defRPr sz="1950" b="1">
                <a:solidFill>
                  <a:srgbClr val="B12632"/>
                </a:solidFill>
                <a:latin typeface="Arial"/>
                <a:ea typeface="Arial"/>
                <a:cs typeface="Arial"/>
              </a:defRPr>
            </a:pPr>
            <a:r>
              <a:rPr sz="1950" b="1">
                <a:solidFill>
                  <a:srgbClr val="B12632"/>
                </a:solidFill>
                <a:latin typeface="Arial"/>
                <a:ea typeface="Arial"/>
                <a:cs typeface="Arial"/>
              </a:rPr>
              <a:t>E  /  EXECUTION</a:t>
            </a:r>
          </a:p>
        </p:txBody>
      </p:sp>
      <p:sp>
        <p:nvSpPr>
          <p:cNvPr id="2" name="">
            <a:extLst xmlns:a="http://schemas.openxmlformats.org/drawingml/2006/main">
              <a:ext uri="{FF2B5EF4-FFF2-40B4-BE49-F238E27FC236}">
                <a16:creationId xmlns:a16="http://schemas.microsoft.com/office/drawing/2014/main" id="{8FCFB3B3-E533-44E1-A732-FDB16578DAD5}"/>
              </a:ext>
            </a:extLst>
          </p:cNvPr>
          <p:cNvSpPr>
            <a:spLocks xmlns:a="http://schemas.openxmlformats.org/drawingml/2006/main" noGrp="1"/>
          </p:cNvSpPr>
          <p:nvPr/>
        </p:nvSpPr>
        <p:spPr>
          <a:xfrm xmlns:a="http://schemas.openxmlformats.org/drawingml/2006/main">
            <a:off x="590550" y="8001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72A35"/>
                </a:solidFill>
                <a:latin typeface="Arial"/>
                <a:ea typeface="Arial"/>
                <a:cs typeface="Arial"/>
              </a:defRPr>
            </a:defPPr>
          </a:lstStyle>
          <a:p xmlns:a="http://schemas.openxmlformats.org/drawingml/2006/main">
            <a:pPr>
              <a:defRPr sz="3450" b="1">
                <a:solidFill>
                  <a:srgbClr val="172A35"/>
                </a:solidFill>
                <a:latin typeface="Arial"/>
                <a:ea typeface="Arial"/>
                <a:cs typeface="Arial"/>
              </a:defRPr>
            </a:pPr>
            <a:r>
              <a:rPr sz="3450" b="1">
                <a:solidFill>
                  <a:srgbClr val="172A35"/>
                </a:solidFill>
                <a:latin typeface="Arial"/>
                <a:ea typeface="Arial"/>
                <a:cs typeface="Arial"/>
              </a:rPr>
              <a:t>The implemented web experience</a:t>
            </a:r>
          </a:p>
        </p:txBody>
      </p:sp>
      <p:sp>
        <p:nvSpPr>
          <p:cNvPr id="3" name="">
            <a:extLst xmlns:a="http://schemas.openxmlformats.org/drawingml/2006/main">
              <a:ext uri="{FF2B5EF4-FFF2-40B4-BE49-F238E27FC236}">
                <a16:creationId xmlns:a16="http://schemas.microsoft.com/office/drawing/2014/main" id="{20999E2C-AA9D-4850-AD00-14B792B1441E}"/>
              </a:ext>
            </a:extLst>
          </p:cNvPr>
          <p:cNvSpPr>
            <a:spLocks xmlns:a="http://schemas.openxmlformats.org/drawingml/2006/main" noGrp="1"/>
          </p:cNvSpPr>
          <p:nvPr/>
        </p:nvSpPr>
        <p:spPr>
          <a:xfrm xmlns:a="http://schemas.openxmlformats.org/drawingml/2006/main">
            <a:off x="619125" y="14763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52616A"/>
                </a:solidFill>
                <a:latin typeface="Arial"/>
                <a:ea typeface="Arial"/>
                <a:cs typeface="Arial"/>
              </a:defRPr>
            </a:def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Users begin with their own words and choose what to share</a:t>
            </a:r>
          </a:p>
        </p:txBody>
      </p:sp>
      <p:pic>
        <p:nvPicPr>
          <p:cNvPr id="4" name="">
            <a:extLst xmlns:a="http://schemas.openxmlformats.org/drawingml/2006/main">
              <a:ext uri="{FF2B5EF4-FFF2-40B4-BE49-F238E27FC236}">
                <a16:creationId xmlns:a16="http://schemas.microsoft.com/office/drawing/2014/main" id="{9E342EAF-904F-4612-AC6B-8957574B0AC1}"/>
              </a:ext>
            </a:extLst>
          </p:cNvPr>
          <p:cNvPicPr>
            <a:picLocks xmlns:a="http://schemas.openxmlformats.org/drawingml/2006/main" noChangeAspect="1"/>
          </p:cNvPicPr>
          <p:nvPr/>
        </p:nvPicPr>
        <p:blipFill>
          <a:blip xmlns:r="http://schemas.openxmlformats.org/officeDocument/2006/relationships" xmlns:a="http://schemas.openxmlformats.org/drawingml/2006/main" r:embed="Rfb3e4ca6b45f43e6"/>
          <a:stretch xmlns:a="http://schemas.openxmlformats.org/drawingml/2006/main"/>
        </p:blipFill>
        <p:spPr>
          <a:xfrm xmlns:a="http://schemas.openxmlformats.org/drawingml/2006/main">
            <a:off x="919163" y="2066925"/>
            <a:ext cx="6400800" cy="40005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99E7E34-63AD-4452-8992-763CD2FED66A}"/>
              </a:ext>
            </a:extLst>
          </p:cNvPr>
          <p:cNvSpPr>
            <a:spLocks xmlns:a="http://schemas.openxmlformats.org/drawingml/2006/main" noGrp="1"/>
          </p:cNvSpPr>
          <p:nvPr/>
        </p:nvSpPr>
        <p:spPr>
          <a:xfrm xmlns:a="http://schemas.openxmlformats.org/drawingml/2006/main">
            <a:off x="8001000" y="222885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B12632"/>
                </a:solidFill>
                <a:latin typeface="Arial"/>
                <a:ea typeface="Arial"/>
                <a:cs typeface="Arial"/>
              </a:defRPr>
            </a:defPPr>
          </a:lstStyle>
          <a:p xmlns:a="http://schemas.openxmlformats.org/drawingml/2006/main">
            <a:pPr>
              <a:defRPr sz="2175" b="1">
                <a:solidFill>
                  <a:srgbClr val="B12632"/>
                </a:solidFill>
                <a:latin typeface="Arial"/>
                <a:ea typeface="Arial"/>
                <a:cs typeface="Arial"/>
              </a:defRPr>
            </a:pPr>
            <a:r>
              <a:rPr sz="2175" b="1">
                <a:solidFill>
                  <a:srgbClr val="B12632"/>
                </a:solidFill>
                <a:latin typeface="Arial"/>
                <a:ea typeface="Arial"/>
                <a:cs typeface="Arial"/>
              </a:rPr>
              <a:t>Enter</a:t>
            </a:r>
          </a:p>
        </p:txBody>
      </p:sp>
      <p:sp>
        <p:nvSpPr>
          <p:cNvPr id="6" name="">
            <a:extLst xmlns:a="http://schemas.openxmlformats.org/drawingml/2006/main">
              <a:ext uri="{FF2B5EF4-FFF2-40B4-BE49-F238E27FC236}">
                <a16:creationId xmlns:a16="http://schemas.microsoft.com/office/drawing/2014/main" id="{AAEDA296-364B-4029-BD86-FF67441227A2}"/>
              </a:ext>
            </a:extLst>
          </p:cNvPr>
          <p:cNvSpPr>
            <a:spLocks xmlns:a="http://schemas.openxmlformats.org/drawingml/2006/main" noGrp="1"/>
          </p:cNvSpPr>
          <p:nvPr/>
        </p:nvSpPr>
        <p:spPr>
          <a:xfrm xmlns:a="http://schemas.openxmlformats.org/drawingml/2006/main">
            <a:off x="8001000" y="265747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0">
                <a:solidFill>
                  <a:srgbClr val="172A35"/>
                </a:solidFill>
                <a:latin typeface="Arial"/>
                <a:ea typeface="Arial"/>
                <a:cs typeface="Arial"/>
              </a:defRPr>
            </a:defPPr>
          </a:lstStyle>
          <a:p xmlns:a="http://schemas.openxmlformats.org/drawingml/2006/main">
            <a:pPr>
              <a:defRPr sz="1950" b="0">
                <a:solidFill>
                  <a:srgbClr val="172A35"/>
                </a:solidFill>
                <a:latin typeface="Arial"/>
                <a:ea typeface="Arial"/>
                <a:cs typeface="Arial"/>
              </a:defRPr>
            </a:pPr>
            <a:r>
              <a:rPr sz="1950" b="0">
                <a:solidFill>
                  <a:srgbClr val="172A35"/>
                </a:solidFill>
                <a:latin typeface="Arial"/>
                <a:ea typeface="Arial"/>
                <a:cs typeface="Arial"/>
              </a:rPr>
              <a:t>Type a concern or use optional browser speech</a:t>
            </a:r>
          </a:p>
        </p:txBody>
      </p:sp>
      <p:sp>
        <p:nvSpPr>
          <p:cNvPr id="7" name="">
            <a:extLst xmlns:a="http://schemas.openxmlformats.org/drawingml/2006/main">
              <a:ext uri="{FF2B5EF4-FFF2-40B4-BE49-F238E27FC236}">
                <a16:creationId xmlns:a16="http://schemas.microsoft.com/office/drawing/2014/main" id="{8CD28DC1-D471-414D-A57B-84D4B6602F4A}"/>
              </a:ext>
            </a:extLst>
          </p:cNvPr>
          <p:cNvSpPr>
            <a:spLocks xmlns:a="http://schemas.openxmlformats.org/drawingml/2006/main" noGrp="1"/>
          </p:cNvSpPr>
          <p:nvPr/>
        </p:nvSpPr>
        <p:spPr>
          <a:xfrm xmlns:a="http://schemas.openxmlformats.org/drawingml/2006/main">
            <a:off x="8001000" y="3514725"/>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B12632"/>
                </a:solidFill>
                <a:latin typeface="Arial"/>
                <a:ea typeface="Arial"/>
                <a:cs typeface="Arial"/>
              </a:defRPr>
            </a:defPPr>
          </a:lstStyle>
          <a:p xmlns:a="http://schemas.openxmlformats.org/drawingml/2006/main">
            <a:pPr>
              <a:defRPr sz="2175" b="1">
                <a:solidFill>
                  <a:srgbClr val="B12632"/>
                </a:solidFill>
                <a:latin typeface="Arial"/>
                <a:ea typeface="Arial"/>
                <a:cs typeface="Arial"/>
              </a:defRPr>
            </a:pPr>
            <a:r>
              <a:rPr sz="2175" b="1">
                <a:solidFill>
                  <a:srgbClr val="B12632"/>
                </a:solidFill>
                <a:latin typeface="Arial"/>
                <a:ea typeface="Arial"/>
                <a:cs typeface="Arial"/>
              </a:rPr>
              <a:t>Review</a:t>
            </a:r>
          </a:p>
        </p:txBody>
      </p:sp>
      <p:sp>
        <p:nvSpPr>
          <p:cNvPr id="8" name="">
            <a:extLst xmlns:a="http://schemas.openxmlformats.org/drawingml/2006/main">
              <a:ext uri="{FF2B5EF4-FFF2-40B4-BE49-F238E27FC236}">
                <a16:creationId xmlns:a16="http://schemas.microsoft.com/office/drawing/2014/main" id="{CD2527B7-0243-4AE9-A77D-58EE4C519AC3}"/>
              </a:ext>
            </a:extLst>
          </p:cNvPr>
          <p:cNvSpPr>
            <a:spLocks xmlns:a="http://schemas.openxmlformats.org/drawingml/2006/main" noGrp="1"/>
          </p:cNvSpPr>
          <p:nvPr/>
        </p:nvSpPr>
        <p:spPr>
          <a:xfrm xmlns:a="http://schemas.openxmlformats.org/drawingml/2006/main">
            <a:off x="8001000" y="3943350"/>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0">
                <a:solidFill>
                  <a:srgbClr val="172A35"/>
                </a:solidFill>
                <a:latin typeface="Arial"/>
                <a:ea typeface="Arial"/>
                <a:cs typeface="Arial"/>
              </a:defRPr>
            </a:defPPr>
          </a:lstStyle>
          <a:p xmlns:a="http://schemas.openxmlformats.org/drawingml/2006/main">
            <a:pPr>
              <a:defRPr sz="1950" b="0">
                <a:solidFill>
                  <a:srgbClr val="172A35"/>
                </a:solidFill>
                <a:latin typeface="Arial"/>
                <a:ea typeface="Arial"/>
                <a:cs typeface="Arial"/>
              </a:defRPr>
            </a:pPr>
            <a:r>
              <a:rPr sz="1950" b="0">
                <a:solidFill>
                  <a:srgbClr val="172A35"/>
                </a:solidFill>
                <a:latin typeface="Arial"/>
                <a:ea typeface="Arial"/>
                <a:cs typeface="Arial"/>
              </a:rPr>
              <a:t>Correct the text before saving privately</a:t>
            </a:r>
          </a:p>
        </p:txBody>
      </p:sp>
      <p:sp>
        <p:nvSpPr>
          <p:cNvPr id="9" name="">
            <a:extLst xmlns:a="http://schemas.openxmlformats.org/drawingml/2006/main">
              <a:ext uri="{FF2B5EF4-FFF2-40B4-BE49-F238E27FC236}">
                <a16:creationId xmlns:a16="http://schemas.microsoft.com/office/drawing/2014/main" id="{6A4069D4-3B9E-45A6-98C5-8039760BA6C3}"/>
              </a:ext>
            </a:extLst>
          </p:cNvPr>
          <p:cNvSpPr>
            <a:spLocks xmlns:a="http://schemas.openxmlformats.org/drawingml/2006/main" noGrp="1"/>
          </p:cNvSpPr>
          <p:nvPr/>
        </p:nvSpPr>
        <p:spPr>
          <a:xfrm xmlns:a="http://schemas.openxmlformats.org/drawingml/2006/main">
            <a:off x="8001000" y="4800600"/>
            <a:ext cx="333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75" b="1">
                <a:solidFill>
                  <a:srgbClr val="B12632"/>
                </a:solidFill>
                <a:latin typeface="Arial"/>
                <a:ea typeface="Arial"/>
                <a:cs typeface="Arial"/>
              </a:defRPr>
            </a:defPPr>
          </a:lstStyle>
          <a:p xmlns:a="http://schemas.openxmlformats.org/drawingml/2006/main">
            <a:pPr>
              <a:defRPr sz="2175" b="1">
                <a:solidFill>
                  <a:srgbClr val="B12632"/>
                </a:solidFill>
                <a:latin typeface="Arial"/>
                <a:ea typeface="Arial"/>
                <a:cs typeface="Arial"/>
              </a:defRPr>
            </a:pPr>
            <a:r>
              <a:rPr sz="2175" b="1">
                <a:solidFill>
                  <a:srgbClr val="B12632"/>
                </a:solidFill>
                <a:latin typeface="Arial"/>
                <a:ea typeface="Arial"/>
                <a:cs typeface="Arial"/>
              </a:rPr>
              <a:t>Continue</a:t>
            </a:r>
          </a:p>
        </p:txBody>
      </p:sp>
      <p:sp>
        <p:nvSpPr>
          <p:cNvPr id="10" name="">
            <a:extLst xmlns:a="http://schemas.openxmlformats.org/drawingml/2006/main">
              <a:ext uri="{FF2B5EF4-FFF2-40B4-BE49-F238E27FC236}">
                <a16:creationId xmlns:a16="http://schemas.microsoft.com/office/drawing/2014/main" id="{A7699EFD-69BB-492D-9B38-366607FFA5F4}"/>
              </a:ext>
            </a:extLst>
          </p:cNvPr>
          <p:cNvSpPr>
            <a:spLocks xmlns:a="http://schemas.openxmlformats.org/drawingml/2006/main" noGrp="1"/>
          </p:cNvSpPr>
          <p:nvPr/>
        </p:nvSpPr>
        <p:spPr>
          <a:xfrm xmlns:a="http://schemas.openxmlformats.org/drawingml/2006/main">
            <a:off x="8001000" y="5229225"/>
            <a:ext cx="3333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0">
                <a:solidFill>
                  <a:srgbClr val="172A35"/>
                </a:solidFill>
                <a:latin typeface="Arial"/>
                <a:ea typeface="Arial"/>
                <a:cs typeface="Arial"/>
              </a:defRPr>
            </a:defPPr>
          </a:lstStyle>
          <a:p xmlns:a="http://schemas.openxmlformats.org/drawingml/2006/main">
            <a:pPr>
              <a:defRPr sz="1950" b="0">
                <a:solidFill>
                  <a:srgbClr val="172A35"/>
                </a:solidFill>
                <a:latin typeface="Arial"/>
                <a:ea typeface="Arial"/>
                <a:cs typeface="Arial"/>
              </a:defRPr>
            </a:pPr>
            <a:r>
              <a:rPr sz="1950" b="0">
                <a:solidFill>
                  <a:srgbClr val="172A35"/>
                </a:solidFill>
                <a:latin typeface="Arial"/>
                <a:ea typeface="Arial"/>
                <a:cs typeface="Arial"/>
              </a:rPr>
              <a:t>Review a summary and browse advocates</a:t>
            </a:r>
          </a:p>
        </p:txBody>
      </p:sp>
      <p:sp>
        <p:nvSpPr>
          <p:cNvPr id="11" name="">
            <a:extLst xmlns:a="http://schemas.openxmlformats.org/drawingml/2006/main">
              <a:ext uri="{FF2B5EF4-FFF2-40B4-BE49-F238E27FC236}">
                <a16:creationId xmlns:a16="http://schemas.microsoft.com/office/drawing/2014/main" id="{180EF479-3398-4388-86E2-DE66843489D6}"/>
              </a:ext>
            </a:extLst>
          </p:cNvPr>
          <p:cNvSpPr>
            <a:spLocks xmlns:a="http://schemas.openxmlformats.org/drawingml/2006/main" noGrp="1"/>
          </p:cNvSpPr>
          <p:nvPr/>
        </p:nvSpPr>
        <p:spPr>
          <a:xfrm xmlns:a="http://schemas.openxmlformats.org/drawingml/2006/main">
            <a:off x="619125" y="6191250"/>
            <a:ext cx="10715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Project screenshot. The script includes a separate live-demo sequence.</a:t>
            </a:r>
          </a:p>
        </p:txBody>
      </p:sp>
      <p:sp>
        <p:nvSpPr>
          <p:cNvPr id="12" name="">
            <a:extLst xmlns:a="http://schemas.openxmlformats.org/drawingml/2006/main">
              <a:ext uri="{FF2B5EF4-FFF2-40B4-BE49-F238E27FC236}">
                <a16:creationId xmlns:a16="http://schemas.microsoft.com/office/drawing/2014/main" id="{5629A034-8F03-4D1B-B3A8-D1857F351A93}"/>
              </a:ext>
            </a:extLst>
          </p:cNvPr>
          <p:cNvSpPr>
            <a:spLocks xmlns:a="http://schemas.openxmlformats.org/drawingml/2006/main" noGrp="1"/>
          </p:cNvSpPr>
          <p:nvPr/>
        </p:nvSpPr>
        <p:spPr>
          <a:xfrm xmlns:a="http://schemas.openxmlformats.org/drawingml/2006/main">
            <a:off x="11525250" y="64484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75" b="0">
                <a:solidFill>
                  <a:srgbClr val="52616A"/>
                </a:solidFill>
                <a:latin typeface="Arial"/>
                <a:ea typeface="Arial"/>
                <a:cs typeface="Arial"/>
              </a:defRPr>
            </a:defPPr>
          </a:lstStyle>
          <a:p xmlns:a="http://schemas.openxmlformats.org/drawingml/2006/main">
            <a:pPr>
              <a:defRPr sz="1275" b="0">
                <a:solidFill>
                  <a:srgbClr val="52616A"/>
                </a:solidFill>
                <a:latin typeface="Arial"/>
                <a:ea typeface="Arial"/>
                <a:cs typeface="Arial"/>
              </a:defRPr>
            </a:pPr>
            <a:r>
              <a:rPr sz="1275" b="0">
                <a:solidFill>
                  <a:srgbClr val="52616A"/>
                </a:solidFill>
                <a:latin typeface="Arial"/>
                <a:ea typeface="Arial"/>
                <a:cs typeface="Arial"/>
              </a:rPr>
              <a:t>07</a:t>
            </a:r>
          </a:p>
        </p:txBody>
      </p:sp>
    </p:spTree>
    <p:extLst>
      <p:ext uri="{BB962C8B-B14F-4D97-AF65-F5344CB8AC3E}">
        <p14:creationId xmlns:p14="http://schemas.microsoft.com/office/powerpoint/2010/main" val="191783499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E5BFC9E5-F737-4200-9A90-B7829C384F30}"/>
              </a:ext>
            </a:extLst>
          </p:cNvPr>
          <p:cNvSpPr>
            <a:spLocks xmlns:a="http://schemas.openxmlformats.org/drawingml/2006/main" noGrp="1"/>
          </p:cNvSpPr>
          <p:nvPr/>
        </p:nvSpPr>
        <p:spPr>
          <a:xfrm xmlns:a="http://schemas.openxmlformats.org/drawingml/2006/main">
            <a:off x="590550" y="3048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B12632"/>
                </a:solidFill>
                <a:latin typeface="Arial"/>
                <a:ea typeface="Arial"/>
                <a:cs typeface="Arial"/>
              </a:defRPr>
            </a:defPPr>
          </a:lstStyle>
          <a:p xmlns:a="http://schemas.openxmlformats.org/drawingml/2006/main">
            <a:pPr>
              <a:defRPr sz="1950" b="1">
                <a:solidFill>
                  <a:srgbClr val="B12632"/>
                </a:solidFill>
                <a:latin typeface="Arial"/>
                <a:ea typeface="Arial"/>
                <a:cs typeface="Arial"/>
              </a:defRPr>
            </a:pPr>
            <a:r>
              <a:rPr sz="1950" b="1">
                <a:solidFill>
                  <a:srgbClr val="B12632"/>
                </a:solidFill>
                <a:latin typeface="Arial"/>
                <a:ea typeface="Arial"/>
                <a:cs typeface="Arial"/>
              </a:rPr>
              <a:t>E  /  EXECUTION</a:t>
            </a:r>
          </a:p>
        </p:txBody>
      </p:sp>
      <p:sp>
        <p:nvSpPr>
          <p:cNvPr id="2" name="">
            <a:extLst xmlns:a="http://schemas.openxmlformats.org/drawingml/2006/main">
              <a:ext uri="{FF2B5EF4-FFF2-40B4-BE49-F238E27FC236}">
                <a16:creationId xmlns:a16="http://schemas.microsoft.com/office/drawing/2014/main" id="{4771EAD6-FB63-4E42-A320-F3F0AC95F410}"/>
              </a:ext>
            </a:extLst>
          </p:cNvPr>
          <p:cNvSpPr>
            <a:spLocks xmlns:a="http://schemas.openxmlformats.org/drawingml/2006/main" noGrp="1"/>
          </p:cNvSpPr>
          <p:nvPr/>
        </p:nvSpPr>
        <p:spPr>
          <a:xfrm xmlns:a="http://schemas.openxmlformats.org/drawingml/2006/main">
            <a:off x="590550" y="8001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72A35"/>
                </a:solidFill>
                <a:latin typeface="Arial"/>
                <a:ea typeface="Arial"/>
                <a:cs typeface="Arial"/>
              </a:defRPr>
            </a:defPPr>
          </a:lstStyle>
          <a:p xmlns:a="http://schemas.openxmlformats.org/drawingml/2006/main">
            <a:pPr>
              <a:defRPr sz="3450" b="1">
                <a:solidFill>
                  <a:srgbClr val="172A35"/>
                </a:solidFill>
                <a:latin typeface="Arial"/>
                <a:ea typeface="Arial"/>
                <a:cs typeface="Arial"/>
              </a:defRPr>
            </a:pPr>
            <a:r>
              <a:rPr sz="3450" b="1">
                <a:solidFill>
                  <a:srgbClr val="172A35"/>
                </a:solidFill>
                <a:latin typeface="Arial"/>
                <a:ea typeface="Arial"/>
                <a:cs typeface="Arial"/>
              </a:rPr>
              <a:t>Consultation request lifecycle</a:t>
            </a:r>
          </a:p>
        </p:txBody>
      </p:sp>
      <p:sp>
        <p:nvSpPr>
          <p:cNvPr id="3" name="">
            <a:extLst xmlns:a="http://schemas.openxmlformats.org/drawingml/2006/main">
              <a:ext uri="{FF2B5EF4-FFF2-40B4-BE49-F238E27FC236}">
                <a16:creationId xmlns:a16="http://schemas.microsoft.com/office/drawing/2014/main" id="{AC052354-1742-4E72-BC6A-5165883B2A97}"/>
              </a:ext>
            </a:extLst>
          </p:cNvPr>
          <p:cNvSpPr>
            <a:spLocks xmlns:a="http://schemas.openxmlformats.org/drawingml/2006/main" noGrp="1"/>
          </p:cNvSpPr>
          <p:nvPr/>
        </p:nvSpPr>
        <p:spPr>
          <a:xfrm xmlns:a="http://schemas.openxmlformats.org/drawingml/2006/main">
            <a:off x="619125" y="14763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52616A"/>
                </a:solidFill>
                <a:latin typeface="Arial"/>
                <a:ea typeface="Arial"/>
                <a:cs typeface="Arial"/>
              </a:defRPr>
            </a:def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The backend checks the slot and the specific summary-sharing consent</a:t>
            </a:r>
          </a:p>
        </p:txBody>
      </p:sp>
      <p:sp>
        <p:nvSpPr>
          <p:cNvPr id="4" name="">
            <a:extLst xmlns:a="http://schemas.openxmlformats.org/drawingml/2006/main">
              <a:ext uri="{FF2B5EF4-FFF2-40B4-BE49-F238E27FC236}">
                <a16:creationId xmlns:a16="http://schemas.microsoft.com/office/drawing/2014/main" id="{9EFD54DF-1961-474E-BF60-2213A9D140C4}"/>
              </a:ext>
            </a:extLst>
          </p:cNvPr>
          <p:cNvSpPr>
            <a:spLocks xmlns:a="http://schemas.openxmlformats.org/drawingml/2006/main" noGrp="1"/>
          </p:cNvSpPr>
          <p:nvPr/>
        </p:nvSpPr>
        <p:spPr>
          <a:xfrm xmlns:a="http://schemas.openxmlformats.org/drawingml/2006/main">
            <a:off x="590550" y="21240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60C8B64A-F637-426A-A846-FBE7B27D6550}"/>
              </a:ext>
            </a:extLst>
          </p:cNvPr>
          <p:cNvSpPr>
            <a:spLocks xmlns:a="http://schemas.openxmlformats.org/drawingml/2006/main" noGrp="1"/>
          </p:cNvSpPr>
          <p:nvPr/>
        </p:nvSpPr>
        <p:spPr>
          <a:xfrm xmlns:a="http://schemas.openxmlformats.org/drawingml/2006/main">
            <a:off x="742950" y="22098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Prepare</a:t>
            </a:r>
          </a:p>
        </p:txBody>
      </p:sp>
      <p:sp>
        <p:nvSpPr>
          <p:cNvPr id="6" name="">
            <a:extLst xmlns:a="http://schemas.openxmlformats.org/drawingml/2006/main">
              <a:ext uri="{FF2B5EF4-FFF2-40B4-BE49-F238E27FC236}">
                <a16:creationId xmlns:a16="http://schemas.microsoft.com/office/drawing/2014/main" id="{3FB884B1-157F-43E6-9034-0E8D0B189643}"/>
              </a:ext>
            </a:extLst>
          </p:cNvPr>
          <p:cNvSpPr>
            <a:spLocks xmlns:a="http://schemas.openxmlformats.org/drawingml/2006/main" noGrp="1"/>
          </p:cNvSpPr>
          <p:nvPr/>
        </p:nvSpPr>
        <p:spPr>
          <a:xfrm xmlns:a="http://schemas.openxmlformats.org/drawingml/2006/main">
            <a:off x="3543300" y="21717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Review a summary and choose an approved advocate with a future slot</a:t>
            </a:r>
          </a:p>
        </p:txBody>
      </p:sp>
      <p:sp>
        <p:nvSpPr>
          <p:cNvPr id="7" name="">
            <a:extLst xmlns:a="http://schemas.openxmlformats.org/drawingml/2006/main">
              <a:ext uri="{FF2B5EF4-FFF2-40B4-BE49-F238E27FC236}">
                <a16:creationId xmlns:a16="http://schemas.microsoft.com/office/drawing/2014/main" id="{310B5628-AAF1-4A35-B550-12684455CD00}"/>
              </a:ext>
            </a:extLst>
          </p:cNvPr>
          <p:cNvSpPr>
            <a:spLocks xmlns:a="http://schemas.openxmlformats.org/drawingml/2006/main" noGrp="1"/>
          </p:cNvSpPr>
          <p:nvPr/>
        </p:nvSpPr>
        <p:spPr>
          <a:xfrm xmlns:a="http://schemas.openxmlformats.org/drawingml/2006/main">
            <a:off x="742950" y="31242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Consent</a:t>
            </a:r>
          </a:p>
        </p:txBody>
      </p:sp>
      <p:sp>
        <p:nvSpPr>
          <p:cNvPr id="8" name="">
            <a:extLst xmlns:a="http://schemas.openxmlformats.org/drawingml/2006/main">
              <a:ext uri="{FF2B5EF4-FFF2-40B4-BE49-F238E27FC236}">
                <a16:creationId xmlns:a16="http://schemas.microsoft.com/office/drawing/2014/main" id="{23C8ADFE-5285-4AD9-ABFD-714ACBB01A10}"/>
              </a:ext>
            </a:extLst>
          </p:cNvPr>
          <p:cNvSpPr>
            <a:spLocks xmlns:a="http://schemas.openxmlformats.org/drawingml/2006/main" noGrp="1"/>
          </p:cNvSpPr>
          <p:nvPr/>
        </p:nvSpPr>
        <p:spPr>
          <a:xfrm xmlns:a="http://schemas.openxmlformats.org/drawingml/2006/main">
            <a:off x="3543300" y="30861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Approve the recipient and the exact summary version</a:t>
            </a:r>
          </a:p>
        </p:txBody>
      </p:sp>
      <p:sp>
        <p:nvSpPr>
          <p:cNvPr id="9" name="">
            <a:extLst xmlns:a="http://schemas.openxmlformats.org/drawingml/2006/main">
              <a:ext uri="{FF2B5EF4-FFF2-40B4-BE49-F238E27FC236}">
                <a16:creationId xmlns:a16="http://schemas.microsoft.com/office/drawing/2014/main" id="{16C9CFCF-D61D-4589-88FC-E1384088B23C}"/>
              </a:ext>
            </a:extLst>
          </p:cNvPr>
          <p:cNvSpPr>
            <a:spLocks xmlns:a="http://schemas.openxmlformats.org/drawingml/2006/main" noGrp="1"/>
          </p:cNvSpPr>
          <p:nvPr/>
        </p:nvSpPr>
        <p:spPr>
          <a:xfrm xmlns:a="http://schemas.openxmlformats.org/drawingml/2006/main">
            <a:off x="590550" y="39528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DAA79F9-F6B5-4A6A-8A38-8BCC01187EF4}"/>
              </a:ext>
            </a:extLst>
          </p:cNvPr>
          <p:cNvSpPr>
            <a:spLocks xmlns:a="http://schemas.openxmlformats.org/drawingml/2006/main" noGrp="1"/>
          </p:cNvSpPr>
          <p:nvPr/>
        </p:nvSpPr>
        <p:spPr>
          <a:xfrm xmlns:a="http://schemas.openxmlformats.org/drawingml/2006/main">
            <a:off x="742950" y="40386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Request</a:t>
            </a:r>
          </a:p>
        </p:txBody>
      </p:sp>
      <p:sp>
        <p:nvSpPr>
          <p:cNvPr id="11" name="">
            <a:extLst xmlns:a="http://schemas.openxmlformats.org/drawingml/2006/main">
              <a:ext uri="{FF2B5EF4-FFF2-40B4-BE49-F238E27FC236}">
                <a16:creationId xmlns:a16="http://schemas.microsoft.com/office/drawing/2014/main" id="{6EF8909C-EFD3-4FC4-AC76-17C71EB5F4F6}"/>
              </a:ext>
            </a:extLst>
          </p:cNvPr>
          <p:cNvSpPr>
            <a:spLocks xmlns:a="http://schemas.openxmlformats.org/drawingml/2006/main" noGrp="1"/>
          </p:cNvSpPr>
          <p:nvPr/>
        </p:nvSpPr>
        <p:spPr>
          <a:xfrm xmlns:a="http://schemas.openxmlformats.org/drawingml/2006/main">
            <a:off x="3543300" y="40005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Reserve the slot and create a pending consultation request</a:t>
            </a:r>
          </a:p>
        </p:txBody>
      </p:sp>
      <p:sp>
        <p:nvSpPr>
          <p:cNvPr id="12" name="">
            <a:extLst xmlns:a="http://schemas.openxmlformats.org/drawingml/2006/main">
              <a:ext uri="{FF2B5EF4-FFF2-40B4-BE49-F238E27FC236}">
                <a16:creationId xmlns:a16="http://schemas.microsoft.com/office/drawing/2014/main" id="{731E250F-08AD-4060-A635-0B57F8982882}"/>
              </a:ext>
            </a:extLst>
          </p:cNvPr>
          <p:cNvSpPr>
            <a:spLocks xmlns:a="http://schemas.openxmlformats.org/drawingml/2006/main" noGrp="1"/>
          </p:cNvSpPr>
          <p:nvPr/>
        </p:nvSpPr>
        <p:spPr>
          <a:xfrm xmlns:a="http://schemas.openxmlformats.org/drawingml/2006/main">
            <a:off x="742950" y="49530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Resolve</a:t>
            </a:r>
          </a:p>
        </p:txBody>
      </p:sp>
      <p:sp>
        <p:nvSpPr>
          <p:cNvPr id="13" name="">
            <a:extLst xmlns:a="http://schemas.openxmlformats.org/drawingml/2006/main">
              <a:ext uri="{FF2B5EF4-FFF2-40B4-BE49-F238E27FC236}">
                <a16:creationId xmlns:a16="http://schemas.microsoft.com/office/drawing/2014/main" id="{AAB8B7B6-7F99-42D5-AC40-F5CC36FABF2B}"/>
              </a:ext>
            </a:extLst>
          </p:cNvPr>
          <p:cNvSpPr>
            <a:spLocks xmlns:a="http://schemas.openxmlformats.org/drawingml/2006/main" noGrp="1"/>
          </p:cNvSpPr>
          <p:nvPr/>
        </p:nvSpPr>
        <p:spPr>
          <a:xfrm xmlns:a="http://schemas.openxmlformats.org/drawingml/2006/main">
            <a:off x="3543300" y="49149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Record acceptance, decline, cancellation, expiry or completion</a:t>
            </a:r>
          </a:p>
        </p:txBody>
      </p:sp>
      <p:sp>
        <p:nvSpPr>
          <p:cNvPr id="14" name="">
            <a:extLst xmlns:a="http://schemas.openxmlformats.org/drawingml/2006/main">
              <a:ext uri="{FF2B5EF4-FFF2-40B4-BE49-F238E27FC236}">
                <a16:creationId xmlns:a16="http://schemas.microsoft.com/office/drawing/2014/main" id="{FB538ADF-57C4-467E-8682-028E482112AB}"/>
              </a:ext>
            </a:extLst>
          </p:cNvPr>
          <p:cNvSpPr>
            <a:spLocks xmlns:a="http://schemas.openxmlformats.org/drawingml/2006/main" noGrp="1"/>
          </p:cNvSpPr>
          <p:nvPr/>
        </p:nvSpPr>
        <p:spPr>
          <a:xfrm xmlns:a="http://schemas.openxmlformats.org/drawingml/2006/main">
            <a:off x="619125" y="6191250"/>
            <a:ext cx="10715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Lifecycle rules have automated test evidence. Full hosted booking acceptance remains pending.</a:t>
            </a:r>
          </a:p>
        </p:txBody>
      </p:sp>
      <p:sp>
        <p:nvSpPr>
          <p:cNvPr id="15" name="">
            <a:extLst xmlns:a="http://schemas.openxmlformats.org/drawingml/2006/main">
              <a:ext uri="{FF2B5EF4-FFF2-40B4-BE49-F238E27FC236}">
                <a16:creationId xmlns:a16="http://schemas.microsoft.com/office/drawing/2014/main" id="{EB139E55-2389-4A85-8318-1BB8D42CCB15}"/>
              </a:ext>
            </a:extLst>
          </p:cNvPr>
          <p:cNvSpPr>
            <a:spLocks xmlns:a="http://schemas.openxmlformats.org/drawingml/2006/main" noGrp="1"/>
          </p:cNvSpPr>
          <p:nvPr/>
        </p:nvSpPr>
        <p:spPr>
          <a:xfrm xmlns:a="http://schemas.openxmlformats.org/drawingml/2006/main">
            <a:off x="11525250" y="64484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75" b="0">
                <a:solidFill>
                  <a:srgbClr val="52616A"/>
                </a:solidFill>
                <a:latin typeface="Arial"/>
                <a:ea typeface="Arial"/>
                <a:cs typeface="Arial"/>
              </a:defRPr>
            </a:defPPr>
          </a:lstStyle>
          <a:p xmlns:a="http://schemas.openxmlformats.org/drawingml/2006/main">
            <a:pPr>
              <a:defRPr sz="1275" b="0">
                <a:solidFill>
                  <a:srgbClr val="52616A"/>
                </a:solidFill>
                <a:latin typeface="Arial"/>
                <a:ea typeface="Arial"/>
                <a:cs typeface="Arial"/>
              </a:defRPr>
            </a:pPr>
            <a:r>
              <a:rPr sz="1275" b="0">
                <a:solidFill>
                  <a:srgbClr val="52616A"/>
                </a:solidFill>
                <a:latin typeface="Arial"/>
                <a:ea typeface="Arial"/>
                <a:cs typeface="Arial"/>
              </a:rPr>
              <a:t>08</a:t>
            </a:r>
          </a:p>
        </p:txBody>
      </p:sp>
    </p:spTree>
    <p:extLst>
      <p:ext uri="{BB962C8B-B14F-4D97-AF65-F5344CB8AC3E}">
        <p14:creationId xmlns:p14="http://schemas.microsoft.com/office/powerpoint/2010/main" val="122453858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92488B1-3744-4912-89F6-D40AFA0E0E16}"/>
              </a:ext>
            </a:extLst>
          </p:cNvPr>
          <p:cNvSpPr>
            <a:spLocks xmlns:a="http://schemas.openxmlformats.org/drawingml/2006/main" noGrp="1"/>
          </p:cNvSpPr>
          <p:nvPr/>
        </p:nvSpPr>
        <p:spPr>
          <a:xfrm xmlns:a="http://schemas.openxmlformats.org/drawingml/2006/main">
            <a:off x="590550" y="3048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B12632"/>
                </a:solidFill>
                <a:latin typeface="Arial"/>
                <a:ea typeface="Arial"/>
                <a:cs typeface="Arial"/>
              </a:defRPr>
            </a:defPPr>
          </a:lstStyle>
          <a:p xmlns:a="http://schemas.openxmlformats.org/drawingml/2006/main">
            <a:pPr>
              <a:defRPr sz="1950" b="1">
                <a:solidFill>
                  <a:srgbClr val="B12632"/>
                </a:solidFill>
                <a:latin typeface="Arial"/>
                <a:ea typeface="Arial"/>
                <a:cs typeface="Arial"/>
              </a:defRPr>
            </a:pPr>
            <a:r>
              <a:rPr sz="1950" b="1">
                <a:solidFill>
                  <a:srgbClr val="B12632"/>
                </a:solidFill>
                <a:latin typeface="Arial"/>
                <a:ea typeface="Arial"/>
                <a:cs typeface="Arial"/>
              </a:rPr>
              <a:t>E  /  EXECUTION</a:t>
            </a:r>
          </a:p>
        </p:txBody>
      </p:sp>
      <p:sp>
        <p:nvSpPr>
          <p:cNvPr id="2" name="">
            <a:extLst xmlns:a="http://schemas.openxmlformats.org/drawingml/2006/main">
              <a:ext uri="{FF2B5EF4-FFF2-40B4-BE49-F238E27FC236}">
                <a16:creationId xmlns:a16="http://schemas.microsoft.com/office/drawing/2014/main" id="{099FCC41-0C34-47C8-A178-FF18F98B9556}"/>
              </a:ext>
            </a:extLst>
          </p:cNvPr>
          <p:cNvSpPr>
            <a:spLocks xmlns:a="http://schemas.openxmlformats.org/drawingml/2006/main" noGrp="1"/>
          </p:cNvSpPr>
          <p:nvPr/>
        </p:nvSpPr>
        <p:spPr>
          <a:xfrm xmlns:a="http://schemas.openxmlformats.org/drawingml/2006/main">
            <a:off x="590550" y="8001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72A35"/>
                </a:solidFill>
                <a:latin typeface="Arial"/>
                <a:ea typeface="Arial"/>
                <a:cs typeface="Arial"/>
              </a:defRPr>
            </a:defPPr>
          </a:lstStyle>
          <a:p xmlns:a="http://schemas.openxmlformats.org/drawingml/2006/main">
            <a:pPr>
              <a:defRPr sz="3450" b="1">
                <a:solidFill>
                  <a:srgbClr val="172A35"/>
                </a:solidFill>
                <a:latin typeface="Arial"/>
                <a:ea typeface="Arial"/>
                <a:cs typeface="Arial"/>
              </a:defRPr>
            </a:pPr>
            <a:r>
              <a:rPr sz="3450" b="1">
                <a:solidFill>
                  <a:srgbClr val="172A35"/>
                </a:solidFill>
                <a:latin typeface="Arial"/>
                <a:ea typeface="Arial"/>
                <a:cs typeface="Arial"/>
              </a:rPr>
              <a:t>Language capability and AI status</a:t>
            </a:r>
          </a:p>
        </p:txBody>
      </p:sp>
      <p:sp>
        <p:nvSpPr>
          <p:cNvPr id="3" name="">
            <a:extLst xmlns:a="http://schemas.openxmlformats.org/drawingml/2006/main">
              <a:ext uri="{FF2B5EF4-FFF2-40B4-BE49-F238E27FC236}">
                <a16:creationId xmlns:a16="http://schemas.microsoft.com/office/drawing/2014/main" id="{18BA8DD9-E9D8-4DD1-BB9A-A6BA4785592D}"/>
              </a:ext>
            </a:extLst>
          </p:cNvPr>
          <p:cNvSpPr>
            <a:spLocks xmlns:a="http://schemas.openxmlformats.org/drawingml/2006/main" noGrp="1"/>
          </p:cNvSpPr>
          <p:nvPr/>
        </p:nvSpPr>
        <p:spPr>
          <a:xfrm xmlns:a="http://schemas.openxmlformats.org/drawingml/2006/main">
            <a:off x="619125" y="14763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52616A"/>
                </a:solidFill>
                <a:latin typeface="Arial"/>
                <a:ea typeface="Arial"/>
                <a:cs typeface="Arial"/>
              </a:defRPr>
            </a:def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Each capability needs its own evidence</a:t>
            </a:r>
          </a:p>
        </p:txBody>
      </p:sp>
      <p:sp>
        <p:nvSpPr>
          <p:cNvPr id="4" name="">
            <a:extLst xmlns:a="http://schemas.openxmlformats.org/drawingml/2006/main">
              <a:ext uri="{FF2B5EF4-FFF2-40B4-BE49-F238E27FC236}">
                <a16:creationId xmlns:a16="http://schemas.microsoft.com/office/drawing/2014/main" id="{C8E7BE2C-5424-4039-8F80-A9C68D72A2AE}"/>
              </a:ext>
            </a:extLst>
          </p:cNvPr>
          <p:cNvSpPr>
            <a:spLocks xmlns:a="http://schemas.openxmlformats.org/drawingml/2006/main" noGrp="1"/>
          </p:cNvSpPr>
          <p:nvPr/>
        </p:nvSpPr>
        <p:spPr>
          <a:xfrm xmlns:a="http://schemas.openxmlformats.org/drawingml/2006/main">
            <a:off x="590550" y="21240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E74A8C3-4322-48BA-93F0-2DD6ECA15D66}"/>
              </a:ext>
            </a:extLst>
          </p:cNvPr>
          <p:cNvSpPr>
            <a:spLocks xmlns:a="http://schemas.openxmlformats.org/drawingml/2006/main" noGrp="1"/>
          </p:cNvSpPr>
          <p:nvPr/>
        </p:nvSpPr>
        <p:spPr>
          <a:xfrm xmlns:a="http://schemas.openxmlformats.org/drawingml/2006/main">
            <a:off x="742950" y="22098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Interface pilot</a:t>
            </a:r>
          </a:p>
        </p:txBody>
      </p:sp>
      <p:sp>
        <p:nvSpPr>
          <p:cNvPr id="6" name="">
            <a:extLst xmlns:a="http://schemas.openxmlformats.org/drawingml/2006/main">
              <a:ext uri="{FF2B5EF4-FFF2-40B4-BE49-F238E27FC236}">
                <a16:creationId xmlns:a16="http://schemas.microsoft.com/office/drawing/2014/main" id="{98BFB2FE-2213-48AF-8C7D-4064961D5EEF}"/>
              </a:ext>
            </a:extLst>
          </p:cNvPr>
          <p:cNvSpPr>
            <a:spLocks xmlns:a="http://schemas.openxmlformats.org/drawingml/2006/main" noGrp="1"/>
          </p:cNvSpPr>
          <p:nvPr/>
        </p:nvSpPr>
        <p:spPr>
          <a:xfrm xmlns:a="http://schemas.openxmlformats.org/drawingml/2006/main">
            <a:off x="3543300" y="21717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English, Hindi and Punjabi bundles. Some operational text remains English.</a:t>
            </a:r>
          </a:p>
        </p:txBody>
      </p:sp>
      <p:sp>
        <p:nvSpPr>
          <p:cNvPr id="7" name="">
            <a:extLst xmlns:a="http://schemas.openxmlformats.org/drawingml/2006/main">
              <a:ext uri="{FF2B5EF4-FFF2-40B4-BE49-F238E27FC236}">
                <a16:creationId xmlns:a16="http://schemas.microsoft.com/office/drawing/2014/main" id="{E6A1AFDF-7C5F-45E2-B022-F0BD54BFABAB}"/>
              </a:ext>
            </a:extLst>
          </p:cNvPr>
          <p:cNvSpPr>
            <a:spLocks xmlns:a="http://schemas.openxmlformats.org/drawingml/2006/main" noGrp="1"/>
          </p:cNvSpPr>
          <p:nvPr/>
        </p:nvSpPr>
        <p:spPr>
          <a:xfrm xmlns:a="http://schemas.openxmlformats.org/drawingml/2006/main">
            <a:off x="742950" y="31242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Read aloud</a:t>
            </a:r>
          </a:p>
        </p:txBody>
      </p:sp>
      <p:sp>
        <p:nvSpPr>
          <p:cNvPr id="8" name="">
            <a:extLst xmlns:a="http://schemas.openxmlformats.org/drawingml/2006/main">
              <a:ext uri="{FF2B5EF4-FFF2-40B4-BE49-F238E27FC236}">
                <a16:creationId xmlns:a16="http://schemas.microsoft.com/office/drawing/2014/main" id="{F5F3A781-99E3-4661-8C14-D229C8417BD4}"/>
              </a:ext>
            </a:extLst>
          </p:cNvPr>
          <p:cNvSpPr>
            <a:spLocks xmlns:a="http://schemas.openxmlformats.org/drawingml/2006/main" noGrp="1"/>
          </p:cNvSpPr>
          <p:nvPr/>
        </p:nvSpPr>
        <p:spPr>
          <a:xfrm xmlns:a="http://schemas.openxmlformats.org/drawingml/2006/main">
            <a:off x="3543300" y="30861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Hindi and Punjabi engine lifecycle checked. Human pronunciation review pending.</a:t>
            </a:r>
          </a:p>
        </p:txBody>
      </p:sp>
      <p:sp>
        <p:nvSpPr>
          <p:cNvPr id="9" name="">
            <a:extLst xmlns:a="http://schemas.openxmlformats.org/drawingml/2006/main">
              <a:ext uri="{FF2B5EF4-FFF2-40B4-BE49-F238E27FC236}">
                <a16:creationId xmlns:a16="http://schemas.microsoft.com/office/drawing/2014/main" id="{E0678A73-50BE-4249-AA3D-20AE288451AC}"/>
              </a:ext>
            </a:extLst>
          </p:cNvPr>
          <p:cNvSpPr>
            <a:spLocks xmlns:a="http://schemas.openxmlformats.org/drawingml/2006/main" noGrp="1"/>
          </p:cNvSpPr>
          <p:nvPr/>
        </p:nvSpPr>
        <p:spPr>
          <a:xfrm xmlns:a="http://schemas.openxmlformats.org/drawingml/2006/main">
            <a:off x="590550" y="39528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54BEA8D-CD31-4411-A21A-BDFED1931C70}"/>
              </a:ext>
            </a:extLst>
          </p:cNvPr>
          <p:cNvSpPr>
            <a:spLocks xmlns:a="http://schemas.openxmlformats.org/drawingml/2006/main" noGrp="1"/>
          </p:cNvSpPr>
          <p:nvPr/>
        </p:nvSpPr>
        <p:spPr>
          <a:xfrm xmlns:a="http://schemas.openxmlformats.org/drawingml/2006/main">
            <a:off x="742950" y="40386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Recognition</a:t>
            </a:r>
          </a:p>
        </p:txBody>
      </p:sp>
      <p:sp>
        <p:nvSpPr>
          <p:cNvPr id="11" name="">
            <a:extLst xmlns:a="http://schemas.openxmlformats.org/drawingml/2006/main">
              <a:ext uri="{FF2B5EF4-FFF2-40B4-BE49-F238E27FC236}">
                <a16:creationId xmlns:a16="http://schemas.microsoft.com/office/drawing/2014/main" id="{91F9209A-6BF3-4548-8096-96D0BC498A64}"/>
              </a:ext>
            </a:extLst>
          </p:cNvPr>
          <p:cNvSpPr>
            <a:spLocks xmlns:a="http://schemas.openxmlformats.org/drawingml/2006/main" noGrp="1"/>
          </p:cNvSpPr>
          <p:nvPr/>
        </p:nvSpPr>
        <p:spPr>
          <a:xfrm xmlns:a="http://schemas.openxmlformats.org/drawingml/2006/main">
            <a:off x="3543300" y="40005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Optional browser path. Microphone accuracy remains unverified.</a:t>
            </a:r>
          </a:p>
        </p:txBody>
      </p:sp>
      <p:sp>
        <p:nvSpPr>
          <p:cNvPr id="12" name="">
            <a:extLst xmlns:a="http://schemas.openxmlformats.org/drawingml/2006/main">
              <a:ext uri="{FF2B5EF4-FFF2-40B4-BE49-F238E27FC236}">
                <a16:creationId xmlns:a16="http://schemas.microsoft.com/office/drawing/2014/main" id="{B5E92AF2-F265-4C14-BF35-37E50132A43D}"/>
              </a:ext>
            </a:extLst>
          </p:cNvPr>
          <p:cNvSpPr>
            <a:spLocks xmlns:a="http://schemas.openxmlformats.org/drawingml/2006/main" noGrp="1"/>
          </p:cNvSpPr>
          <p:nvPr/>
        </p:nvSpPr>
        <p:spPr>
          <a:xfrm xmlns:a="http://schemas.openxmlformats.org/drawingml/2006/main">
            <a:off x="742950" y="49530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AI analysis</a:t>
            </a:r>
          </a:p>
        </p:txBody>
      </p:sp>
      <p:sp>
        <p:nvSpPr>
          <p:cNvPr id="13" name="">
            <a:extLst xmlns:a="http://schemas.openxmlformats.org/drawingml/2006/main">
              <a:ext uri="{FF2B5EF4-FFF2-40B4-BE49-F238E27FC236}">
                <a16:creationId xmlns:a16="http://schemas.microsoft.com/office/drawing/2014/main" id="{75A908A8-47D5-4E03-90DC-62FF0BAF51A8}"/>
              </a:ext>
            </a:extLst>
          </p:cNvPr>
          <p:cNvSpPr>
            <a:spLocks xmlns:a="http://schemas.openxmlformats.org/drawingml/2006/main" noGrp="1"/>
          </p:cNvSpPr>
          <p:nvPr/>
        </p:nvSpPr>
        <p:spPr>
          <a:xfrm xmlns:a="http://schemas.openxmlformats.org/drawingml/2006/main">
            <a:off x="3543300" y="49149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Adapter implemented. DGX endpoint and live inference remain unverified.</a:t>
            </a:r>
          </a:p>
        </p:txBody>
      </p:sp>
      <p:sp>
        <p:nvSpPr>
          <p:cNvPr id="14" name="">
            <a:extLst xmlns:a="http://schemas.openxmlformats.org/drawingml/2006/main">
              <a:ext uri="{FF2B5EF4-FFF2-40B4-BE49-F238E27FC236}">
                <a16:creationId xmlns:a16="http://schemas.microsoft.com/office/drawing/2014/main" id="{DA65E0AD-7D88-41A6-BB7C-A6F999FB428A}"/>
              </a:ext>
            </a:extLst>
          </p:cNvPr>
          <p:cNvSpPr>
            <a:spLocks xmlns:a="http://schemas.openxmlformats.org/drawingml/2006/main" noGrp="1"/>
          </p:cNvSpPr>
          <p:nvPr/>
        </p:nvSpPr>
        <p:spPr>
          <a:xfrm xmlns:a="http://schemas.openxmlformats.org/drawingml/2006/main">
            <a:off x="619125" y="6191250"/>
            <a:ext cx="10715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The registry covers 22 scheduled languages plus English. Registry entries are expansion targets.</a:t>
            </a:r>
          </a:p>
        </p:txBody>
      </p:sp>
      <p:sp>
        <p:nvSpPr>
          <p:cNvPr id="15" name="">
            <a:extLst xmlns:a="http://schemas.openxmlformats.org/drawingml/2006/main">
              <a:ext uri="{FF2B5EF4-FFF2-40B4-BE49-F238E27FC236}">
                <a16:creationId xmlns:a16="http://schemas.microsoft.com/office/drawing/2014/main" id="{36542B35-FB90-4786-9DE2-EE75879DAA27}"/>
              </a:ext>
            </a:extLst>
          </p:cNvPr>
          <p:cNvSpPr>
            <a:spLocks xmlns:a="http://schemas.openxmlformats.org/drawingml/2006/main" noGrp="1"/>
          </p:cNvSpPr>
          <p:nvPr/>
        </p:nvSpPr>
        <p:spPr>
          <a:xfrm xmlns:a="http://schemas.openxmlformats.org/drawingml/2006/main">
            <a:off x="11525250" y="64484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75" b="0">
                <a:solidFill>
                  <a:srgbClr val="52616A"/>
                </a:solidFill>
                <a:latin typeface="Arial"/>
                <a:ea typeface="Arial"/>
                <a:cs typeface="Arial"/>
              </a:defRPr>
            </a:defPPr>
          </a:lstStyle>
          <a:p xmlns:a="http://schemas.openxmlformats.org/drawingml/2006/main">
            <a:pPr>
              <a:defRPr sz="1275" b="0">
                <a:solidFill>
                  <a:srgbClr val="52616A"/>
                </a:solidFill>
                <a:latin typeface="Arial"/>
                <a:ea typeface="Arial"/>
                <a:cs typeface="Arial"/>
              </a:defRPr>
            </a:pPr>
            <a:r>
              <a:rPr sz="1275" b="0">
                <a:solidFill>
                  <a:srgbClr val="52616A"/>
                </a:solidFill>
                <a:latin typeface="Arial"/>
                <a:ea typeface="Arial"/>
                <a:cs typeface="Arial"/>
              </a:rPr>
              <a:t>09</a:t>
            </a:r>
          </a:p>
        </p:txBody>
      </p:sp>
    </p:spTree>
    <p:extLst>
      <p:ext uri="{BB962C8B-B14F-4D97-AF65-F5344CB8AC3E}">
        <p14:creationId xmlns:p14="http://schemas.microsoft.com/office/powerpoint/2010/main" val="1154587900"/>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0E439A4E-4857-4B11-946B-81D23A22207E}"/>
              </a:ext>
            </a:extLst>
          </p:cNvPr>
          <p:cNvSpPr>
            <a:spLocks xmlns:a="http://schemas.openxmlformats.org/drawingml/2006/main" noGrp="1"/>
          </p:cNvSpPr>
          <p:nvPr/>
        </p:nvSpPr>
        <p:spPr>
          <a:xfrm xmlns:a="http://schemas.openxmlformats.org/drawingml/2006/main">
            <a:off x="590550" y="3048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B12632"/>
                </a:solidFill>
                <a:latin typeface="Arial"/>
                <a:ea typeface="Arial"/>
                <a:cs typeface="Arial"/>
              </a:defRPr>
            </a:defPPr>
          </a:lstStyle>
          <a:p xmlns:a="http://schemas.openxmlformats.org/drawingml/2006/main">
            <a:pPr>
              <a:defRPr sz="1950" b="1">
                <a:solidFill>
                  <a:srgbClr val="B12632"/>
                </a:solidFill>
                <a:latin typeface="Arial"/>
                <a:ea typeface="Arial"/>
                <a:cs typeface="Arial"/>
              </a:defRPr>
            </a:pPr>
            <a:r>
              <a:rPr sz="1950" b="1">
                <a:solidFill>
                  <a:srgbClr val="B12632"/>
                </a:solidFill>
                <a:latin typeface="Arial"/>
                <a:ea typeface="Arial"/>
                <a:cs typeface="Arial"/>
              </a:rPr>
              <a:t>C  /  CONTRIBUTION</a:t>
            </a:r>
          </a:p>
        </p:txBody>
      </p:sp>
      <p:sp>
        <p:nvSpPr>
          <p:cNvPr id="2" name="">
            <a:extLst xmlns:a="http://schemas.openxmlformats.org/drawingml/2006/main">
              <a:ext uri="{FF2B5EF4-FFF2-40B4-BE49-F238E27FC236}">
                <a16:creationId xmlns:a16="http://schemas.microsoft.com/office/drawing/2014/main" id="{32DD2164-1501-40C1-9928-664861502680}"/>
              </a:ext>
            </a:extLst>
          </p:cNvPr>
          <p:cNvSpPr>
            <a:spLocks xmlns:a="http://schemas.openxmlformats.org/drawingml/2006/main" noGrp="1"/>
          </p:cNvSpPr>
          <p:nvPr/>
        </p:nvSpPr>
        <p:spPr>
          <a:xfrm xmlns:a="http://schemas.openxmlformats.org/drawingml/2006/main">
            <a:off x="590550" y="8001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72A35"/>
                </a:solidFill>
                <a:latin typeface="Arial"/>
                <a:ea typeface="Arial"/>
                <a:cs typeface="Arial"/>
              </a:defRPr>
            </a:defPPr>
          </a:lstStyle>
          <a:p xmlns:a="http://schemas.openxmlformats.org/drawingml/2006/main">
            <a:pPr>
              <a:defRPr sz="3450" b="1">
                <a:solidFill>
                  <a:srgbClr val="172A35"/>
                </a:solidFill>
                <a:latin typeface="Arial"/>
                <a:ea typeface="Arial"/>
                <a:cs typeface="Arial"/>
              </a:defRPr>
            </a:pPr>
            <a:r>
              <a:rPr sz="3450" b="1">
                <a:solidFill>
                  <a:srgbClr val="172A35"/>
                </a:solidFill>
                <a:latin typeface="Arial"/>
                <a:ea typeface="Arial"/>
                <a:cs typeface="Arial"/>
              </a:rPr>
              <a:t>Application workstreams and ownership</a:t>
            </a:r>
          </a:p>
        </p:txBody>
      </p:sp>
      <p:sp>
        <p:nvSpPr>
          <p:cNvPr id="3" name="">
            <a:extLst xmlns:a="http://schemas.openxmlformats.org/drawingml/2006/main">
              <a:ext uri="{FF2B5EF4-FFF2-40B4-BE49-F238E27FC236}">
                <a16:creationId xmlns:a16="http://schemas.microsoft.com/office/drawing/2014/main" id="{FF552739-506E-46FE-A34C-9DB591DAAC7D}"/>
              </a:ext>
            </a:extLst>
          </p:cNvPr>
          <p:cNvSpPr>
            <a:spLocks xmlns:a="http://schemas.openxmlformats.org/drawingml/2006/main" noGrp="1"/>
          </p:cNvSpPr>
          <p:nvPr/>
        </p:nvSpPr>
        <p:spPr>
          <a:xfrm xmlns:a="http://schemas.openxmlformats.org/drawingml/2006/main">
            <a:off x="619125" y="14763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52616A"/>
                </a:solidFill>
                <a:latin typeface="Arial"/>
                <a:ea typeface="Arial"/>
                <a:cs typeface="Arial"/>
              </a:defRPr>
            </a:def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Each presenter should identify the work they can explain and demonstrate</a:t>
            </a:r>
          </a:p>
        </p:txBody>
      </p:sp>
      <p:sp>
        <p:nvSpPr>
          <p:cNvPr id="4" name="">
            <a:extLst xmlns:a="http://schemas.openxmlformats.org/drawingml/2006/main">
              <a:ext uri="{FF2B5EF4-FFF2-40B4-BE49-F238E27FC236}">
                <a16:creationId xmlns:a16="http://schemas.microsoft.com/office/drawing/2014/main" id="{CF0F9F74-2218-42D7-A4E3-9F6C5BCE30BF}"/>
              </a:ext>
            </a:extLst>
          </p:cNvPr>
          <p:cNvSpPr>
            <a:spLocks xmlns:a="http://schemas.openxmlformats.org/drawingml/2006/main" noGrp="1"/>
          </p:cNvSpPr>
          <p:nvPr/>
        </p:nvSpPr>
        <p:spPr>
          <a:xfrm xmlns:a="http://schemas.openxmlformats.org/drawingml/2006/main">
            <a:off x="590550" y="21240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A7AE975-20F2-46FF-AE03-01A3FD825CB6}"/>
              </a:ext>
            </a:extLst>
          </p:cNvPr>
          <p:cNvSpPr>
            <a:spLocks xmlns:a="http://schemas.openxmlformats.org/drawingml/2006/main" noGrp="1"/>
          </p:cNvSpPr>
          <p:nvPr/>
        </p:nvSpPr>
        <p:spPr>
          <a:xfrm xmlns:a="http://schemas.openxmlformats.org/drawingml/2006/main">
            <a:off x="742950" y="22098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Web workflows</a:t>
            </a:r>
          </a:p>
        </p:txBody>
      </p:sp>
      <p:sp>
        <p:nvSpPr>
          <p:cNvPr id="6" name="">
            <a:extLst xmlns:a="http://schemas.openxmlformats.org/drawingml/2006/main">
              <a:ext uri="{FF2B5EF4-FFF2-40B4-BE49-F238E27FC236}">
                <a16:creationId xmlns:a16="http://schemas.microsoft.com/office/drawing/2014/main" id="{9F49CD6D-E270-4678-AFEE-242A6D3219AB}"/>
              </a:ext>
            </a:extLst>
          </p:cNvPr>
          <p:cNvSpPr>
            <a:spLocks xmlns:a="http://schemas.openxmlformats.org/drawingml/2006/main" noGrp="1"/>
          </p:cNvSpPr>
          <p:nvPr/>
        </p:nvSpPr>
        <p:spPr>
          <a:xfrm xmlns:a="http://schemas.openxmlformats.org/drawingml/2006/main">
            <a:off x="3543300" y="21717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Intake, case review, discovery and responsive interaction</a:t>
            </a:r>
          </a:p>
        </p:txBody>
      </p:sp>
      <p:sp>
        <p:nvSpPr>
          <p:cNvPr id="7" name="">
            <a:extLst xmlns:a="http://schemas.openxmlformats.org/drawingml/2006/main">
              <a:ext uri="{FF2B5EF4-FFF2-40B4-BE49-F238E27FC236}">
                <a16:creationId xmlns:a16="http://schemas.microsoft.com/office/drawing/2014/main" id="{2266CB19-52F1-4032-8AB5-038124C216D7}"/>
              </a:ext>
            </a:extLst>
          </p:cNvPr>
          <p:cNvSpPr>
            <a:spLocks xmlns:a="http://schemas.openxmlformats.org/drawingml/2006/main" noGrp="1"/>
          </p:cNvSpPr>
          <p:nvPr/>
        </p:nvSpPr>
        <p:spPr>
          <a:xfrm xmlns:a="http://schemas.openxmlformats.org/drawingml/2006/main">
            <a:off x="742950" y="31242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Backend rules</a:t>
            </a:r>
          </a:p>
        </p:txBody>
      </p:sp>
      <p:sp>
        <p:nvSpPr>
          <p:cNvPr id="8" name="">
            <a:extLst xmlns:a="http://schemas.openxmlformats.org/drawingml/2006/main">
              <a:ext uri="{FF2B5EF4-FFF2-40B4-BE49-F238E27FC236}">
                <a16:creationId xmlns:a16="http://schemas.microsoft.com/office/drawing/2014/main" id="{8D4F6604-7754-4E9B-8418-C56CEA8E6A71}"/>
              </a:ext>
            </a:extLst>
          </p:cNvPr>
          <p:cNvSpPr>
            <a:spLocks xmlns:a="http://schemas.openxmlformats.org/drawingml/2006/main" noGrp="1"/>
          </p:cNvSpPr>
          <p:nvPr/>
        </p:nvSpPr>
        <p:spPr>
          <a:xfrm xmlns:a="http://schemas.openxmlformats.org/drawingml/2006/main">
            <a:off x="3543300" y="30861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Ownership, credential review and consultation lifecycle</a:t>
            </a:r>
          </a:p>
        </p:txBody>
      </p:sp>
      <p:sp>
        <p:nvSpPr>
          <p:cNvPr id="9" name="">
            <a:extLst xmlns:a="http://schemas.openxmlformats.org/drawingml/2006/main">
              <a:ext uri="{FF2B5EF4-FFF2-40B4-BE49-F238E27FC236}">
                <a16:creationId xmlns:a16="http://schemas.microsoft.com/office/drawing/2014/main" id="{63F34A99-324B-4612-8C9A-FE557A00CDDB}"/>
              </a:ext>
            </a:extLst>
          </p:cNvPr>
          <p:cNvSpPr>
            <a:spLocks xmlns:a="http://schemas.openxmlformats.org/drawingml/2006/main" noGrp="1"/>
          </p:cNvSpPr>
          <p:nvPr/>
        </p:nvSpPr>
        <p:spPr>
          <a:xfrm xmlns:a="http://schemas.openxmlformats.org/drawingml/2006/main">
            <a:off x="590550" y="39528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32AB5E9-9621-4869-81DC-E9E6F9E77268}"/>
              </a:ext>
            </a:extLst>
          </p:cNvPr>
          <p:cNvSpPr>
            <a:spLocks xmlns:a="http://schemas.openxmlformats.org/drawingml/2006/main" noGrp="1"/>
          </p:cNvSpPr>
          <p:nvPr/>
        </p:nvSpPr>
        <p:spPr>
          <a:xfrm xmlns:a="http://schemas.openxmlformats.org/drawingml/2006/main">
            <a:off x="742950" y="40386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Language access</a:t>
            </a:r>
          </a:p>
        </p:txBody>
      </p:sp>
      <p:sp>
        <p:nvSpPr>
          <p:cNvPr id="11" name="">
            <a:extLst xmlns:a="http://schemas.openxmlformats.org/drawingml/2006/main">
              <a:ext uri="{FF2B5EF4-FFF2-40B4-BE49-F238E27FC236}">
                <a16:creationId xmlns:a16="http://schemas.microsoft.com/office/drawing/2014/main" id="{F9F92ECB-BB7C-400F-86D6-5FE3E45C2788}"/>
              </a:ext>
            </a:extLst>
          </p:cNvPr>
          <p:cNvSpPr>
            <a:spLocks xmlns:a="http://schemas.openxmlformats.org/drawingml/2006/main" noGrp="1"/>
          </p:cNvSpPr>
          <p:nvPr/>
        </p:nvSpPr>
        <p:spPr>
          <a:xfrm xmlns:a="http://schemas.openxmlformats.org/drawingml/2006/main">
            <a:off x="3543300" y="40005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Pilot copy, locale handling and read-aloud behaviour</a:t>
            </a:r>
          </a:p>
        </p:txBody>
      </p:sp>
      <p:sp>
        <p:nvSpPr>
          <p:cNvPr id="12" name="">
            <a:extLst xmlns:a="http://schemas.openxmlformats.org/drawingml/2006/main">
              <a:ext uri="{FF2B5EF4-FFF2-40B4-BE49-F238E27FC236}">
                <a16:creationId xmlns:a16="http://schemas.microsoft.com/office/drawing/2014/main" id="{EE3D8B40-2E40-489E-A939-27EB4ED17046}"/>
              </a:ext>
            </a:extLst>
          </p:cNvPr>
          <p:cNvSpPr>
            <a:spLocks xmlns:a="http://schemas.openxmlformats.org/drawingml/2006/main" noGrp="1"/>
          </p:cNvSpPr>
          <p:nvPr/>
        </p:nvSpPr>
        <p:spPr>
          <a:xfrm xmlns:a="http://schemas.openxmlformats.org/drawingml/2006/main">
            <a:off x="742950" y="49530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Validation</a:t>
            </a:r>
          </a:p>
        </p:txBody>
      </p:sp>
      <p:sp>
        <p:nvSpPr>
          <p:cNvPr id="13" name="">
            <a:extLst xmlns:a="http://schemas.openxmlformats.org/drawingml/2006/main">
              <a:ext uri="{FF2B5EF4-FFF2-40B4-BE49-F238E27FC236}">
                <a16:creationId xmlns:a16="http://schemas.microsoft.com/office/drawing/2014/main" id="{BBB0D435-BF32-4FA2-864F-ED5FB13F651B}"/>
              </a:ext>
            </a:extLst>
          </p:cNvPr>
          <p:cNvSpPr>
            <a:spLocks xmlns:a="http://schemas.openxmlformats.org/drawingml/2006/main" noGrp="1"/>
          </p:cNvSpPr>
          <p:nvPr/>
        </p:nvSpPr>
        <p:spPr>
          <a:xfrm xmlns:a="http://schemas.openxmlformats.org/drawingml/2006/main">
            <a:off x="3543300" y="49149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Automated scenarios, browser checks and evidence records</a:t>
            </a:r>
          </a:p>
        </p:txBody>
      </p:sp>
      <p:sp>
        <p:nvSpPr>
          <p:cNvPr id="14" name="">
            <a:extLst xmlns:a="http://schemas.openxmlformats.org/drawingml/2006/main">
              <a:ext uri="{FF2B5EF4-FFF2-40B4-BE49-F238E27FC236}">
                <a16:creationId xmlns:a16="http://schemas.microsoft.com/office/drawing/2014/main" id="{2268112D-D1AA-482F-B7D6-C292AA81962A}"/>
              </a:ext>
            </a:extLst>
          </p:cNvPr>
          <p:cNvSpPr>
            <a:spLocks xmlns:a="http://schemas.openxmlformats.org/drawingml/2006/main" noGrp="1"/>
          </p:cNvSpPr>
          <p:nvPr/>
        </p:nvSpPr>
        <p:spPr>
          <a:xfrm xmlns:a="http://schemas.openxmlformats.org/drawingml/2006/main">
            <a:off x="619125" y="6191250"/>
            <a:ext cx="10715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These are application workstreams. Individual ownership requires team confirmation.</a:t>
            </a:r>
          </a:p>
        </p:txBody>
      </p:sp>
      <p:sp>
        <p:nvSpPr>
          <p:cNvPr id="15" name="">
            <a:extLst xmlns:a="http://schemas.openxmlformats.org/drawingml/2006/main">
              <a:ext uri="{FF2B5EF4-FFF2-40B4-BE49-F238E27FC236}">
                <a16:creationId xmlns:a16="http://schemas.microsoft.com/office/drawing/2014/main" id="{2074439D-AF2A-43B8-9D25-FB4234BA1D35}"/>
              </a:ext>
            </a:extLst>
          </p:cNvPr>
          <p:cNvSpPr>
            <a:spLocks xmlns:a="http://schemas.openxmlformats.org/drawingml/2006/main" noGrp="1"/>
          </p:cNvSpPr>
          <p:nvPr/>
        </p:nvSpPr>
        <p:spPr>
          <a:xfrm xmlns:a="http://schemas.openxmlformats.org/drawingml/2006/main">
            <a:off x="11525250" y="64484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75" b="0">
                <a:solidFill>
                  <a:srgbClr val="52616A"/>
                </a:solidFill>
                <a:latin typeface="Arial"/>
                <a:ea typeface="Arial"/>
                <a:cs typeface="Arial"/>
              </a:defRPr>
            </a:defPPr>
          </a:lstStyle>
          <a:p xmlns:a="http://schemas.openxmlformats.org/drawingml/2006/main">
            <a:pPr>
              <a:defRPr sz="1275" b="0">
                <a:solidFill>
                  <a:srgbClr val="52616A"/>
                </a:solidFill>
                <a:latin typeface="Arial"/>
                <a:ea typeface="Arial"/>
                <a:cs typeface="Arial"/>
              </a:defRPr>
            </a:pPr>
            <a:r>
              <a:rPr sz="1275" b="0">
                <a:solidFill>
                  <a:srgbClr val="52616A"/>
                </a:solidFill>
                <a:latin typeface="Arial"/>
                <a:ea typeface="Arial"/>
                <a:cs typeface="Arial"/>
              </a:rPr>
              <a:t>10</a:t>
            </a:r>
          </a:p>
        </p:txBody>
      </p:sp>
    </p:spTree>
    <p:extLst>
      <p:ext uri="{BB962C8B-B14F-4D97-AF65-F5344CB8AC3E}">
        <p14:creationId xmlns:p14="http://schemas.microsoft.com/office/powerpoint/2010/main" val="8277909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2DD9DD8-8378-4527-99FF-5C2FC74C8454}"/>
              </a:ext>
            </a:extLst>
          </p:cNvPr>
          <p:cNvSpPr>
            <a:spLocks xmlns:a="http://schemas.openxmlformats.org/drawingml/2006/main" noGrp="1"/>
          </p:cNvSpPr>
          <p:nvPr/>
        </p:nvSpPr>
        <p:spPr>
          <a:xfrm xmlns:a="http://schemas.openxmlformats.org/drawingml/2006/main">
            <a:off x="590550" y="3048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B12632"/>
                </a:solidFill>
                <a:latin typeface="Arial"/>
                <a:ea typeface="Arial"/>
                <a:cs typeface="Arial"/>
              </a:defRPr>
            </a:defPPr>
          </a:lstStyle>
          <a:p xmlns:a="http://schemas.openxmlformats.org/drawingml/2006/main">
            <a:pPr>
              <a:defRPr sz="1950" b="1">
                <a:solidFill>
                  <a:srgbClr val="B12632"/>
                </a:solidFill>
                <a:latin typeface="Arial"/>
                <a:ea typeface="Arial"/>
                <a:cs typeface="Arial"/>
              </a:defRPr>
            </a:pPr>
            <a:r>
              <a:rPr sz="1950" b="1">
                <a:solidFill>
                  <a:srgbClr val="B12632"/>
                </a:solidFill>
                <a:latin typeface="Arial"/>
                <a:ea typeface="Arial"/>
                <a:cs typeface="Arial"/>
              </a:rPr>
              <a:t>T  /  TAKEAWAY</a:t>
            </a:r>
          </a:p>
        </p:txBody>
      </p:sp>
      <p:sp>
        <p:nvSpPr>
          <p:cNvPr id="2" name="">
            <a:extLst xmlns:a="http://schemas.openxmlformats.org/drawingml/2006/main">
              <a:ext uri="{FF2B5EF4-FFF2-40B4-BE49-F238E27FC236}">
                <a16:creationId xmlns:a16="http://schemas.microsoft.com/office/drawing/2014/main" id="{4335B3A4-0FD0-4C95-B954-3F9E18746172}"/>
              </a:ext>
            </a:extLst>
          </p:cNvPr>
          <p:cNvSpPr>
            <a:spLocks xmlns:a="http://schemas.openxmlformats.org/drawingml/2006/main" noGrp="1"/>
          </p:cNvSpPr>
          <p:nvPr/>
        </p:nvSpPr>
        <p:spPr>
          <a:xfrm xmlns:a="http://schemas.openxmlformats.org/drawingml/2006/main">
            <a:off x="590550" y="8001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72A35"/>
                </a:solidFill>
                <a:latin typeface="Arial"/>
                <a:ea typeface="Arial"/>
                <a:cs typeface="Arial"/>
              </a:defRPr>
            </a:defPPr>
          </a:lstStyle>
          <a:p xmlns:a="http://schemas.openxmlformats.org/drawingml/2006/main">
            <a:pPr>
              <a:defRPr sz="3450" b="1">
                <a:solidFill>
                  <a:srgbClr val="172A35"/>
                </a:solidFill>
                <a:latin typeface="Arial"/>
                <a:ea typeface="Arial"/>
                <a:cs typeface="Arial"/>
              </a:defRPr>
            </a:pPr>
            <a:r>
              <a:rPr sz="3450" b="1">
                <a:solidFill>
                  <a:srgbClr val="172A35"/>
                </a:solidFill>
                <a:latin typeface="Arial"/>
                <a:ea typeface="Arial"/>
                <a:cs typeface="Arial"/>
              </a:rPr>
              <a:t>Results and the evidence boundary</a:t>
            </a:r>
          </a:p>
        </p:txBody>
      </p:sp>
      <p:sp>
        <p:nvSpPr>
          <p:cNvPr id="3" name="">
            <a:extLst xmlns:a="http://schemas.openxmlformats.org/drawingml/2006/main">
              <a:ext uri="{FF2B5EF4-FFF2-40B4-BE49-F238E27FC236}">
                <a16:creationId xmlns:a16="http://schemas.microsoft.com/office/drawing/2014/main" id="{140E5368-CD9F-495C-A8C0-A5A5E4BA0086}"/>
              </a:ext>
            </a:extLst>
          </p:cNvPr>
          <p:cNvSpPr>
            <a:spLocks xmlns:a="http://schemas.openxmlformats.org/drawingml/2006/main" noGrp="1"/>
          </p:cNvSpPr>
          <p:nvPr/>
        </p:nvSpPr>
        <p:spPr>
          <a:xfrm xmlns:a="http://schemas.openxmlformats.org/drawingml/2006/main">
            <a:off x="619125" y="14763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52616A"/>
                </a:solidFill>
                <a:latin typeface="Arial"/>
                <a:ea typeface="Arial"/>
                <a:cs typeface="Arial"/>
              </a:defRPr>
            </a:def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Recorded checks support specific behaviours, not a general production claim</a:t>
            </a:r>
          </a:p>
        </p:txBody>
      </p:sp>
      <p:sp>
        <p:nvSpPr>
          <p:cNvPr id="4" name="">
            <a:extLst xmlns:a="http://schemas.openxmlformats.org/drawingml/2006/main">
              <a:ext uri="{FF2B5EF4-FFF2-40B4-BE49-F238E27FC236}">
                <a16:creationId xmlns:a16="http://schemas.microsoft.com/office/drawing/2014/main" id="{131A2AE2-618F-418A-B390-3361DD786401}"/>
              </a:ext>
            </a:extLst>
          </p:cNvPr>
          <p:cNvSpPr>
            <a:spLocks xmlns:a="http://schemas.openxmlformats.org/drawingml/2006/main" noGrp="1"/>
          </p:cNvSpPr>
          <p:nvPr/>
        </p:nvSpPr>
        <p:spPr>
          <a:xfrm xmlns:a="http://schemas.openxmlformats.org/drawingml/2006/main">
            <a:off x="590550" y="21240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EF5A987A-D9B1-491B-9F37-5BB98543763C}"/>
              </a:ext>
            </a:extLst>
          </p:cNvPr>
          <p:cNvSpPr>
            <a:spLocks xmlns:a="http://schemas.openxmlformats.org/drawingml/2006/main" noGrp="1"/>
          </p:cNvSpPr>
          <p:nvPr/>
        </p:nvSpPr>
        <p:spPr>
          <a:xfrm xmlns:a="http://schemas.openxmlformats.org/drawingml/2006/main">
            <a:off x="742950" y="22098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78 tests</a:t>
            </a:r>
          </a:p>
        </p:txBody>
      </p:sp>
      <p:sp>
        <p:nvSpPr>
          <p:cNvPr id="6" name="">
            <a:extLst xmlns:a="http://schemas.openxmlformats.org/drawingml/2006/main">
              <a:ext uri="{FF2B5EF4-FFF2-40B4-BE49-F238E27FC236}">
                <a16:creationId xmlns:a16="http://schemas.microsoft.com/office/drawing/2014/main" id="{86ADD2FC-FF78-4493-A434-C09228671145}"/>
              </a:ext>
            </a:extLst>
          </p:cNvPr>
          <p:cNvSpPr>
            <a:spLocks xmlns:a="http://schemas.openxmlformats.org/drawingml/2006/main" noGrp="1"/>
          </p:cNvSpPr>
          <p:nvPr/>
        </p:nvSpPr>
        <p:spPr>
          <a:xfrm xmlns:a="http://schemas.openxmlformats.org/drawingml/2006/main">
            <a:off x="3543300" y="21717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Recorded passing checks: 60 backend, 12 language and 6 case-render tests</a:t>
            </a:r>
          </a:p>
        </p:txBody>
      </p:sp>
      <p:sp>
        <p:nvSpPr>
          <p:cNvPr id="7" name="">
            <a:extLst xmlns:a="http://schemas.openxmlformats.org/drawingml/2006/main">
              <a:ext uri="{FF2B5EF4-FFF2-40B4-BE49-F238E27FC236}">
                <a16:creationId xmlns:a16="http://schemas.microsoft.com/office/drawing/2014/main" id="{F2752DD8-E7EA-48A6-90FB-A00EAA37D16F}"/>
              </a:ext>
            </a:extLst>
          </p:cNvPr>
          <p:cNvSpPr>
            <a:spLocks xmlns:a="http://schemas.openxmlformats.org/drawingml/2006/main" noGrp="1"/>
          </p:cNvSpPr>
          <p:nvPr/>
        </p:nvSpPr>
        <p:spPr>
          <a:xfrm xmlns:a="http://schemas.openxmlformats.org/drawingml/2006/main">
            <a:off x="742950" y="31242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Build and layout</a:t>
            </a:r>
          </a:p>
        </p:txBody>
      </p:sp>
      <p:sp>
        <p:nvSpPr>
          <p:cNvPr id="8" name="">
            <a:extLst xmlns:a="http://schemas.openxmlformats.org/drawingml/2006/main">
              <a:ext uri="{FF2B5EF4-FFF2-40B4-BE49-F238E27FC236}">
                <a16:creationId xmlns:a16="http://schemas.microsoft.com/office/drawing/2014/main" id="{99D1C269-5B31-449A-841D-740EB5221777}"/>
              </a:ext>
            </a:extLst>
          </p:cNvPr>
          <p:cNvSpPr>
            <a:spLocks xmlns:a="http://schemas.openxmlformats.org/drawingml/2006/main" noGrp="1"/>
          </p:cNvSpPr>
          <p:nvPr/>
        </p:nvSpPr>
        <p:spPr>
          <a:xfrm xmlns:a="http://schemas.openxmlformats.org/drawingml/2006/main">
            <a:off x="3543300" y="30861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Typechecks and production build passed. Responsive browser checks recorded.</a:t>
            </a:r>
          </a:p>
        </p:txBody>
      </p:sp>
      <p:sp>
        <p:nvSpPr>
          <p:cNvPr id="9" name="">
            <a:extLst xmlns:a="http://schemas.openxmlformats.org/drawingml/2006/main">
              <a:ext uri="{FF2B5EF4-FFF2-40B4-BE49-F238E27FC236}">
                <a16:creationId xmlns:a16="http://schemas.microsoft.com/office/drawing/2014/main" id="{F5BEB047-5143-4A35-ABD3-B1A6DE900268}"/>
              </a:ext>
            </a:extLst>
          </p:cNvPr>
          <p:cNvSpPr>
            <a:spLocks xmlns:a="http://schemas.openxmlformats.org/drawingml/2006/main" noGrp="1"/>
          </p:cNvSpPr>
          <p:nvPr/>
        </p:nvSpPr>
        <p:spPr>
          <a:xfrm xmlns:a="http://schemas.openxmlformats.org/drawingml/2006/main">
            <a:off x="590550" y="39528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56E4DE4-2A3B-4838-A700-C718804B86CD}"/>
              </a:ext>
            </a:extLst>
          </p:cNvPr>
          <p:cNvSpPr>
            <a:spLocks xmlns:a="http://schemas.openxmlformats.org/drawingml/2006/main" noGrp="1"/>
          </p:cNvSpPr>
          <p:nvPr/>
        </p:nvSpPr>
        <p:spPr>
          <a:xfrm xmlns:a="http://schemas.openxmlformats.org/drawingml/2006/main">
            <a:off x="742950" y="40386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Hosted intake</a:t>
            </a:r>
          </a:p>
        </p:txBody>
      </p:sp>
      <p:sp>
        <p:nvSpPr>
          <p:cNvPr id="11" name="">
            <a:extLst xmlns:a="http://schemas.openxmlformats.org/drawingml/2006/main">
              <a:ext uri="{FF2B5EF4-FFF2-40B4-BE49-F238E27FC236}">
                <a16:creationId xmlns:a16="http://schemas.microsoft.com/office/drawing/2014/main" id="{CFBED71F-3F8D-48D2-AF75-D5BC35EB4C08}"/>
              </a:ext>
            </a:extLst>
          </p:cNvPr>
          <p:cNvSpPr>
            <a:spLocks xmlns:a="http://schemas.openxmlformats.org/drawingml/2006/main" noGrp="1"/>
          </p:cNvSpPr>
          <p:nvPr/>
        </p:nvSpPr>
        <p:spPr>
          <a:xfrm xmlns:a="http://schemas.openxmlformats.org/drawingml/2006/main">
            <a:off x="3543300" y="40005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Synthetic Punjabi intake saved through Clerk and Convex and survived reload</a:t>
            </a:r>
          </a:p>
        </p:txBody>
      </p:sp>
      <p:sp>
        <p:nvSpPr>
          <p:cNvPr id="12" name="">
            <a:extLst xmlns:a="http://schemas.openxmlformats.org/drawingml/2006/main">
              <a:ext uri="{FF2B5EF4-FFF2-40B4-BE49-F238E27FC236}">
                <a16:creationId xmlns:a16="http://schemas.microsoft.com/office/drawing/2014/main" id="{C92ACE52-6243-448D-8571-94E9DE607386}"/>
              </a:ext>
            </a:extLst>
          </p:cNvPr>
          <p:cNvSpPr>
            <a:spLocks xmlns:a="http://schemas.openxmlformats.org/drawingml/2006/main" noGrp="1"/>
          </p:cNvSpPr>
          <p:nvPr/>
        </p:nvSpPr>
        <p:spPr>
          <a:xfrm xmlns:a="http://schemas.openxmlformats.org/drawingml/2006/main">
            <a:off x="742950" y="49530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Still pending</a:t>
            </a:r>
          </a:p>
        </p:txBody>
      </p:sp>
      <p:sp>
        <p:nvSpPr>
          <p:cNvPr id="13" name="">
            <a:extLst xmlns:a="http://schemas.openxmlformats.org/drawingml/2006/main">
              <a:ext uri="{FF2B5EF4-FFF2-40B4-BE49-F238E27FC236}">
                <a16:creationId xmlns:a16="http://schemas.microsoft.com/office/drawing/2014/main" id="{7E46EC37-B20A-4CBB-AAD5-7DF69AC7E559}"/>
              </a:ext>
            </a:extLst>
          </p:cNvPr>
          <p:cNvSpPr>
            <a:spLocks xmlns:a="http://schemas.openxmlformats.org/drawingml/2006/main" noGrp="1"/>
          </p:cNvSpPr>
          <p:nvPr/>
        </p:nvSpPr>
        <p:spPr>
          <a:xfrm xmlns:a="http://schemas.openxmlformats.org/drawingml/2006/main">
            <a:off x="3543300" y="49149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Cross-account hosted checks, full booking acceptance and live AI evaluation</a:t>
            </a:r>
          </a:p>
        </p:txBody>
      </p:sp>
      <p:sp>
        <p:nvSpPr>
          <p:cNvPr id="14" name="">
            <a:extLst xmlns:a="http://schemas.openxmlformats.org/drawingml/2006/main">
              <a:ext uri="{FF2B5EF4-FFF2-40B4-BE49-F238E27FC236}">
                <a16:creationId xmlns:a16="http://schemas.microsoft.com/office/drawing/2014/main" id="{F5C0FAF9-9009-43B9-A9D8-327B94D390A9}"/>
              </a:ext>
            </a:extLst>
          </p:cNvPr>
          <p:cNvSpPr>
            <a:spLocks xmlns:a="http://schemas.openxmlformats.org/drawingml/2006/main" noGrp="1"/>
          </p:cNvSpPr>
          <p:nvPr/>
        </p:nvSpPr>
        <p:spPr>
          <a:xfrm xmlns:a="http://schemas.openxmlformats.org/drawingml/2006/main">
            <a:off x="619125" y="6191250"/>
            <a:ext cx="10715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Evidence dates: 14–16 October 2026. These are recorded project results, not a new test run.</a:t>
            </a:r>
          </a:p>
        </p:txBody>
      </p:sp>
      <p:sp>
        <p:nvSpPr>
          <p:cNvPr id="15" name="">
            <a:extLst xmlns:a="http://schemas.openxmlformats.org/drawingml/2006/main">
              <a:ext uri="{FF2B5EF4-FFF2-40B4-BE49-F238E27FC236}">
                <a16:creationId xmlns:a16="http://schemas.microsoft.com/office/drawing/2014/main" id="{93A2180F-9B2A-4DB1-9833-5A86047D1BA8}"/>
              </a:ext>
            </a:extLst>
          </p:cNvPr>
          <p:cNvSpPr>
            <a:spLocks xmlns:a="http://schemas.openxmlformats.org/drawingml/2006/main" noGrp="1"/>
          </p:cNvSpPr>
          <p:nvPr/>
        </p:nvSpPr>
        <p:spPr>
          <a:xfrm xmlns:a="http://schemas.openxmlformats.org/drawingml/2006/main">
            <a:off x="11525250" y="64484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75" b="0">
                <a:solidFill>
                  <a:srgbClr val="52616A"/>
                </a:solidFill>
                <a:latin typeface="Arial"/>
                <a:ea typeface="Arial"/>
                <a:cs typeface="Arial"/>
              </a:defRPr>
            </a:defPPr>
          </a:lstStyle>
          <a:p xmlns:a="http://schemas.openxmlformats.org/drawingml/2006/main">
            <a:pPr>
              <a:defRPr sz="1275" b="0">
                <a:solidFill>
                  <a:srgbClr val="52616A"/>
                </a:solidFill>
                <a:latin typeface="Arial"/>
                <a:ea typeface="Arial"/>
                <a:cs typeface="Arial"/>
              </a:defRPr>
            </a:pPr>
            <a:r>
              <a:rPr sz="1275" b="0">
                <a:solidFill>
                  <a:srgbClr val="52616A"/>
                </a:solidFill>
                <a:latin typeface="Arial"/>
                <a:ea typeface="Arial"/>
                <a:cs typeface="Arial"/>
              </a:rPr>
              <a:t>11</a:t>
            </a:r>
          </a:p>
        </p:txBody>
      </p:sp>
    </p:spTree>
    <p:extLst>
      <p:ext uri="{BB962C8B-B14F-4D97-AF65-F5344CB8AC3E}">
        <p14:creationId xmlns:p14="http://schemas.microsoft.com/office/powerpoint/2010/main" val="1935170316"/>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0FEE047-FE5E-40A8-9A3B-A2C1D2B8D543}"/>
              </a:ext>
            </a:extLst>
          </p:cNvPr>
          <p:cNvSpPr>
            <a:spLocks xmlns:a="http://schemas.openxmlformats.org/drawingml/2006/main" noGrp="1"/>
          </p:cNvSpPr>
          <p:nvPr/>
        </p:nvSpPr>
        <p:spPr>
          <a:xfrm xmlns:a="http://schemas.openxmlformats.org/drawingml/2006/main">
            <a:off x="590550" y="3048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B12632"/>
                </a:solidFill>
                <a:latin typeface="Arial"/>
                <a:ea typeface="Arial"/>
                <a:cs typeface="Arial"/>
              </a:defRPr>
            </a:defPPr>
          </a:lstStyle>
          <a:p xmlns:a="http://schemas.openxmlformats.org/drawingml/2006/main">
            <a:pPr>
              <a:defRPr sz="1950" b="1">
                <a:solidFill>
                  <a:srgbClr val="B12632"/>
                </a:solidFill>
                <a:latin typeface="Arial"/>
                <a:ea typeface="Arial"/>
                <a:cs typeface="Arial"/>
              </a:defRPr>
            </a:pPr>
            <a:r>
              <a:rPr sz="1950" b="1">
                <a:solidFill>
                  <a:srgbClr val="B12632"/>
                </a:solidFill>
                <a:latin typeface="Arial"/>
                <a:ea typeface="Arial"/>
                <a:cs typeface="Arial"/>
              </a:rPr>
              <a:t>T  /  TAKEAWAY</a:t>
            </a:r>
          </a:p>
        </p:txBody>
      </p:sp>
      <p:sp>
        <p:nvSpPr>
          <p:cNvPr id="2" name="">
            <a:extLst xmlns:a="http://schemas.openxmlformats.org/drawingml/2006/main">
              <a:ext uri="{FF2B5EF4-FFF2-40B4-BE49-F238E27FC236}">
                <a16:creationId xmlns:a16="http://schemas.microsoft.com/office/drawing/2014/main" id="{F810C6B2-7371-46E1-936A-06D577CD462F}"/>
              </a:ext>
            </a:extLst>
          </p:cNvPr>
          <p:cNvSpPr>
            <a:spLocks xmlns:a="http://schemas.openxmlformats.org/drawingml/2006/main" noGrp="1"/>
          </p:cNvSpPr>
          <p:nvPr/>
        </p:nvSpPr>
        <p:spPr>
          <a:xfrm xmlns:a="http://schemas.openxmlformats.org/drawingml/2006/main">
            <a:off x="590550" y="8001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72A35"/>
                </a:solidFill>
                <a:latin typeface="Arial"/>
                <a:ea typeface="Arial"/>
                <a:cs typeface="Arial"/>
              </a:defRPr>
            </a:defPPr>
          </a:lstStyle>
          <a:p xmlns:a="http://schemas.openxmlformats.org/drawingml/2006/main">
            <a:pPr>
              <a:defRPr sz="3450" b="1">
                <a:solidFill>
                  <a:srgbClr val="172A35"/>
                </a:solidFill>
                <a:latin typeface="Arial"/>
                <a:ea typeface="Arial"/>
                <a:cs typeface="Arial"/>
              </a:defRPr>
            </a:pPr>
            <a:r>
              <a:rPr sz="3450" b="1">
                <a:solidFill>
                  <a:srgbClr val="172A35"/>
                </a:solidFill>
                <a:latin typeface="Arial"/>
                <a:ea typeface="Arial"/>
                <a:cs typeface="Arial"/>
              </a:rPr>
              <a:t>Lessons and current limitations</a:t>
            </a:r>
          </a:p>
        </p:txBody>
      </p:sp>
      <p:sp>
        <p:nvSpPr>
          <p:cNvPr id="3" name="">
            <a:extLst xmlns:a="http://schemas.openxmlformats.org/drawingml/2006/main">
              <a:ext uri="{FF2B5EF4-FFF2-40B4-BE49-F238E27FC236}">
                <a16:creationId xmlns:a16="http://schemas.microsoft.com/office/drawing/2014/main" id="{1193EA54-5916-43AD-ABF6-DBBEF80AA091}"/>
              </a:ext>
            </a:extLst>
          </p:cNvPr>
          <p:cNvSpPr>
            <a:spLocks xmlns:a="http://schemas.openxmlformats.org/drawingml/2006/main" noGrp="1"/>
          </p:cNvSpPr>
          <p:nvPr/>
        </p:nvSpPr>
        <p:spPr>
          <a:xfrm xmlns:a="http://schemas.openxmlformats.org/drawingml/2006/main">
            <a:off x="619125" y="14763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52616A"/>
                </a:solidFill>
                <a:latin typeface="Arial"/>
                <a:ea typeface="Arial"/>
                <a:cs typeface="Arial"/>
              </a:defRPr>
            </a:def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Implementation, configuration and real-world validation are different milestones</a:t>
            </a:r>
          </a:p>
        </p:txBody>
      </p:sp>
      <p:sp>
        <p:nvSpPr>
          <p:cNvPr id="4" name="">
            <a:extLst xmlns:a="http://schemas.openxmlformats.org/drawingml/2006/main">
              <a:ext uri="{FF2B5EF4-FFF2-40B4-BE49-F238E27FC236}">
                <a16:creationId xmlns:a16="http://schemas.microsoft.com/office/drawing/2014/main" id="{F08BAC27-08C7-43F7-8F45-5105D1843D0D}"/>
              </a:ext>
            </a:extLst>
          </p:cNvPr>
          <p:cNvSpPr>
            <a:spLocks xmlns:a="http://schemas.openxmlformats.org/drawingml/2006/main" noGrp="1"/>
          </p:cNvSpPr>
          <p:nvPr/>
        </p:nvSpPr>
        <p:spPr>
          <a:xfrm xmlns:a="http://schemas.openxmlformats.org/drawingml/2006/main">
            <a:off x="666750" y="217170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B12632"/>
                </a:solidFill>
                <a:latin typeface="Arial"/>
                <a:ea typeface="Arial"/>
                <a:cs typeface="Arial"/>
              </a:defRPr>
            </a:defPPr>
          </a:lstStyle>
          <a:p xmlns:a="http://schemas.openxmlformats.org/drawingml/2006/main">
            <a:pPr>
              <a:defRPr sz="2325" b="1">
                <a:solidFill>
                  <a:srgbClr val="B12632"/>
                </a:solidFill>
                <a:latin typeface="Arial"/>
                <a:ea typeface="Arial"/>
                <a:cs typeface="Arial"/>
              </a:defRPr>
            </a:pPr>
            <a:r>
              <a:rPr sz="2325" b="1">
                <a:solidFill>
                  <a:srgbClr val="B12632"/>
                </a:solidFill>
                <a:latin typeface="Arial"/>
                <a:ea typeface="Arial"/>
                <a:cs typeface="Arial"/>
              </a:rPr>
              <a:t>What the work taught us</a:t>
            </a:r>
          </a:p>
        </p:txBody>
      </p:sp>
      <p:sp>
        <p:nvSpPr>
          <p:cNvPr id="5" name="">
            <a:extLst xmlns:a="http://schemas.openxmlformats.org/drawingml/2006/main">
              <a:ext uri="{FF2B5EF4-FFF2-40B4-BE49-F238E27FC236}">
                <a16:creationId xmlns:a16="http://schemas.microsoft.com/office/drawing/2014/main" id="{5E0A1193-728D-4A2D-8089-480CB02D3BF0}"/>
              </a:ext>
            </a:extLst>
          </p:cNvPr>
          <p:cNvSpPr>
            <a:spLocks xmlns:a="http://schemas.openxmlformats.org/drawingml/2006/main" noGrp="1"/>
          </p:cNvSpPr>
          <p:nvPr/>
        </p:nvSpPr>
        <p:spPr>
          <a:xfrm xmlns:a="http://schemas.openxmlformats.org/drawingml/2006/main">
            <a:off x="666750" y="28575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72A35"/>
                </a:solidFill>
                <a:latin typeface="Arial"/>
                <a:ea typeface="Arial"/>
                <a:cs typeface="Arial"/>
              </a:defRPr>
            </a:defPPr>
          </a:lstStyle>
          <a:p xmlns:a="http://schemas.openxmlformats.org/drawingml/2006/main">
            <a:pPr>
              <a:defRPr sz="2100" b="0">
                <a:solidFill>
                  <a:srgbClr val="172A35"/>
                </a:solidFill>
                <a:latin typeface="Arial"/>
                <a:ea typeface="Arial"/>
                <a:cs typeface="Arial"/>
              </a:defRPr>
            </a:pPr>
            <a:r>
              <a:rPr sz="2100" b="0">
                <a:solidFill>
                  <a:srgbClr val="172A35"/>
                </a:solidFill>
                <a:latin typeface="Arial"/>
                <a:ea typeface="Arial"/>
                <a:cs typeface="Arial"/>
              </a:rPr>
              <a:t>Backend checks must enforce privacy</a:t>
            </a:r>
          </a:p>
        </p:txBody>
      </p:sp>
      <p:sp>
        <p:nvSpPr>
          <p:cNvPr id="6" name="">
            <a:extLst xmlns:a="http://schemas.openxmlformats.org/drawingml/2006/main">
              <a:ext uri="{FF2B5EF4-FFF2-40B4-BE49-F238E27FC236}">
                <a16:creationId xmlns:a16="http://schemas.microsoft.com/office/drawing/2014/main" id="{8410E75B-3E78-462F-BF8B-A4BFB5DF1D6B}"/>
              </a:ext>
            </a:extLst>
          </p:cNvPr>
          <p:cNvSpPr>
            <a:spLocks xmlns:a="http://schemas.openxmlformats.org/drawingml/2006/main" noGrp="1"/>
          </p:cNvSpPr>
          <p:nvPr/>
        </p:nvSpPr>
        <p:spPr>
          <a:xfrm xmlns:a="http://schemas.openxmlformats.org/drawingml/2006/main">
            <a:off x="666750" y="35814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72A35"/>
                </a:solidFill>
                <a:latin typeface="Arial"/>
                <a:ea typeface="Arial"/>
                <a:cs typeface="Arial"/>
              </a:defRPr>
            </a:defPPr>
          </a:lstStyle>
          <a:p xmlns:a="http://schemas.openxmlformats.org/drawingml/2006/main">
            <a:pPr>
              <a:defRPr sz="2100" b="0">
                <a:solidFill>
                  <a:srgbClr val="172A35"/>
                </a:solidFill>
                <a:latin typeface="Arial"/>
                <a:ea typeface="Arial"/>
                <a:cs typeface="Arial"/>
              </a:defRPr>
            </a:pPr>
            <a:r>
              <a:rPr sz="2100" b="0">
                <a:solidFill>
                  <a:srgbClr val="172A35"/>
                </a:solidFill>
                <a:latin typeface="Arial"/>
                <a:ea typeface="Arial"/>
                <a:cs typeface="Arial"/>
              </a:rPr>
              <a:t>Users need clear outcomes after saving</a:t>
            </a:r>
          </a:p>
        </p:txBody>
      </p:sp>
      <p:sp>
        <p:nvSpPr>
          <p:cNvPr id="7" name="">
            <a:extLst xmlns:a="http://schemas.openxmlformats.org/drawingml/2006/main">
              <a:ext uri="{FF2B5EF4-FFF2-40B4-BE49-F238E27FC236}">
                <a16:creationId xmlns:a16="http://schemas.microsoft.com/office/drawing/2014/main" id="{8C7C8B13-EB24-4D76-ABD1-B7C09CD44437}"/>
              </a:ext>
            </a:extLst>
          </p:cNvPr>
          <p:cNvSpPr>
            <a:spLocks xmlns:a="http://schemas.openxmlformats.org/drawingml/2006/main" noGrp="1"/>
          </p:cNvSpPr>
          <p:nvPr/>
        </p:nvSpPr>
        <p:spPr>
          <a:xfrm xmlns:a="http://schemas.openxmlformats.org/drawingml/2006/main">
            <a:off x="666750" y="43053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72A35"/>
                </a:solidFill>
                <a:latin typeface="Arial"/>
                <a:ea typeface="Arial"/>
                <a:cs typeface="Arial"/>
              </a:defRPr>
            </a:defPPr>
          </a:lstStyle>
          <a:p xmlns:a="http://schemas.openxmlformats.org/drawingml/2006/main">
            <a:pPr>
              <a:defRPr sz="2100" b="0">
                <a:solidFill>
                  <a:srgbClr val="172A35"/>
                </a:solidFill>
                <a:latin typeface="Arial"/>
                <a:ea typeface="Arial"/>
                <a:cs typeface="Arial"/>
              </a:defRPr>
            </a:pPr>
            <a:r>
              <a:rPr sz="2100" b="0">
                <a:solidFill>
                  <a:srgbClr val="172A35"/>
                </a:solidFill>
                <a:latin typeface="Arial"/>
                <a:ea typeface="Arial"/>
                <a:cs typeface="Arial"/>
              </a:rPr>
              <a:t>Speech failures need visible recovery</a:t>
            </a:r>
          </a:p>
        </p:txBody>
      </p:sp>
      <p:sp>
        <p:nvSpPr>
          <p:cNvPr id="8" name="">
            <a:extLst xmlns:a="http://schemas.openxmlformats.org/drawingml/2006/main">
              <a:ext uri="{FF2B5EF4-FFF2-40B4-BE49-F238E27FC236}">
                <a16:creationId xmlns:a16="http://schemas.microsoft.com/office/drawing/2014/main" id="{995F71A0-976C-4857-8236-EFFBDBD43038}"/>
              </a:ext>
            </a:extLst>
          </p:cNvPr>
          <p:cNvSpPr>
            <a:spLocks xmlns:a="http://schemas.openxmlformats.org/drawingml/2006/main" noGrp="1"/>
          </p:cNvSpPr>
          <p:nvPr/>
        </p:nvSpPr>
        <p:spPr>
          <a:xfrm xmlns:a="http://schemas.openxmlformats.org/drawingml/2006/main">
            <a:off x="666750" y="50292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72A35"/>
                </a:solidFill>
                <a:latin typeface="Arial"/>
                <a:ea typeface="Arial"/>
                <a:cs typeface="Arial"/>
              </a:defRPr>
            </a:defPPr>
          </a:lstStyle>
          <a:p xmlns:a="http://schemas.openxmlformats.org/drawingml/2006/main">
            <a:pPr>
              <a:defRPr sz="2100" b="0">
                <a:solidFill>
                  <a:srgbClr val="172A35"/>
                </a:solidFill>
                <a:latin typeface="Arial"/>
                <a:ea typeface="Arial"/>
                <a:cs typeface="Arial"/>
              </a:defRPr>
            </a:pPr>
            <a:r>
              <a:rPr sz="2100" b="0">
                <a:solidFill>
                  <a:srgbClr val="172A35"/>
                </a:solidFill>
                <a:latin typeface="Arial"/>
                <a:ea typeface="Arial"/>
                <a:cs typeface="Arial"/>
              </a:rPr>
              <a:t>Evidence must name the behaviour tested</a:t>
            </a:r>
          </a:p>
        </p:txBody>
      </p:sp>
      <p:sp>
        <p:nvSpPr>
          <p:cNvPr id="9" name="">
            <a:extLst xmlns:a="http://schemas.openxmlformats.org/drawingml/2006/main">
              <a:ext uri="{FF2B5EF4-FFF2-40B4-BE49-F238E27FC236}">
                <a16:creationId xmlns:a16="http://schemas.microsoft.com/office/drawing/2014/main" id="{0CB8603A-28A7-4F02-B4FC-6B17FBBE3A93}"/>
              </a:ext>
            </a:extLst>
          </p:cNvPr>
          <p:cNvSpPr>
            <a:spLocks xmlns:a="http://schemas.openxmlformats.org/drawingml/2006/main" noGrp="1"/>
          </p:cNvSpPr>
          <p:nvPr/>
        </p:nvSpPr>
        <p:spPr>
          <a:xfrm xmlns:a="http://schemas.openxmlformats.org/drawingml/2006/main">
            <a:off x="6477000" y="2171700"/>
            <a:ext cx="5095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325" b="1">
                <a:solidFill>
                  <a:srgbClr val="B12632"/>
                </a:solidFill>
                <a:latin typeface="Arial"/>
                <a:ea typeface="Arial"/>
                <a:cs typeface="Arial"/>
              </a:defRPr>
            </a:defPPr>
          </a:lstStyle>
          <a:p xmlns:a="http://schemas.openxmlformats.org/drawingml/2006/main">
            <a:pPr>
              <a:defRPr sz="2325" b="1">
                <a:solidFill>
                  <a:srgbClr val="B12632"/>
                </a:solidFill>
                <a:latin typeface="Arial"/>
                <a:ea typeface="Arial"/>
                <a:cs typeface="Arial"/>
              </a:defRPr>
            </a:pPr>
            <a:r>
              <a:rPr sz="2325" b="1">
                <a:solidFill>
                  <a:srgbClr val="B12632"/>
                </a:solidFill>
                <a:latin typeface="Arial"/>
                <a:ea typeface="Arial"/>
                <a:cs typeface="Arial"/>
              </a:rPr>
              <a:t>What limits the current result</a:t>
            </a:r>
          </a:p>
        </p:txBody>
      </p:sp>
      <p:sp>
        <p:nvSpPr>
          <p:cNvPr id="10" name="">
            <a:extLst xmlns:a="http://schemas.openxmlformats.org/drawingml/2006/main">
              <a:ext uri="{FF2B5EF4-FFF2-40B4-BE49-F238E27FC236}">
                <a16:creationId xmlns:a16="http://schemas.microsoft.com/office/drawing/2014/main" id="{19AFCFD8-1130-4438-9C84-301AACA15533}"/>
              </a:ext>
            </a:extLst>
          </p:cNvPr>
          <p:cNvSpPr>
            <a:spLocks xmlns:a="http://schemas.openxmlformats.org/drawingml/2006/main" noGrp="1"/>
          </p:cNvSpPr>
          <p:nvPr/>
        </p:nvSpPr>
        <p:spPr>
          <a:xfrm xmlns:a="http://schemas.openxmlformats.org/drawingml/2006/main">
            <a:off x="6477000" y="28575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72A35"/>
                </a:solidFill>
                <a:latin typeface="Arial"/>
                <a:ea typeface="Arial"/>
                <a:cs typeface="Arial"/>
              </a:defRPr>
            </a:defPPr>
          </a:lstStyle>
          <a:p xmlns:a="http://schemas.openxmlformats.org/drawingml/2006/main">
            <a:pPr>
              <a:defRPr sz="2100" b="0">
                <a:solidFill>
                  <a:srgbClr val="172A35"/>
                </a:solidFill>
                <a:latin typeface="Arial"/>
                <a:ea typeface="Arial"/>
                <a:cs typeface="Arial"/>
              </a:defRPr>
            </a:pPr>
            <a:r>
              <a:rPr sz="2100" b="0">
                <a:solidFill>
                  <a:srgbClr val="172A35"/>
                </a:solidFill>
                <a:latin typeface="Arial"/>
                <a:ea typeface="Arial"/>
                <a:cs typeface="Arial"/>
              </a:rPr>
              <a:t>No measured user or legal accuracy study</a:t>
            </a:r>
          </a:p>
        </p:txBody>
      </p:sp>
      <p:sp>
        <p:nvSpPr>
          <p:cNvPr id="11" name="">
            <a:extLst xmlns:a="http://schemas.openxmlformats.org/drawingml/2006/main">
              <a:ext uri="{FF2B5EF4-FFF2-40B4-BE49-F238E27FC236}">
                <a16:creationId xmlns:a16="http://schemas.microsoft.com/office/drawing/2014/main" id="{EB716351-8984-4391-88A8-13CB1A894660}"/>
              </a:ext>
            </a:extLst>
          </p:cNvPr>
          <p:cNvSpPr>
            <a:spLocks xmlns:a="http://schemas.openxmlformats.org/drawingml/2006/main" noGrp="1"/>
          </p:cNvSpPr>
          <p:nvPr/>
        </p:nvSpPr>
        <p:spPr>
          <a:xfrm xmlns:a="http://schemas.openxmlformats.org/drawingml/2006/main">
            <a:off x="6477000" y="35814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72A35"/>
                </a:solidFill>
                <a:latin typeface="Arial"/>
                <a:ea typeface="Arial"/>
                <a:cs typeface="Arial"/>
              </a:defRPr>
            </a:defPPr>
          </a:lstStyle>
          <a:p xmlns:a="http://schemas.openxmlformats.org/drawingml/2006/main">
            <a:pPr>
              <a:defRPr sz="2100" b="0">
                <a:solidFill>
                  <a:srgbClr val="172A35"/>
                </a:solidFill>
                <a:latin typeface="Arial"/>
                <a:ea typeface="Arial"/>
                <a:cs typeface="Arial"/>
              </a:defRPr>
            </a:pPr>
            <a:r>
              <a:rPr sz="2100" b="0">
                <a:solidFill>
                  <a:srgbClr val="172A35"/>
                </a:solidFill>
                <a:latin typeface="Arial"/>
                <a:ea typeface="Arial"/>
                <a:cs typeface="Arial"/>
              </a:rPr>
              <a:t>Incomplete human language review</a:t>
            </a:r>
          </a:p>
        </p:txBody>
      </p:sp>
      <p:sp>
        <p:nvSpPr>
          <p:cNvPr id="12" name="">
            <a:extLst xmlns:a="http://schemas.openxmlformats.org/drawingml/2006/main">
              <a:ext uri="{FF2B5EF4-FFF2-40B4-BE49-F238E27FC236}">
                <a16:creationId xmlns:a16="http://schemas.microsoft.com/office/drawing/2014/main" id="{1D8D75A0-A8E9-4806-A41E-8497C7E6AC10}"/>
              </a:ext>
            </a:extLst>
          </p:cNvPr>
          <p:cNvSpPr>
            <a:spLocks xmlns:a="http://schemas.openxmlformats.org/drawingml/2006/main" noGrp="1"/>
          </p:cNvSpPr>
          <p:nvPr/>
        </p:nvSpPr>
        <p:spPr>
          <a:xfrm xmlns:a="http://schemas.openxmlformats.org/drawingml/2006/main">
            <a:off x="6477000" y="43053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72A35"/>
                </a:solidFill>
                <a:latin typeface="Arial"/>
                <a:ea typeface="Arial"/>
                <a:cs typeface="Arial"/>
              </a:defRPr>
            </a:defPPr>
          </a:lstStyle>
          <a:p xmlns:a="http://schemas.openxmlformats.org/drawingml/2006/main">
            <a:pPr>
              <a:defRPr sz="2100" b="0">
                <a:solidFill>
                  <a:srgbClr val="172A35"/>
                </a:solidFill>
                <a:latin typeface="Arial"/>
                <a:ea typeface="Arial"/>
                <a:cs typeface="Arial"/>
              </a:defRPr>
            </a:pPr>
            <a:r>
              <a:rPr sz="2100" b="0">
                <a:solidFill>
                  <a:srgbClr val="172A35"/>
                </a:solidFill>
                <a:latin typeface="Arial"/>
                <a:ea typeface="Arial"/>
                <a:cs typeface="Arial"/>
              </a:rPr>
              <a:t>Hosted multi-role acceptance still pending</a:t>
            </a:r>
          </a:p>
        </p:txBody>
      </p:sp>
      <p:sp>
        <p:nvSpPr>
          <p:cNvPr id="13" name="">
            <a:extLst xmlns:a="http://schemas.openxmlformats.org/drawingml/2006/main">
              <a:ext uri="{FF2B5EF4-FFF2-40B4-BE49-F238E27FC236}">
                <a16:creationId xmlns:a16="http://schemas.microsoft.com/office/drawing/2014/main" id="{A0368F71-850B-4D07-A82B-F923D1693789}"/>
              </a:ext>
            </a:extLst>
          </p:cNvPr>
          <p:cNvSpPr>
            <a:spLocks xmlns:a="http://schemas.openxmlformats.org/drawingml/2006/main" noGrp="1"/>
          </p:cNvSpPr>
          <p:nvPr/>
        </p:nvSpPr>
        <p:spPr>
          <a:xfrm xmlns:a="http://schemas.openxmlformats.org/drawingml/2006/main">
            <a:off x="6477000" y="5029200"/>
            <a:ext cx="50958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100" b="0">
                <a:solidFill>
                  <a:srgbClr val="172A35"/>
                </a:solidFill>
                <a:latin typeface="Arial"/>
                <a:ea typeface="Arial"/>
                <a:cs typeface="Arial"/>
              </a:defRPr>
            </a:defPPr>
          </a:lstStyle>
          <a:p xmlns:a="http://schemas.openxmlformats.org/drawingml/2006/main">
            <a:pPr>
              <a:defRPr sz="2100" b="0">
                <a:solidFill>
                  <a:srgbClr val="172A35"/>
                </a:solidFill>
                <a:latin typeface="Arial"/>
                <a:ea typeface="Arial"/>
                <a:cs typeface="Arial"/>
              </a:defRPr>
            </a:pPr>
            <a:r>
              <a:rPr sz="2100" b="0">
                <a:solidFill>
                  <a:srgbClr val="172A35"/>
                </a:solidFill>
                <a:latin typeface="Arial"/>
                <a:ea typeface="Arial"/>
                <a:cs typeface="Arial"/>
              </a:rPr>
              <a:t>Speech asset provenance needs release review</a:t>
            </a:r>
          </a:p>
        </p:txBody>
      </p:sp>
      <p:sp>
        <p:nvSpPr>
          <p:cNvPr id="14" name="">
            <a:extLst xmlns:a="http://schemas.openxmlformats.org/drawingml/2006/main">
              <a:ext uri="{FF2B5EF4-FFF2-40B4-BE49-F238E27FC236}">
                <a16:creationId xmlns:a16="http://schemas.microsoft.com/office/drawing/2014/main" id="{5FCE8BA0-32EE-4747-8C14-1B029821568F}"/>
              </a:ext>
            </a:extLst>
          </p:cNvPr>
          <p:cNvSpPr>
            <a:spLocks xmlns:a="http://schemas.openxmlformats.org/drawingml/2006/main" noGrp="1"/>
          </p:cNvSpPr>
          <p:nvPr/>
        </p:nvSpPr>
        <p:spPr>
          <a:xfrm xmlns:a="http://schemas.openxmlformats.org/drawingml/2006/main">
            <a:off x="619125" y="6191250"/>
            <a:ext cx="10715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The Punjabi interface preference currently resets on reload. Saved case text remains preserved.</a:t>
            </a:r>
          </a:p>
        </p:txBody>
      </p:sp>
      <p:sp>
        <p:nvSpPr>
          <p:cNvPr id="15" name="">
            <a:extLst xmlns:a="http://schemas.openxmlformats.org/drawingml/2006/main">
              <a:ext uri="{FF2B5EF4-FFF2-40B4-BE49-F238E27FC236}">
                <a16:creationId xmlns:a16="http://schemas.microsoft.com/office/drawing/2014/main" id="{85F390A8-BD62-49B4-9359-EE893ADB5CC4}"/>
              </a:ext>
            </a:extLst>
          </p:cNvPr>
          <p:cNvSpPr>
            <a:spLocks xmlns:a="http://schemas.openxmlformats.org/drawingml/2006/main" noGrp="1"/>
          </p:cNvSpPr>
          <p:nvPr/>
        </p:nvSpPr>
        <p:spPr>
          <a:xfrm xmlns:a="http://schemas.openxmlformats.org/drawingml/2006/main">
            <a:off x="11525250" y="64484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75" b="0">
                <a:solidFill>
                  <a:srgbClr val="52616A"/>
                </a:solidFill>
                <a:latin typeface="Arial"/>
                <a:ea typeface="Arial"/>
                <a:cs typeface="Arial"/>
              </a:defRPr>
            </a:defPPr>
          </a:lstStyle>
          <a:p xmlns:a="http://schemas.openxmlformats.org/drawingml/2006/main">
            <a:pPr>
              <a:defRPr sz="1275" b="0">
                <a:solidFill>
                  <a:srgbClr val="52616A"/>
                </a:solidFill>
                <a:latin typeface="Arial"/>
                <a:ea typeface="Arial"/>
                <a:cs typeface="Arial"/>
              </a:defRPr>
            </a:pPr>
            <a:r>
              <a:rPr sz="1275" b="0">
                <a:solidFill>
                  <a:srgbClr val="52616A"/>
                </a:solidFill>
                <a:latin typeface="Arial"/>
                <a:ea typeface="Arial"/>
                <a:cs typeface="Arial"/>
              </a:rPr>
              <a:t>12</a:t>
            </a:r>
          </a:p>
        </p:txBody>
      </p:sp>
    </p:spTree>
    <p:extLst>
      <p:ext uri="{BB962C8B-B14F-4D97-AF65-F5344CB8AC3E}">
        <p14:creationId xmlns:p14="http://schemas.microsoft.com/office/powerpoint/2010/main" val="1322148376"/>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FF971A66-E654-416A-BF41-C79F0693EBCE}"/>
              </a:ext>
            </a:extLst>
          </p:cNvPr>
          <p:cNvSpPr>
            <a:spLocks xmlns:a="http://schemas.openxmlformats.org/drawingml/2006/main" noGrp="1"/>
          </p:cNvSpPr>
          <p:nvPr/>
        </p:nvSpPr>
        <p:spPr>
          <a:xfrm xmlns:a="http://schemas.openxmlformats.org/drawingml/2006/main">
            <a:off x="590550" y="304800"/>
            <a:ext cx="10668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950" b="1">
                <a:solidFill>
                  <a:srgbClr val="B12632"/>
                </a:solidFill>
                <a:latin typeface="Arial"/>
                <a:ea typeface="Arial"/>
                <a:cs typeface="Arial"/>
              </a:defRPr>
            </a:defPPr>
          </a:lstStyle>
          <a:p xmlns:a="http://schemas.openxmlformats.org/drawingml/2006/main">
            <a:pPr>
              <a:defRPr sz="1950" b="1">
                <a:solidFill>
                  <a:srgbClr val="B12632"/>
                </a:solidFill>
                <a:latin typeface="Arial"/>
                <a:ea typeface="Arial"/>
                <a:cs typeface="Arial"/>
              </a:defRPr>
            </a:pPr>
            <a:r>
              <a:rPr sz="1950" b="1">
                <a:solidFill>
                  <a:srgbClr val="B12632"/>
                </a:solidFill>
                <a:latin typeface="Arial"/>
                <a:ea typeface="Arial"/>
                <a:cs typeface="Arial"/>
              </a:rPr>
              <a:t>T  /  TAKEAWAY</a:t>
            </a:r>
          </a:p>
        </p:txBody>
      </p:sp>
      <p:sp>
        <p:nvSpPr>
          <p:cNvPr id="2" name="">
            <a:extLst xmlns:a="http://schemas.openxmlformats.org/drawingml/2006/main">
              <a:ext uri="{FF2B5EF4-FFF2-40B4-BE49-F238E27FC236}">
                <a16:creationId xmlns:a16="http://schemas.microsoft.com/office/drawing/2014/main" id="{105ED94A-E38A-4C09-A727-7D5839FD2D3E}"/>
              </a:ext>
            </a:extLst>
          </p:cNvPr>
          <p:cNvSpPr>
            <a:spLocks xmlns:a="http://schemas.openxmlformats.org/drawingml/2006/main" noGrp="1"/>
          </p:cNvSpPr>
          <p:nvPr/>
        </p:nvSpPr>
        <p:spPr>
          <a:xfrm xmlns:a="http://schemas.openxmlformats.org/drawingml/2006/main">
            <a:off x="590550" y="800100"/>
            <a:ext cx="110490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3450" b="1">
                <a:solidFill>
                  <a:srgbClr val="172A35"/>
                </a:solidFill>
                <a:latin typeface="Arial"/>
                <a:ea typeface="Arial"/>
                <a:cs typeface="Arial"/>
              </a:defRPr>
            </a:defPPr>
          </a:lstStyle>
          <a:p xmlns:a="http://schemas.openxmlformats.org/drawingml/2006/main">
            <a:pPr>
              <a:defRPr sz="3450" b="1">
                <a:solidFill>
                  <a:srgbClr val="172A35"/>
                </a:solidFill>
                <a:latin typeface="Arial"/>
                <a:ea typeface="Arial"/>
                <a:cs typeface="Arial"/>
              </a:defRPr>
            </a:pPr>
            <a:r>
              <a:rPr sz="3450" b="1">
                <a:solidFill>
                  <a:srgbClr val="172A35"/>
                </a:solidFill>
                <a:latin typeface="Arial"/>
                <a:ea typeface="Arial"/>
                <a:cs typeface="Arial"/>
              </a:rPr>
              <a:t>Next validation and development steps</a:t>
            </a:r>
          </a:p>
        </p:txBody>
      </p:sp>
      <p:sp>
        <p:nvSpPr>
          <p:cNvPr id="3" name="">
            <a:extLst xmlns:a="http://schemas.openxmlformats.org/drawingml/2006/main">
              <a:ext uri="{FF2B5EF4-FFF2-40B4-BE49-F238E27FC236}">
                <a16:creationId xmlns:a16="http://schemas.microsoft.com/office/drawing/2014/main" id="{E6EEB88A-D3F2-4F09-8B58-6FF2AFE3D0BA}"/>
              </a:ext>
            </a:extLst>
          </p:cNvPr>
          <p:cNvSpPr>
            <a:spLocks xmlns:a="http://schemas.openxmlformats.org/drawingml/2006/main" noGrp="1"/>
          </p:cNvSpPr>
          <p:nvPr/>
        </p:nvSpPr>
        <p:spPr>
          <a:xfrm xmlns:a="http://schemas.openxmlformats.org/drawingml/2006/main">
            <a:off x="619125" y="1476375"/>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0">
                <a:solidFill>
                  <a:srgbClr val="52616A"/>
                </a:solidFill>
                <a:latin typeface="Arial"/>
                <a:ea typeface="Arial"/>
                <a:cs typeface="Arial"/>
              </a:defRPr>
            </a:defPPr>
          </a:lstStyle>
          <a:p xmlns:a="http://schemas.openxmlformats.org/drawingml/2006/main">
            <a:pPr>
              <a:defRPr sz="1875" b="0">
                <a:solidFill>
                  <a:srgbClr val="52616A"/>
                </a:solidFill>
                <a:latin typeface="Arial"/>
                <a:ea typeface="Arial"/>
                <a:cs typeface="Arial"/>
              </a:defRPr>
            </a:pPr>
            <a:r>
              <a:rPr sz="1875" b="0">
                <a:solidFill>
                  <a:srgbClr val="52616A"/>
                </a:solidFill>
                <a:latin typeface="Arial"/>
                <a:ea typeface="Arial"/>
                <a:cs typeface="Arial"/>
              </a:rPr>
              <a:t>Release work takes priority over adding more features</a:t>
            </a:r>
          </a:p>
        </p:txBody>
      </p:sp>
      <p:sp>
        <p:nvSpPr>
          <p:cNvPr id="4" name="">
            <a:extLst xmlns:a="http://schemas.openxmlformats.org/drawingml/2006/main">
              <a:ext uri="{FF2B5EF4-FFF2-40B4-BE49-F238E27FC236}">
                <a16:creationId xmlns:a16="http://schemas.microsoft.com/office/drawing/2014/main" id="{E47385C7-F7A4-40E7-8CF4-466707B146E0}"/>
              </a:ext>
            </a:extLst>
          </p:cNvPr>
          <p:cNvSpPr>
            <a:spLocks xmlns:a="http://schemas.openxmlformats.org/drawingml/2006/main" noGrp="1"/>
          </p:cNvSpPr>
          <p:nvPr/>
        </p:nvSpPr>
        <p:spPr>
          <a:xfrm xmlns:a="http://schemas.openxmlformats.org/drawingml/2006/main">
            <a:off x="590550" y="21240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DD352AB0-2942-4FCB-9F04-26003FAD6E94}"/>
              </a:ext>
            </a:extLst>
          </p:cNvPr>
          <p:cNvSpPr>
            <a:spLocks xmlns:a="http://schemas.openxmlformats.org/drawingml/2006/main" noGrp="1"/>
          </p:cNvSpPr>
          <p:nvPr/>
        </p:nvSpPr>
        <p:spPr>
          <a:xfrm xmlns:a="http://schemas.openxmlformats.org/drawingml/2006/main">
            <a:off x="742950" y="22098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First</a:t>
            </a:r>
          </a:p>
        </p:txBody>
      </p:sp>
      <p:sp>
        <p:nvSpPr>
          <p:cNvPr id="6" name="">
            <a:extLst xmlns:a="http://schemas.openxmlformats.org/drawingml/2006/main">
              <a:ext uri="{FF2B5EF4-FFF2-40B4-BE49-F238E27FC236}">
                <a16:creationId xmlns:a16="http://schemas.microsoft.com/office/drawing/2014/main" id="{E4EF8C38-6F5D-4279-93AB-5BA58377C245}"/>
              </a:ext>
            </a:extLst>
          </p:cNvPr>
          <p:cNvSpPr>
            <a:spLocks xmlns:a="http://schemas.openxmlformats.org/drawingml/2006/main" noGrp="1"/>
          </p:cNvSpPr>
          <p:nvPr/>
        </p:nvSpPr>
        <p:spPr>
          <a:xfrm xmlns:a="http://schemas.openxmlformats.org/drawingml/2006/main">
            <a:off x="3543300" y="21717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Complete independent-account, administrator and advocate booking trials</a:t>
            </a:r>
          </a:p>
        </p:txBody>
      </p:sp>
      <p:sp>
        <p:nvSpPr>
          <p:cNvPr id="7" name="">
            <a:extLst xmlns:a="http://schemas.openxmlformats.org/drawingml/2006/main">
              <a:ext uri="{FF2B5EF4-FFF2-40B4-BE49-F238E27FC236}">
                <a16:creationId xmlns:a16="http://schemas.microsoft.com/office/drawing/2014/main" id="{9A13C6FB-02F9-405C-84C2-6DE1AE70770C}"/>
              </a:ext>
            </a:extLst>
          </p:cNvPr>
          <p:cNvSpPr>
            <a:spLocks xmlns:a="http://schemas.openxmlformats.org/drawingml/2006/main" noGrp="1"/>
          </p:cNvSpPr>
          <p:nvPr/>
        </p:nvSpPr>
        <p:spPr>
          <a:xfrm xmlns:a="http://schemas.openxmlformats.org/drawingml/2006/main">
            <a:off x="742950" y="31242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Then</a:t>
            </a:r>
          </a:p>
        </p:txBody>
      </p:sp>
      <p:sp>
        <p:nvSpPr>
          <p:cNvPr id="8" name="">
            <a:extLst xmlns:a="http://schemas.openxmlformats.org/drawingml/2006/main">
              <a:ext uri="{FF2B5EF4-FFF2-40B4-BE49-F238E27FC236}">
                <a16:creationId xmlns:a16="http://schemas.microsoft.com/office/drawing/2014/main" id="{65DC8A65-74B9-481A-A870-D0EA86CB1E3D}"/>
              </a:ext>
            </a:extLst>
          </p:cNvPr>
          <p:cNvSpPr>
            <a:spLocks xmlns:a="http://schemas.openxmlformats.org/drawingml/2006/main" noGrp="1"/>
          </p:cNvSpPr>
          <p:nvPr/>
        </p:nvSpPr>
        <p:spPr>
          <a:xfrm xmlns:a="http://schemas.openxmlformats.org/drawingml/2006/main">
            <a:off x="3543300" y="30861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Test microphone accuracy and run human language and usability reviews</a:t>
            </a:r>
          </a:p>
        </p:txBody>
      </p:sp>
      <p:sp>
        <p:nvSpPr>
          <p:cNvPr id="9" name="">
            <a:extLst xmlns:a="http://schemas.openxmlformats.org/drawingml/2006/main">
              <a:ext uri="{FF2B5EF4-FFF2-40B4-BE49-F238E27FC236}">
                <a16:creationId xmlns:a16="http://schemas.microsoft.com/office/drawing/2014/main" id="{3A6082B0-54BC-4349-A80A-3CA2115BB989}"/>
              </a:ext>
            </a:extLst>
          </p:cNvPr>
          <p:cNvSpPr>
            <a:spLocks xmlns:a="http://schemas.openxmlformats.org/drawingml/2006/main" noGrp="1"/>
          </p:cNvSpPr>
          <p:nvPr/>
        </p:nvSpPr>
        <p:spPr>
          <a:xfrm xmlns:a="http://schemas.openxmlformats.org/drawingml/2006/main">
            <a:off x="590550" y="3952875"/>
            <a:ext cx="11010900" cy="819150"/>
          </a:xfrm>
          <a:prstGeom xmlns:a="http://schemas.openxmlformats.org/drawingml/2006/main" prst="rect">
            <a:avLst/>
          </a:prstGeom>
          <a:solidFill xmlns:a="http://schemas.openxmlformats.org/drawingml/2006/main">
            <a:srgbClr val="EDF0F1"/>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FCB1A7B-FAA4-463E-872A-B3FCC62FC31A}"/>
              </a:ext>
            </a:extLst>
          </p:cNvPr>
          <p:cNvSpPr>
            <a:spLocks xmlns:a="http://schemas.openxmlformats.org/drawingml/2006/main" noGrp="1"/>
          </p:cNvSpPr>
          <p:nvPr/>
        </p:nvSpPr>
        <p:spPr>
          <a:xfrm xmlns:a="http://schemas.openxmlformats.org/drawingml/2006/main">
            <a:off x="742950" y="40386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AI gate</a:t>
            </a:r>
          </a:p>
        </p:txBody>
      </p:sp>
      <p:sp>
        <p:nvSpPr>
          <p:cNvPr id="11" name="">
            <a:extLst xmlns:a="http://schemas.openxmlformats.org/drawingml/2006/main">
              <a:ext uri="{FF2B5EF4-FFF2-40B4-BE49-F238E27FC236}">
                <a16:creationId xmlns:a16="http://schemas.microsoft.com/office/drawing/2014/main" id="{3EDBCD6B-63EF-4A7A-8C83-FF0BB89BC3EA}"/>
              </a:ext>
            </a:extLst>
          </p:cNvPr>
          <p:cNvSpPr>
            <a:spLocks xmlns:a="http://schemas.openxmlformats.org/drawingml/2006/main" noGrp="1"/>
          </p:cNvSpPr>
          <p:nvPr/>
        </p:nvSpPr>
        <p:spPr>
          <a:xfrm xmlns:a="http://schemas.openxmlformats.org/drawingml/2006/main">
            <a:off x="3543300" y="40005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Obtain the gateway contract and evaluate consent, failures and legal output</a:t>
            </a:r>
          </a:p>
        </p:txBody>
      </p:sp>
      <p:sp>
        <p:nvSpPr>
          <p:cNvPr id="12" name="">
            <a:extLst xmlns:a="http://schemas.openxmlformats.org/drawingml/2006/main">
              <a:ext uri="{FF2B5EF4-FFF2-40B4-BE49-F238E27FC236}">
                <a16:creationId xmlns:a16="http://schemas.microsoft.com/office/drawing/2014/main" id="{A1273CB5-15B1-4A71-8A5F-BD8C0733EE8A}"/>
              </a:ext>
            </a:extLst>
          </p:cNvPr>
          <p:cNvSpPr>
            <a:spLocks xmlns:a="http://schemas.openxmlformats.org/drawingml/2006/main" noGrp="1"/>
          </p:cNvSpPr>
          <p:nvPr/>
        </p:nvSpPr>
        <p:spPr>
          <a:xfrm xmlns:a="http://schemas.openxmlformats.org/drawingml/2006/main">
            <a:off x="742950" y="4953000"/>
            <a:ext cx="26193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Later</a:t>
            </a:r>
          </a:p>
        </p:txBody>
      </p:sp>
      <p:sp>
        <p:nvSpPr>
          <p:cNvPr id="13" name="">
            <a:extLst xmlns:a="http://schemas.openxmlformats.org/drawingml/2006/main">
              <a:ext uri="{FF2B5EF4-FFF2-40B4-BE49-F238E27FC236}">
                <a16:creationId xmlns:a16="http://schemas.microsoft.com/office/drawing/2014/main" id="{F9AE23D9-1597-42E4-B136-19A68F6767D6}"/>
              </a:ext>
            </a:extLst>
          </p:cNvPr>
          <p:cNvSpPr>
            <a:spLocks xmlns:a="http://schemas.openxmlformats.org/drawingml/2006/main" noGrp="1"/>
          </p:cNvSpPr>
          <p:nvPr/>
        </p:nvSpPr>
        <p:spPr>
          <a:xfrm xmlns:a="http://schemas.openxmlformats.org/drawingml/2006/main">
            <a:off x="3543300" y="4914900"/>
            <a:ext cx="78200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Expand languages and assess native mobile after the pilot meets its criteria</a:t>
            </a:r>
          </a:p>
        </p:txBody>
      </p:sp>
      <p:sp>
        <p:nvSpPr>
          <p:cNvPr id="14" name="">
            <a:extLst xmlns:a="http://schemas.openxmlformats.org/drawingml/2006/main">
              <a:ext uri="{FF2B5EF4-FFF2-40B4-BE49-F238E27FC236}">
                <a16:creationId xmlns:a16="http://schemas.microsoft.com/office/drawing/2014/main" id="{45E0F3FA-1CD1-4A6C-B82E-B167EE95C439}"/>
              </a:ext>
            </a:extLst>
          </p:cNvPr>
          <p:cNvSpPr>
            <a:spLocks xmlns:a="http://schemas.openxmlformats.org/drawingml/2006/main" noGrp="1"/>
          </p:cNvSpPr>
          <p:nvPr/>
        </p:nvSpPr>
        <p:spPr>
          <a:xfrm xmlns:a="http://schemas.openxmlformats.org/drawingml/2006/main">
            <a:off x="619125" y="6191250"/>
            <a:ext cx="10715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350" b="0">
                <a:solidFill>
                  <a:srgbClr val="52616A"/>
                </a:solidFill>
                <a:latin typeface="Arial"/>
                <a:ea typeface="Arial"/>
                <a:cs typeface="Arial"/>
              </a:defRPr>
            </a:defPPr>
          </a:lstStyle>
          <a:p xmlns:a="http://schemas.openxmlformats.org/drawingml/2006/main">
            <a:pPr>
              <a:defRPr sz="1350" b="0">
                <a:solidFill>
                  <a:srgbClr val="52616A"/>
                </a:solidFill>
                <a:latin typeface="Arial"/>
                <a:ea typeface="Arial"/>
                <a:cs typeface="Arial"/>
              </a:defRPr>
            </a:pPr>
            <a:r>
              <a:rPr sz="1350" b="0">
                <a:solidFill>
                  <a:srgbClr val="52616A"/>
                </a:solidFill>
                <a:latin typeface="Arial"/>
                <a:ea typeface="Arial"/>
                <a:cs typeface="Arial"/>
              </a:rPr>
              <a:t>Pilot metrics to collect: task completion, text corrections, consent comprehension and booking conflicts.</a:t>
            </a:r>
          </a:p>
        </p:txBody>
      </p:sp>
      <p:sp>
        <p:nvSpPr>
          <p:cNvPr id="15" name="">
            <a:extLst xmlns:a="http://schemas.openxmlformats.org/drawingml/2006/main">
              <a:ext uri="{FF2B5EF4-FFF2-40B4-BE49-F238E27FC236}">
                <a16:creationId xmlns:a16="http://schemas.microsoft.com/office/drawing/2014/main" id="{C7E91129-9DE7-4E5B-9445-7AF2EDCF78E0}"/>
              </a:ext>
            </a:extLst>
          </p:cNvPr>
          <p:cNvSpPr>
            <a:spLocks xmlns:a="http://schemas.openxmlformats.org/drawingml/2006/main" noGrp="1"/>
          </p:cNvSpPr>
          <p:nvPr/>
        </p:nvSpPr>
        <p:spPr>
          <a:xfrm xmlns:a="http://schemas.openxmlformats.org/drawingml/2006/main">
            <a:off x="11525250" y="64484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75" b="0">
                <a:solidFill>
                  <a:srgbClr val="52616A"/>
                </a:solidFill>
                <a:latin typeface="Arial"/>
                <a:ea typeface="Arial"/>
                <a:cs typeface="Arial"/>
              </a:defRPr>
            </a:defPPr>
          </a:lstStyle>
          <a:p xmlns:a="http://schemas.openxmlformats.org/drawingml/2006/main">
            <a:pPr>
              <a:defRPr sz="1275" b="0">
                <a:solidFill>
                  <a:srgbClr val="52616A"/>
                </a:solidFill>
                <a:latin typeface="Arial"/>
                <a:ea typeface="Arial"/>
                <a:cs typeface="Arial"/>
              </a:defRPr>
            </a:pPr>
            <a:r>
              <a:rPr sz="1275" b="0">
                <a:solidFill>
                  <a:srgbClr val="52616A"/>
                </a:solidFill>
                <a:latin typeface="Arial"/>
                <a:ea typeface="Arial"/>
                <a:cs typeface="Arial"/>
              </a:rPr>
              <a:t>13</a:t>
            </a:r>
          </a:p>
        </p:txBody>
      </p:sp>
    </p:spTree>
    <p:extLst>
      <p:ext uri="{BB962C8B-B14F-4D97-AF65-F5344CB8AC3E}">
        <p14:creationId xmlns:p14="http://schemas.microsoft.com/office/powerpoint/2010/main" val="1898061208"/>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63FA568-EBEE-44B8-915F-9DBB4C1754DE}"/>
              </a:ext>
            </a:extLst>
          </p:cNvPr>
          <p:cNvSpPr>
            <a:spLocks xmlns:a="http://schemas.openxmlformats.org/drawingml/2006/main" noGrp="1"/>
          </p:cNvSpPr>
          <p:nvPr/>
        </p:nvSpPr>
        <p:spPr>
          <a:xfrm xmlns:a="http://schemas.openxmlformats.org/drawingml/2006/main">
            <a:off x="590550" y="409575"/>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1">
                <a:solidFill>
                  <a:srgbClr val="B12632"/>
                </a:solidFill>
                <a:latin typeface="Arial"/>
                <a:ea typeface="Arial"/>
                <a:cs typeface="Arial"/>
              </a:defRPr>
            </a:defPPr>
          </a:lstStyle>
          <a:p xmlns:a="http://schemas.openxmlformats.org/drawingml/2006/main">
            <a:pPr>
              <a:defRPr sz="2025" b="1">
                <a:solidFill>
                  <a:srgbClr val="B12632"/>
                </a:solidFill>
                <a:latin typeface="Arial"/>
                <a:ea typeface="Arial"/>
                <a:cs typeface="Arial"/>
              </a:defRPr>
            </a:pPr>
            <a:r>
              <a:rPr sz="2025" b="1">
                <a:solidFill>
                  <a:srgbClr val="B12632"/>
                </a:solidFill>
                <a:latin typeface="Arial"/>
                <a:ea typeface="Arial"/>
                <a:cs typeface="Arial"/>
              </a:rPr>
              <a:t>T  /  TAKEAWAY</a:t>
            </a:r>
          </a:p>
        </p:txBody>
      </p:sp>
      <p:sp>
        <p:nvSpPr>
          <p:cNvPr id="2" name="">
            <a:extLst xmlns:a="http://schemas.openxmlformats.org/drawingml/2006/main">
              <a:ext uri="{FF2B5EF4-FFF2-40B4-BE49-F238E27FC236}">
                <a16:creationId xmlns:a16="http://schemas.microsoft.com/office/drawing/2014/main" id="{9F7611AB-8696-4CBC-B6B2-E4D07C0A8E15}"/>
              </a:ext>
            </a:extLst>
          </p:cNvPr>
          <p:cNvSpPr>
            <a:spLocks xmlns:a="http://schemas.openxmlformats.org/drawingml/2006/main" noGrp="1"/>
          </p:cNvSpPr>
          <p:nvPr/>
        </p:nvSpPr>
        <p:spPr>
          <a:xfrm xmlns:a="http://schemas.openxmlformats.org/drawingml/2006/main">
            <a:off x="590550" y="1485900"/>
            <a:ext cx="10668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5550" b="1">
                <a:solidFill>
                  <a:srgbClr val="B12632"/>
                </a:solidFill>
                <a:latin typeface="Arial"/>
                <a:ea typeface="Arial"/>
                <a:cs typeface="Arial"/>
              </a:defRPr>
            </a:defPPr>
          </a:lstStyle>
          <a:p xmlns:a="http://schemas.openxmlformats.org/drawingml/2006/main">
            <a:pPr>
              <a:defRPr sz="5550" b="1">
                <a:solidFill>
                  <a:srgbClr val="B12632"/>
                </a:solidFill>
                <a:latin typeface="Arial"/>
                <a:ea typeface="Arial"/>
                <a:cs typeface="Arial"/>
              </a:defRPr>
            </a:pPr>
            <a:r>
              <a:rPr sz="5550" b="1">
                <a:solidFill>
                  <a:srgbClr val="B12632"/>
                </a:solidFill>
                <a:latin typeface="Arial"/>
                <a:ea typeface="Arial"/>
                <a:cs typeface="Arial"/>
              </a:rPr>
              <a:t>Vakil Setu</a:t>
            </a:r>
          </a:p>
        </p:txBody>
      </p:sp>
      <p:sp>
        <p:nvSpPr>
          <p:cNvPr id="3" name="">
            <a:extLst xmlns:a="http://schemas.openxmlformats.org/drawingml/2006/main">
              <a:ext uri="{FF2B5EF4-FFF2-40B4-BE49-F238E27FC236}">
                <a16:creationId xmlns:a16="http://schemas.microsoft.com/office/drawing/2014/main" id="{823FF7E2-BDB1-4CC9-B27B-75F225E3D038}"/>
              </a:ext>
            </a:extLst>
          </p:cNvPr>
          <p:cNvSpPr>
            <a:spLocks xmlns:a="http://schemas.openxmlformats.org/drawingml/2006/main" noGrp="1"/>
          </p:cNvSpPr>
          <p:nvPr/>
        </p:nvSpPr>
        <p:spPr>
          <a:xfrm xmlns:a="http://schemas.openxmlformats.org/drawingml/2006/main">
            <a:off x="628650" y="2590800"/>
            <a:ext cx="10763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850" b="0">
                <a:solidFill>
                  <a:srgbClr val="172A35"/>
                </a:solidFill>
                <a:latin typeface="Arial"/>
                <a:ea typeface="Arial"/>
                <a:cs typeface="Arial"/>
              </a:defRPr>
            </a:defPPr>
          </a:lstStyle>
          <a:p xmlns:a="http://schemas.openxmlformats.org/drawingml/2006/main">
            <a:pPr>
              <a:defRPr sz="2850" b="0">
                <a:solidFill>
                  <a:srgbClr val="172A35"/>
                </a:solidFill>
                <a:latin typeface="Arial"/>
                <a:ea typeface="Arial"/>
                <a:cs typeface="Arial"/>
              </a:defRPr>
            </a:pPr>
            <a:r>
              <a:rPr sz="2850" b="0">
                <a:solidFill>
                  <a:srgbClr val="172A35"/>
                </a:solidFill>
                <a:latin typeface="Arial"/>
                <a:ea typeface="Arial"/>
                <a:cs typeface="Arial"/>
              </a:rPr>
              <a:t>A working foundation for reviewed legal intake</a:t>
            </a:r>
          </a:p>
        </p:txBody>
      </p:sp>
      <p:sp>
        <p:nvSpPr>
          <p:cNvPr id="4" name="">
            <a:extLst xmlns:a="http://schemas.openxmlformats.org/drawingml/2006/main">
              <a:ext uri="{FF2B5EF4-FFF2-40B4-BE49-F238E27FC236}">
                <a16:creationId xmlns:a16="http://schemas.microsoft.com/office/drawing/2014/main" id="{4B60076D-027F-4C93-8F25-6CA3C2AFE6CD}"/>
              </a:ext>
            </a:extLst>
          </p:cNvPr>
          <p:cNvSpPr>
            <a:spLocks xmlns:a="http://schemas.openxmlformats.org/drawingml/2006/main" noGrp="1"/>
          </p:cNvSpPr>
          <p:nvPr/>
        </p:nvSpPr>
        <p:spPr>
          <a:xfrm xmlns:a="http://schemas.openxmlformats.org/drawingml/2006/main">
            <a:off x="666750" y="3838575"/>
            <a:ext cx="247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B12632"/>
                </a:solidFill>
                <a:latin typeface="Arial"/>
                <a:ea typeface="Arial"/>
                <a:cs typeface="Arial"/>
              </a:defRPr>
            </a:defPPr>
          </a:lstStyle>
          <a:p xmlns:a="http://schemas.openxmlformats.org/drawingml/2006/main">
            <a:pPr>
              <a:defRPr sz="1875" b="1">
                <a:solidFill>
                  <a:srgbClr val="B12632"/>
                </a:solidFill>
                <a:latin typeface="Arial"/>
                <a:ea typeface="Arial"/>
                <a:cs typeface="Arial"/>
              </a:defRPr>
            </a:pPr>
            <a:r>
              <a:rPr sz="1875" b="1">
                <a:solidFill>
                  <a:srgbClr val="B12632"/>
                </a:solidFill>
                <a:latin typeface="Arial"/>
                <a:ea typeface="Arial"/>
                <a:cs typeface="Arial"/>
              </a:rPr>
              <a:t>Outcome</a:t>
            </a:r>
          </a:p>
        </p:txBody>
      </p:sp>
      <p:sp>
        <p:nvSpPr>
          <p:cNvPr id="5" name="">
            <a:extLst xmlns:a="http://schemas.openxmlformats.org/drawingml/2006/main">
              <a:ext uri="{FF2B5EF4-FFF2-40B4-BE49-F238E27FC236}">
                <a16:creationId xmlns:a16="http://schemas.microsoft.com/office/drawing/2014/main" id="{4805EAB9-DBB0-4AAD-8619-BF17BAD3E5D1}"/>
              </a:ext>
            </a:extLst>
          </p:cNvPr>
          <p:cNvSpPr>
            <a:spLocks xmlns:a="http://schemas.openxmlformats.org/drawingml/2006/main" noGrp="1"/>
          </p:cNvSpPr>
          <p:nvPr/>
        </p:nvSpPr>
        <p:spPr>
          <a:xfrm xmlns:a="http://schemas.openxmlformats.org/drawingml/2006/main">
            <a:off x="3143250" y="3752850"/>
            <a:ext cx="814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A multilingual web workflow with private intake and controlled sharing</a:t>
            </a:r>
          </a:p>
        </p:txBody>
      </p:sp>
      <p:sp>
        <p:nvSpPr>
          <p:cNvPr id="6" name="">
            <a:extLst xmlns:a="http://schemas.openxmlformats.org/drawingml/2006/main">
              <a:ext uri="{FF2B5EF4-FFF2-40B4-BE49-F238E27FC236}">
                <a16:creationId xmlns:a16="http://schemas.microsoft.com/office/drawing/2014/main" id="{B0E93CED-5797-4D4A-890B-DF41CA178327}"/>
              </a:ext>
            </a:extLst>
          </p:cNvPr>
          <p:cNvSpPr>
            <a:spLocks xmlns:a="http://schemas.openxmlformats.org/drawingml/2006/main" noGrp="1"/>
          </p:cNvSpPr>
          <p:nvPr/>
        </p:nvSpPr>
        <p:spPr>
          <a:xfrm xmlns:a="http://schemas.openxmlformats.org/drawingml/2006/main">
            <a:off x="666750" y="4724400"/>
            <a:ext cx="2476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875" b="1">
                <a:solidFill>
                  <a:srgbClr val="B12632"/>
                </a:solidFill>
                <a:latin typeface="Arial"/>
                <a:ea typeface="Arial"/>
                <a:cs typeface="Arial"/>
              </a:defRPr>
            </a:defPPr>
          </a:lstStyle>
          <a:p xmlns:a="http://schemas.openxmlformats.org/drawingml/2006/main">
            <a:pPr>
              <a:defRPr sz="1875" b="1">
                <a:solidFill>
                  <a:srgbClr val="B12632"/>
                </a:solidFill>
                <a:latin typeface="Arial"/>
                <a:ea typeface="Arial"/>
                <a:cs typeface="Arial"/>
              </a:defRPr>
            </a:pPr>
            <a:r>
              <a:rPr sz="1875" b="1">
                <a:solidFill>
                  <a:srgbClr val="B12632"/>
                </a:solidFill>
                <a:latin typeface="Arial"/>
                <a:ea typeface="Arial"/>
                <a:cs typeface="Arial"/>
              </a:rPr>
              <a:t>Remaining work</a:t>
            </a:r>
          </a:p>
        </p:txBody>
      </p:sp>
      <p:sp>
        <p:nvSpPr>
          <p:cNvPr id="7" name="">
            <a:extLst xmlns:a="http://schemas.openxmlformats.org/drawingml/2006/main">
              <a:ext uri="{FF2B5EF4-FFF2-40B4-BE49-F238E27FC236}">
                <a16:creationId xmlns:a16="http://schemas.microsoft.com/office/drawing/2014/main" id="{5DDC7A32-E955-4F00-BBFE-322DE63162A2}"/>
              </a:ext>
            </a:extLst>
          </p:cNvPr>
          <p:cNvSpPr>
            <a:spLocks xmlns:a="http://schemas.openxmlformats.org/drawingml/2006/main" noGrp="1"/>
          </p:cNvSpPr>
          <p:nvPr/>
        </p:nvSpPr>
        <p:spPr>
          <a:xfrm xmlns:a="http://schemas.openxmlformats.org/drawingml/2006/main">
            <a:off x="3143250" y="4638675"/>
            <a:ext cx="814387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025" b="0">
                <a:solidFill>
                  <a:srgbClr val="172A35"/>
                </a:solidFill>
                <a:latin typeface="Arial"/>
                <a:ea typeface="Arial"/>
                <a:cs typeface="Arial"/>
              </a:defRPr>
            </a:defPPr>
          </a:lstStyle>
          <a:p xmlns:a="http://schemas.openxmlformats.org/drawingml/2006/main">
            <a:pPr>
              <a:defRPr sz="2025" b="0">
                <a:solidFill>
                  <a:srgbClr val="172A35"/>
                </a:solidFill>
                <a:latin typeface="Arial"/>
                <a:ea typeface="Arial"/>
                <a:cs typeface="Arial"/>
              </a:defRPr>
            </a:pPr>
            <a:r>
              <a:rPr sz="2025" b="0">
                <a:solidFill>
                  <a:srgbClr val="172A35"/>
                </a:solidFill>
                <a:latin typeface="Arial"/>
                <a:ea typeface="Arial"/>
                <a:cs typeface="Arial"/>
              </a:rPr>
              <a:t>Hosted workflow acceptance, language review and verified AI inference</a:t>
            </a:r>
          </a:p>
        </p:txBody>
      </p:sp>
      <p:sp>
        <p:nvSpPr>
          <p:cNvPr id="8" name="">
            <a:extLst xmlns:a="http://schemas.openxmlformats.org/drawingml/2006/main">
              <a:ext uri="{FF2B5EF4-FFF2-40B4-BE49-F238E27FC236}">
                <a16:creationId xmlns:a16="http://schemas.microsoft.com/office/drawing/2014/main" id="{9C1836FB-5CF5-4EEC-AC93-D9C9A3B39AC7}"/>
              </a:ext>
            </a:extLst>
          </p:cNvPr>
          <p:cNvSpPr>
            <a:spLocks xmlns:a="http://schemas.openxmlformats.org/drawingml/2006/main" noGrp="1"/>
          </p:cNvSpPr>
          <p:nvPr/>
        </p:nvSpPr>
        <p:spPr>
          <a:xfrm xmlns:a="http://schemas.openxmlformats.org/drawingml/2006/main">
            <a:off x="666750" y="5819775"/>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2400" b="1">
                <a:solidFill>
                  <a:srgbClr val="172A35"/>
                </a:solidFill>
                <a:latin typeface="Arial"/>
                <a:ea typeface="Arial"/>
                <a:cs typeface="Arial"/>
              </a:defRPr>
            </a:defPPr>
          </a:lstStyle>
          <a:p xmlns:a="http://schemas.openxmlformats.org/drawingml/2006/main">
            <a:pPr>
              <a:defRPr sz="2400" b="1">
                <a:solidFill>
                  <a:srgbClr val="172A35"/>
                </a:solidFill>
                <a:latin typeface="Arial"/>
                <a:ea typeface="Arial"/>
                <a:cs typeface="Arial"/>
              </a:defRPr>
            </a:pPr>
            <a:r>
              <a:rPr sz="2400" b="1">
                <a:solidFill>
                  <a:srgbClr val="172A35"/>
                </a:solidFill>
                <a:latin typeface="Arial"/>
                <a:ea typeface="Arial"/>
                <a:cs typeface="Arial"/>
              </a:rPr>
              <a:t>Questions</a:t>
            </a:r>
          </a:p>
        </p:txBody>
      </p:sp>
      <p:sp>
        <p:nvSpPr>
          <p:cNvPr id="9" name="">
            <a:extLst xmlns:a="http://schemas.openxmlformats.org/drawingml/2006/main">
              <a:ext uri="{FF2B5EF4-FFF2-40B4-BE49-F238E27FC236}">
                <a16:creationId xmlns:a16="http://schemas.microsoft.com/office/drawing/2014/main" id="{05484F43-7DF7-47A2-9C12-08BDF30E49C3}"/>
              </a:ext>
            </a:extLst>
          </p:cNvPr>
          <p:cNvSpPr>
            <a:spLocks xmlns:a="http://schemas.openxmlformats.org/drawingml/2006/main" noGrp="1"/>
          </p:cNvSpPr>
          <p:nvPr/>
        </p:nvSpPr>
        <p:spPr>
          <a:xfrm xmlns:a="http://schemas.openxmlformats.org/drawingml/2006/main">
            <a:off x="11525250" y="6448425"/>
            <a:ext cx="4000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defPPr>
              <a:defRPr sz="1275" b="0">
                <a:solidFill>
                  <a:srgbClr val="52616A"/>
                </a:solidFill>
                <a:latin typeface="Arial"/>
                <a:ea typeface="Arial"/>
                <a:cs typeface="Arial"/>
              </a:defRPr>
            </a:defPPr>
          </a:lstStyle>
          <a:p xmlns:a="http://schemas.openxmlformats.org/drawingml/2006/main">
            <a:pPr>
              <a:defRPr sz="1275" b="0">
                <a:solidFill>
                  <a:srgbClr val="52616A"/>
                </a:solidFill>
                <a:latin typeface="Arial"/>
                <a:ea typeface="Arial"/>
                <a:cs typeface="Arial"/>
              </a:defRPr>
            </a:pPr>
            <a:r>
              <a:rPr sz="1275" b="0">
                <a:solidFill>
                  <a:srgbClr val="52616A"/>
                </a:solidFill>
                <a:latin typeface="Arial"/>
                <a:ea typeface="Arial"/>
                <a:cs typeface="Arial"/>
              </a:rPr>
              <a:t>14</a:t>
            </a:r>
          </a:p>
        </p:txBody>
      </p:sp>
    </p:spTree>
    <p:extLst>
      <p:ext uri="{BB962C8B-B14F-4D97-AF65-F5344CB8AC3E}">
        <p14:creationId xmlns:p14="http://schemas.microsoft.com/office/powerpoint/2010/main" val="2898445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2026-10-17T07:27:49.7740000Z</dcterms:created>
  <dcterms:modified xsi:type="dcterms:W3CDTF">2026-10-17T07:27:49.7740000Z</dcterms:modified>
</coreProperties>
</file>